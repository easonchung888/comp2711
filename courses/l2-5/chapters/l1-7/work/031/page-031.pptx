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'1.0' encoding='utf-8'?>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31" saveSubsetFonts="1" autoCompressPictures="0">
  <p:sldMasterIdLst>
    <p:sldMasterId id="2147483648" r:id="rId1"/>
  </p:sldMasterIdLst>
  <p:notesMasterIdLst>
    <p:notesMasterId r:id="rId43"/>
  </p:notesMasterIdLst>
  <p:handoutMasterIdLst>
    <p:handoutMasterId r:id="rId44"/>
  </p:handoutMasterIdLst>
  <p:sldIdLst>
    <p:sldId id="386" r:id="rId32"/>
  </p:sldIdLst>
  <p:sldSz cx="9144000" cy="6858000" type="screen4x3"/>
  <p:notesSz cx="6884988" cy="1001871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871" autoAdjust="0"/>
    <p:restoredTop sz="94260" autoAdjust="0"/>
  </p:normalViewPr>
  <p:slideViewPr>
    <p:cSldViewPr>
      <p:cViewPr varScale="1">
        <p:scale>
          <a:sx n="151" d="100"/>
          <a:sy n="151" d="100"/>
        </p:scale>
        <p:origin x="216" y="562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114" y="1068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5106"/>
    </p:cViewPr>
  </p:sorterViewPr>
  <p:gridSpacing cx="76200" cy="76200"/>
</p:viewPr>
</file>

<file path=ppt/_rels/presentation.xml.rels><?xml version='1.0' encoding='utf-8'?>
<Relationships xmlns="http://schemas.openxmlformats.org/package/2006/relationships"><Relationship Id="rId47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32" Type="http://schemas.openxmlformats.org/officeDocument/2006/relationships/slide" Target="slides/slide31.xml" /><Relationship Id="rId45" Type="http://schemas.openxmlformats.org/officeDocument/2006/relationships/presProps" Target="presProps.xml" /><Relationship Id="rId44" Type="http://schemas.openxmlformats.org/officeDocument/2006/relationships/handoutMaster" Target="handoutMasters/handoutMaster1.xml" /><Relationship Id="rId43" Type="http://schemas.openxmlformats.org/officeDocument/2006/relationships/notesMaster" Target="notesMasters/notesMaster1.xml" /><Relationship Id="rId48" Type="http://schemas.openxmlformats.org/officeDocument/2006/relationships/tableStyles" Target="tableStyles.xml" /><Relationship Id="rId46" Type="http://schemas.openxmlformats.org/officeDocument/2006/relationships/viewProps" Target="viewProps.xml" /></Relationships>
</file>

<file path=ppt/handoutMasters/_rels/handoutMaster1.xml.rels><?xml version='1.0' encoding='utf-8'?>
<Relationships xmlns="http://schemas.openxmlformats.org/package/2006/relationships"><Relationship Id="rId1" Type="http://schemas.openxmlformats.org/officeDocument/2006/relationships/theme" Target="../theme/theme3.xml" 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4"/>
            <a:ext cx="2984032" cy="500936"/>
          </a:xfrm>
          <a:prstGeom prst="rect">
            <a:avLst/>
          </a:prstGeom>
        </p:spPr>
        <p:txBody>
          <a:bodyPr vert="horz" lIns="91432" tIns="45716" rIns="91432" bIns="45716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99349" y="4"/>
            <a:ext cx="2984032" cy="500936"/>
          </a:xfrm>
          <a:prstGeom prst="rect">
            <a:avLst/>
          </a:prstGeom>
        </p:spPr>
        <p:txBody>
          <a:bodyPr vert="horz" lIns="91432" tIns="45716" rIns="91432" bIns="45716" rtlCol="0"/>
          <a:lstStyle>
            <a:lvl1pPr algn="r">
              <a:defRPr sz="1200"/>
            </a:lvl1pPr>
          </a:lstStyle>
          <a:p>
            <a:fld id="{50BE4F2C-0EE3-4CC6-9A7F-FCEE2CED77EB}" type="datetimeFigureOut">
              <a:rPr lang="en-US" smtClean="0"/>
              <a:pPr/>
              <a:t>9/30/26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516174"/>
            <a:ext cx="2984032" cy="500936"/>
          </a:xfrm>
          <a:prstGeom prst="rect">
            <a:avLst/>
          </a:prstGeom>
        </p:spPr>
        <p:txBody>
          <a:bodyPr vert="horz" lIns="91432" tIns="45716" rIns="91432" bIns="45716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99349" y="9516174"/>
            <a:ext cx="2984032" cy="500936"/>
          </a:xfrm>
          <a:prstGeom prst="rect">
            <a:avLst/>
          </a:prstGeom>
        </p:spPr>
        <p:txBody>
          <a:bodyPr vert="horz" lIns="91432" tIns="45716" rIns="91432" bIns="45716" rtlCol="0" anchor="b"/>
          <a:lstStyle>
            <a:lvl1pPr algn="r">
              <a:defRPr sz="1200"/>
            </a:lvl1pPr>
          </a:lstStyle>
          <a:p>
            <a:fld id="{A2AB639E-B2BE-4F41-B992-699629CBE31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4535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?>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4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99901" y="4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39800" y="752475"/>
            <a:ext cx="5005388" cy="37560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8499" y="4758890"/>
            <a:ext cx="5507990" cy="45084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516040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99901" y="9516040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fld id="{878340DC-DDD3-4383-9614-668A8EE0901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3636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ED48EA5-2AB8-469C-9C8D-DDC17F3887B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960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EC735E3-5B29-4F54-8FB9-022B0DB6C88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091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E5E6A3E-4888-4C12-8315-4FD2172AB79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275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F4F64A1-F48A-4587-8460-697BC25700C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360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14D11BB-E399-4356-A7BA-ED113D687B1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278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BE0ABEF-E41E-4666-84C4-413527B4A9B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2084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09926DB-4DC2-4E3A-B2C0-BB9A6A9391A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950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B1B4454-C8A7-4B1B-8E65-E82A92619F9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954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0DDABB2-A7EC-4A6A-8A4D-8C9E34B87EC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4767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04971A2-E15B-40AD-8D3B-C3853A18A93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8475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9737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9737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132645C-7078-496B-800F-5B55B382AAB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425351"/>
      </p:ext>
    </p:extLst>
  </p:cSld>
  <p:clrMapOvr>
    <a:masterClrMapping/>
  </p:clrMapOvr>
</p:sldLayout>
</file>

<file path=ppt/slideMasters/_rels/slideMaster1.xml.rels><?xml version='1.0' encoding='utf-8'?>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382000" cy="71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600200"/>
            <a:ext cx="86868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40080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400800"/>
            <a:ext cx="2895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latin typeface="Arial" charset="0"/>
              </a:defRPr>
            </a:lvl1pPr>
          </a:lstStyle>
          <a:p>
            <a:fld id="{6724A02C-A69E-4EC1-BA44-1213A0435DCD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031" name="Text Box 7"/>
          <p:cNvSpPr txBox="1">
            <a:spLocks noChangeArrowheads="1"/>
          </p:cNvSpPr>
          <p:nvPr userDrawn="1"/>
        </p:nvSpPr>
        <p:spPr bwMode="auto">
          <a:xfrm>
            <a:off x="457200" y="1066800"/>
            <a:ext cx="2286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1pPr>
            <a:lvl2pPr marL="37931725" indent="-37474525"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2pPr>
            <a:lvl3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3pPr>
            <a:lvl4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4pPr>
            <a:lvl5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9pPr>
          </a:lstStyle>
          <a:p>
            <a:pPr eaLnBrk="1" hangingPunct="1"/>
            <a:endParaRPr lang="en-US" sz="1800" b="0">
              <a:latin typeface="Arial" charset="0"/>
            </a:endParaRPr>
          </a:p>
        </p:txBody>
      </p:sp>
      <p:sp>
        <p:nvSpPr>
          <p:cNvPr id="1032" name="Text Box 8"/>
          <p:cNvSpPr txBox="1">
            <a:spLocks noChangeArrowheads="1"/>
          </p:cNvSpPr>
          <p:nvPr userDrawn="1"/>
        </p:nvSpPr>
        <p:spPr bwMode="auto">
          <a:xfrm>
            <a:off x="457200" y="1143000"/>
            <a:ext cx="2590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1pPr>
            <a:lvl2pPr marL="37931725" indent="-37474525"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2pPr>
            <a:lvl3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3pPr>
            <a:lvl4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4pPr>
            <a:lvl5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sz="1800" b="0">
              <a:latin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ＭＳ Ｐゴシック" charset="-128"/>
          <a:cs typeface="ＭＳ Ｐゴシック" charset="-128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5pPr>
      <a:lvl6pPr marL="4572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6pPr>
      <a:lvl7pPr marL="9144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7pPr>
      <a:lvl8pPr marL="13716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8pPr>
      <a:lvl9pPr marL="18288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8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400">
          <a:solidFill>
            <a:schemeClr val="tx1"/>
          </a:solidFill>
          <a:latin typeface="+mn-lt"/>
          <a:ea typeface="ＭＳ Ｐゴシック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000">
          <a:solidFill>
            <a:schemeClr val="tx1"/>
          </a:solidFill>
          <a:latin typeface="+mn-lt"/>
          <a:ea typeface="ＭＳ Ｐゴシック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1.xml.rels><?xml version='1.0' encoding='utf-8'?>
<Relationships xmlns="http://schemas.openxmlformats.org/package/2006/relationships"><Relationship Id="rId3" Type="http://schemas.openxmlformats.org/officeDocument/2006/relationships/image" Target="../media/image19.png" /><Relationship Id="rId2" Type="http://schemas.openxmlformats.org/officeDocument/2006/relationships/image" Target="../media/image18.gif" /><Relationship Id="rId1" Type="http://schemas.openxmlformats.org/officeDocument/2006/relationships/slideLayout" Target="../slideLayouts/slideLayout2.xml" /></Relationships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1"/>
                </a:solidFill>
              </a:rPr>
              <a:t>Pascal’s Triangle 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mtClean="0"/>
              <a:pPr/>
              <a:t>31</a:t>
            </a:r>
            <a:endParaRPr lang="en-US"/>
          </a:p>
        </p:txBody>
      </p:sp>
      <p:pic>
        <p:nvPicPr>
          <p:cNvPr id="1026" name="Picture 2" descr="File:Yanghui triangle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1143000"/>
            <a:ext cx="2765394" cy="43025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925497" y="5693157"/>
            <a:ext cx="2895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dirty="0"/>
              <a:t>Yang Hui triangle (12??)</a:t>
            </a:r>
          </a:p>
        </p:txBody>
      </p:sp>
      <p:pic>
        <p:nvPicPr>
          <p:cNvPr id="1028" name="Picture 4" descr="File:Pascal's triangle pathways.sv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8026" y="1219200"/>
            <a:ext cx="3670347" cy="36703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4457259" y="5118146"/>
            <a:ext cx="430574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dirty="0"/>
              <a:t>The numbers of distinct paths to each square by a rook, when only rightward and downward movements are considered.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AE3B04A-3957-2D46-9A7D-A2BF37BCD259}"/>
              </a:ext>
            </a:extLst>
          </p:cNvPr>
          <p:cNvSpPr/>
          <p:nvPr/>
        </p:nvSpPr>
        <p:spPr bwMode="auto">
          <a:xfrm>
            <a:off x="7627307" y="2268712"/>
            <a:ext cx="534924" cy="52377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D99403D-DDD4-A84D-A6B8-2319E92840AE}"/>
              </a:ext>
            </a:extLst>
          </p:cNvPr>
          <p:cNvSpPr/>
          <p:nvPr/>
        </p:nvSpPr>
        <p:spPr bwMode="auto">
          <a:xfrm>
            <a:off x="5867400" y="4145049"/>
            <a:ext cx="534924" cy="52377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763E373-8AE7-DA4E-B3D2-2E26EFA0B3B4}"/>
              </a:ext>
            </a:extLst>
          </p:cNvPr>
          <p:cNvSpPr/>
          <p:nvPr/>
        </p:nvSpPr>
        <p:spPr bwMode="auto">
          <a:xfrm>
            <a:off x="6747849" y="3261806"/>
            <a:ext cx="534924" cy="52377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F6D67F1-D6AE-494E-AD2F-95C1C711568F}"/>
              </a:ext>
            </a:extLst>
          </p:cNvPr>
          <p:cNvSpPr/>
          <p:nvPr/>
        </p:nvSpPr>
        <p:spPr bwMode="auto">
          <a:xfrm>
            <a:off x="6705600" y="4136877"/>
            <a:ext cx="627056" cy="52377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ED708E9-D004-C848-AB6C-8BCAC9DC645A}"/>
              </a:ext>
            </a:extLst>
          </p:cNvPr>
          <p:cNvSpPr/>
          <p:nvPr/>
        </p:nvSpPr>
        <p:spPr bwMode="auto">
          <a:xfrm>
            <a:off x="7543800" y="3200400"/>
            <a:ext cx="534924" cy="52377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6D05AB8-1D11-BD4E-AAAD-189113D9F0E4}"/>
              </a:ext>
            </a:extLst>
          </p:cNvPr>
          <p:cNvSpPr/>
          <p:nvPr/>
        </p:nvSpPr>
        <p:spPr bwMode="auto">
          <a:xfrm>
            <a:off x="7599427" y="4114800"/>
            <a:ext cx="627056" cy="52377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X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4D6D649-80DB-254E-9D14-8490BE498676}"/>
              </a:ext>
            </a:extLst>
          </p:cNvPr>
          <p:cNvSpPr/>
          <p:nvPr/>
        </p:nvSpPr>
        <p:spPr bwMode="auto">
          <a:xfrm>
            <a:off x="7627307" y="3257492"/>
            <a:ext cx="627056" cy="52377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3912011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Lucida Sans"/>
        <a:ea typeface=""/>
        <a:cs typeface=""/>
      </a:majorFont>
      <a:minorFont>
        <a:latin typeface="Lucida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7894</TotalTime>
  <Words>2436</Words>
  <Application>Microsoft Macintosh PowerPoint</Application>
  <PresentationFormat>On-screen Show (4:3)</PresentationFormat>
  <Paragraphs>288</Paragraphs>
  <Slides>41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8" baseType="lpstr">
      <vt:lpstr>Arial</vt:lpstr>
      <vt:lpstr>Cambria Math</vt:lpstr>
      <vt:lpstr>Lucida Sans</vt:lpstr>
      <vt:lpstr>Monotype Sorts</vt:lpstr>
      <vt:lpstr>Times New Roman</vt:lpstr>
      <vt:lpstr>Wingdings</vt:lpstr>
      <vt:lpstr>Default Design</vt:lpstr>
      <vt:lpstr>Binomial Coefficients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Binomial Theorem</vt:lpstr>
      <vt:lpstr>Proof</vt:lpstr>
      <vt:lpstr>Example</vt:lpstr>
      <vt:lpstr>Example</vt:lpstr>
      <vt:lpstr>Example</vt:lpstr>
      <vt:lpstr>Corollary</vt:lpstr>
      <vt:lpstr>Alternative: Combinatorial Proof</vt:lpstr>
      <vt:lpstr>Corollary</vt:lpstr>
      <vt:lpstr>Exercise on Number of Subsets</vt:lpstr>
      <vt:lpstr>Corollary</vt:lpstr>
      <vt:lpstr>Pascal's Identity</vt:lpstr>
      <vt:lpstr>Example of Pascal's Identity for n=5, k=2</vt:lpstr>
      <vt:lpstr>Proof </vt:lpstr>
      <vt:lpstr>Combinatorial proof of Pascal’s identity</vt:lpstr>
      <vt:lpstr>Pascal’s Triangle (1641) </vt:lpstr>
      <vt:lpstr>Pascal’s Triangle (1641) </vt:lpstr>
      <vt:lpstr>Pascal’s Triangle (1641) </vt:lpstr>
      <vt:lpstr>Pascal’s Triangle (1641) </vt:lpstr>
      <vt:lpstr>Pascal’s Triangle (1641) </vt:lpstr>
      <vt:lpstr>Pascal’s Triangle (1641) </vt:lpstr>
      <vt:lpstr>Pascal’s Triangle (1641) </vt:lpstr>
      <vt:lpstr>Pascal’s Triangle </vt:lpstr>
      <vt:lpstr>Pascal’s Triangle </vt:lpstr>
      <vt:lpstr>Pascal’s Triangle </vt:lpstr>
      <vt:lpstr>Pascal’s Triangle </vt:lpstr>
      <vt:lpstr>Pascal’s Triangle </vt:lpstr>
      <vt:lpstr>Pascal’s Triangle </vt:lpstr>
      <vt:lpstr>Pascal’s Triangle </vt:lpstr>
      <vt:lpstr>Vandermonde's Identity</vt:lpstr>
      <vt:lpstr>Combinatorial Proof</vt:lpstr>
      <vt:lpstr>Corollary</vt:lpstr>
      <vt:lpstr>Counting bit strings</vt:lpstr>
      <vt:lpstr>Proof</vt:lpstr>
      <vt:lpstr>Exercise on Combinatorial Proof</vt:lpstr>
      <vt:lpstr>Exercise 2 on Combinatorial Proof</vt:lpstr>
    </vt:vector>
  </TitlesOfParts>
  <Company>HKUST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taicl</dc:creator>
  <cp:lastModifiedBy>Lionel Parreaux</cp:lastModifiedBy>
  <cp:revision>803</cp:revision>
  <cp:lastPrinted>2024-10-03T04:24:41Z</cp:lastPrinted>
  <dcterms:created xsi:type="dcterms:W3CDTF">2012-01-21T22:53:48Z</dcterms:created>
  <dcterms:modified xsi:type="dcterms:W3CDTF">2026-09-30T02:20:54Z</dcterms:modified>
</cp:coreProperties>
</file>