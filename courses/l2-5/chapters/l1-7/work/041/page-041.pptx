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1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10" r:id="rId4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2" Type="http://schemas.openxmlformats.org/officeDocument/2006/relationships/slide" Target="slides/slide41.xml" /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1.xml.rels><?xml version='1.0' encoding='utf-8'?>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2.xml" /></Relationships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624" y="152400"/>
            <a:ext cx="8382000" cy="715962"/>
          </a:xfrm>
        </p:spPr>
        <p:txBody>
          <a:bodyPr/>
          <a:lstStyle/>
          <a:p>
            <a:r>
              <a:rPr lang="en-US">
                <a:solidFill>
                  <a:srgbClr val="0000FF"/>
                </a:solidFill>
              </a:rPr>
              <a:t>Exercise 2</a:t>
            </a:r>
            <a:r>
              <a:rPr lang="en-US">
                <a:solidFill>
                  <a:schemeClr val="tx1"/>
                </a:solidFill>
              </a:rPr>
              <a:t> on Combinatorial 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868362"/>
                <a:ext cx="8835624" cy="55324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/>
                  <a:t>The following formula reduces to the one of the previous slide when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FF33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000" dirty="0"/>
                  <a:t>, 1≤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/>
                  <a:t> ≤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≤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Show by combinatorial proof that both sides count the same number in different ways. Hint: You can use the same reasoning as previous slide, but now there are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/>
                  <a:t> chairpersons.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tx1"/>
                    </a:solidFill>
                  </a:rPr>
                  <a:t>LHS: counts the number of ways of selecting a subset with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) out 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elements, and marking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elements among the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selected. Using the terminology of the previous slide, the committee has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chairpersons and any other number of members between zero and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chemeClr val="tx1"/>
                    </a:solidFill>
                  </a:rPr>
                  <a:t>RHS: counts the number of ways of marking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elements out 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(i.e., chairpersons) and choosing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among the remaining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elements (to form the rest of the committee).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68362"/>
                <a:ext cx="8835624" cy="5532438"/>
              </a:xfrm>
              <a:blipFill>
                <a:blip r:embed="rId2"/>
                <a:stretch>
                  <a:fillRect l="-690" t="-551" r="-1518" b="-110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92779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