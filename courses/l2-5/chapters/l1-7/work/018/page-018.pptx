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8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77" r:id="rId19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19" Type="http://schemas.openxmlformats.org/officeDocument/2006/relationships/slide" Target="slides/slide18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?>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6.xml" /><Relationship Id="rId5" Type="http://schemas.openxmlformats.org/officeDocument/2006/relationships/image" Target="../media/image14.png" /><Relationship Id="rId4" Type="http://schemas.openxmlformats.org/officeDocument/2006/relationships/image" Target="../media/image13.png" /></Relationships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600" y="914400"/>
            <a:ext cx="6848350" cy="52014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b="0" dirty="0"/>
          </a:p>
          <a:p>
            <a:endParaRPr lang="en-US" sz="2400" b="0" dirty="0"/>
          </a:p>
          <a:p>
            <a:r>
              <a:rPr lang="en-US" sz="2400" b="0" dirty="0"/>
              <a:t>Let X = {A, B, C, D, </a:t>
            </a:r>
            <a:r>
              <a:rPr lang="en-US" sz="2400" b="0" dirty="0">
                <a:solidFill>
                  <a:srgbClr val="FF0000"/>
                </a:solidFill>
              </a:rPr>
              <a:t>E</a:t>
            </a:r>
            <a:r>
              <a:rPr lang="en-US" sz="2400" b="0" dirty="0"/>
              <a:t>}</a:t>
            </a:r>
          </a:p>
          <a:p>
            <a:r>
              <a:rPr lang="en-US" sz="2400" b="0" dirty="0"/>
              <a:t>S = 2-combinations of X</a:t>
            </a:r>
          </a:p>
          <a:p>
            <a:pPr>
              <a:buFont typeface="Monotype Sorts" pitchFamily="2" charset="2"/>
              <a:buNone/>
            </a:pPr>
            <a:r>
              <a:rPr lang="en-US" sz="2400" b="0" dirty="0"/>
              <a:t>   =</a:t>
            </a:r>
            <a:r>
              <a:rPr lang="en-US" altLang="zh-CN" sz="2400" b="0" dirty="0"/>
              <a:t> {those containing </a:t>
            </a:r>
            <a:r>
              <a:rPr lang="en-US" altLang="zh-CN" sz="2400" b="0" dirty="0">
                <a:solidFill>
                  <a:srgbClr val="0000FF"/>
                </a:solidFill>
              </a:rPr>
              <a:t>E</a:t>
            </a:r>
            <a:r>
              <a:rPr lang="en-US" altLang="zh-CN" sz="2400" b="0" dirty="0"/>
              <a:t>}  U  {those without </a:t>
            </a:r>
            <a:r>
              <a:rPr lang="en-US" altLang="zh-CN" sz="2400" b="0" dirty="0">
                <a:solidFill>
                  <a:srgbClr val="FF0000"/>
                </a:solidFill>
              </a:rPr>
              <a:t>E</a:t>
            </a:r>
            <a:r>
              <a:rPr lang="en-US" altLang="zh-CN" sz="2400" b="0" dirty="0"/>
              <a:t>}</a:t>
            </a:r>
          </a:p>
          <a:p>
            <a:pPr>
              <a:buFont typeface="Monotype Sorts" pitchFamily="2" charset="2"/>
              <a:buNone/>
            </a:pPr>
            <a:r>
              <a:rPr lang="en-US" altLang="zh-CN" sz="2400" b="0" dirty="0"/>
              <a:t>   = S</a:t>
            </a:r>
            <a:r>
              <a:rPr lang="en-US" altLang="zh-CN" sz="2400" b="0" baseline="-25000" dirty="0"/>
              <a:t>1</a:t>
            </a:r>
            <a:r>
              <a:rPr lang="en-US" altLang="zh-CN" sz="2400" b="0" dirty="0"/>
              <a:t> U S</a:t>
            </a:r>
            <a:r>
              <a:rPr lang="en-US" altLang="zh-CN" sz="2400" b="0" baseline="-25000" dirty="0"/>
              <a:t>2</a:t>
            </a:r>
            <a:r>
              <a:rPr lang="en-US" altLang="zh-CN" sz="2400" b="0" dirty="0"/>
              <a:t> </a:t>
            </a:r>
            <a:r>
              <a:rPr lang="zh-CN" altLang="en-US" sz="2400" b="0" dirty="0"/>
              <a:t> </a:t>
            </a:r>
            <a:endParaRPr lang="en-US" sz="2400" b="0" dirty="0"/>
          </a:p>
          <a:p>
            <a:pPr>
              <a:buFont typeface="Monotype Sorts" pitchFamily="2" charset="2"/>
              <a:buNone/>
            </a:pPr>
            <a:r>
              <a:rPr lang="en-US" altLang="zh-CN" sz="2400" b="0" dirty="0"/>
              <a:t>S</a:t>
            </a:r>
            <a:r>
              <a:rPr lang="en-US" altLang="zh-CN" sz="2400" b="0" baseline="-25000" dirty="0"/>
              <a:t>1</a:t>
            </a:r>
            <a:r>
              <a:rPr lang="en-US" altLang="zh-CN" sz="2400" b="0" dirty="0"/>
              <a:t> = { {A,</a:t>
            </a:r>
            <a:r>
              <a:rPr lang="en-US" altLang="zh-CN" sz="2400" b="0" dirty="0">
                <a:solidFill>
                  <a:srgbClr val="0000FF"/>
                </a:solidFill>
              </a:rPr>
              <a:t>E</a:t>
            </a:r>
            <a:r>
              <a:rPr lang="en-US" altLang="zh-CN" sz="2400" b="0" dirty="0"/>
              <a:t>}, </a:t>
            </a:r>
            <a:r>
              <a:rPr lang="en-US" altLang="zh-CN" sz="2400" b="0" dirty="0">
                <a:solidFill>
                  <a:srgbClr val="000000"/>
                </a:solidFill>
              </a:rPr>
              <a:t>{B,</a:t>
            </a:r>
            <a:r>
              <a:rPr lang="en-US" altLang="zh-CN" sz="2400" b="0" dirty="0">
                <a:solidFill>
                  <a:srgbClr val="0000FF"/>
                </a:solidFill>
              </a:rPr>
              <a:t>E</a:t>
            </a:r>
            <a:r>
              <a:rPr lang="en-US" altLang="zh-CN" sz="2400" b="0" dirty="0">
                <a:solidFill>
                  <a:srgbClr val="000000"/>
                </a:solidFill>
              </a:rPr>
              <a:t>}, {C,</a:t>
            </a:r>
            <a:r>
              <a:rPr lang="en-US" altLang="zh-CN" sz="2400" b="0" dirty="0">
                <a:solidFill>
                  <a:srgbClr val="0000FF"/>
                </a:solidFill>
              </a:rPr>
              <a:t>E</a:t>
            </a:r>
            <a:r>
              <a:rPr lang="en-US" altLang="zh-CN" sz="2400" b="0" dirty="0">
                <a:solidFill>
                  <a:srgbClr val="000000"/>
                </a:solidFill>
              </a:rPr>
              <a:t>}, {D,</a:t>
            </a:r>
            <a:r>
              <a:rPr lang="en-US" altLang="zh-CN" sz="2400" b="0" dirty="0">
                <a:solidFill>
                  <a:srgbClr val="0000FF"/>
                </a:solidFill>
              </a:rPr>
              <a:t>E</a:t>
            </a:r>
            <a:r>
              <a:rPr lang="en-US" altLang="zh-CN" sz="2400" b="0" dirty="0">
                <a:solidFill>
                  <a:srgbClr val="000000"/>
                </a:solidFill>
              </a:rPr>
              <a:t>}</a:t>
            </a:r>
            <a:r>
              <a:rPr lang="en-US" altLang="zh-CN" sz="2400" b="0" dirty="0"/>
              <a:t> }</a:t>
            </a:r>
          </a:p>
          <a:p>
            <a:pPr>
              <a:buFont typeface="Monotype Sorts" pitchFamily="2" charset="2"/>
              <a:buNone/>
            </a:pPr>
            <a:r>
              <a:rPr lang="en-US" altLang="zh-CN" sz="2400" b="0" dirty="0"/>
              <a:t>        i.e., 1-combinations from {A,B,C,D}</a:t>
            </a:r>
          </a:p>
          <a:p>
            <a:pPr>
              <a:buFont typeface="Monotype Sorts" pitchFamily="2" charset="2"/>
              <a:buNone/>
            </a:pPr>
            <a:r>
              <a:rPr lang="en-US" altLang="zh-CN" sz="2400" b="0" dirty="0"/>
              <a:t>          |S</a:t>
            </a:r>
            <a:r>
              <a:rPr lang="en-US" altLang="zh-CN" sz="2400" b="0" baseline="-25000" dirty="0"/>
              <a:t>1</a:t>
            </a:r>
            <a:r>
              <a:rPr lang="en-US" altLang="zh-CN" sz="2400" b="0" dirty="0"/>
              <a:t>| = </a:t>
            </a:r>
            <a:endParaRPr lang="en-US" altLang="zh-CN" sz="3200" b="0" dirty="0"/>
          </a:p>
          <a:p>
            <a:pPr>
              <a:buFont typeface="Monotype Sorts" pitchFamily="2" charset="2"/>
              <a:buNone/>
            </a:pPr>
            <a:endParaRPr lang="en-US" altLang="zh-CN" sz="1000" b="0" dirty="0"/>
          </a:p>
          <a:p>
            <a:pPr>
              <a:buFont typeface="Monotype Sorts" pitchFamily="2" charset="2"/>
              <a:buNone/>
            </a:pPr>
            <a:r>
              <a:rPr lang="en-US" altLang="zh-CN" sz="2400" b="0" dirty="0"/>
              <a:t>S</a:t>
            </a:r>
            <a:r>
              <a:rPr lang="en-US" altLang="zh-CN" sz="2400" b="0" baseline="-25000" dirty="0"/>
              <a:t>2 </a:t>
            </a:r>
            <a:r>
              <a:rPr lang="en-US" altLang="zh-CN" sz="2400" b="0" dirty="0"/>
              <a:t>= {{A,B}, {A,C}, {A,D}, {B,C}, {B,D}, {C,D}}  </a:t>
            </a:r>
          </a:p>
          <a:p>
            <a:pPr>
              <a:buFont typeface="Monotype Sorts" pitchFamily="2" charset="2"/>
              <a:buNone/>
            </a:pPr>
            <a:r>
              <a:rPr lang="en-US" altLang="zh-CN" sz="2400" b="0" dirty="0"/>
              <a:t>        i.e., 2-combinations from {A, B, C, D}</a:t>
            </a:r>
          </a:p>
          <a:p>
            <a:pPr>
              <a:buFont typeface="Monotype Sorts" pitchFamily="2" charset="2"/>
              <a:buNone/>
            </a:pPr>
            <a:r>
              <a:rPr lang="en-US" altLang="zh-CN" sz="1000" b="0" dirty="0"/>
              <a:t>          </a:t>
            </a:r>
          </a:p>
          <a:p>
            <a:pPr>
              <a:buFont typeface="Monotype Sorts" pitchFamily="2" charset="2"/>
              <a:buNone/>
            </a:pPr>
            <a:r>
              <a:rPr lang="en-US" altLang="zh-CN" sz="2400" b="0" dirty="0"/>
              <a:t>	|S</a:t>
            </a:r>
            <a:r>
              <a:rPr lang="en-US" altLang="zh-CN" sz="2400" b="0" baseline="-25000" dirty="0"/>
              <a:t>2</a:t>
            </a:r>
            <a:r>
              <a:rPr lang="en-US" altLang="zh-CN" sz="2400" b="0" dirty="0"/>
              <a:t>| = </a:t>
            </a:r>
          </a:p>
          <a:p>
            <a:pPr>
              <a:buFont typeface="Monotype Sorts" pitchFamily="2" charset="2"/>
              <a:buNone/>
            </a:pPr>
            <a:endParaRPr lang="en-US" sz="2400" b="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919" y="973873"/>
            <a:ext cx="2133600" cy="75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836" y="3848503"/>
            <a:ext cx="408791" cy="523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5195887"/>
            <a:ext cx="476250" cy="59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12" y="5881907"/>
            <a:ext cx="5114925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2800" dirty="0">
                <a:solidFill>
                  <a:schemeClr val="tx1"/>
                </a:solidFill>
              </a:rPr>
              <a:t>Example of Pascal's Identity for </a:t>
            </a:r>
            <a:r>
              <a:rPr lang="en-US" altLang="zh-CN" sz="2800" i="1" dirty="0">
                <a:solidFill>
                  <a:schemeClr val="tx1"/>
                </a:solidFill>
              </a:rPr>
              <a:t>n</a:t>
            </a:r>
            <a:r>
              <a:rPr lang="en-US" altLang="zh-CN" sz="2800" dirty="0">
                <a:solidFill>
                  <a:schemeClr val="tx1"/>
                </a:solidFill>
              </a:rPr>
              <a:t>=5, </a:t>
            </a:r>
            <a:r>
              <a:rPr lang="en-US" altLang="zh-CN" sz="2800" i="1" dirty="0">
                <a:solidFill>
                  <a:schemeClr val="tx1"/>
                </a:solidFill>
              </a:rPr>
              <a:t>k</a:t>
            </a:r>
            <a:r>
              <a:rPr lang="en-US" altLang="zh-CN" sz="2800" dirty="0">
                <a:solidFill>
                  <a:schemeClr val="tx1"/>
                </a:solidFill>
              </a:rPr>
              <a:t>=2</a:t>
            </a:r>
            <a:endParaRPr lang="en-US" sz="2800" b="1" dirty="0">
              <a:solidFill>
                <a:srgbClr val="0000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18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21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