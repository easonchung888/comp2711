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handoutMasterIdLst>
    <p:handoutMasterId r:id="rId54"/>
  </p:handoutMasterIdLst>
  <p:sldIdLst>
    <p:sldId id="357" r:id="rId2"/>
    <p:sldId id="354" r:id="rId3"/>
    <p:sldId id="376" r:id="rId4"/>
    <p:sldId id="355" r:id="rId5"/>
    <p:sldId id="358" r:id="rId6"/>
    <p:sldId id="359" r:id="rId7"/>
    <p:sldId id="362" r:id="rId8"/>
    <p:sldId id="377" r:id="rId9"/>
    <p:sldId id="378" r:id="rId10"/>
    <p:sldId id="395" r:id="rId11"/>
    <p:sldId id="387" r:id="rId12"/>
    <p:sldId id="335" r:id="rId13"/>
    <p:sldId id="393" r:id="rId14"/>
    <p:sldId id="383" r:id="rId15"/>
    <p:sldId id="364" r:id="rId16"/>
    <p:sldId id="365" r:id="rId17"/>
    <p:sldId id="308" r:id="rId18"/>
    <p:sldId id="366" r:id="rId19"/>
    <p:sldId id="385" r:id="rId20"/>
    <p:sldId id="337" r:id="rId21"/>
    <p:sldId id="338" r:id="rId22"/>
    <p:sldId id="333" r:id="rId23"/>
    <p:sldId id="353" r:id="rId24"/>
    <p:sldId id="334" r:id="rId25"/>
    <p:sldId id="312" r:id="rId26"/>
    <p:sldId id="314" r:id="rId27"/>
    <p:sldId id="315" r:id="rId28"/>
    <p:sldId id="316" r:id="rId29"/>
    <p:sldId id="309" r:id="rId30"/>
    <p:sldId id="384" r:id="rId31"/>
    <p:sldId id="367" r:id="rId32"/>
    <p:sldId id="396" r:id="rId33"/>
    <p:sldId id="336" r:id="rId34"/>
    <p:sldId id="371" r:id="rId35"/>
    <p:sldId id="382" r:id="rId36"/>
    <p:sldId id="397" r:id="rId37"/>
    <p:sldId id="373" r:id="rId38"/>
    <p:sldId id="374" r:id="rId39"/>
    <p:sldId id="375" r:id="rId40"/>
    <p:sldId id="388" r:id="rId41"/>
    <p:sldId id="389" r:id="rId42"/>
    <p:sldId id="399" r:id="rId43"/>
    <p:sldId id="390" r:id="rId44"/>
    <p:sldId id="412" r:id="rId45"/>
    <p:sldId id="392" r:id="rId46"/>
    <p:sldId id="391" r:id="rId47"/>
    <p:sldId id="411" r:id="rId48"/>
    <p:sldId id="401" r:id="rId49"/>
    <p:sldId id="394" r:id="rId50"/>
    <p:sldId id="350" r:id="rId51"/>
    <p:sldId id="351" r:id="rId52"/>
  </p:sldIdLst>
  <p:sldSz cx="9144000" cy="6858000" type="screen4x3"/>
  <p:notesSz cx="6884988" cy="10018713"/>
  <p:defaultTextStyle>
    <a:defPPr>
      <a:defRPr lang="en-US"/>
    </a:defPPr>
    <a:lvl1pPr algn="l" rtl="0" fontAlgn="base">
      <a:spcBef>
        <a:spcPct val="0"/>
      </a:spcBef>
      <a:spcAft>
        <a:spcPct val="0"/>
      </a:spcAft>
      <a:defRPr b="1" kern="1200">
        <a:solidFill>
          <a:schemeClr val="tx1"/>
        </a:solidFill>
        <a:latin typeface="Lucida Sans" charset="0"/>
        <a:ea typeface="ＭＳ Ｐゴシック" charset="-128"/>
        <a:cs typeface="+mn-cs"/>
      </a:defRPr>
    </a:lvl1pPr>
    <a:lvl2pPr marL="457200" algn="l" rtl="0" fontAlgn="base">
      <a:spcBef>
        <a:spcPct val="0"/>
      </a:spcBef>
      <a:spcAft>
        <a:spcPct val="0"/>
      </a:spcAft>
      <a:defRPr b="1" kern="1200">
        <a:solidFill>
          <a:schemeClr val="tx1"/>
        </a:solidFill>
        <a:latin typeface="Lucida Sans" charset="0"/>
        <a:ea typeface="ＭＳ Ｐゴシック" charset="-128"/>
        <a:cs typeface="+mn-cs"/>
      </a:defRPr>
    </a:lvl2pPr>
    <a:lvl3pPr marL="914400" algn="l" rtl="0" fontAlgn="base">
      <a:spcBef>
        <a:spcPct val="0"/>
      </a:spcBef>
      <a:spcAft>
        <a:spcPct val="0"/>
      </a:spcAft>
      <a:defRPr b="1" kern="1200">
        <a:solidFill>
          <a:schemeClr val="tx1"/>
        </a:solidFill>
        <a:latin typeface="Lucida Sans" charset="0"/>
        <a:ea typeface="ＭＳ Ｐゴシック" charset="-128"/>
        <a:cs typeface="+mn-cs"/>
      </a:defRPr>
    </a:lvl3pPr>
    <a:lvl4pPr marL="1371600" algn="l" rtl="0" fontAlgn="base">
      <a:spcBef>
        <a:spcPct val="0"/>
      </a:spcBef>
      <a:spcAft>
        <a:spcPct val="0"/>
      </a:spcAft>
      <a:defRPr b="1" kern="1200">
        <a:solidFill>
          <a:schemeClr val="tx1"/>
        </a:solidFill>
        <a:latin typeface="Lucida Sans" charset="0"/>
        <a:ea typeface="ＭＳ Ｐゴシック" charset="-128"/>
        <a:cs typeface="+mn-cs"/>
      </a:defRPr>
    </a:lvl4pPr>
    <a:lvl5pPr marL="1828800" algn="l" rtl="0" fontAlgn="base">
      <a:spcBef>
        <a:spcPct val="0"/>
      </a:spcBef>
      <a:spcAft>
        <a:spcPct val="0"/>
      </a:spcAft>
      <a:defRPr b="1" kern="1200">
        <a:solidFill>
          <a:schemeClr val="tx1"/>
        </a:solidFill>
        <a:latin typeface="Lucida Sans" charset="0"/>
        <a:ea typeface="ＭＳ Ｐゴシック" charset="-128"/>
        <a:cs typeface="+mn-cs"/>
      </a:defRPr>
    </a:lvl5pPr>
    <a:lvl6pPr marL="2286000" algn="l" defTabSz="914400" rtl="0" eaLnBrk="1" latinLnBrk="0" hangingPunct="1">
      <a:defRPr b="1" kern="1200">
        <a:solidFill>
          <a:schemeClr val="tx1"/>
        </a:solidFill>
        <a:latin typeface="Lucida Sans" charset="0"/>
        <a:ea typeface="ＭＳ Ｐゴシック" charset="-128"/>
        <a:cs typeface="+mn-cs"/>
      </a:defRPr>
    </a:lvl6pPr>
    <a:lvl7pPr marL="2743200" algn="l" defTabSz="914400" rtl="0" eaLnBrk="1" latinLnBrk="0" hangingPunct="1">
      <a:defRPr b="1" kern="1200">
        <a:solidFill>
          <a:schemeClr val="tx1"/>
        </a:solidFill>
        <a:latin typeface="Lucida Sans" charset="0"/>
        <a:ea typeface="ＭＳ Ｐゴシック" charset="-128"/>
        <a:cs typeface="+mn-cs"/>
      </a:defRPr>
    </a:lvl7pPr>
    <a:lvl8pPr marL="3200400" algn="l" defTabSz="914400" rtl="0" eaLnBrk="1" latinLnBrk="0" hangingPunct="1">
      <a:defRPr b="1" kern="1200">
        <a:solidFill>
          <a:schemeClr val="tx1"/>
        </a:solidFill>
        <a:latin typeface="Lucida Sans" charset="0"/>
        <a:ea typeface="ＭＳ Ｐゴシック" charset="-128"/>
        <a:cs typeface="+mn-cs"/>
      </a:defRPr>
    </a:lvl8pPr>
    <a:lvl9pPr marL="3657600" algn="l" defTabSz="914400" rtl="0" eaLnBrk="1" latinLnBrk="0" hangingPunct="1">
      <a:defRPr b="1" kern="1200">
        <a:solidFill>
          <a:schemeClr val="tx1"/>
        </a:solidFill>
        <a:latin typeface="Lucida Sans"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72" autoAdjust="0"/>
    <p:restoredTop sz="94279" autoAdjust="0"/>
  </p:normalViewPr>
  <p:slideViewPr>
    <p:cSldViewPr>
      <p:cViewPr varScale="1">
        <p:scale>
          <a:sx n="150" d="100"/>
          <a:sy n="150" d="100"/>
        </p:scale>
        <p:origin x="176" y="6168"/>
      </p:cViewPr>
      <p:guideLst>
        <p:guide orient="horz" pos="2160"/>
        <p:guide pos="2880"/>
      </p:guideLst>
    </p:cSldViewPr>
  </p:slideViewPr>
  <p:outlineViewPr>
    <p:cViewPr>
      <p:scale>
        <a:sx n="33" d="100"/>
        <a:sy n="33" d="100"/>
      </p:scale>
      <p:origin x="114" y="10680"/>
    </p:cViewPr>
  </p:outlineViewPr>
  <p:notesTextViewPr>
    <p:cViewPr>
      <p:scale>
        <a:sx n="3" d="2"/>
        <a:sy n="3" d="2"/>
      </p:scale>
      <p:origin x="0" y="0"/>
    </p:cViewPr>
  </p:notesTextViewPr>
  <p:sorterViewPr>
    <p:cViewPr>
      <p:scale>
        <a:sx n="100" d="100"/>
        <a:sy n="100" d="100"/>
      </p:scale>
      <p:origin x="0" y="25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84032" cy="500936"/>
          </a:xfrm>
          <a:prstGeom prst="rect">
            <a:avLst/>
          </a:prstGeom>
        </p:spPr>
        <p:txBody>
          <a:bodyPr vert="horz" lIns="91405" tIns="45702" rIns="91405" bIns="45702" rtlCol="0"/>
          <a:lstStyle>
            <a:lvl1pPr algn="l">
              <a:defRPr sz="1200"/>
            </a:lvl1pPr>
          </a:lstStyle>
          <a:p>
            <a:endParaRPr lang="en-US"/>
          </a:p>
        </p:txBody>
      </p:sp>
      <p:sp>
        <p:nvSpPr>
          <p:cNvPr id="3" name="Date Placeholder 2"/>
          <p:cNvSpPr>
            <a:spLocks noGrp="1"/>
          </p:cNvSpPr>
          <p:nvPr>
            <p:ph type="dt" sz="quarter" idx="1"/>
          </p:nvPr>
        </p:nvSpPr>
        <p:spPr>
          <a:xfrm>
            <a:off x="3899349" y="4"/>
            <a:ext cx="2984032" cy="500936"/>
          </a:xfrm>
          <a:prstGeom prst="rect">
            <a:avLst/>
          </a:prstGeom>
        </p:spPr>
        <p:txBody>
          <a:bodyPr vert="horz" lIns="91405" tIns="45702" rIns="91405" bIns="45702" rtlCol="0"/>
          <a:lstStyle>
            <a:lvl1pPr algn="r">
              <a:defRPr sz="1200"/>
            </a:lvl1pPr>
          </a:lstStyle>
          <a:p>
            <a:fld id="{50BE4F2C-0EE3-4CC6-9A7F-FCEE2CED77EB}" type="datetimeFigureOut">
              <a:rPr lang="en-US" smtClean="0"/>
              <a:pPr/>
              <a:t>9/30/26</a:t>
            </a:fld>
            <a:endParaRPr lang="en-US"/>
          </a:p>
        </p:txBody>
      </p:sp>
      <p:sp>
        <p:nvSpPr>
          <p:cNvPr id="4" name="Footer Placeholder 3"/>
          <p:cNvSpPr>
            <a:spLocks noGrp="1"/>
          </p:cNvSpPr>
          <p:nvPr>
            <p:ph type="ftr" sz="quarter" idx="2"/>
          </p:nvPr>
        </p:nvSpPr>
        <p:spPr>
          <a:xfrm>
            <a:off x="1" y="9516175"/>
            <a:ext cx="2984032" cy="500936"/>
          </a:xfrm>
          <a:prstGeom prst="rect">
            <a:avLst/>
          </a:prstGeom>
        </p:spPr>
        <p:txBody>
          <a:bodyPr vert="horz" lIns="91405" tIns="45702" rIns="91405" bIns="45702" rtlCol="0" anchor="b"/>
          <a:lstStyle>
            <a:lvl1pPr algn="l">
              <a:defRPr sz="1200"/>
            </a:lvl1pPr>
          </a:lstStyle>
          <a:p>
            <a:endParaRPr lang="en-US"/>
          </a:p>
        </p:txBody>
      </p:sp>
      <p:sp>
        <p:nvSpPr>
          <p:cNvPr id="5" name="Slide Number Placeholder 4"/>
          <p:cNvSpPr>
            <a:spLocks noGrp="1"/>
          </p:cNvSpPr>
          <p:nvPr>
            <p:ph type="sldNum" sz="quarter" idx="3"/>
          </p:nvPr>
        </p:nvSpPr>
        <p:spPr>
          <a:xfrm>
            <a:off x="3899349" y="9516175"/>
            <a:ext cx="2984032" cy="500936"/>
          </a:xfrm>
          <a:prstGeom prst="rect">
            <a:avLst/>
          </a:prstGeom>
        </p:spPr>
        <p:txBody>
          <a:bodyPr vert="horz" lIns="91405" tIns="45702" rIns="91405" bIns="45702" rtlCol="0" anchor="b"/>
          <a:lstStyle>
            <a:lvl1pPr algn="r">
              <a:defRPr sz="1200"/>
            </a:lvl1pPr>
          </a:lstStyle>
          <a:p>
            <a:fld id="{A2AB639E-B2BE-4F41-B992-699629CBE31A}" type="slidenum">
              <a:rPr lang="en-US" smtClean="0"/>
              <a:pPr/>
              <a:t>‹#›</a:t>
            </a:fld>
            <a:endParaRPr lang="en-US"/>
          </a:p>
        </p:txBody>
      </p:sp>
    </p:spTree>
    <p:extLst>
      <p:ext uri="{BB962C8B-B14F-4D97-AF65-F5344CB8AC3E}">
        <p14:creationId xmlns:p14="http://schemas.microsoft.com/office/powerpoint/2010/main" val="14424535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2" y="4"/>
            <a:ext cx="2983495" cy="500936"/>
          </a:xfrm>
          <a:prstGeom prst="rect">
            <a:avLst/>
          </a:prstGeom>
          <a:noFill/>
          <a:ln w="9525">
            <a:noFill/>
            <a:miter lim="800000"/>
            <a:headEnd/>
            <a:tailEnd/>
          </a:ln>
          <a:effectLst/>
        </p:spPr>
        <p:txBody>
          <a:bodyPr vert="horz" wrap="square" lIns="91405" tIns="45702" rIns="91405" bIns="45702" numCol="1" anchor="t" anchorCtr="0" compatLnSpc="1">
            <a:prstTxWarp prst="textNoShape">
              <a:avLst/>
            </a:prstTxWarp>
          </a:bodyPr>
          <a:lstStyle>
            <a:lvl1pPr>
              <a:defRPr sz="1200" b="0">
                <a:latin typeface="Arial" charset="0"/>
              </a:defRPr>
            </a:lvl1pPr>
          </a:lstStyle>
          <a:p>
            <a:endParaRPr lang="en-US"/>
          </a:p>
        </p:txBody>
      </p:sp>
      <p:sp>
        <p:nvSpPr>
          <p:cNvPr id="3075" name="Rectangle 3"/>
          <p:cNvSpPr>
            <a:spLocks noGrp="1" noChangeArrowheads="1"/>
          </p:cNvSpPr>
          <p:nvPr>
            <p:ph type="dt" idx="1"/>
          </p:nvPr>
        </p:nvSpPr>
        <p:spPr bwMode="auto">
          <a:xfrm>
            <a:off x="3899901" y="4"/>
            <a:ext cx="2983495" cy="500936"/>
          </a:xfrm>
          <a:prstGeom prst="rect">
            <a:avLst/>
          </a:prstGeom>
          <a:noFill/>
          <a:ln w="9525">
            <a:noFill/>
            <a:miter lim="800000"/>
            <a:headEnd/>
            <a:tailEnd/>
          </a:ln>
          <a:effectLst/>
        </p:spPr>
        <p:txBody>
          <a:bodyPr vert="horz" wrap="square" lIns="91405" tIns="45702" rIns="91405" bIns="45702" numCol="1" anchor="t" anchorCtr="0" compatLnSpc="1">
            <a:prstTxWarp prst="textNoShape">
              <a:avLst/>
            </a:prstTxWarp>
          </a:bodyPr>
          <a:lstStyle>
            <a:lvl1pPr algn="r">
              <a:defRPr sz="1200" b="0">
                <a:latin typeface="Arial" charset="0"/>
              </a:defRPr>
            </a:lvl1pPr>
          </a:lstStyle>
          <a:p>
            <a:endParaRPr lang="en-US"/>
          </a:p>
        </p:txBody>
      </p:sp>
      <p:sp>
        <p:nvSpPr>
          <p:cNvPr id="13316" name="Rectangle 4"/>
          <p:cNvSpPr>
            <a:spLocks noGrp="1" noRot="1" noChangeAspect="1" noChangeArrowheads="1" noTextEdit="1"/>
          </p:cNvSpPr>
          <p:nvPr>
            <p:ph type="sldImg" idx="2"/>
          </p:nvPr>
        </p:nvSpPr>
        <p:spPr bwMode="auto">
          <a:xfrm>
            <a:off x="938213" y="752475"/>
            <a:ext cx="5008562" cy="3757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8499" y="4758891"/>
            <a:ext cx="5507990" cy="4508421"/>
          </a:xfrm>
          <a:prstGeom prst="rect">
            <a:avLst/>
          </a:prstGeom>
          <a:noFill/>
          <a:ln w="9525">
            <a:noFill/>
            <a:miter lim="800000"/>
            <a:headEnd/>
            <a:tailEnd/>
          </a:ln>
          <a:effectLst/>
        </p:spPr>
        <p:txBody>
          <a:bodyPr vert="horz" wrap="square" lIns="91405" tIns="45702" rIns="91405" bIns="4570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2" y="9516041"/>
            <a:ext cx="2983495" cy="500936"/>
          </a:xfrm>
          <a:prstGeom prst="rect">
            <a:avLst/>
          </a:prstGeom>
          <a:noFill/>
          <a:ln w="9525">
            <a:noFill/>
            <a:miter lim="800000"/>
            <a:headEnd/>
            <a:tailEnd/>
          </a:ln>
          <a:effectLst/>
        </p:spPr>
        <p:txBody>
          <a:bodyPr vert="horz" wrap="square" lIns="91405" tIns="45702" rIns="91405" bIns="45702" numCol="1" anchor="b" anchorCtr="0" compatLnSpc="1">
            <a:prstTxWarp prst="textNoShape">
              <a:avLst/>
            </a:prstTxWarp>
          </a:bodyPr>
          <a:lstStyle>
            <a:lvl1pPr>
              <a:defRPr sz="1200" b="0">
                <a:latin typeface="Arial" charset="0"/>
              </a:defRPr>
            </a:lvl1pPr>
          </a:lstStyle>
          <a:p>
            <a:endParaRPr lang="en-US"/>
          </a:p>
        </p:txBody>
      </p:sp>
      <p:sp>
        <p:nvSpPr>
          <p:cNvPr id="3079" name="Rectangle 7"/>
          <p:cNvSpPr>
            <a:spLocks noGrp="1" noChangeArrowheads="1"/>
          </p:cNvSpPr>
          <p:nvPr>
            <p:ph type="sldNum" sz="quarter" idx="5"/>
          </p:nvPr>
        </p:nvSpPr>
        <p:spPr bwMode="auto">
          <a:xfrm>
            <a:off x="3899901" y="9516041"/>
            <a:ext cx="2983495" cy="500936"/>
          </a:xfrm>
          <a:prstGeom prst="rect">
            <a:avLst/>
          </a:prstGeom>
          <a:noFill/>
          <a:ln w="9525">
            <a:noFill/>
            <a:miter lim="800000"/>
            <a:headEnd/>
            <a:tailEnd/>
          </a:ln>
          <a:effectLst/>
        </p:spPr>
        <p:txBody>
          <a:bodyPr vert="horz" wrap="square" lIns="91405" tIns="45702" rIns="91405" bIns="45702" numCol="1" anchor="b" anchorCtr="0" compatLnSpc="1">
            <a:prstTxWarp prst="textNoShape">
              <a:avLst/>
            </a:prstTxWarp>
          </a:bodyPr>
          <a:lstStyle>
            <a:lvl1pPr algn="r">
              <a:defRPr sz="1200" b="0">
                <a:latin typeface="Arial" charset="0"/>
              </a:defRPr>
            </a:lvl1pPr>
          </a:lstStyle>
          <a:p>
            <a:fld id="{878340DC-DDD3-4383-9614-668A8EE0901D}" type="slidenum">
              <a:rPr lang="en-US"/>
              <a:pPr/>
              <a:t>‹#›</a:t>
            </a:fld>
            <a:endParaRPr lang="en-US"/>
          </a:p>
        </p:txBody>
      </p:sp>
    </p:spTree>
    <p:extLst>
      <p:ext uri="{BB962C8B-B14F-4D97-AF65-F5344CB8AC3E}">
        <p14:creationId xmlns:p14="http://schemas.microsoft.com/office/powerpoint/2010/main" val="2726363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p:cNvSpPr>
          <p:nvPr>
            <p:ph type="sldImg"/>
          </p:nvPr>
        </p:nvSpPr>
        <p:spPr>
          <a:ln/>
        </p:spPr>
      </p:sp>
      <p:sp>
        <p:nvSpPr>
          <p:cNvPr id="17411" name="Notes Placeholder 2"/>
          <p:cNvSpPr>
            <a:spLocks noGrp="1"/>
          </p:cNvSpPr>
          <p:nvPr>
            <p:ph type="body" idx="1"/>
          </p:nvPr>
        </p:nvSpPr>
        <p:spPr>
          <a:noFill/>
          <a:ln/>
        </p:spPr>
        <p:txBody>
          <a:bodyPr/>
          <a:lstStyle/>
          <a:p>
            <a:pPr eaLnBrk="1" hangingPunct="1"/>
            <a:endParaRPr lang="en-US"/>
          </a:p>
        </p:txBody>
      </p:sp>
      <p:sp>
        <p:nvSpPr>
          <p:cNvPr id="17412" name="Slide Number Placeholder 3"/>
          <p:cNvSpPr>
            <a:spLocks noGrp="1"/>
          </p:cNvSpPr>
          <p:nvPr>
            <p:ph type="sldNum" sz="quarter" idx="5"/>
          </p:nvPr>
        </p:nvSpPr>
        <p:spPr>
          <a:noFill/>
        </p:spPr>
        <p:txBody>
          <a:bodyPr/>
          <a:lstStyle/>
          <a:p>
            <a:fld id="{BD9DCBA1-42CF-8145-B13F-3E8BBD967398}" type="slidenum">
              <a:rPr lang="zh-CN" altLang="en-US" smtClean="0"/>
              <a:pPr/>
              <a:t>1</a:t>
            </a:fld>
            <a:endParaRPr lang="en-US" altLang="zh-CN"/>
          </a:p>
        </p:txBody>
      </p:sp>
    </p:spTree>
    <p:extLst>
      <p:ext uri="{BB962C8B-B14F-4D97-AF65-F5344CB8AC3E}">
        <p14:creationId xmlns:p14="http://schemas.microsoft.com/office/powerpoint/2010/main" val="4060968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8340DC-DDD3-4383-9614-668A8EE0901D}" type="slidenum">
              <a:rPr lang="en-US" smtClean="0"/>
              <a:pPr/>
              <a:t>2</a:t>
            </a:fld>
            <a:endParaRPr lang="en-US"/>
          </a:p>
        </p:txBody>
      </p:sp>
    </p:spTree>
    <p:extLst>
      <p:ext uri="{BB962C8B-B14F-4D97-AF65-F5344CB8AC3E}">
        <p14:creationId xmlns:p14="http://schemas.microsoft.com/office/powerpoint/2010/main" val="1632986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8340DC-DDD3-4383-9614-668A8EE0901D}" type="slidenum">
              <a:rPr lang="en-US" smtClean="0"/>
              <a:pPr/>
              <a:t>13</a:t>
            </a:fld>
            <a:endParaRPr lang="en-US"/>
          </a:p>
        </p:txBody>
      </p:sp>
    </p:spTree>
    <p:extLst>
      <p:ext uri="{BB962C8B-B14F-4D97-AF65-F5344CB8AC3E}">
        <p14:creationId xmlns:p14="http://schemas.microsoft.com/office/powerpoint/2010/main" val="188078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ED48EA5-2AB8-469C-9C8D-DDC17F3887B3}" type="slidenum">
              <a:rPr lang="en-US"/>
              <a:pPr/>
              <a:t>‹#›</a:t>
            </a:fld>
            <a:endParaRPr lang="en-US"/>
          </a:p>
        </p:txBody>
      </p:sp>
    </p:spTree>
    <p:extLst>
      <p:ext uri="{BB962C8B-B14F-4D97-AF65-F5344CB8AC3E}">
        <p14:creationId xmlns:p14="http://schemas.microsoft.com/office/powerpoint/2010/main" val="2935960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5EC735E3-5B29-4F54-8FB9-022B0DB6C884}" type="slidenum">
              <a:rPr lang="en-US"/>
              <a:pPr/>
              <a:t>‹#›</a:t>
            </a:fld>
            <a:endParaRPr lang="en-US"/>
          </a:p>
        </p:txBody>
      </p:sp>
    </p:spTree>
    <p:extLst>
      <p:ext uri="{BB962C8B-B14F-4D97-AF65-F5344CB8AC3E}">
        <p14:creationId xmlns:p14="http://schemas.microsoft.com/office/powerpoint/2010/main" val="1414091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8E5E6A3E-4888-4C12-8315-4FD2172AB79D}" type="slidenum">
              <a:rPr lang="en-US"/>
              <a:pPr/>
              <a:t>‹#›</a:t>
            </a:fld>
            <a:endParaRPr lang="en-US"/>
          </a:p>
        </p:txBody>
      </p:sp>
    </p:spTree>
    <p:extLst>
      <p:ext uri="{BB962C8B-B14F-4D97-AF65-F5344CB8AC3E}">
        <p14:creationId xmlns:p14="http://schemas.microsoft.com/office/powerpoint/2010/main" val="2820275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EF4F64A1-F48A-4587-8460-697BC25700CB}" type="slidenum">
              <a:rPr lang="en-US"/>
              <a:pPr/>
              <a:t>‹#›</a:t>
            </a:fld>
            <a:endParaRPr lang="en-US"/>
          </a:p>
        </p:txBody>
      </p:sp>
    </p:spTree>
    <p:extLst>
      <p:ext uri="{BB962C8B-B14F-4D97-AF65-F5344CB8AC3E}">
        <p14:creationId xmlns:p14="http://schemas.microsoft.com/office/powerpoint/2010/main" val="169736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A14D11BB-E399-4356-A7BA-ED113D687B1C}" type="slidenum">
              <a:rPr lang="en-US"/>
              <a:pPr/>
              <a:t>‹#›</a:t>
            </a:fld>
            <a:endParaRPr lang="en-US"/>
          </a:p>
        </p:txBody>
      </p:sp>
    </p:spTree>
    <p:extLst>
      <p:ext uri="{BB962C8B-B14F-4D97-AF65-F5344CB8AC3E}">
        <p14:creationId xmlns:p14="http://schemas.microsoft.com/office/powerpoint/2010/main" val="122527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7BE0ABEF-E41E-4666-84C4-413527B4A9B4}" type="slidenum">
              <a:rPr lang="en-US"/>
              <a:pPr/>
              <a:t>‹#›</a:t>
            </a:fld>
            <a:endParaRPr lang="en-US"/>
          </a:p>
        </p:txBody>
      </p:sp>
    </p:spTree>
    <p:extLst>
      <p:ext uri="{BB962C8B-B14F-4D97-AF65-F5344CB8AC3E}">
        <p14:creationId xmlns:p14="http://schemas.microsoft.com/office/powerpoint/2010/main" val="59620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309926DB-4DC2-4E3A-B2C0-BB9A6A9391A5}" type="slidenum">
              <a:rPr lang="en-US"/>
              <a:pPr/>
              <a:t>‹#›</a:t>
            </a:fld>
            <a:endParaRPr lang="en-US"/>
          </a:p>
        </p:txBody>
      </p:sp>
    </p:spTree>
    <p:extLst>
      <p:ext uri="{BB962C8B-B14F-4D97-AF65-F5344CB8AC3E}">
        <p14:creationId xmlns:p14="http://schemas.microsoft.com/office/powerpoint/2010/main" val="4043950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B1B4454-C8A7-4B1B-8E65-E82A92619F92}" type="slidenum">
              <a:rPr lang="en-US"/>
              <a:pPr/>
              <a:t>‹#›</a:t>
            </a:fld>
            <a:endParaRPr lang="en-US"/>
          </a:p>
        </p:txBody>
      </p:sp>
    </p:spTree>
    <p:extLst>
      <p:ext uri="{BB962C8B-B14F-4D97-AF65-F5344CB8AC3E}">
        <p14:creationId xmlns:p14="http://schemas.microsoft.com/office/powerpoint/2010/main" val="43595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00DDABB2-A7EC-4A6A-8A4D-8C9E34B87ECB}" type="slidenum">
              <a:rPr lang="en-US"/>
              <a:pPr/>
              <a:t>‹#›</a:t>
            </a:fld>
            <a:endParaRPr lang="en-US"/>
          </a:p>
        </p:txBody>
      </p:sp>
    </p:spTree>
    <p:extLst>
      <p:ext uri="{BB962C8B-B14F-4D97-AF65-F5344CB8AC3E}">
        <p14:creationId xmlns:p14="http://schemas.microsoft.com/office/powerpoint/2010/main" val="943476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04971A2-E15B-40AD-8D3B-C3853A18A93B}" type="slidenum">
              <a:rPr lang="en-US"/>
              <a:pPr/>
              <a:t>‹#›</a:t>
            </a:fld>
            <a:endParaRPr lang="en-US"/>
          </a:p>
        </p:txBody>
      </p:sp>
    </p:spTree>
    <p:extLst>
      <p:ext uri="{BB962C8B-B14F-4D97-AF65-F5344CB8AC3E}">
        <p14:creationId xmlns:p14="http://schemas.microsoft.com/office/powerpoint/2010/main" val="236084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973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E132645C-7078-496B-800F-5B55B382AAB3}" type="slidenum">
              <a:rPr lang="en-US"/>
              <a:pPr/>
              <a:t>‹#›</a:t>
            </a:fld>
            <a:endParaRPr lang="en-US"/>
          </a:p>
        </p:txBody>
      </p:sp>
    </p:spTree>
    <p:extLst>
      <p:ext uri="{BB962C8B-B14F-4D97-AF65-F5344CB8AC3E}">
        <p14:creationId xmlns:p14="http://schemas.microsoft.com/office/powerpoint/2010/main" val="182342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382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28600" y="1600200"/>
            <a:ext cx="8686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Arial" charset="0"/>
              </a:defRPr>
            </a:lvl1pPr>
          </a:lstStyle>
          <a:p>
            <a:endParaRPr lang="en-US"/>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Arial" charset="0"/>
              </a:defRPr>
            </a:lvl1pPr>
          </a:lstStyle>
          <a:p>
            <a:endParaRPr lang="en-US"/>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Arial" charset="0"/>
              </a:defRPr>
            </a:lvl1pPr>
          </a:lstStyle>
          <a:p>
            <a:fld id="{6724A02C-A69E-4EC1-BA44-1213A0435DCD}" type="slidenum">
              <a:rPr lang="en-US"/>
              <a:pPr/>
              <a:t>‹#›</a:t>
            </a:fld>
            <a:endParaRPr lang="en-US"/>
          </a:p>
        </p:txBody>
      </p:sp>
      <p:sp>
        <p:nvSpPr>
          <p:cNvPr id="1031" name="Text Box 7"/>
          <p:cNvSpPr txBox="1">
            <a:spLocks noChangeArrowheads="1"/>
          </p:cNvSpPr>
          <p:nvPr userDrawn="1"/>
        </p:nvSpPr>
        <p:spPr bwMode="auto">
          <a:xfrm>
            <a:off x="457200" y="1066800"/>
            <a:ext cx="2286000" cy="366713"/>
          </a:xfrm>
          <a:prstGeom prst="rect">
            <a:avLst/>
          </a:prstGeom>
          <a:noFill/>
          <a:ln w="9525">
            <a:noFill/>
            <a:miter lim="800000"/>
            <a:headEnd/>
            <a:tailEnd/>
          </a:ln>
          <a:effectLst/>
        </p:spPr>
        <p:txBody>
          <a:bodyPr>
            <a:spAutoFit/>
          </a:bodyPr>
          <a:lstStyle>
            <a:lvl1pPr eaLnBrk="0" hangingPunct="0">
              <a:defRPr sz="2400" b="1">
                <a:solidFill>
                  <a:schemeClr val="tx1"/>
                </a:solidFill>
                <a:latin typeface="Lucida Sans" charset="0"/>
                <a:ea typeface="ＭＳ Ｐゴシック" charset="-128"/>
              </a:defRPr>
            </a:lvl1pPr>
            <a:lvl2pPr marL="37931725" indent="-37474525" eaLnBrk="0" hangingPunct="0">
              <a:defRPr sz="2400" b="1">
                <a:solidFill>
                  <a:schemeClr val="tx1"/>
                </a:solidFill>
                <a:latin typeface="Lucida Sans" charset="0"/>
                <a:ea typeface="ＭＳ Ｐゴシック" charset="-128"/>
              </a:defRPr>
            </a:lvl2pPr>
            <a:lvl3pPr eaLnBrk="0" hangingPunct="0">
              <a:defRPr sz="2400" b="1">
                <a:solidFill>
                  <a:schemeClr val="tx1"/>
                </a:solidFill>
                <a:latin typeface="Lucida Sans" charset="0"/>
                <a:ea typeface="ＭＳ Ｐゴシック" charset="-128"/>
              </a:defRPr>
            </a:lvl3pPr>
            <a:lvl4pPr eaLnBrk="0" hangingPunct="0">
              <a:defRPr sz="2400" b="1">
                <a:solidFill>
                  <a:schemeClr val="tx1"/>
                </a:solidFill>
                <a:latin typeface="Lucida Sans" charset="0"/>
                <a:ea typeface="ＭＳ Ｐゴシック" charset="-128"/>
              </a:defRPr>
            </a:lvl4pPr>
            <a:lvl5pPr eaLnBrk="0" hangingPunct="0">
              <a:defRPr sz="2400" b="1">
                <a:solidFill>
                  <a:schemeClr val="tx1"/>
                </a:solidFill>
                <a:latin typeface="Lucida Sans" charset="0"/>
                <a:ea typeface="ＭＳ Ｐゴシック" charset="-128"/>
              </a:defRPr>
            </a:lvl5pPr>
            <a:lvl6pPr marL="457200" eaLnBrk="0" fontAlgn="base" hangingPunct="0">
              <a:spcBef>
                <a:spcPct val="0"/>
              </a:spcBef>
              <a:spcAft>
                <a:spcPct val="0"/>
              </a:spcAft>
              <a:defRPr sz="2400" b="1">
                <a:solidFill>
                  <a:schemeClr val="tx1"/>
                </a:solidFill>
                <a:latin typeface="Lucida Sans" charset="0"/>
                <a:ea typeface="ＭＳ Ｐゴシック" charset="-128"/>
              </a:defRPr>
            </a:lvl6pPr>
            <a:lvl7pPr marL="914400" eaLnBrk="0" fontAlgn="base" hangingPunct="0">
              <a:spcBef>
                <a:spcPct val="0"/>
              </a:spcBef>
              <a:spcAft>
                <a:spcPct val="0"/>
              </a:spcAft>
              <a:defRPr sz="2400" b="1">
                <a:solidFill>
                  <a:schemeClr val="tx1"/>
                </a:solidFill>
                <a:latin typeface="Lucida Sans" charset="0"/>
                <a:ea typeface="ＭＳ Ｐゴシック" charset="-128"/>
              </a:defRPr>
            </a:lvl7pPr>
            <a:lvl8pPr marL="1371600" eaLnBrk="0" fontAlgn="base" hangingPunct="0">
              <a:spcBef>
                <a:spcPct val="0"/>
              </a:spcBef>
              <a:spcAft>
                <a:spcPct val="0"/>
              </a:spcAft>
              <a:defRPr sz="2400" b="1">
                <a:solidFill>
                  <a:schemeClr val="tx1"/>
                </a:solidFill>
                <a:latin typeface="Lucida Sans" charset="0"/>
                <a:ea typeface="ＭＳ Ｐゴシック" charset="-128"/>
              </a:defRPr>
            </a:lvl8pPr>
            <a:lvl9pPr marL="1828800" eaLnBrk="0" fontAlgn="base" hangingPunct="0">
              <a:spcBef>
                <a:spcPct val="0"/>
              </a:spcBef>
              <a:spcAft>
                <a:spcPct val="0"/>
              </a:spcAft>
              <a:defRPr sz="2400" b="1">
                <a:solidFill>
                  <a:schemeClr val="tx1"/>
                </a:solidFill>
                <a:latin typeface="Lucida Sans" charset="0"/>
                <a:ea typeface="ＭＳ Ｐゴシック" charset="-128"/>
              </a:defRPr>
            </a:lvl9pPr>
          </a:lstStyle>
          <a:p>
            <a:pPr eaLnBrk="1" hangingPunct="1"/>
            <a:endParaRPr lang="en-US" sz="1800" b="0">
              <a:latin typeface="Arial" charset="0"/>
            </a:endParaRPr>
          </a:p>
        </p:txBody>
      </p:sp>
      <p:sp>
        <p:nvSpPr>
          <p:cNvPr id="1032" name="Text Box 8"/>
          <p:cNvSpPr txBox="1">
            <a:spLocks noChangeArrowheads="1"/>
          </p:cNvSpPr>
          <p:nvPr userDrawn="1"/>
        </p:nvSpPr>
        <p:spPr bwMode="auto">
          <a:xfrm>
            <a:off x="457200" y="1143000"/>
            <a:ext cx="2590800" cy="366713"/>
          </a:xfrm>
          <a:prstGeom prst="rect">
            <a:avLst/>
          </a:prstGeom>
          <a:noFill/>
          <a:ln w="9525">
            <a:noFill/>
            <a:miter lim="800000"/>
            <a:headEnd/>
            <a:tailEnd/>
          </a:ln>
          <a:effectLst/>
        </p:spPr>
        <p:txBody>
          <a:bodyPr>
            <a:spAutoFit/>
          </a:bodyPr>
          <a:lstStyle>
            <a:lvl1pPr eaLnBrk="0" hangingPunct="0">
              <a:defRPr sz="2400" b="1">
                <a:solidFill>
                  <a:schemeClr val="tx1"/>
                </a:solidFill>
                <a:latin typeface="Lucida Sans" charset="0"/>
                <a:ea typeface="ＭＳ Ｐゴシック" charset="-128"/>
              </a:defRPr>
            </a:lvl1pPr>
            <a:lvl2pPr marL="37931725" indent="-37474525" eaLnBrk="0" hangingPunct="0">
              <a:defRPr sz="2400" b="1">
                <a:solidFill>
                  <a:schemeClr val="tx1"/>
                </a:solidFill>
                <a:latin typeface="Lucida Sans" charset="0"/>
                <a:ea typeface="ＭＳ Ｐゴシック" charset="-128"/>
              </a:defRPr>
            </a:lvl2pPr>
            <a:lvl3pPr eaLnBrk="0" hangingPunct="0">
              <a:defRPr sz="2400" b="1">
                <a:solidFill>
                  <a:schemeClr val="tx1"/>
                </a:solidFill>
                <a:latin typeface="Lucida Sans" charset="0"/>
                <a:ea typeface="ＭＳ Ｐゴシック" charset="-128"/>
              </a:defRPr>
            </a:lvl3pPr>
            <a:lvl4pPr eaLnBrk="0" hangingPunct="0">
              <a:defRPr sz="2400" b="1">
                <a:solidFill>
                  <a:schemeClr val="tx1"/>
                </a:solidFill>
                <a:latin typeface="Lucida Sans" charset="0"/>
                <a:ea typeface="ＭＳ Ｐゴシック" charset="-128"/>
              </a:defRPr>
            </a:lvl4pPr>
            <a:lvl5pPr eaLnBrk="0" hangingPunct="0">
              <a:defRPr sz="2400" b="1">
                <a:solidFill>
                  <a:schemeClr val="tx1"/>
                </a:solidFill>
                <a:latin typeface="Lucida Sans" charset="0"/>
                <a:ea typeface="ＭＳ Ｐゴシック" charset="-128"/>
              </a:defRPr>
            </a:lvl5pPr>
            <a:lvl6pPr marL="457200" eaLnBrk="0" fontAlgn="base" hangingPunct="0">
              <a:spcBef>
                <a:spcPct val="0"/>
              </a:spcBef>
              <a:spcAft>
                <a:spcPct val="0"/>
              </a:spcAft>
              <a:defRPr sz="2400" b="1">
                <a:solidFill>
                  <a:schemeClr val="tx1"/>
                </a:solidFill>
                <a:latin typeface="Lucida Sans" charset="0"/>
                <a:ea typeface="ＭＳ Ｐゴシック" charset="-128"/>
              </a:defRPr>
            </a:lvl6pPr>
            <a:lvl7pPr marL="914400" eaLnBrk="0" fontAlgn="base" hangingPunct="0">
              <a:spcBef>
                <a:spcPct val="0"/>
              </a:spcBef>
              <a:spcAft>
                <a:spcPct val="0"/>
              </a:spcAft>
              <a:defRPr sz="2400" b="1">
                <a:solidFill>
                  <a:schemeClr val="tx1"/>
                </a:solidFill>
                <a:latin typeface="Lucida Sans" charset="0"/>
                <a:ea typeface="ＭＳ Ｐゴシック" charset="-128"/>
              </a:defRPr>
            </a:lvl7pPr>
            <a:lvl8pPr marL="1371600" eaLnBrk="0" fontAlgn="base" hangingPunct="0">
              <a:spcBef>
                <a:spcPct val="0"/>
              </a:spcBef>
              <a:spcAft>
                <a:spcPct val="0"/>
              </a:spcAft>
              <a:defRPr sz="2400" b="1">
                <a:solidFill>
                  <a:schemeClr val="tx1"/>
                </a:solidFill>
                <a:latin typeface="Lucida Sans" charset="0"/>
                <a:ea typeface="ＭＳ Ｐゴシック" charset="-128"/>
              </a:defRPr>
            </a:lvl8pPr>
            <a:lvl9pPr marL="1828800" eaLnBrk="0" fontAlgn="base" hangingPunct="0">
              <a:spcBef>
                <a:spcPct val="0"/>
              </a:spcBef>
              <a:spcAft>
                <a:spcPct val="0"/>
              </a:spcAft>
              <a:defRPr sz="2400" b="1">
                <a:solidFill>
                  <a:schemeClr val="tx1"/>
                </a:solidFill>
                <a:latin typeface="Lucida Sans" charset="0"/>
                <a:ea typeface="ＭＳ Ｐゴシック" charset="-128"/>
              </a:defRPr>
            </a:lvl9pPr>
          </a:lstStyle>
          <a:p>
            <a:pPr eaLnBrk="1" hangingPunct="1">
              <a:spcBef>
                <a:spcPct val="50000"/>
              </a:spcBef>
            </a:pPr>
            <a:endParaRPr lang="en-US" sz="1800" b="0">
              <a:latin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2pPr>
      <a:lvl3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3pPr>
      <a:lvl4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4pPr>
      <a:lvl5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5pPr>
      <a:lvl6pPr marL="457200" algn="r" rtl="0" fontAlgn="base">
        <a:spcBef>
          <a:spcPct val="0"/>
        </a:spcBef>
        <a:spcAft>
          <a:spcPct val="0"/>
        </a:spcAft>
        <a:defRPr sz="3600">
          <a:solidFill>
            <a:schemeClr val="tx2"/>
          </a:solidFill>
          <a:latin typeface="Lucida Sans" charset="0"/>
        </a:defRPr>
      </a:lvl6pPr>
      <a:lvl7pPr marL="914400" algn="r" rtl="0" fontAlgn="base">
        <a:spcBef>
          <a:spcPct val="0"/>
        </a:spcBef>
        <a:spcAft>
          <a:spcPct val="0"/>
        </a:spcAft>
        <a:defRPr sz="3600">
          <a:solidFill>
            <a:schemeClr val="tx2"/>
          </a:solidFill>
          <a:latin typeface="Lucida Sans" charset="0"/>
        </a:defRPr>
      </a:lvl7pPr>
      <a:lvl8pPr marL="1371600" algn="r" rtl="0" fontAlgn="base">
        <a:spcBef>
          <a:spcPct val="0"/>
        </a:spcBef>
        <a:spcAft>
          <a:spcPct val="0"/>
        </a:spcAft>
        <a:defRPr sz="3600">
          <a:solidFill>
            <a:schemeClr val="tx2"/>
          </a:solidFill>
          <a:latin typeface="Lucida Sans" charset="0"/>
        </a:defRPr>
      </a:lvl8pPr>
      <a:lvl9pPr marL="1828800" algn="r" rtl="0" fontAlgn="base">
        <a:spcBef>
          <a:spcPct val="0"/>
        </a:spcBef>
        <a:spcAft>
          <a:spcPct val="0"/>
        </a:spcAft>
        <a:defRPr sz="3600">
          <a:solidFill>
            <a:schemeClr val="tx2"/>
          </a:solidFill>
          <a:latin typeface="Lucida Sans" charset="0"/>
        </a:defRPr>
      </a:lvl9pPr>
    </p:titleStyle>
    <p:bodyStyle>
      <a:lvl1pPr marL="342900" indent="-342900" algn="l" rtl="0" eaLnBrk="0" fontAlgn="base" hangingPunct="0">
        <a:spcBef>
          <a:spcPct val="20000"/>
        </a:spcBef>
        <a:spcAft>
          <a:spcPct val="0"/>
        </a:spcAft>
        <a:buFont typeface="Wingdings"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Font typeface="Wingdings" charset="2"/>
        <a:buChar char="§"/>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0"/>
          </p:nvPr>
        </p:nvSpPr>
        <p:spPr>
          <a:noFill/>
        </p:spPr>
        <p:txBody>
          <a:bodyPr/>
          <a:lstStyle/>
          <a:p>
            <a:r>
              <a:rPr lang="en-US" altLang="zh-CN"/>
              <a:t>Page </a:t>
            </a:r>
            <a:fld id="{94E1B278-B6FF-9446-9FCC-AABC906E93F1}" type="slidenum">
              <a:rPr lang="en-US" altLang="zh-CN" smtClean="0"/>
              <a:pPr/>
              <a:t>1</a:t>
            </a:fld>
            <a:endParaRPr lang="zh-CN" altLang="en-US"/>
          </a:p>
        </p:txBody>
      </p:sp>
      <p:sp>
        <p:nvSpPr>
          <p:cNvPr id="16387" name="Rectangle 4"/>
          <p:cNvSpPr>
            <a:spLocks noGrp="1" noChangeArrowheads="1"/>
          </p:cNvSpPr>
          <p:nvPr>
            <p:ph type="title"/>
          </p:nvPr>
        </p:nvSpPr>
        <p:spPr>
          <a:noFill/>
        </p:spPr>
        <p:txBody>
          <a:bodyPr/>
          <a:lstStyle/>
          <a:p>
            <a:r>
              <a:rPr lang="en-US" sz="3400" dirty="0"/>
              <a:t>Permutations and Combinations</a:t>
            </a:r>
          </a:p>
        </p:txBody>
      </p:sp>
      <p:sp>
        <p:nvSpPr>
          <p:cNvPr id="727045" name="Rectangle 5"/>
          <p:cNvSpPr>
            <a:spLocks noGrp="1" noChangeArrowheads="1"/>
          </p:cNvSpPr>
          <p:nvPr>
            <p:ph type="body" idx="1"/>
          </p:nvPr>
        </p:nvSpPr>
        <p:spPr>
          <a:xfrm>
            <a:off x="609600" y="1295400"/>
            <a:ext cx="7620000" cy="3657600"/>
          </a:xfrm>
          <a:noFill/>
        </p:spPr>
        <p:txBody>
          <a:bodyPr/>
          <a:lstStyle/>
          <a:p>
            <a:r>
              <a:rPr lang="en-US" dirty="0"/>
              <a:t>Objectives</a:t>
            </a:r>
          </a:p>
          <a:p>
            <a:pPr lvl="1"/>
            <a:r>
              <a:rPr lang="en-US" dirty="0"/>
              <a:t>Permutations</a:t>
            </a:r>
          </a:p>
          <a:p>
            <a:pPr lvl="1"/>
            <a:r>
              <a:rPr lang="en-US" dirty="0"/>
              <a:t>Combinations</a:t>
            </a:r>
          </a:p>
          <a:p>
            <a:pPr lvl="1"/>
            <a:r>
              <a:rPr lang="en-US" dirty="0"/>
              <a:t>Generalized Permutations and Combinations </a:t>
            </a:r>
          </a:p>
          <a:p>
            <a:r>
              <a:rPr lang="en-US" dirty="0"/>
              <a:t>Reading: Rosen 6.3, 6.5</a:t>
            </a:r>
          </a:p>
          <a:p>
            <a:pPr lvl="1"/>
            <a:endParaRPr lang="en-US" dirty="0"/>
          </a:p>
        </p:txBody>
      </p:sp>
    </p:spTree>
    <p:extLst>
      <p:ext uri="{BB962C8B-B14F-4D97-AF65-F5344CB8AC3E}">
        <p14:creationId xmlns:p14="http://schemas.microsoft.com/office/powerpoint/2010/main" val="224852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Permutations</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143000"/>
                <a:ext cx="8686800" cy="5715000"/>
              </a:xfrm>
            </p:spPr>
            <p:txBody>
              <a:bodyPr/>
              <a:lstStyle/>
              <a:p>
                <a:r>
                  <a:rPr lang="en-US" altLang="zh-CN" sz="2400" dirty="0"/>
                  <a:t>In how many ways can we select </a:t>
                </a:r>
                <a:r>
                  <a:rPr lang="en-US" altLang="zh-CN" sz="2400" dirty="0">
                    <a:solidFill>
                      <a:srgbClr val="FF0000"/>
                    </a:solidFill>
                  </a:rPr>
                  <a:t>three</a:t>
                </a:r>
                <a:r>
                  <a:rPr lang="en-US" altLang="zh-CN" sz="2400" dirty="0"/>
                  <a:t> students from a group of </a:t>
                </a:r>
                <a:r>
                  <a:rPr lang="en-US" altLang="zh-CN" sz="2400" dirty="0">
                    <a:solidFill>
                      <a:srgbClr val="0000FF"/>
                    </a:solidFill>
                  </a:rPr>
                  <a:t>five</a:t>
                </a:r>
                <a:r>
                  <a:rPr lang="en-US" altLang="zh-CN" sz="2400" dirty="0"/>
                  <a:t> students to stand in line for a photo?</a:t>
                </a:r>
              </a:p>
              <a:p>
                <a:r>
                  <a:rPr lang="en-US" altLang="zh-CN" u="sng" dirty="0"/>
                  <a:t>Note:</a:t>
                </a:r>
                <a:r>
                  <a:rPr lang="en-US" altLang="zh-CN" dirty="0"/>
                  <a:t> </a:t>
                </a:r>
                <a:r>
                  <a:rPr lang="en-US" altLang="zh-CN" i="1" dirty="0"/>
                  <a:t>the order in which the students are selected matters</a:t>
                </a:r>
                <a:r>
                  <a:rPr lang="en-US" altLang="zh-CN" dirty="0"/>
                  <a:t> because it changes the order in the photo</a:t>
                </a:r>
                <a:endParaRPr lang="en-US" altLang="zh-CN" sz="2400" dirty="0"/>
              </a:p>
              <a:p>
                <a:pPr marL="0" indent="0">
                  <a:buNone/>
                </a:pPr>
                <a:endParaRPr lang="en-US" altLang="zh-CN" sz="2400" b="1" dirty="0">
                  <a:solidFill>
                    <a:srgbClr val="0000FF"/>
                  </a:solidFill>
                </a:endParaRPr>
              </a:p>
              <a:p>
                <a:r>
                  <a:rPr lang="en-US" altLang="zh-CN" sz="2400" b="1" dirty="0">
                    <a:solidFill>
                      <a:srgbClr val="0000FF"/>
                    </a:solidFill>
                  </a:rPr>
                  <a:t>Solution:</a:t>
                </a:r>
                <a:br>
                  <a:rPr lang="en-US" altLang="zh-CN" sz="2400" b="1" dirty="0">
                    <a:solidFill>
                      <a:srgbClr val="0000FF"/>
                    </a:solidFill>
                  </a:rPr>
                </a:br>
                <a:r>
                  <a:rPr lang="en-US" altLang="zh-CN" sz="2400" dirty="0"/>
                  <a:t>There are 5 ways to select the first student to stand at the start of the line. Afterwards, there are 4 ways to select the student to stand second in the line from the remaining 4 students. Finally, there are 3 ways to select the third student in line. By the </a:t>
                </a:r>
                <a:r>
                  <a:rPr lang="en-US" altLang="zh-CN" sz="2400" dirty="0">
                    <a:solidFill>
                      <a:srgbClr val="FF0000"/>
                    </a:solidFill>
                  </a:rPr>
                  <a:t>product rule</a:t>
                </a:r>
                <a:r>
                  <a:rPr lang="en-US" altLang="zh-CN" sz="2400" dirty="0"/>
                  <a:t>, there are a total of </a:t>
                </a:r>
                <a14:m>
                  <m:oMath xmlns:m="http://schemas.openxmlformats.org/officeDocument/2006/math">
                    <m:r>
                      <a:rPr lang="en-US" altLang="zh-CN" sz="2400" i="1" dirty="0" smtClean="0">
                        <a:latin typeface="Cambria Math" panose="02040503050406030204" pitchFamily="18" charset="0"/>
                      </a:rPr>
                      <m:t>5</m:t>
                    </m:r>
                    <m:r>
                      <a:rPr lang="en-US" altLang="zh-CN" sz="2400" b="0" i="1" dirty="0" smtClean="0">
                        <a:latin typeface="Cambria Math" panose="02040503050406030204" pitchFamily="18" charset="0"/>
                      </a:rPr>
                      <m:t>×</m:t>
                    </m:r>
                    <m:r>
                      <a:rPr lang="en-US" altLang="zh-CN" sz="2400" i="1" dirty="0" smtClean="0">
                        <a:latin typeface="Cambria Math" panose="02040503050406030204" pitchFamily="18" charset="0"/>
                      </a:rPr>
                      <m:t>4</m:t>
                    </m:r>
                    <m:r>
                      <a:rPr lang="en-US" altLang="zh-CN" sz="2400" b="0" i="1" dirty="0" smtClean="0">
                        <a:latin typeface="Cambria Math" panose="02040503050406030204" pitchFamily="18" charset="0"/>
                      </a:rPr>
                      <m:t>×</m:t>
                    </m:r>
                    <m:r>
                      <a:rPr lang="en-US" altLang="zh-CN" sz="2400" i="1" dirty="0" smtClean="0">
                        <a:latin typeface="Cambria Math" panose="02040503050406030204" pitchFamily="18" charset="0"/>
                      </a:rPr>
                      <m:t>3=60</m:t>
                    </m:r>
                  </m:oMath>
                </a14:m>
                <a:r>
                  <a:rPr lang="en-US" altLang="zh-CN" sz="2400" dirty="0"/>
                  <a:t> ways</a:t>
                </a:r>
                <a:br>
                  <a:rPr lang="en-US" altLang="zh-CN" b="1" dirty="0">
                    <a:solidFill>
                      <a:srgbClr val="0000FF"/>
                    </a:solidFill>
                  </a:rPr>
                </a:b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143000"/>
                <a:ext cx="8686800" cy="5715000"/>
              </a:xfrm>
              <a:blipFill>
                <a:blip r:embed="rId3"/>
                <a:stretch>
                  <a:fillRect l="-982" t="-747" r="-1123"/>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a:t>
            </a:fld>
            <a:endParaRPr lang="en-US"/>
          </a:p>
        </p:txBody>
      </p:sp>
    </p:spTree>
    <p:extLst>
      <p:ext uri="{BB962C8B-B14F-4D97-AF65-F5344CB8AC3E}">
        <p14:creationId xmlns:p14="http://schemas.microsoft.com/office/powerpoint/2010/main" val="65692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solidFill>
                  <a:srgbClr val="0000FF"/>
                </a:solidFill>
              </a:rPr>
              <a:t>Example</a:t>
            </a:r>
            <a:endParaRPr lang="en-US" dirty="0">
              <a:solidFill>
                <a:schemeClr val="tx1"/>
              </a:solidFill>
            </a:endParaRPr>
          </a:p>
        </p:txBody>
      </p:sp>
      <p:sp>
        <p:nvSpPr>
          <p:cNvPr id="3" name="Content Placeholder 2"/>
          <p:cNvSpPr>
            <a:spLocks noGrp="1"/>
          </p:cNvSpPr>
          <p:nvPr>
            <p:ph idx="1"/>
          </p:nvPr>
        </p:nvSpPr>
        <p:spPr>
          <a:xfrm>
            <a:off x="152400" y="1066800"/>
            <a:ext cx="8763000" cy="5181600"/>
          </a:xfrm>
        </p:spPr>
        <p:txBody>
          <a:bodyPr/>
          <a:lstStyle/>
          <a:p>
            <a:r>
              <a:rPr lang="en-US" altLang="zh-CN" sz="2400" dirty="0"/>
              <a:t>In how many ways can we arrange </a:t>
            </a:r>
            <a:r>
              <a:rPr lang="en-US" altLang="zh-CN" sz="2400" i="1" dirty="0"/>
              <a:t>n</a:t>
            </a:r>
            <a:r>
              <a:rPr lang="en-US" altLang="zh-CN" sz="2400" dirty="0"/>
              <a:t> students in a line for a photo?</a:t>
            </a:r>
          </a:p>
          <a:p>
            <a:pPr marL="0" indent="0">
              <a:buNone/>
            </a:pPr>
            <a:endParaRPr lang="en-US" altLang="zh-CN" sz="2400" dirty="0"/>
          </a:p>
          <a:p>
            <a:r>
              <a:rPr lang="en-US" altLang="zh-CN" sz="2400" b="1" dirty="0">
                <a:solidFill>
                  <a:srgbClr val="0000FF"/>
                </a:solidFill>
              </a:rPr>
              <a:t>Solution:</a:t>
            </a:r>
            <a:br>
              <a:rPr lang="en-US" altLang="zh-CN" sz="2400" b="1" dirty="0">
                <a:solidFill>
                  <a:srgbClr val="0000FF"/>
                </a:solidFill>
              </a:rPr>
            </a:br>
            <a:r>
              <a:rPr lang="en-US" sz="2400" dirty="0"/>
              <a:t>This example is similar to the previous one, except that we are now selecting all </a:t>
            </a:r>
            <a:r>
              <a:rPr lang="en-US" sz="2400" i="1" dirty="0"/>
              <a:t>n</a:t>
            </a:r>
            <a:r>
              <a:rPr lang="en-US" sz="2400" dirty="0"/>
              <a:t> students. Using the same rationale as the previous question, there are </a:t>
            </a:r>
            <a:r>
              <a:rPr lang="en-US" i="1" dirty="0"/>
              <a:t>n</a:t>
            </a:r>
            <a:r>
              <a:rPr lang="en-US" dirty="0">
                <a:sym typeface="Symbol" panose="05050102010706020507" pitchFamily="18" charset="2"/>
              </a:rPr>
              <a:t>(</a:t>
            </a:r>
            <a:r>
              <a:rPr lang="en-US" i="1" dirty="0"/>
              <a:t>n</a:t>
            </a:r>
            <a:r>
              <a:rPr lang="en-US" dirty="0">
                <a:sym typeface="Symbol" panose="05050102010706020507" pitchFamily="18" charset="2"/>
              </a:rPr>
              <a:t>-1) ..2 1=</a:t>
            </a:r>
            <a:r>
              <a:rPr lang="en-US" i="1" dirty="0"/>
              <a:t> n</a:t>
            </a:r>
            <a:r>
              <a:rPr lang="en-US" dirty="0">
                <a:sym typeface="Symbol" panose="05050102010706020507" pitchFamily="18" charset="2"/>
              </a:rPr>
              <a:t>! </a:t>
            </a:r>
            <a:r>
              <a:rPr lang="en-US" sz="2400" dirty="0"/>
              <a:t>ways</a:t>
            </a:r>
          </a:p>
        </p:txBody>
      </p:sp>
      <p:sp>
        <p:nvSpPr>
          <p:cNvPr id="4" name="Slide Number Placeholder 3"/>
          <p:cNvSpPr>
            <a:spLocks noGrp="1"/>
          </p:cNvSpPr>
          <p:nvPr>
            <p:ph type="sldNum" sz="quarter" idx="12"/>
          </p:nvPr>
        </p:nvSpPr>
        <p:spPr/>
        <p:txBody>
          <a:bodyPr/>
          <a:lstStyle/>
          <a:p>
            <a:fld id="{5EC735E3-5B29-4F54-8FB9-022B0DB6C884}" type="slidenum">
              <a:rPr lang="en-US" smtClean="0"/>
              <a:pPr/>
              <a:t>3</a:t>
            </a:fld>
            <a:endParaRPr lang="en-US"/>
          </a:p>
        </p:txBody>
      </p:sp>
    </p:spTree>
    <p:extLst>
      <p:ext uri="{BB962C8B-B14F-4D97-AF65-F5344CB8AC3E}">
        <p14:creationId xmlns:p14="http://schemas.microsoft.com/office/powerpoint/2010/main" val="75692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Permutation</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4876800"/>
              </a:xfrm>
            </p:spPr>
            <p:txBody>
              <a:bodyPr/>
              <a:lstStyle/>
              <a:p>
                <a:r>
                  <a:rPr lang="en-US" altLang="zh-CN" b="1" dirty="0">
                    <a:solidFill>
                      <a:srgbClr val="0000FF"/>
                    </a:solidFill>
                  </a:rPr>
                  <a:t>Definition</a:t>
                </a:r>
                <a:br>
                  <a:rPr lang="en-US" altLang="zh-CN" b="1" dirty="0">
                    <a:solidFill>
                      <a:srgbClr val="0000FF"/>
                    </a:solidFill>
                  </a:rPr>
                </a:br>
                <a:r>
                  <a:rPr lang="en-US" altLang="zh-CN" dirty="0"/>
                  <a:t>A </a:t>
                </a:r>
                <a:r>
                  <a:rPr lang="en-US" altLang="zh-CN" b="1" dirty="0"/>
                  <a:t>permutation</a:t>
                </a:r>
                <a:r>
                  <a:rPr lang="en-US" altLang="zh-CN" dirty="0"/>
                  <a:t> of a set of distinct elements is an ordered arrangement of the elements of the set.</a:t>
                </a:r>
              </a:p>
              <a:p>
                <a:pPr marL="0" indent="0">
                  <a:buNone/>
                </a:pPr>
                <a:endParaRPr lang="en-US" altLang="zh-CN" dirty="0"/>
              </a:p>
              <a:p>
                <a:r>
                  <a:rPr lang="en-US" altLang="zh-CN" b="1" dirty="0">
                    <a:solidFill>
                      <a:srgbClr val="0000FF"/>
                    </a:solidFill>
                  </a:rPr>
                  <a:t>Example</a:t>
                </a:r>
                <a:br>
                  <a:rPr lang="en-US" altLang="zh-CN" b="1" dirty="0">
                    <a:solidFill>
                      <a:srgbClr val="0000FF"/>
                    </a:solidFill>
                  </a:rPr>
                </a:br>
                <a:r>
                  <a:rPr lang="en-US" altLang="zh-CN" dirty="0"/>
                  <a:t>Let </a:t>
                </a:r>
                <a14:m>
                  <m:oMath xmlns:m="http://schemas.openxmlformats.org/officeDocument/2006/math">
                    <m:r>
                      <a:rPr lang="en-US" altLang="zh-CN" b="0" i="1" smtClean="0">
                        <a:latin typeface="Cambria Math" panose="02040503050406030204" pitchFamily="18" charset="0"/>
                      </a:rPr>
                      <m:t>𝑆</m:t>
                    </m:r>
                    <m:r>
                      <a:rPr lang="en-US" altLang="zh-CN" b="0" i="1" smtClean="0">
                        <a:latin typeface="Cambria Math" panose="02040503050406030204" pitchFamily="18" charset="0"/>
                      </a:rPr>
                      <m:t>={1, 2, 3}</m:t>
                    </m:r>
                  </m:oMath>
                </a14:m>
                <a:r>
                  <a:rPr lang="en-US" altLang="zh-CN" dirty="0"/>
                  <a:t>. The ordered arrangement </a:t>
                </a:r>
                <a14:m>
                  <m:oMath xmlns:m="http://schemas.openxmlformats.org/officeDocument/2006/math">
                    <m:r>
                      <a:rPr lang="en-US" altLang="zh-CN" i="1" dirty="0" smtClean="0">
                        <a:latin typeface="Cambria Math" panose="02040503050406030204" pitchFamily="18" charset="0"/>
                      </a:rPr>
                      <m:t>(3, 1, 2)</m:t>
                    </m:r>
                  </m:oMath>
                </a14:m>
                <a:r>
                  <a:rPr lang="en-US" altLang="zh-CN" dirty="0"/>
                  <a:t> is a permutation of </a:t>
                </a:r>
                <a:r>
                  <a:rPr lang="en-US" altLang="zh-CN" i="1" dirty="0"/>
                  <a:t>S</a:t>
                </a:r>
                <a:endParaRPr lang="en-US" altLang="zh-CN" dirty="0"/>
              </a:p>
              <a:p>
                <a14:m>
                  <m:oMath xmlns:m="http://schemas.openxmlformats.org/officeDocument/2006/math">
                    <m:r>
                      <a:rPr lang="en-US" altLang="zh-CN" i="1" dirty="0">
                        <a:latin typeface="Cambria Math" panose="02040503050406030204" pitchFamily="18" charset="0"/>
                      </a:rPr>
                      <m:t>(</m:t>
                    </m:r>
                    <m:r>
                      <a:rPr lang="en-US" altLang="zh-CN" b="0" i="1" dirty="0" smtClean="0">
                        <a:latin typeface="Cambria Math" panose="02040503050406030204" pitchFamily="18" charset="0"/>
                      </a:rPr>
                      <m:t>1</m:t>
                    </m:r>
                    <m:r>
                      <a:rPr lang="en-US" altLang="zh-CN" i="1" dirty="0">
                        <a:latin typeface="Cambria Math" panose="02040503050406030204" pitchFamily="18" charset="0"/>
                      </a:rPr>
                      <m:t>, </m:t>
                    </m:r>
                    <m:r>
                      <a:rPr lang="en-US" altLang="zh-CN" b="0" i="1" dirty="0" smtClean="0">
                        <a:latin typeface="Cambria Math" panose="02040503050406030204" pitchFamily="18" charset="0"/>
                      </a:rPr>
                      <m:t>2</m:t>
                    </m:r>
                    <m:r>
                      <a:rPr lang="en-US" altLang="zh-CN" i="1" dirty="0">
                        <a:latin typeface="Cambria Math" panose="02040503050406030204" pitchFamily="18" charset="0"/>
                      </a:rPr>
                      <m:t>, </m:t>
                    </m:r>
                    <m:r>
                      <a:rPr lang="en-US" altLang="zh-CN" b="0" i="1" dirty="0" smtClean="0">
                        <a:latin typeface="Cambria Math" panose="02040503050406030204" pitchFamily="18" charset="0"/>
                      </a:rPr>
                      <m:t>3</m:t>
                    </m:r>
                    <m:r>
                      <a:rPr lang="en-US" altLang="zh-CN" i="1" dirty="0">
                        <a:latin typeface="Cambria Math" panose="02040503050406030204" pitchFamily="18" charset="0"/>
                      </a:rPr>
                      <m:t>)</m:t>
                    </m:r>
                  </m:oMath>
                </a14:m>
                <a:r>
                  <a:rPr lang="en-US" altLang="zh-CN" dirty="0"/>
                  <a:t> is a </a:t>
                </a:r>
                <a:r>
                  <a:rPr lang="en-US" altLang="zh-CN" i="1" dirty="0"/>
                  <a:t>different</a:t>
                </a:r>
                <a:r>
                  <a:rPr lang="en-US" altLang="zh-CN" dirty="0"/>
                  <a:t> permutation of </a:t>
                </a:r>
                <a:r>
                  <a:rPr lang="en-US" altLang="zh-CN" i="1" dirty="0"/>
                  <a:t>S</a:t>
                </a:r>
                <a:endParaRPr lang="en-US" altLang="zh-CN" dirty="0"/>
              </a:p>
              <a:p>
                <a:pPr marL="0" indent="0">
                  <a:buNone/>
                </a:pPr>
                <a:endParaRPr lang="en-US" altLang="zh-CN" dirty="0"/>
              </a:p>
              <a:p>
                <a:pPr marL="0" indent="0">
                  <a:buNone/>
                </a:pPr>
                <a:endParaRPr lang="en-US" altLang="zh-CN"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4876800"/>
              </a:xfrm>
              <a:blipFill>
                <a:blip r:embed="rId2"/>
                <a:stretch>
                  <a:fillRect l="-982" t="-1000"/>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a:t>
            </a:fld>
            <a:endParaRPr lang="en-US"/>
          </a:p>
        </p:txBody>
      </p:sp>
    </p:spTree>
    <p:extLst>
      <p:ext uri="{BB962C8B-B14F-4D97-AF65-F5344CB8AC3E}">
        <p14:creationId xmlns:p14="http://schemas.microsoft.com/office/powerpoint/2010/main" val="184693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i="1" dirty="0">
                <a:solidFill>
                  <a:schemeClr val="tx1"/>
                </a:solidFill>
              </a:rPr>
              <a:t>k</a:t>
            </a:r>
            <a:r>
              <a:rPr lang="en-US" altLang="zh-CN" dirty="0">
                <a:solidFill>
                  <a:schemeClr val="tx1"/>
                </a:solidFill>
              </a:rPr>
              <a:t>-Permutation</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04800" y="1219200"/>
                <a:ext cx="8686800" cy="4876800"/>
              </a:xfrm>
            </p:spPr>
            <p:txBody>
              <a:bodyPr/>
              <a:lstStyle/>
              <a:p>
                <a:r>
                  <a:rPr lang="en-US" altLang="zh-CN" sz="2400" b="1" dirty="0">
                    <a:solidFill>
                      <a:srgbClr val="0000FF"/>
                    </a:solidFill>
                  </a:rPr>
                  <a:t>Definition</a:t>
                </a:r>
                <a:br>
                  <a:rPr lang="en-US" altLang="zh-CN" sz="2400" b="1" dirty="0">
                    <a:solidFill>
                      <a:srgbClr val="0000FF"/>
                    </a:solidFill>
                  </a:rPr>
                </a:br>
                <a:r>
                  <a:rPr lang="en-US" altLang="zh-CN" sz="2400" dirty="0"/>
                  <a:t>A </a:t>
                </a:r>
                <a:r>
                  <a:rPr lang="en-US" altLang="zh-CN" sz="2400" b="1" i="1" dirty="0"/>
                  <a:t>k</a:t>
                </a:r>
                <a:r>
                  <a:rPr lang="en-US" altLang="zh-CN" sz="2400" b="1" dirty="0"/>
                  <a:t>-permutation</a:t>
                </a:r>
                <a:r>
                  <a:rPr lang="en-US" altLang="zh-CN" sz="2400" dirty="0"/>
                  <a:t> (or </a:t>
                </a:r>
                <a:r>
                  <a:rPr lang="en-US" altLang="zh-CN" sz="2400" b="1" i="1" dirty="0"/>
                  <a:t>k</a:t>
                </a:r>
                <a:r>
                  <a:rPr lang="en-US" altLang="zh-CN" sz="2400" b="1" dirty="0"/>
                  <a:t>-element permutation</a:t>
                </a:r>
                <a:r>
                  <a:rPr lang="en-US" altLang="zh-CN" sz="2400" dirty="0"/>
                  <a:t>) of a set of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distinct elements is an ordered arrangement of </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𝑛</m:t>
                    </m:r>
                  </m:oMath>
                </a14:m>
                <a:r>
                  <a:rPr lang="en-US" altLang="zh-CN" sz="2400" dirty="0"/>
                  <a:t> elements of the set.</a:t>
                </a:r>
              </a:p>
              <a:p>
                <a:pPr marL="0" indent="0">
                  <a:buNone/>
                </a:pPr>
                <a:endParaRPr lang="en-US" altLang="zh-CN" sz="2400" dirty="0"/>
              </a:p>
              <a:p>
                <a:r>
                  <a:rPr lang="en-US" altLang="zh-CN" sz="2400" b="1" dirty="0">
                    <a:solidFill>
                      <a:srgbClr val="0000FF"/>
                    </a:solidFill>
                  </a:rPr>
                  <a:t>Example</a:t>
                </a:r>
                <a:br>
                  <a:rPr lang="en-US" altLang="zh-CN" sz="2400" b="1" dirty="0">
                    <a:solidFill>
                      <a:srgbClr val="0000FF"/>
                    </a:solidFill>
                  </a:rPr>
                </a:br>
                <a:r>
                  <a:rPr lang="en-US" altLang="zh-CN" sz="2400" dirty="0"/>
                  <a:t>Let </a:t>
                </a:r>
                <a14:m>
                  <m:oMath xmlns:m="http://schemas.openxmlformats.org/officeDocument/2006/math">
                    <m:r>
                      <a:rPr lang="en-US" altLang="zh-CN" sz="2400" b="0" i="1" smtClean="0">
                        <a:latin typeface="Cambria Math" panose="02040503050406030204" pitchFamily="18" charset="0"/>
                      </a:rPr>
                      <m:t>𝑆</m:t>
                    </m:r>
                    <m:r>
                      <a:rPr lang="en-US" altLang="zh-CN" sz="2400" b="0" i="1" smtClean="0">
                        <a:latin typeface="Cambria Math" panose="02040503050406030204" pitchFamily="18" charset="0"/>
                      </a:rPr>
                      <m:t>={1, 2, 3}</m:t>
                    </m:r>
                  </m:oMath>
                </a14:m>
                <a:r>
                  <a:rPr lang="en-US" altLang="zh-CN" sz="2400" dirty="0"/>
                  <a:t>. The ordered arrangement </a:t>
                </a:r>
                <a14:m>
                  <m:oMath xmlns:m="http://schemas.openxmlformats.org/officeDocument/2006/math">
                    <m:r>
                      <a:rPr lang="en-US" altLang="zh-CN" sz="2400" i="1" dirty="0" smtClean="0">
                        <a:latin typeface="Cambria Math" panose="02040503050406030204" pitchFamily="18" charset="0"/>
                      </a:rPr>
                      <m:t>(3, 2)</m:t>
                    </m:r>
                  </m:oMath>
                </a14:m>
                <a:r>
                  <a:rPr lang="en-US" altLang="zh-CN" sz="2400" dirty="0"/>
                  <a:t> is a 2-permutation of </a:t>
                </a:r>
                <a:r>
                  <a:rPr lang="en-US" altLang="zh-CN" sz="2400" i="1" dirty="0"/>
                  <a:t>S</a:t>
                </a:r>
                <a:r>
                  <a:rPr lang="en-US" altLang="zh-CN" sz="2400" dirty="0"/>
                  <a:t>.</a:t>
                </a:r>
              </a:p>
              <a:p>
                <a:r>
                  <a:rPr lang="en-US" altLang="zh-CN" dirty="0"/>
                  <a:t> </a:t>
                </a:r>
                <a14:m>
                  <m:oMath xmlns:m="http://schemas.openxmlformats.org/officeDocument/2006/math">
                    <m:r>
                      <a:rPr lang="en-US" altLang="zh-CN" i="1" dirty="0">
                        <a:latin typeface="Cambria Math" panose="02040503050406030204" pitchFamily="18" charset="0"/>
                      </a:rPr>
                      <m:t>(</m:t>
                    </m:r>
                    <m:r>
                      <a:rPr lang="en-US" altLang="zh-CN" b="0" i="1" dirty="0" smtClean="0">
                        <a:latin typeface="Cambria Math" panose="02040503050406030204" pitchFamily="18" charset="0"/>
                      </a:rPr>
                      <m:t>2</m:t>
                    </m:r>
                    <m:r>
                      <a:rPr lang="en-US" altLang="zh-CN" i="1" dirty="0">
                        <a:latin typeface="Cambria Math" panose="02040503050406030204" pitchFamily="18" charset="0"/>
                      </a:rPr>
                      <m:t>, </m:t>
                    </m:r>
                    <m:r>
                      <a:rPr lang="en-US" altLang="zh-CN" b="0" i="1" dirty="0" smtClean="0">
                        <a:latin typeface="Cambria Math" panose="02040503050406030204" pitchFamily="18" charset="0"/>
                      </a:rPr>
                      <m:t>3</m:t>
                    </m:r>
                    <m:r>
                      <a:rPr lang="en-US" altLang="zh-CN" i="1" dirty="0">
                        <a:latin typeface="Cambria Math" panose="02040503050406030204" pitchFamily="18" charset="0"/>
                      </a:rPr>
                      <m:t>)</m:t>
                    </m:r>
                  </m:oMath>
                </a14:m>
                <a:r>
                  <a:rPr lang="en-US" altLang="zh-CN" dirty="0"/>
                  <a:t> is a different 2-permutation.</a:t>
                </a:r>
                <a:endParaRPr lang="en-US" altLang="zh-CN" sz="2400" dirty="0"/>
              </a:p>
              <a:p>
                <a:r>
                  <a:rPr lang="en-US" altLang="zh-CN" sz="2400" b="1" dirty="0">
                    <a:solidFill>
                      <a:srgbClr val="0000FF"/>
                    </a:solidFill>
                  </a:rPr>
                  <a:t>Definition</a:t>
                </a:r>
                <a:br>
                  <a:rPr lang="en-US" altLang="zh-CN" sz="2400" b="1" dirty="0">
                    <a:solidFill>
                      <a:srgbClr val="0000FF"/>
                    </a:solidFill>
                  </a:rPr>
                </a:br>
                <a:r>
                  <a:rPr lang="en-US" altLang="zh-CN" sz="2400" dirty="0"/>
                  <a:t>A </a:t>
                </a:r>
                <a:r>
                  <a:rPr lang="en-US" altLang="zh-CN" sz="2400" b="1" i="1" dirty="0"/>
                  <a:t>n</a:t>
                </a:r>
                <a:r>
                  <a:rPr lang="en-US" altLang="zh-CN" sz="2400" b="1" dirty="0"/>
                  <a:t>-permutation</a:t>
                </a:r>
                <a:r>
                  <a:rPr lang="en-US" altLang="zh-CN" sz="2400" dirty="0"/>
                  <a:t> of a set of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distinct elements is simply called a permutation of the set. </a:t>
                </a:r>
              </a:p>
              <a:p>
                <a:pPr marL="0" indent="0">
                  <a:buNone/>
                </a:pPr>
                <a:endParaRPr lang="en-US" altLang="zh-CN" dirty="0">
                  <a:solidFill>
                    <a:srgbClr val="0000FF"/>
                  </a:solidFill>
                </a:endParaRPr>
              </a:p>
              <a:p>
                <a:pPr marL="0" indent="0">
                  <a:buNone/>
                </a:pPr>
                <a:endParaRPr lang="en-US" altLang="zh-CN" dirty="0"/>
              </a:p>
              <a:p>
                <a:pPr marL="0" indent="0">
                  <a:buNone/>
                </a:pPr>
                <a:endParaRPr lang="en-US" altLang="zh-CN"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04800" y="1219200"/>
                <a:ext cx="8686800" cy="4876800"/>
              </a:xfrm>
              <a:blipFill>
                <a:blip r:embed="rId2"/>
                <a:stretch>
                  <a:fillRect l="-912" t="-1000" r="-211" b="-875"/>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5</a:t>
            </a:fld>
            <a:endParaRPr lang="en-US"/>
          </a:p>
        </p:txBody>
      </p:sp>
    </p:spTree>
    <p:extLst>
      <p:ext uri="{BB962C8B-B14F-4D97-AF65-F5344CB8AC3E}">
        <p14:creationId xmlns:p14="http://schemas.microsoft.com/office/powerpoint/2010/main" val="356062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Number of </a:t>
            </a:r>
            <a:r>
              <a:rPr lang="en-US" altLang="zh-CN" i="1" dirty="0">
                <a:solidFill>
                  <a:schemeClr val="tx1"/>
                </a:solidFill>
              </a:rPr>
              <a:t>k</a:t>
            </a:r>
            <a:r>
              <a:rPr lang="en-US" altLang="zh-CN" dirty="0">
                <a:solidFill>
                  <a:schemeClr val="tx1"/>
                </a:solidFill>
              </a:rPr>
              <a:t>-Permutations</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4953000"/>
              </a:xfrm>
            </p:spPr>
            <p:txBody>
              <a:bodyPr/>
              <a:lstStyle/>
              <a:p>
                <a:r>
                  <a:rPr lang="en-US" altLang="zh-CN" sz="2400" b="1" dirty="0">
                    <a:solidFill>
                      <a:srgbClr val="0000FF"/>
                    </a:solidFill>
                  </a:rPr>
                  <a:t>Theorem</a:t>
                </a:r>
                <a:br>
                  <a:rPr lang="en-US" altLang="zh-CN" sz="2400" b="1" dirty="0">
                    <a:solidFill>
                      <a:srgbClr val="0000FF"/>
                    </a:solidFill>
                  </a:rPr>
                </a:br>
                <a:r>
                  <a:rPr lang="en-US" altLang="zh-CN" sz="2400" dirty="0"/>
                  <a:t>Let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and </a:t>
                </a:r>
                <a14:m>
                  <m:oMath xmlns:m="http://schemas.openxmlformats.org/officeDocument/2006/math">
                    <m:r>
                      <a:rPr lang="en-US" altLang="zh-CN" sz="2400" i="1" dirty="0" smtClean="0">
                        <a:latin typeface="Cambria Math" panose="02040503050406030204" pitchFamily="18" charset="0"/>
                      </a:rPr>
                      <m:t>𝑘</m:t>
                    </m:r>
                  </m:oMath>
                </a14:m>
                <a:r>
                  <a:rPr lang="en-US" altLang="zh-CN" sz="2400" dirty="0"/>
                  <a:t> be integers with </a:t>
                </a:r>
                <a14:m>
                  <m:oMath xmlns:m="http://schemas.openxmlformats.org/officeDocument/2006/math">
                    <m:r>
                      <a:rPr lang="en-US" altLang="zh-CN" sz="2400" b="0" i="1" smtClean="0">
                        <a:latin typeface="Cambria Math" panose="02040503050406030204" pitchFamily="18" charset="0"/>
                      </a:rPr>
                      <m:t>0</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𝑛</m:t>
                    </m:r>
                  </m:oMath>
                </a14:m>
                <a:r>
                  <a:rPr lang="en-US" altLang="zh-CN" sz="2400" dirty="0"/>
                  <a:t>. The number of </a:t>
                </a:r>
                <a:r>
                  <a:rPr lang="en-US" altLang="zh-CN" sz="2400" i="1" dirty="0"/>
                  <a:t>k</a:t>
                </a:r>
                <a:r>
                  <a:rPr lang="en-US" altLang="zh-CN" sz="2400" dirty="0"/>
                  <a:t>-permutations of a set with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distinct elements, denoted by </a:t>
                </a:r>
                <a14:m>
                  <m:oMath xmlns:m="http://schemas.openxmlformats.org/officeDocument/2006/math">
                    <m:r>
                      <a:rPr lang="en-US" altLang="zh-CN" sz="2400" i="1" dirty="0" smtClean="0">
                        <a:latin typeface="Cambria Math" panose="02040503050406030204" pitchFamily="18" charset="0"/>
                      </a:rPr>
                      <m:t>𝑃</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smtClean="0">
                        <a:latin typeface="Cambria Math" panose="02040503050406030204" pitchFamily="18" charset="0"/>
                      </a:rPr>
                      <m:t> </m:t>
                    </m:r>
                    <m:r>
                      <a:rPr lang="en-US" altLang="zh-CN" sz="2400" i="1" dirty="0">
                        <a:latin typeface="Cambria Math" panose="02040503050406030204" pitchFamily="18" charset="0"/>
                      </a:rPr>
                      <m:t>𝑘</m:t>
                    </m:r>
                    <m:r>
                      <a:rPr lang="en-US" altLang="zh-CN" sz="2400" i="1" dirty="0">
                        <a:latin typeface="Cambria Math" panose="02040503050406030204" pitchFamily="18" charset="0"/>
                      </a:rPr>
                      <m:t>)</m:t>
                    </m:r>
                  </m:oMath>
                </a14:m>
                <a:r>
                  <a:rPr lang="en-US" altLang="zh-CN" sz="2400" dirty="0"/>
                  <a:t>, is equal to</a:t>
                </a:r>
              </a:p>
              <a:p>
                <a:pPr marL="0" indent="0">
                  <a:buNone/>
                </a:pPr>
                <a:br>
                  <a:rPr lang="en-US" altLang="zh-CN" b="0" i="1" dirty="0">
                    <a:latin typeface="Cambria Math" panose="02040503050406030204" pitchFamily="18" charset="0"/>
                  </a:rPr>
                </a:br>
                <a14:m>
                  <m:oMathPara xmlns:m="http://schemas.openxmlformats.org/officeDocument/2006/math">
                    <m:o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+1</m:t>
                          </m:r>
                        </m:e>
                      </m:d>
                    </m:oMath>
                    <m:oMath>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p>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d>
                        </m:e>
                      </m:nary>
                    </m:oMath>
                    <m:o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den>
                      </m:f>
                    </m:oMath>
                  </m:oMathPara>
                </a14:m>
                <a:endParaRPr lang="en-US" altLang="zh-CN" dirty="0"/>
              </a:p>
              <a:p>
                <a:pPr marL="0" indent="0">
                  <a:buNone/>
                </a:pPr>
                <a:endParaRPr lang="en-US" altLang="zh-CN" dirty="0">
                  <a:solidFill>
                    <a:srgbClr val="0000FF"/>
                  </a:solidFill>
                </a:endParaRPr>
              </a:p>
              <a:p>
                <a:pPr marL="0" indent="0">
                  <a:buNone/>
                </a:pPr>
                <a:r>
                  <a:rPr lang="en-US" altLang="zh-CN" dirty="0">
                    <a:solidFill>
                      <a:srgbClr val="0000FF"/>
                    </a:solidFill>
                  </a:rPr>
                  <a:t>Comment: </a:t>
                </a:r>
                <a:r>
                  <a:rPr lang="en-US" altLang="zh-CN" dirty="0">
                    <a:solidFill>
                      <a:srgbClr val="FF3300"/>
                    </a:solidFill>
                  </a:rPr>
                  <a:t>0!</a:t>
                </a:r>
                <a:r>
                  <a:rPr lang="en-US" altLang="zh-CN" dirty="0"/>
                  <a:t>=1</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4953000"/>
              </a:xfrm>
              <a:blipFill>
                <a:blip r:embed="rId2"/>
                <a:stretch>
                  <a:fillRect l="-1123" t="-985" b="-4064"/>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6</a:t>
            </a:fld>
            <a:endParaRPr lang="en-US"/>
          </a:p>
        </p:txBody>
      </p:sp>
    </p:spTree>
    <p:extLst>
      <p:ext uri="{BB962C8B-B14F-4D97-AF65-F5344CB8AC3E}">
        <p14:creationId xmlns:p14="http://schemas.microsoft.com/office/powerpoint/2010/main" val="4206429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295400"/>
                <a:ext cx="8686800" cy="5562600"/>
              </a:xfrm>
            </p:spPr>
            <p:txBody>
              <a:bodyPr/>
              <a:lstStyle/>
              <a:p>
                <a:r>
                  <a:rPr lang="en-US" altLang="zh-CN" sz="2400" dirty="0"/>
                  <a:t>How many ways are there to select a first-prize winner, a second-prize winner, and a third-prize winner from 100 different people who have entered a contest?</a:t>
                </a:r>
              </a:p>
              <a:p>
                <a:pPr marL="0" indent="0">
                  <a:buNone/>
                </a:pPr>
                <a:endParaRPr lang="en-US" altLang="zh-CN" sz="2400" dirty="0"/>
              </a:p>
              <a:p>
                <a:r>
                  <a:rPr lang="en-US" altLang="zh-CN" sz="2400" b="1" dirty="0">
                    <a:solidFill>
                      <a:srgbClr val="0000FF"/>
                    </a:solidFill>
                  </a:rPr>
                  <a:t>Solution:</a:t>
                </a:r>
                <a:br>
                  <a:rPr lang="en-US" altLang="zh-CN" sz="2400" b="1" dirty="0">
                    <a:solidFill>
                      <a:srgbClr val="0000FF"/>
                    </a:solidFill>
                  </a:rPr>
                </a:br>
                <a:r>
                  <a:rPr lang="en-US" altLang="zh-CN" sz="2400" dirty="0"/>
                  <a:t>The order matters as it matters which person wins which prize. Therefore, the number of ways to pick three prize winners is the number of </a:t>
                </a:r>
                <a:r>
                  <a:rPr lang="en-US" altLang="zh-CN" sz="2400" i="1" dirty="0"/>
                  <a:t>ordered</a:t>
                </a:r>
                <a:r>
                  <a:rPr lang="en-US" altLang="zh-CN" sz="2400" dirty="0"/>
                  <a:t> selections of three elements from a set of 100 elements, i.e., the number of 3-permutations of a set of 100 elements.   </a:t>
                </a:r>
                <a:br>
                  <a:rPr lang="en-US" altLang="zh-CN" sz="2400" dirty="0"/>
                </a:br>
                <a:r>
                  <a:rPr lang="en-US" altLang="zh-CN" sz="2400" dirty="0"/>
                  <a:t>           </a:t>
                </a:r>
                <a14:m>
                  <m:oMath xmlns:m="http://schemas.openxmlformats.org/officeDocument/2006/math">
                    <m:r>
                      <a:rPr lang="en-US" altLang="zh-CN" sz="2400" i="1" dirty="0" smtClean="0">
                        <a:latin typeface="Cambria Math" panose="02040503050406030204" pitchFamily="18" charset="0"/>
                      </a:rPr>
                      <m:t>𝑃</m:t>
                    </m:r>
                    <m:d>
                      <m:dPr>
                        <m:ctrlPr>
                          <a:rPr lang="en-US" altLang="zh-CN" sz="2400" i="1" dirty="0" smtClean="0">
                            <a:latin typeface="Cambria Math" panose="02040503050406030204" pitchFamily="18" charset="0"/>
                          </a:rPr>
                        </m:ctrlPr>
                      </m:dPr>
                      <m:e>
                        <m:r>
                          <a:rPr lang="en-US" altLang="zh-CN" sz="2400" i="1" dirty="0" smtClean="0">
                            <a:latin typeface="Cambria Math" panose="02040503050406030204" pitchFamily="18" charset="0"/>
                          </a:rPr>
                          <m:t>100,</m:t>
                        </m:r>
                        <m:r>
                          <a:rPr lang="en-US" altLang="zh-CN" sz="2400" b="0" i="1" dirty="0" smtClean="0">
                            <a:latin typeface="Cambria Math" panose="02040503050406030204" pitchFamily="18" charset="0"/>
                          </a:rPr>
                          <m:t> </m:t>
                        </m:r>
                        <m:r>
                          <a:rPr lang="en-US" altLang="zh-CN" sz="2400" i="1" dirty="0" smtClean="0">
                            <a:latin typeface="Cambria Math" panose="02040503050406030204" pitchFamily="18" charset="0"/>
                          </a:rPr>
                          <m:t>3</m:t>
                        </m:r>
                      </m:e>
                    </m:d>
                    <m:r>
                      <a:rPr lang="en-US" altLang="zh-CN" sz="2400" i="1" dirty="0" smtClean="0">
                        <a:latin typeface="Cambria Math" panose="02040503050406030204" pitchFamily="18" charset="0"/>
                      </a:rPr>
                      <m:t>=100</m:t>
                    </m:r>
                    <m:r>
                      <a:rPr lang="en-US" altLang="zh-CN" sz="2400" b="0" i="1" dirty="0" smtClean="0">
                        <a:latin typeface="Cambria Math" panose="02040503050406030204" pitchFamily="18" charset="0"/>
                      </a:rPr>
                      <m:t>×</m:t>
                    </m:r>
                    <m:r>
                      <a:rPr lang="en-US" altLang="zh-CN" sz="2400" i="1" dirty="0" smtClean="0">
                        <a:latin typeface="Cambria Math" panose="02040503050406030204" pitchFamily="18" charset="0"/>
                      </a:rPr>
                      <m:t>99</m:t>
                    </m:r>
                    <m:r>
                      <a:rPr lang="en-US" altLang="zh-CN" sz="2400" b="0" i="1" dirty="0" smtClean="0">
                        <a:latin typeface="Cambria Math" panose="02040503050406030204" pitchFamily="18" charset="0"/>
                      </a:rPr>
                      <m:t>×</m:t>
                    </m:r>
                    <m:r>
                      <a:rPr lang="en-US" altLang="zh-CN" sz="2400" i="1" dirty="0" smtClean="0">
                        <a:latin typeface="Cambria Math" panose="02040503050406030204" pitchFamily="18" charset="0"/>
                      </a:rPr>
                      <m:t>98 = 970200</m:t>
                    </m:r>
                  </m:oMath>
                </a14:m>
                <a:r>
                  <a:rPr lang="en-US" altLang="zh-CN" sz="2400" dirty="0"/>
                  <a:t> ways.</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295400"/>
                <a:ext cx="8686800" cy="5562600"/>
              </a:xfrm>
              <a:blipFill>
                <a:blip r:embed="rId2"/>
                <a:stretch>
                  <a:fillRect l="-982" t="-768" r="-1825"/>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7</a:t>
            </a:fld>
            <a:endParaRPr lang="en-US"/>
          </a:p>
        </p:txBody>
      </p:sp>
    </p:spTree>
    <p:extLst>
      <p:ext uri="{BB962C8B-B14F-4D97-AF65-F5344CB8AC3E}">
        <p14:creationId xmlns:p14="http://schemas.microsoft.com/office/powerpoint/2010/main" val="109905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chemeClr val="tx1"/>
                </a:solidFill>
              </a:rPr>
              <a:t>Example</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CN" sz="2400" dirty="0"/>
                  <a:t>Suppose a saleswoman has to visit eight different cities. She must begin her trip in a specified city, but she can visit the other seven cities in any order she wants. How many possible orders can the saleswoman use when visiting these cities?</a:t>
                </a:r>
              </a:p>
              <a:p>
                <a:pPr marL="0" indent="0">
                  <a:buNone/>
                </a:pPr>
                <a:endParaRPr lang="en-US" altLang="zh-CN" sz="2400" dirty="0"/>
              </a:p>
              <a:p>
                <a:r>
                  <a:rPr lang="en-US" altLang="zh-CN" sz="2400" b="1" dirty="0">
                    <a:solidFill>
                      <a:srgbClr val="0000FF"/>
                    </a:solidFill>
                  </a:rPr>
                  <a:t>Solution:</a:t>
                </a:r>
                <a:br>
                  <a:rPr lang="en-US" altLang="zh-CN" sz="2400" b="1" dirty="0">
                    <a:solidFill>
                      <a:srgbClr val="0000FF"/>
                    </a:solidFill>
                  </a:rPr>
                </a:br>
                <a:r>
                  <a:rPr lang="en-US" altLang="zh-CN" sz="2400" dirty="0"/>
                  <a:t>Each travel order gives a different trip schedule, so order matters here. Since the first city has been fixed, so she only needs to choose the order for the remaining 7 cities, which is </a:t>
                </a:r>
                <a14:m>
                  <m:oMath xmlns:m="http://schemas.openxmlformats.org/officeDocument/2006/math">
                    <m:r>
                      <a:rPr lang="en-US" altLang="zh-CN" sz="2400" i="1" dirty="0" smtClean="0">
                        <a:latin typeface="Cambria Math" panose="02040503050406030204" pitchFamily="18" charset="0"/>
                      </a:rPr>
                      <m:t>𝑃</m:t>
                    </m:r>
                    <m:r>
                      <a:rPr lang="en-US" altLang="zh-CN" sz="2400" i="1" dirty="0" smtClean="0">
                        <a:latin typeface="Cambria Math" panose="02040503050406030204" pitchFamily="18" charset="0"/>
                      </a:rPr>
                      <m:t>(7,7)=7!=5040 </m:t>
                    </m:r>
                  </m:oMath>
                </a14:m>
                <a:r>
                  <a:rPr lang="en-US" altLang="zh-CN" sz="2400" dirty="0"/>
                  <a:t>possible orders.</a:t>
                </a:r>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82" t="-919" r="-982" b="-26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8</a:t>
            </a:fld>
            <a:endParaRPr lang="en-US"/>
          </a:p>
        </p:txBody>
      </p:sp>
    </p:spTree>
    <p:extLst>
      <p:ext uri="{BB962C8B-B14F-4D97-AF65-F5344CB8AC3E}">
        <p14:creationId xmlns:p14="http://schemas.microsoft.com/office/powerpoint/2010/main" val="34491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Strings</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CN" sz="2400" dirty="0"/>
                  <a:t>How many permutations of the letters </a:t>
                </a:r>
                <a:r>
                  <a:rPr lang="en-US" altLang="zh-CN" sz="2400" i="1" dirty="0"/>
                  <a:t>ABCDEFGH</a:t>
                </a:r>
                <a:r>
                  <a:rPr lang="en-US" altLang="zh-CN" sz="2400" dirty="0"/>
                  <a:t> contain the string </a:t>
                </a:r>
                <a:r>
                  <a:rPr lang="en-US" altLang="zh-CN" sz="2400" i="1" dirty="0"/>
                  <a:t>ABC</a:t>
                </a:r>
                <a:r>
                  <a:rPr lang="en-US" altLang="zh-CN" sz="2400" dirty="0"/>
                  <a:t>?</a:t>
                </a:r>
              </a:p>
              <a:p>
                <a:pPr marL="0" indent="0">
                  <a:buNone/>
                </a:pPr>
                <a:endParaRPr lang="en-US" altLang="zh-CN" sz="2400" dirty="0"/>
              </a:p>
              <a:p>
                <a:r>
                  <a:rPr lang="en-US" altLang="zh-CN" sz="2400" b="1" dirty="0">
                    <a:solidFill>
                      <a:srgbClr val="0000FF"/>
                    </a:solidFill>
                  </a:rPr>
                  <a:t>Solution:</a:t>
                </a:r>
                <a:br>
                  <a:rPr lang="en-US" altLang="zh-CN" sz="2400" b="1" dirty="0">
                    <a:solidFill>
                      <a:srgbClr val="0000FF"/>
                    </a:solidFill>
                  </a:rPr>
                </a:br>
                <a:r>
                  <a:rPr lang="en-US" altLang="zh-CN" sz="2400" dirty="0"/>
                  <a:t>Since the string ABC must occur together, we can consider it as a single letter (i.e. denote it by </a:t>
                </a:r>
                <a:r>
                  <a:rPr lang="en-US" altLang="zh-CN" sz="2400" dirty="0">
                    <a:solidFill>
                      <a:srgbClr val="FF0000"/>
                    </a:solidFill>
                  </a:rPr>
                  <a:t>S</a:t>
                </a:r>
                <a:r>
                  <a:rPr lang="en-US" altLang="zh-CN" sz="2400" dirty="0"/>
                  <a:t>). So now we only need to find the number of permutations of six </a:t>
                </a:r>
                <a:r>
                  <a:rPr lang="en-US" altLang="zh-CN" sz="2400" dirty="0">
                    <a:solidFill>
                      <a:srgbClr val="FF0000"/>
                    </a:solidFill>
                  </a:rPr>
                  <a:t>S</a:t>
                </a:r>
                <a:r>
                  <a:rPr lang="en-US" altLang="zh-CN" sz="2400" dirty="0"/>
                  <a:t>DEFGH. The answer is </a:t>
                </a:r>
                <a14:m>
                  <m:oMath xmlns:m="http://schemas.openxmlformats.org/officeDocument/2006/math">
                    <m:r>
                      <a:rPr lang="en-US" sz="2400" i="1" dirty="0" smtClean="0">
                        <a:latin typeface="Cambria Math" panose="02040503050406030204" pitchFamily="18" charset="0"/>
                      </a:rPr>
                      <m:t>𝑃</m:t>
                    </m:r>
                    <m:r>
                      <a:rPr lang="en-US" sz="2400" i="1" dirty="0" smtClean="0">
                        <a:latin typeface="Cambria Math" panose="02040503050406030204" pitchFamily="18" charset="0"/>
                      </a:rPr>
                      <m:t>(6, 6)=6!=720</m:t>
                    </m:r>
                  </m:oMath>
                </a14:m>
                <a:r>
                  <a:rPr lang="en-US" sz="24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82" t="-919" r="-49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9</a:t>
            </a:fld>
            <a:endParaRPr lang="en-US"/>
          </a:p>
        </p:txBody>
      </p:sp>
    </p:spTree>
    <p:extLst>
      <p:ext uri="{BB962C8B-B14F-4D97-AF65-F5344CB8AC3E}">
        <p14:creationId xmlns:p14="http://schemas.microsoft.com/office/powerpoint/2010/main" val="111484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Seating Arrangement</a:t>
            </a:r>
            <a:endParaRPr lang="en-US" dirty="0">
              <a:solidFill>
                <a:schemeClr val="tx1"/>
              </a:solidFill>
            </a:endParaRPr>
          </a:p>
        </p:txBody>
      </p:sp>
      <p:sp>
        <p:nvSpPr>
          <p:cNvPr id="3" name="Content Placeholder 2"/>
          <p:cNvSpPr>
            <a:spLocks noGrp="1"/>
          </p:cNvSpPr>
          <p:nvPr>
            <p:ph idx="1"/>
          </p:nvPr>
        </p:nvSpPr>
        <p:spPr>
          <a:xfrm>
            <a:off x="152400" y="914400"/>
            <a:ext cx="8763000" cy="5334000"/>
          </a:xfrm>
        </p:spPr>
        <p:txBody>
          <a:bodyPr/>
          <a:lstStyle/>
          <a:p>
            <a:r>
              <a:rPr lang="en-US" altLang="zh-CN" i="1" dirty="0">
                <a:solidFill>
                  <a:srgbClr val="FF3300"/>
                </a:solidFill>
              </a:rPr>
              <a:t>n</a:t>
            </a:r>
            <a:r>
              <a:rPr lang="en-US" altLang="zh-CN" i="1" dirty="0"/>
              <a:t> </a:t>
            </a:r>
            <a:r>
              <a:rPr lang="en-US" altLang="zh-CN" dirty="0"/>
              <a:t>people sit down at a round table with </a:t>
            </a:r>
            <a:r>
              <a:rPr lang="en-US" altLang="zh-CN" i="1" dirty="0">
                <a:solidFill>
                  <a:srgbClr val="FF3300"/>
                </a:solidFill>
              </a:rPr>
              <a:t>n</a:t>
            </a:r>
            <a:r>
              <a:rPr lang="en-US" altLang="zh-CN" dirty="0"/>
              <a:t> chairs. We consider two seating arrangements </a:t>
            </a:r>
            <a:r>
              <a:rPr lang="en-US" altLang="zh-CN" dirty="0">
                <a:solidFill>
                  <a:srgbClr val="0000FF"/>
                </a:solidFill>
              </a:rPr>
              <a:t>equivalent, if each person has the same neighbor to the right in both arrangements</a:t>
            </a:r>
            <a:r>
              <a:rPr lang="en-US" altLang="zh-CN" dirty="0"/>
              <a:t>. How many different arrangements are equivalent to a given arrangement of </a:t>
            </a:r>
            <a:r>
              <a:rPr lang="en-US" altLang="zh-CN" i="1" dirty="0"/>
              <a:t>n</a:t>
            </a:r>
            <a:r>
              <a:rPr lang="en-US" altLang="zh-CN" dirty="0"/>
              <a:t> people?</a:t>
            </a:r>
          </a:p>
          <a:p>
            <a:r>
              <a:rPr lang="en-US" altLang="zh-CN" i="1" dirty="0">
                <a:solidFill>
                  <a:srgbClr val="0000FF"/>
                </a:solidFill>
              </a:rPr>
              <a:t>n</a:t>
            </a:r>
            <a:r>
              <a:rPr lang="en-US" altLang="zh-CN" dirty="0">
                <a:solidFill>
                  <a:srgbClr val="0000FF"/>
                </a:solidFill>
              </a:rPr>
              <a:t>-1</a:t>
            </a:r>
            <a:endParaRPr lang="en-US" altLang="zh-CN" sz="2400" dirty="0"/>
          </a:p>
          <a:p>
            <a:pPr marL="0" indent="0">
              <a:buNone/>
            </a:pPr>
            <a:br>
              <a:rPr lang="en-US" altLang="zh-CN" b="1" dirty="0"/>
            </a:br>
            <a:endParaRPr lang="en-US" sz="24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10</a:t>
            </a:fld>
            <a:endParaRPr lang="en-US" dirty="0"/>
          </a:p>
        </p:txBody>
      </p:sp>
    </p:spTree>
    <p:extLst>
      <p:ext uri="{BB962C8B-B14F-4D97-AF65-F5344CB8AC3E}">
        <p14:creationId xmlns:p14="http://schemas.microsoft.com/office/powerpoint/2010/main" val="386643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Seating Arrangement</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14400"/>
                <a:ext cx="8763000" cy="5334000"/>
              </a:xfrm>
            </p:spPr>
            <p:txBody>
              <a:bodyPr/>
              <a:lstStyle/>
              <a:p>
                <a:r>
                  <a:rPr lang="en-US" altLang="zh-CN" sz="2000" i="1" dirty="0"/>
                  <a:t>n</a:t>
                </a:r>
                <a:r>
                  <a:rPr lang="en-US" altLang="zh-CN" sz="2000" dirty="0"/>
                  <a:t> people sit down at a round table. We consider two seating arrangements equivalent if each person has the same person to the right in both seating charts. How many different seating charts are there?</a:t>
                </a:r>
              </a:p>
              <a:p>
                <a:r>
                  <a:rPr lang="en-US" altLang="zh-CN" sz="2000" b="1" dirty="0">
                    <a:solidFill>
                      <a:srgbClr val="0000FF"/>
                    </a:solidFill>
                  </a:rPr>
                  <a:t>Solution</a:t>
                </a:r>
                <a:br>
                  <a:rPr lang="en-US" altLang="zh-CN" sz="2000" b="1" dirty="0">
                    <a:solidFill>
                      <a:srgbClr val="0000FF"/>
                    </a:solidFill>
                  </a:rPr>
                </a:br>
                <a:r>
                  <a:rPr lang="en-US" altLang="zh-CN" sz="2000" dirty="0"/>
                  <a:t>According to previous slide, each arrangement corresponds to a set of </a:t>
                </a:r>
                <a:r>
                  <a:rPr lang="en-US" altLang="zh-CN" sz="2000" i="1" dirty="0"/>
                  <a:t>n</a:t>
                </a:r>
                <a:r>
                  <a:rPr lang="en-US" altLang="zh-CN" sz="2000" dirty="0"/>
                  <a:t> equivalent arrangements. Thus, I divide the total number of permutations </a:t>
                </a:r>
                <a:r>
                  <a:rPr lang="en-US" altLang="zh-CN" sz="2000" i="1" dirty="0"/>
                  <a:t>n</a:t>
                </a:r>
                <a:r>
                  <a:rPr lang="en-US" altLang="zh-CN" sz="2000" dirty="0"/>
                  <a:t>! of </a:t>
                </a:r>
                <a:r>
                  <a:rPr lang="en-US" altLang="zh-CN" sz="2000" i="1" dirty="0"/>
                  <a:t>n</a:t>
                </a:r>
                <a:r>
                  <a:rPr lang="en-US" altLang="zh-CN" sz="2000" dirty="0"/>
                  <a:t> objects by </a:t>
                </a:r>
                <a:r>
                  <a:rPr lang="en-US" altLang="zh-CN" sz="2000" i="1" dirty="0"/>
                  <a:t>n</a:t>
                </a:r>
                <a:r>
                  <a:rPr lang="en-US" altLang="zh-CN" sz="2000" dirty="0"/>
                  <a:t>:  </a:t>
                </a:r>
                <a:r>
                  <a:rPr lang="en-US" altLang="zh-CN" sz="2000" i="1" dirty="0"/>
                  <a:t>n</a:t>
                </a:r>
                <a:r>
                  <a:rPr lang="en-US" altLang="zh-CN" sz="2000" dirty="0"/>
                  <a:t>!/</a:t>
                </a:r>
                <a:r>
                  <a:rPr lang="en-US" altLang="zh-CN" sz="2000" i="1" dirty="0"/>
                  <a:t>n </a:t>
                </a:r>
                <a:r>
                  <a:rPr lang="en-US" altLang="zh-CN" sz="2000" dirty="0"/>
                  <a:t>= (</a:t>
                </a:r>
                <a:r>
                  <a:rPr lang="en-US" altLang="zh-CN" sz="2000" i="1" dirty="0"/>
                  <a:t>n</a:t>
                </a:r>
                <a:r>
                  <a:rPr lang="en-US" altLang="zh-CN" sz="2000" dirty="0"/>
                  <a:t>-1)!</a:t>
                </a:r>
                <a:endParaRPr lang="en-US" sz="2000" dirty="0"/>
              </a:p>
              <a:p>
                <a:r>
                  <a:rPr lang="en-US" altLang="zh-CN" sz="2000" b="1" dirty="0">
                    <a:solidFill>
                      <a:srgbClr val="0000FF"/>
                    </a:solidFill>
                  </a:rPr>
                  <a:t>Textbook Solution</a:t>
                </a:r>
                <a:br>
                  <a:rPr lang="en-US" altLang="zh-CN" sz="2000" b="1" dirty="0">
                    <a:solidFill>
                      <a:srgbClr val="0000FF"/>
                    </a:solidFill>
                  </a:rPr>
                </a:br>
                <a:r>
                  <a:rPr lang="en-US" altLang="zh-CN" sz="2000" dirty="0"/>
                  <a:t>In a circular arrangement, we first have to fix the position of the first person, which can be performed only in </a:t>
                </a:r>
                <a:r>
                  <a:rPr lang="en-US" altLang="zh-CN" sz="2000" i="1" dirty="0"/>
                  <a:t>one way </a:t>
                </a:r>
                <a:r>
                  <a:rPr lang="en-US" altLang="zh-CN" sz="2000" dirty="0"/>
                  <a:t>(since every position is considered the same when no one is already sitting in any of the seats).  Once we have fixed the position of the first person, we can arrange the remaining persons in </a:t>
                </a:r>
                <a14:m>
                  <m:oMath xmlns:m="http://schemas.openxmlformats.org/officeDocument/2006/math">
                    <m:r>
                      <a:rPr lang="en-US" altLang="zh-CN" sz="2000" i="1" dirty="0" smtClean="0">
                        <a:latin typeface="Cambria Math" panose="02040503050406030204" pitchFamily="18" charset="0"/>
                      </a:rPr>
                      <m:t>(</m:t>
                    </m:r>
                    <m:r>
                      <a:rPr lang="en-US" altLang="zh-CN" sz="2000" b="0" i="1" dirty="0" smtClean="0">
                        <a:latin typeface="Cambria Math" panose="02040503050406030204" pitchFamily="18" charset="0"/>
                      </a:rPr>
                      <m:t>𝑛</m:t>
                    </m:r>
                    <m:r>
                      <a:rPr lang="en-US" altLang="zh-CN" sz="2000" i="1" dirty="0" smtClean="0">
                        <a:latin typeface="Cambria Math" panose="02040503050406030204" pitchFamily="18" charset="0"/>
                      </a:rPr>
                      <m:t>−1)!</m:t>
                    </m:r>
                  </m:oMath>
                </a14:m>
                <a:r>
                  <a:rPr lang="en-US" altLang="zh-CN" sz="2000" dirty="0"/>
                  <a:t> ways. </a:t>
                </a:r>
                <a:endParaRPr lang="en-US" altLang="zh-CN" sz="2000" b="1" dirty="0">
                  <a:solidFill>
                    <a:srgbClr val="0000FF"/>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14400"/>
                <a:ext cx="8763000" cy="5334000"/>
              </a:xfrm>
              <a:blipFill>
                <a:blip r:embed="rId2"/>
                <a:stretch>
                  <a:fillRect l="-626" t="-571" r="-1530"/>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11</a:t>
            </a:fld>
            <a:endParaRPr lang="en-US" dirty="0"/>
          </a:p>
        </p:txBody>
      </p:sp>
    </p:spTree>
    <p:extLst>
      <p:ext uri="{BB962C8B-B14F-4D97-AF65-F5344CB8AC3E}">
        <p14:creationId xmlns:p14="http://schemas.microsoft.com/office/powerpoint/2010/main" val="331040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Parking Lots</a:t>
            </a:r>
            <a:endParaRPr lang="en-US" dirty="0"/>
          </a:p>
        </p:txBody>
      </p:sp>
      <p:sp>
        <p:nvSpPr>
          <p:cNvPr id="3" name="Content Placeholder 2"/>
          <p:cNvSpPr>
            <a:spLocks noGrp="1"/>
          </p:cNvSpPr>
          <p:nvPr>
            <p:ph idx="1"/>
          </p:nvPr>
        </p:nvSpPr>
        <p:spPr>
          <a:xfrm>
            <a:off x="0" y="990600"/>
            <a:ext cx="8763000" cy="5181600"/>
          </a:xfrm>
        </p:spPr>
        <p:txBody>
          <a:bodyPr/>
          <a:lstStyle/>
          <a:p>
            <a:pPr lvl="0"/>
            <a:r>
              <a:rPr lang="en-US" dirty="0"/>
              <a:t>A parking lot has 10 parking spaces arranged in a row. There are 7 different cars parked in 7 of these parking spaces. How many ways are there to park the cars such that the three empty places are adjacent to each other?</a:t>
            </a:r>
          </a:p>
          <a:p>
            <a:pPr marL="0" indent="0">
              <a:buNone/>
            </a:pPr>
            <a:endParaRPr lang="en-US" dirty="0"/>
          </a:p>
          <a:p>
            <a:r>
              <a:rPr lang="en-US" dirty="0">
                <a:solidFill>
                  <a:srgbClr val="0000FF"/>
                </a:solidFill>
              </a:rPr>
              <a:t>Solution</a:t>
            </a:r>
            <a:r>
              <a:rPr lang="en-US" dirty="0"/>
              <a:t> </a:t>
            </a:r>
          </a:p>
          <a:p>
            <a:r>
              <a:rPr lang="en-US" dirty="0"/>
              <a:t>The beginning of the 3 empty spaces can be at positions 1,2,…,8. For each of the 8 choices, there are 7! permutations of the 7 cars. Thus: 7!8=40320</a:t>
            </a:r>
          </a:p>
        </p:txBody>
      </p:sp>
      <p:sp>
        <p:nvSpPr>
          <p:cNvPr id="4" name="Slide Number Placeholder 3"/>
          <p:cNvSpPr>
            <a:spLocks noGrp="1"/>
          </p:cNvSpPr>
          <p:nvPr>
            <p:ph type="sldNum" sz="quarter" idx="12"/>
          </p:nvPr>
        </p:nvSpPr>
        <p:spPr/>
        <p:txBody>
          <a:bodyPr/>
          <a:lstStyle/>
          <a:p>
            <a:fld id="{5EC735E3-5B29-4F54-8FB9-022B0DB6C884}" type="slidenum">
              <a:rPr lang="en-US" smtClean="0"/>
              <a:pPr/>
              <a:t>12</a:t>
            </a:fld>
            <a:endParaRPr lang="en-US"/>
          </a:p>
        </p:txBody>
      </p:sp>
    </p:spTree>
    <p:extLst>
      <p:ext uri="{BB962C8B-B14F-4D97-AF65-F5344CB8AC3E}">
        <p14:creationId xmlns:p14="http://schemas.microsoft.com/office/powerpoint/2010/main" val="57174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i="1" dirty="0">
                <a:solidFill>
                  <a:schemeClr val="tx1"/>
                </a:solidFill>
              </a:rPr>
              <a:t>k</a:t>
            </a:r>
            <a:r>
              <a:rPr lang="en-US" altLang="zh-CN" dirty="0">
                <a:solidFill>
                  <a:schemeClr val="tx1"/>
                </a:solidFill>
              </a:rPr>
              <a:t>-Combinations</a:t>
            </a:r>
            <a:endParaRPr lang="zh-CN" altLang="en-US" dirty="0">
              <a:solidFill>
                <a:schemeClr val="tx1"/>
              </a:solidFill>
            </a:endParaRPr>
          </a:p>
        </p:txBody>
      </p:sp>
      <p:sp>
        <p:nvSpPr>
          <p:cNvPr id="3" name="内容占位符 2"/>
          <p:cNvSpPr>
            <a:spLocks noGrp="1"/>
          </p:cNvSpPr>
          <p:nvPr>
            <p:ph idx="1"/>
          </p:nvPr>
        </p:nvSpPr>
        <p:spPr>
          <a:xfrm>
            <a:off x="228600" y="1143000"/>
            <a:ext cx="8686800" cy="5715000"/>
          </a:xfrm>
        </p:spPr>
        <p:txBody>
          <a:bodyPr/>
          <a:lstStyle/>
          <a:p>
            <a:r>
              <a:rPr lang="en-US" altLang="zh-CN" sz="2400" b="1" dirty="0">
                <a:solidFill>
                  <a:srgbClr val="0000FF"/>
                </a:solidFill>
              </a:rPr>
              <a:t>Example</a:t>
            </a:r>
            <a:br>
              <a:rPr lang="en-US" altLang="zh-CN" sz="2400" b="1" dirty="0">
                <a:solidFill>
                  <a:srgbClr val="0000FF"/>
                </a:solidFill>
              </a:rPr>
            </a:br>
            <a:r>
              <a:rPr lang="en-US" altLang="zh-CN" sz="2400" dirty="0"/>
              <a:t>In how many ways can we select </a:t>
            </a:r>
            <a:r>
              <a:rPr lang="en-US" altLang="zh-CN" sz="2400" dirty="0">
                <a:solidFill>
                  <a:srgbClr val="FF3300"/>
                </a:solidFill>
              </a:rPr>
              <a:t>three</a:t>
            </a:r>
            <a:r>
              <a:rPr lang="en-US" altLang="zh-CN" sz="2400" dirty="0"/>
              <a:t> students to form a study-team, from a group of </a:t>
            </a:r>
            <a:r>
              <a:rPr lang="en-US" altLang="zh-CN" sz="2400" dirty="0">
                <a:solidFill>
                  <a:srgbClr val="0000FF"/>
                </a:solidFill>
              </a:rPr>
              <a:t>four</a:t>
            </a:r>
            <a:r>
              <a:rPr lang="en-US" altLang="zh-CN" sz="2400" dirty="0"/>
              <a:t> students?</a:t>
            </a:r>
          </a:p>
          <a:p>
            <a:r>
              <a:rPr lang="en-US" altLang="zh-CN" dirty="0"/>
              <a:t>Note: </a:t>
            </a:r>
            <a:r>
              <a:rPr lang="en-US" altLang="zh-CN" i="1" dirty="0"/>
              <a:t>the order in which the students are selected does not matter</a:t>
            </a:r>
            <a:r>
              <a:rPr lang="en-US" altLang="zh-CN" dirty="0"/>
              <a:t>! </a:t>
            </a:r>
            <a:endParaRPr lang="en-US" altLang="zh-CN" sz="2400" dirty="0"/>
          </a:p>
          <a:p>
            <a:r>
              <a:rPr lang="en-US" altLang="zh-CN" sz="2400" b="1" dirty="0">
                <a:solidFill>
                  <a:srgbClr val="0000FF"/>
                </a:solidFill>
              </a:rPr>
              <a:t>Solution:</a:t>
            </a:r>
            <a:br>
              <a:rPr lang="en-US" altLang="zh-CN" sz="2400" b="1" dirty="0">
                <a:solidFill>
                  <a:srgbClr val="0000FF"/>
                </a:solidFill>
              </a:rPr>
            </a:br>
            <a:r>
              <a:rPr lang="en-US" dirty="0"/>
              <a:t>We need only to find the number of subsets containing 3 elements from the set of 4 students. There are 4 such subsets (each subset excludes one student). Therefore, there are 4 ways to choose the three students for the team.</a:t>
            </a:r>
          </a:p>
          <a:p>
            <a:r>
              <a:rPr lang="en-US" altLang="zh-CN" u="sng" dirty="0"/>
              <a:t>Equivalent Question</a:t>
            </a:r>
            <a:r>
              <a:rPr lang="en-US" altLang="zh-CN" dirty="0"/>
              <a:t>: How many bit strings of length </a:t>
            </a:r>
            <a:r>
              <a:rPr lang="en-US" altLang="zh-CN" dirty="0">
                <a:solidFill>
                  <a:srgbClr val="0000FF"/>
                </a:solidFill>
              </a:rPr>
              <a:t>four</a:t>
            </a:r>
            <a:r>
              <a:rPr lang="en-US" altLang="zh-CN" dirty="0"/>
              <a:t> have exactly </a:t>
            </a:r>
            <a:r>
              <a:rPr lang="en-US" altLang="zh-CN" dirty="0">
                <a:solidFill>
                  <a:srgbClr val="FF3300"/>
                </a:solidFill>
              </a:rPr>
              <a:t>three</a:t>
            </a:r>
            <a:r>
              <a:rPr lang="en-US" altLang="zh-CN" dirty="0"/>
              <a:t> 1? </a:t>
            </a:r>
            <a:endParaRPr lang="en-US" altLang="zh-CN" sz="24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13</a:t>
            </a:fld>
            <a:endParaRPr lang="en-US"/>
          </a:p>
        </p:txBody>
      </p:sp>
    </p:spTree>
    <p:extLst>
      <p:ext uri="{BB962C8B-B14F-4D97-AF65-F5344CB8AC3E}">
        <p14:creationId xmlns:p14="http://schemas.microsoft.com/office/powerpoint/2010/main" val="178481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i="1" dirty="0">
                <a:solidFill>
                  <a:schemeClr val="tx1"/>
                </a:solidFill>
              </a:rPr>
              <a:t>k</a:t>
            </a:r>
            <a:r>
              <a:rPr lang="en-US" altLang="zh-CN" dirty="0">
                <a:solidFill>
                  <a:schemeClr val="tx1"/>
                </a:solidFill>
              </a:rPr>
              <a:t>-Combinations</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4876800"/>
              </a:xfrm>
            </p:spPr>
            <p:txBody>
              <a:bodyPr/>
              <a:lstStyle/>
              <a:p>
                <a:r>
                  <a:rPr lang="en-US" altLang="zh-CN" sz="2400" b="1" dirty="0">
                    <a:solidFill>
                      <a:srgbClr val="0000FF"/>
                    </a:solidFill>
                  </a:rPr>
                  <a:t>Definition</a:t>
                </a:r>
                <a:br>
                  <a:rPr lang="en-US" altLang="zh-CN" sz="2400" b="1" dirty="0">
                    <a:solidFill>
                      <a:srgbClr val="0000FF"/>
                    </a:solidFill>
                  </a:rPr>
                </a:br>
                <a:r>
                  <a:rPr lang="en-US" altLang="zh-CN" sz="2400" dirty="0"/>
                  <a:t>A </a:t>
                </a:r>
                <a:r>
                  <a:rPr lang="en-US" altLang="zh-CN" sz="2400" b="1" i="1" dirty="0"/>
                  <a:t>k</a:t>
                </a:r>
                <a:r>
                  <a:rPr lang="en-US" altLang="zh-CN" sz="2400" b="1" dirty="0"/>
                  <a:t>-combination</a:t>
                </a:r>
                <a:r>
                  <a:rPr lang="en-US" altLang="zh-CN" sz="2400" dirty="0"/>
                  <a:t> of a set of </a:t>
                </a:r>
                <a:r>
                  <a:rPr lang="en-US" altLang="zh-CN" sz="2400" i="1" dirty="0"/>
                  <a:t>n</a:t>
                </a:r>
                <a:r>
                  <a:rPr lang="en-US" altLang="zh-CN" sz="2400" dirty="0"/>
                  <a:t> distinct elements is an unordered selection of </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𝑛</m:t>
                    </m:r>
                  </m:oMath>
                </a14:m>
                <a:r>
                  <a:rPr lang="en-US" altLang="zh-CN" sz="2400" dirty="0"/>
                  <a:t> elements from the set.</a:t>
                </a:r>
              </a:p>
              <a:p>
                <a:pPr marL="0" indent="0">
                  <a:buNone/>
                </a:pPr>
                <a:endParaRPr lang="en-US" altLang="zh-CN" sz="2400" dirty="0"/>
              </a:p>
              <a:p>
                <a:r>
                  <a:rPr lang="en-US" altLang="zh-CN" sz="2400" b="1" dirty="0">
                    <a:solidFill>
                      <a:srgbClr val="0000FF"/>
                    </a:solidFill>
                  </a:rPr>
                  <a:t>Example 10</a:t>
                </a:r>
                <a:br>
                  <a:rPr lang="en-US" altLang="zh-CN" sz="2400" b="1" dirty="0">
                    <a:solidFill>
                      <a:srgbClr val="0000FF"/>
                    </a:solidFill>
                  </a:rPr>
                </a:br>
                <a:r>
                  <a:rPr lang="en-US" altLang="zh-CN" sz="2400" dirty="0"/>
                  <a:t>Let </a:t>
                </a:r>
                <a14:m>
                  <m:oMath xmlns:m="http://schemas.openxmlformats.org/officeDocument/2006/math">
                    <m:r>
                      <a:rPr lang="en-US" altLang="zh-CN" sz="2400" b="0" i="1" smtClean="0">
                        <a:latin typeface="Cambria Math" panose="02040503050406030204" pitchFamily="18" charset="0"/>
                      </a:rPr>
                      <m:t>𝑆</m:t>
                    </m:r>
                    <m:r>
                      <a:rPr lang="en-US" altLang="zh-CN" sz="2400" b="0" i="1" smtClean="0">
                        <a:latin typeface="Cambria Math" panose="02040503050406030204" pitchFamily="18" charset="0"/>
                      </a:rPr>
                      <m:t>={1, 2, 3, 4}</m:t>
                    </m:r>
                  </m:oMath>
                </a14:m>
                <a:r>
                  <a:rPr lang="en-US" altLang="zh-CN" sz="2400" dirty="0"/>
                  <a:t>. Then </a:t>
                </a:r>
                <a14:m>
                  <m:oMath xmlns:m="http://schemas.openxmlformats.org/officeDocument/2006/math">
                    <m:r>
                      <a:rPr lang="en-US" altLang="zh-CN" sz="2400" i="1" dirty="0" smtClean="0">
                        <a:latin typeface="Cambria Math" panose="02040503050406030204" pitchFamily="18" charset="0"/>
                      </a:rPr>
                      <m:t>{1, 3, 4}</m:t>
                    </m:r>
                  </m:oMath>
                </a14:m>
                <a:r>
                  <a:rPr lang="en-US" altLang="zh-CN" sz="2400" dirty="0"/>
                  <a:t> is a 3-combination from </a:t>
                </a:r>
                <a:r>
                  <a:rPr lang="en-US" altLang="zh-CN" sz="2400" i="1" dirty="0"/>
                  <a:t>S</a:t>
                </a:r>
                <a:r>
                  <a:rPr lang="en-US" altLang="zh-CN" sz="2400" dirty="0"/>
                  <a:t>. Moreover, </a:t>
                </a:r>
                <a14:m>
                  <m:oMath xmlns:m="http://schemas.openxmlformats.org/officeDocument/2006/math">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1, </m:t>
                        </m:r>
                        <m:r>
                          <a:rPr lang="en-US" altLang="zh-CN" b="0" i="1" dirty="0" smtClean="0">
                            <a:latin typeface="Cambria Math" panose="02040503050406030204" pitchFamily="18" charset="0"/>
                          </a:rPr>
                          <m:t>4</m:t>
                        </m:r>
                        <m:r>
                          <a:rPr lang="en-US" altLang="zh-CN" i="1" dirty="0">
                            <a:latin typeface="Cambria Math" panose="02040503050406030204" pitchFamily="18" charset="0"/>
                          </a:rPr>
                          <m:t>, </m:t>
                        </m:r>
                        <m:r>
                          <a:rPr lang="en-US" altLang="zh-CN" b="0" i="1" dirty="0" smtClean="0">
                            <a:latin typeface="Cambria Math" panose="02040503050406030204" pitchFamily="18" charset="0"/>
                          </a:rPr>
                          <m:t>3</m:t>
                        </m:r>
                      </m:e>
                    </m:d>
                    <m:r>
                      <a:rPr lang="en-US" altLang="zh-CN" b="0" i="0"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4,</m:t>
                        </m:r>
                        <m:r>
                          <a:rPr lang="en-US" altLang="zh-CN" i="1" dirty="0">
                            <a:latin typeface="Cambria Math" panose="02040503050406030204" pitchFamily="18" charset="0"/>
                          </a:rPr>
                          <m:t> 3, </m:t>
                        </m:r>
                        <m:r>
                          <a:rPr lang="en-US" altLang="zh-CN" b="0" i="1" dirty="0" smtClean="0">
                            <a:latin typeface="Cambria Math" panose="02040503050406030204" pitchFamily="18" charset="0"/>
                          </a:rPr>
                          <m:t>1</m:t>
                        </m:r>
                      </m:e>
                    </m:d>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4,</m:t>
                        </m:r>
                        <m:r>
                          <a:rPr lang="en-US" altLang="zh-CN" i="1" dirty="0">
                            <a:latin typeface="Cambria Math" panose="02040503050406030204" pitchFamily="18" charset="0"/>
                          </a:rPr>
                          <m:t> </m:t>
                        </m:r>
                        <m:r>
                          <a:rPr lang="en-US" altLang="zh-CN" b="0" i="1" dirty="0" smtClean="0">
                            <a:latin typeface="Cambria Math" panose="02040503050406030204" pitchFamily="18" charset="0"/>
                          </a:rPr>
                          <m:t>1, 3</m:t>
                        </m:r>
                      </m:e>
                    </m:d>
                    <m:r>
                      <a:rPr lang="en-US" altLang="zh-CN" b="0" i="0"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3</m:t>
                        </m:r>
                        <m:r>
                          <a:rPr lang="en-US" altLang="zh-CN" i="1" dirty="0">
                            <a:latin typeface="Cambria Math" panose="02040503050406030204" pitchFamily="18" charset="0"/>
                          </a:rPr>
                          <m:t>, </m:t>
                        </m:r>
                        <m:r>
                          <a:rPr lang="en-US" altLang="zh-CN" b="0" i="1" dirty="0" smtClean="0">
                            <a:latin typeface="Cambria Math" panose="02040503050406030204" pitchFamily="18" charset="0"/>
                          </a:rPr>
                          <m:t>1</m:t>
                        </m:r>
                        <m:r>
                          <a:rPr lang="en-US" altLang="zh-CN" i="1" dirty="0">
                            <a:latin typeface="Cambria Math" panose="02040503050406030204" pitchFamily="18" charset="0"/>
                          </a:rPr>
                          <m:t>, 4</m:t>
                        </m:r>
                      </m:e>
                    </m:d>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en-US" altLang="zh-CN" b="0" i="1" dirty="0" smtClean="0">
                        <a:latin typeface="Cambria Math" panose="02040503050406030204" pitchFamily="18" charset="0"/>
                      </a:rPr>
                      <m:t>3</m:t>
                    </m:r>
                    <m:r>
                      <a:rPr lang="en-US" altLang="zh-CN" i="1" dirty="0">
                        <a:latin typeface="Cambria Math" panose="02040503050406030204" pitchFamily="18" charset="0"/>
                      </a:rPr>
                      <m:t>, </m:t>
                    </m:r>
                    <m:r>
                      <a:rPr lang="en-US" altLang="zh-CN" b="0" i="1" dirty="0" smtClean="0">
                        <a:latin typeface="Cambria Math" panose="02040503050406030204" pitchFamily="18" charset="0"/>
                      </a:rPr>
                      <m:t>4</m:t>
                    </m:r>
                    <m:r>
                      <a:rPr lang="en-US" altLang="zh-CN" i="1" dirty="0">
                        <a:latin typeface="Cambria Math" panose="02040503050406030204" pitchFamily="18" charset="0"/>
                      </a:rPr>
                      <m:t>, </m:t>
                    </m:r>
                    <m:r>
                      <a:rPr lang="en-US" altLang="zh-CN" b="0" i="1" dirty="0" smtClean="0">
                        <a:latin typeface="Cambria Math" panose="02040503050406030204" pitchFamily="18" charset="0"/>
                      </a:rPr>
                      <m:t>1</m:t>
                    </m:r>
                    <m:r>
                      <a:rPr lang="en-US" altLang="zh-CN" i="1" dirty="0">
                        <a:latin typeface="Cambria Math" panose="02040503050406030204" pitchFamily="18" charset="0"/>
                      </a:rPr>
                      <m:t>}</m:t>
                    </m:r>
                  </m:oMath>
                </a14:m>
                <a:r>
                  <a:rPr lang="en-US" altLang="zh-CN" dirty="0"/>
                  <a:t> all refer to the same combination (they count as one possible solution).</a:t>
                </a:r>
              </a:p>
              <a:p>
                <a:pPr marL="0" indent="0">
                  <a:buNone/>
                </a:pPr>
                <a:endParaRPr lang="en-US" altLang="zh-CN" sz="2400"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4876800"/>
              </a:xfrm>
              <a:blipFill>
                <a:blip r:embed="rId2"/>
                <a:stretch>
                  <a:fillRect l="-876" t="-1039" r="-29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14</a:t>
            </a:fld>
            <a:endParaRPr lang="en-US"/>
          </a:p>
        </p:txBody>
      </p:sp>
    </p:spTree>
    <p:extLst>
      <p:ext uri="{BB962C8B-B14F-4D97-AF65-F5344CB8AC3E}">
        <p14:creationId xmlns:p14="http://schemas.microsoft.com/office/powerpoint/2010/main" val="343400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Number of </a:t>
            </a:r>
            <a:r>
              <a:rPr lang="en-US" altLang="zh-CN" i="1" dirty="0">
                <a:solidFill>
                  <a:schemeClr val="tx1"/>
                </a:solidFill>
              </a:rPr>
              <a:t>k</a:t>
            </a:r>
            <a:r>
              <a:rPr lang="en-US" altLang="zh-CN" dirty="0">
                <a:solidFill>
                  <a:schemeClr val="tx1"/>
                </a:solidFill>
              </a:rPr>
              <a:t>-Combinations</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4953000"/>
              </a:xfrm>
            </p:spPr>
            <p:txBody>
              <a:bodyPr/>
              <a:lstStyle/>
              <a:p>
                <a:r>
                  <a:rPr lang="en-US" altLang="zh-CN" b="1" dirty="0">
                    <a:solidFill>
                      <a:srgbClr val="0000FF"/>
                    </a:solidFill>
                  </a:rPr>
                  <a:t>Theorem</a:t>
                </a:r>
                <a:br>
                  <a:rPr lang="en-US" altLang="zh-CN" b="1" dirty="0">
                    <a:solidFill>
                      <a:srgbClr val="0000FF"/>
                    </a:solidFill>
                  </a:rPr>
                </a:br>
                <a:r>
                  <a:rPr lang="en-US" altLang="zh-CN" dirty="0"/>
                  <a:t>Let </a:t>
                </a:r>
                <a:r>
                  <a:rPr lang="en-US" altLang="zh-CN" i="1" dirty="0"/>
                  <a:t>n</a:t>
                </a:r>
                <a:r>
                  <a:rPr lang="en-US" altLang="zh-CN" dirty="0"/>
                  <a:t> and </a:t>
                </a:r>
                <a:r>
                  <a:rPr lang="en-US" altLang="zh-CN" i="1" dirty="0"/>
                  <a:t>k</a:t>
                </a:r>
                <a:r>
                  <a:rPr lang="en-US" altLang="zh-CN" dirty="0"/>
                  <a:t> be integers with </a:t>
                </a:r>
                <a14:m>
                  <m:oMath xmlns:m="http://schemas.openxmlformats.org/officeDocument/2006/math">
                    <m:r>
                      <a:rPr lang="en-US" altLang="zh-CN" b="0" i="1" smtClean="0">
                        <a:latin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r>
                  <a:rPr lang="en-US" altLang="zh-CN" dirty="0"/>
                  <a:t>. The number of </a:t>
                </a:r>
                <a:r>
                  <a:rPr lang="en-US" altLang="zh-CN" i="1" dirty="0"/>
                  <a:t>k</a:t>
                </a:r>
                <a:r>
                  <a:rPr lang="en-US" altLang="zh-CN" dirty="0"/>
                  <a:t>-combinations of a set with </a:t>
                </a:r>
                <a:r>
                  <a:rPr lang="en-US" altLang="zh-CN" i="1" dirty="0"/>
                  <a:t>n</a:t>
                </a:r>
                <a:r>
                  <a:rPr lang="en-US" altLang="zh-CN" dirty="0"/>
                  <a:t> distinct elements, denoted by </a:t>
                </a: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a:latin typeface="Cambria Math" panose="02040503050406030204" pitchFamily="18" charset="0"/>
                      </a:rPr>
                      <m:t>,</m:t>
                    </m:r>
                    <m:r>
                      <a:rPr lang="en-US" altLang="zh-CN" i="1" dirty="0" smtClean="0">
                        <a:latin typeface="Cambria Math" panose="02040503050406030204" pitchFamily="18" charset="0"/>
                      </a:rPr>
                      <m:t> </m:t>
                    </m:r>
                    <m:r>
                      <a:rPr lang="en-US" altLang="zh-CN" i="1" dirty="0">
                        <a:latin typeface="Cambria Math" panose="02040503050406030204" pitchFamily="18" charset="0"/>
                      </a:rPr>
                      <m:t>𝑘</m:t>
                    </m:r>
                    <m:r>
                      <a:rPr lang="en-US" altLang="zh-CN" i="1" dirty="0" smtClean="0">
                        <a:latin typeface="Cambria Math" panose="02040503050406030204" pitchFamily="18" charset="0"/>
                      </a:rPr>
                      <m:t>) </m:t>
                    </m:r>
                  </m:oMath>
                </a14:m>
                <a:r>
                  <a:rPr lang="en-US" altLang="zh-CN" dirty="0"/>
                  <a:t>or </a:t>
                </a:r>
                <a14:m>
                  <m:oMath xmlns:m="http://schemas.openxmlformats.org/officeDocument/2006/math">
                    <m:d>
                      <m:dPr>
                        <m:ctrlPr>
                          <a:rPr lang="en-US" altLang="zh-CN" b="0" i="1" smtClean="0">
                            <a:latin typeface="Cambria Math" panose="02040503050406030204" pitchFamily="18" charset="0"/>
                          </a:rPr>
                        </m:ctrlPr>
                      </m:dPr>
                      <m:e>
                        <m:f>
                          <m:fPr>
                            <m:type m:val="noBa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𝑘</m:t>
                            </m:r>
                          </m:den>
                        </m:f>
                      </m:e>
                    </m:d>
                  </m:oMath>
                </a14:m>
                <a:r>
                  <a:rPr lang="en-US" altLang="zh-CN" dirty="0"/>
                  <a:t>, is equal to</a:t>
                </a:r>
                <a:br>
                  <a:rPr lang="en-US" altLang="zh-CN" dirty="0"/>
                </a:br>
                <a14:m>
                  <m:oMath xmlns:m="http://schemas.openxmlformats.org/officeDocument/2006/math">
                    <m:r>
                      <a:rPr lang="en-US" altLang="zh-CN" b="0" i="1" smtClean="0">
                        <a:latin typeface="Cambria Math" panose="02040503050406030204" pitchFamily="18" charset="0"/>
                      </a:rPr>
                      <m:t>𝐶</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f>
                          <m:fPr>
                            <m:type m:val="noBa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𝑘</m:t>
                            </m:r>
                          </m:den>
                        </m:f>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𝑘</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𝑘</m:t>
                        </m:r>
                        <m:r>
                          <a:rPr lang="en-US" altLang="zh-CN" b="0" i="1" smtClean="0">
                            <a:latin typeface="Cambria Math" panose="02040503050406030204" pitchFamily="18" charset="0"/>
                          </a:rPr>
                          <m:t>!</m:t>
                        </m:r>
                      </m:den>
                    </m:f>
                  </m:oMath>
                </a14:m>
                <a:endParaRPr lang="en-US" altLang="zh-CN" dirty="0"/>
              </a:p>
              <a:p>
                <a:pPr marL="0" indent="0">
                  <a:buNone/>
                </a:pPr>
                <a:endParaRPr lang="en-US" altLang="zh-CN" dirty="0">
                  <a:solidFill>
                    <a:srgbClr val="0000FF"/>
                  </a:solidFill>
                </a:endParaRPr>
              </a:p>
              <a:p>
                <a:pPr marL="0" indent="0">
                  <a:buNone/>
                </a:pPr>
                <a:endParaRPr lang="en-US" altLang="zh-CN" dirty="0">
                  <a:solidFill>
                    <a:srgbClr val="0000FF"/>
                  </a:solidFill>
                </a:endParaRPr>
              </a:p>
              <a:p>
                <a:pPr marL="0" indent="0">
                  <a:buNone/>
                </a:pPr>
                <a:r>
                  <a:rPr lang="en-US" altLang="zh-CN" dirty="0">
                    <a:solidFill>
                      <a:srgbClr val="0000FF"/>
                    </a:solidFill>
                  </a:rPr>
                  <a:t>Comment:  </a:t>
                </a:r>
                <a14:m>
                  <m:oMath xmlns:m="http://schemas.openxmlformats.org/officeDocument/2006/math">
                    <m:r>
                      <a:rPr lang="en-US" altLang="zh-CN" b="0" i="1" smtClean="0">
                        <a:latin typeface="Cambria Math" panose="02040503050406030204" pitchFamily="18" charset="0"/>
                      </a:rPr>
                      <m:t>𝐶</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 0</m:t>
                        </m:r>
                      </m:e>
                    </m:d>
                    <m:r>
                      <a:rPr lang="en-US" altLang="zh-CN" i="1">
                        <a:latin typeface="Cambria Math" panose="02040503050406030204" pitchFamily="18" charset="0"/>
                      </a:rPr>
                      <m:t>=</m:t>
                    </m:r>
                    <m:d>
                      <m:dPr>
                        <m:ctrlPr>
                          <a:rPr lang="en-US" altLang="zh-CN" i="1">
                            <a:latin typeface="Cambria Math" panose="02040503050406030204" pitchFamily="18" charset="0"/>
                          </a:rPr>
                        </m:ctrlPr>
                      </m:dPr>
                      <m:e>
                        <m:f>
                          <m:fPr>
                            <m:type m:val="noBa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solidFill>
                                  <a:srgbClr val="FF0000"/>
                                </a:solidFill>
                                <a:latin typeface="Cambria Math" panose="02040503050406030204" pitchFamily="18" charset="0"/>
                              </a:rPr>
                              <m:t>0</m:t>
                            </m:r>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r>
                          <a:rPr lang="en-US" altLang="zh-CN" i="1">
                            <a:latin typeface="Cambria Math" panose="02040503050406030204" pitchFamily="18" charset="0"/>
                          </a:rPr>
                          <m:t>!</m:t>
                        </m:r>
                      </m:num>
                      <m:den>
                        <m:r>
                          <a:rPr lang="en-US" altLang="zh-CN" b="0" i="1" smtClean="0">
                            <a:solidFill>
                              <a:srgbClr val="FF3300"/>
                            </a:solidFill>
                            <a:latin typeface="Cambria Math" panose="02040503050406030204" pitchFamily="18" charset="0"/>
                          </a:rPr>
                          <m:t>0</m:t>
                        </m:r>
                        <m:r>
                          <a:rPr lang="en-US" altLang="zh-CN" i="1">
                            <a:solidFill>
                              <a:srgbClr val="FF3300"/>
                            </a:solidFill>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−0</m:t>
                            </m:r>
                          </m:e>
                        </m:d>
                        <m:r>
                          <a:rPr lang="en-US" altLang="zh-CN" i="1">
                            <a:latin typeface="Cambria Math" panose="02040503050406030204" pitchFamily="18" charset="0"/>
                          </a:rPr>
                          <m:t>!</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r>
                          <a:rPr lang="en-US" altLang="zh-CN" i="1">
                            <a:latin typeface="Cambria Math" panose="02040503050406030204" pitchFamily="18" charset="0"/>
                          </a:rPr>
                          <m:t>!</m:t>
                        </m:r>
                      </m:num>
                      <m:den>
                        <m:r>
                          <a:rPr lang="en-US" altLang="zh-CN" i="1">
                            <a:latin typeface="Cambria Math" panose="02040503050406030204" pitchFamily="18" charset="0"/>
                          </a:rPr>
                          <m:t>𝑛</m:t>
                        </m:r>
                        <m:r>
                          <a:rPr lang="en-US" altLang="zh-CN" i="1">
                            <a:latin typeface="Cambria Math" panose="02040503050406030204" pitchFamily="18" charset="0"/>
                          </a:rPr>
                          <m:t>!</m:t>
                        </m:r>
                      </m:den>
                    </m:f>
                    <m:r>
                      <a:rPr lang="en-US" altLang="zh-CN" i="1">
                        <a:latin typeface="Cambria Math" panose="02040503050406030204" pitchFamily="18" charset="0"/>
                      </a:rPr>
                      <m:t>=</m:t>
                    </m:r>
                    <m:r>
                      <a:rPr lang="en-US" altLang="zh-CN" b="0" i="1" smtClean="0">
                        <a:solidFill>
                          <a:srgbClr val="0000FF"/>
                        </a:solidFill>
                        <a:latin typeface="Cambria Math" panose="02040503050406030204" pitchFamily="18" charset="0"/>
                      </a:rPr>
                      <m:t>1</m:t>
                    </m:r>
                  </m:oMath>
                </a14:m>
                <a:endParaRPr lang="en-US" altLang="zh-CN"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4953000"/>
              </a:xfrm>
              <a:blipFill>
                <a:blip r:embed="rId2"/>
                <a:stretch>
                  <a:fillRect l="-1123" t="-985"/>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15</a:t>
            </a:fld>
            <a:endParaRPr lang="en-US"/>
          </a:p>
        </p:txBody>
      </p:sp>
    </p:spTree>
    <p:extLst>
      <p:ext uri="{BB962C8B-B14F-4D97-AF65-F5344CB8AC3E}">
        <p14:creationId xmlns:p14="http://schemas.microsoft.com/office/powerpoint/2010/main" val="4078067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Proof</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066800"/>
                <a:ext cx="8686800" cy="5334000"/>
              </a:xfrm>
            </p:spPr>
            <p:txBody>
              <a:bodyPr/>
              <a:lstStyle/>
              <a:p>
                <a:pPr marL="0" indent="0">
                  <a:buNone/>
                </a:pPr>
                <a:r>
                  <a:rPr lang="en-US" altLang="zh-CN" sz="2400" dirty="0"/>
                  <a:t>The </a:t>
                </a:r>
                <a:r>
                  <a:rPr lang="en-US" altLang="zh-CN" sz="2400" i="1" dirty="0">
                    <a:solidFill>
                      <a:srgbClr val="0000FF"/>
                    </a:solidFill>
                  </a:rPr>
                  <a:t>k</a:t>
                </a:r>
                <a:r>
                  <a:rPr lang="en-US" altLang="zh-CN" sz="2400" dirty="0">
                    <a:solidFill>
                      <a:srgbClr val="0000FF"/>
                    </a:solidFill>
                  </a:rPr>
                  <a:t>-permutations</a:t>
                </a:r>
                <a:r>
                  <a:rPr lang="en-US" altLang="zh-CN" sz="2400" dirty="0"/>
                  <a:t> of the set can be obtained by </a:t>
                </a:r>
                <a:r>
                  <a:rPr lang="en-US" altLang="zh-CN" sz="2400" dirty="0">
                    <a:solidFill>
                      <a:schemeClr val="tx1"/>
                    </a:solidFill>
                  </a:rPr>
                  <a:t>forming the </a:t>
                </a:r>
                <a14:m>
                  <m:oMath xmlns:m="http://schemas.openxmlformats.org/officeDocument/2006/math">
                    <m:r>
                      <a:rPr lang="en-US" altLang="zh-CN" sz="2400" i="1" dirty="0" smtClean="0">
                        <a:solidFill>
                          <a:schemeClr val="tx1"/>
                        </a:solidFill>
                        <a:latin typeface="Cambria Math" panose="02040503050406030204" pitchFamily="18" charset="0"/>
                      </a:rPr>
                      <m:t>𝐶</m:t>
                    </m:r>
                    <m:r>
                      <a:rPr lang="en-US" altLang="zh-CN" sz="2400" i="1" dirty="0" smtClean="0">
                        <a:solidFill>
                          <a:schemeClr val="tx1"/>
                        </a:solidFill>
                        <a:latin typeface="Cambria Math" panose="02040503050406030204" pitchFamily="18" charset="0"/>
                      </a:rPr>
                      <m:t>(</m:t>
                    </m:r>
                    <m:r>
                      <a:rPr lang="en-US" altLang="zh-CN" sz="2400" i="1" dirty="0" smtClean="0">
                        <a:solidFill>
                          <a:schemeClr val="tx1"/>
                        </a:solidFill>
                        <a:latin typeface="Cambria Math" panose="02040503050406030204" pitchFamily="18" charset="0"/>
                      </a:rPr>
                      <m:t>𝑛</m:t>
                    </m:r>
                    <m:r>
                      <a:rPr lang="en-US" altLang="zh-CN" sz="2400" i="1" dirty="0">
                        <a:solidFill>
                          <a:schemeClr val="tx1"/>
                        </a:solidFill>
                        <a:latin typeface="Cambria Math" panose="02040503050406030204" pitchFamily="18" charset="0"/>
                      </a:rPr>
                      <m:t>,</m:t>
                    </m:r>
                    <m:r>
                      <a:rPr lang="en-US" altLang="zh-CN" sz="2400" i="1" dirty="0" smtClean="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𝑘</m:t>
                    </m:r>
                    <m:r>
                      <a:rPr lang="en-US" altLang="zh-CN" sz="2400" i="1" dirty="0" smtClean="0">
                        <a:solidFill>
                          <a:schemeClr val="tx1"/>
                        </a:solidFill>
                        <a:latin typeface="Cambria Math" panose="02040503050406030204" pitchFamily="18" charset="0"/>
                      </a:rPr>
                      <m:t>)</m:t>
                    </m:r>
                  </m:oMath>
                </a14:m>
                <a:r>
                  <a:rPr lang="en-US" altLang="zh-CN" sz="2400" i="1" dirty="0">
                    <a:solidFill>
                      <a:schemeClr val="tx1"/>
                    </a:solidFill>
                  </a:rPr>
                  <a:t> k</a:t>
                </a:r>
                <a:r>
                  <a:rPr lang="en-US" altLang="zh-CN" sz="2400" dirty="0">
                    <a:solidFill>
                      <a:schemeClr val="tx1"/>
                    </a:solidFill>
                  </a:rPr>
                  <a:t>-combinations of the set</a:t>
                </a:r>
                <a:r>
                  <a:rPr lang="en-US" altLang="zh-CN" sz="2400" dirty="0"/>
                  <a:t>, and then </a:t>
                </a:r>
                <a:r>
                  <a:rPr lang="en-US" altLang="zh-CN" sz="2400" dirty="0">
                    <a:solidFill>
                      <a:srgbClr val="FF0000"/>
                    </a:solidFill>
                  </a:rPr>
                  <a:t>ordering the elements in each </a:t>
                </a:r>
                <a:r>
                  <a:rPr lang="en-US" altLang="zh-CN" sz="2400" i="1" dirty="0">
                    <a:solidFill>
                      <a:srgbClr val="FF0000"/>
                    </a:solidFill>
                  </a:rPr>
                  <a:t>k</a:t>
                </a:r>
                <a:r>
                  <a:rPr lang="en-US" altLang="zh-CN" sz="2400" dirty="0">
                    <a:solidFill>
                      <a:srgbClr val="FF0000"/>
                    </a:solidFill>
                  </a:rPr>
                  <a:t>-combination</a:t>
                </a:r>
                <a:r>
                  <a:rPr lang="en-US" altLang="zh-CN" sz="2400" dirty="0"/>
                  <a:t>, which can be done in </a:t>
                </a:r>
                <a14:m>
                  <m:oMath xmlns:m="http://schemas.openxmlformats.org/officeDocument/2006/math">
                    <m:r>
                      <a:rPr lang="en-US" altLang="zh-CN" sz="2400" i="1" dirty="0" smtClean="0">
                        <a:latin typeface="Cambria Math" panose="02040503050406030204" pitchFamily="18" charset="0"/>
                      </a:rPr>
                      <m:t>𝑃</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𝑘</m:t>
                    </m:r>
                    <m:r>
                      <a:rPr lang="en-US" altLang="zh-CN" sz="2400" i="1" dirty="0">
                        <a:latin typeface="Cambria Math" panose="02040503050406030204" pitchFamily="18" charset="0"/>
                      </a:rPr>
                      <m:t>,</m:t>
                    </m:r>
                    <m:r>
                      <a:rPr lang="en-US" altLang="zh-CN" sz="2400" i="1" dirty="0" smtClean="0">
                        <a:latin typeface="Cambria Math" panose="02040503050406030204" pitchFamily="18" charset="0"/>
                      </a:rPr>
                      <m:t> </m:t>
                    </m:r>
                    <m:r>
                      <a:rPr lang="en-US" altLang="zh-CN" sz="2400" i="1" dirty="0">
                        <a:latin typeface="Cambria Math" panose="02040503050406030204" pitchFamily="18" charset="0"/>
                      </a:rPr>
                      <m:t>𝑘</m:t>
                    </m:r>
                    <m:r>
                      <a:rPr lang="en-US" altLang="zh-CN" sz="2400" i="1" dirty="0" smtClean="0">
                        <a:latin typeface="Cambria Math" panose="02040503050406030204" pitchFamily="18" charset="0"/>
                      </a:rPr>
                      <m:t>)</m:t>
                    </m:r>
                  </m:oMath>
                </a14:m>
                <a:r>
                  <a:rPr lang="en-US" altLang="zh-CN" sz="2400" dirty="0"/>
                  <a:t> (i.e., </a:t>
                </a:r>
                <a14:m>
                  <m:oMath xmlns:m="http://schemas.openxmlformats.org/officeDocument/2006/math">
                    <m:r>
                      <a:rPr lang="en-US" altLang="zh-CN" sz="2400" i="1" dirty="0" smtClean="0">
                        <a:latin typeface="Cambria Math" panose="02040503050406030204" pitchFamily="18" charset="0"/>
                      </a:rPr>
                      <m:t>𝑘</m:t>
                    </m:r>
                    <m:r>
                      <a:rPr lang="en-US" altLang="zh-CN" sz="2400" i="1" dirty="0" smtClean="0">
                        <a:latin typeface="Cambria Math" panose="02040503050406030204" pitchFamily="18" charset="0"/>
                      </a:rPr>
                      <m:t>!</m:t>
                    </m:r>
                  </m:oMath>
                </a14:m>
                <a:r>
                  <a:rPr lang="en-US" altLang="zh-CN" sz="2400" dirty="0"/>
                  <a:t>) ways. Consequently,</a:t>
                </a:r>
              </a:p>
              <a:p>
                <a:pPr marL="0" indent="0">
                  <a:buNone/>
                </a:pPr>
                <a:endParaRPr lang="en-US" altLang="zh-CN" sz="2400" b="0" i="1" dirty="0">
                  <a:latin typeface="Cambria Math" panose="02040503050406030204" pitchFamily="18" charset="0"/>
                </a:endParaRPr>
              </a:p>
              <a:p>
                <a:pPr marL="0" indent="0">
                  <a:buNone/>
                </a:pPr>
                <a14:m>
                  <m:oMathPara xmlns:m="http://schemas.openxmlformats.org/officeDocument/2006/math">
                    <m:oMath>
                      <m:r>
                        <a:rPr lang="en-US" altLang="zh-CN" b="0" i="1" smtClean="0">
                          <a:solidFill>
                            <a:srgbClr val="0000FF"/>
                          </a:solidFill>
                          <a:latin typeface="Cambria Math" panose="02040503050406030204" pitchFamily="18" charset="0"/>
                        </a:rPr>
                        <m:t>𝑃</m:t>
                      </m:r>
                      <m:d>
                        <m:dPr>
                          <m:ctrlPr>
                            <a:rPr lang="en-US" altLang="zh-CN" b="0" i="1" smtClean="0">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𝑛</m:t>
                          </m:r>
                          <m:r>
                            <a:rPr lang="en-US" altLang="zh-CN" b="0" i="1" smtClean="0">
                              <a:solidFill>
                                <a:srgbClr val="0000FF"/>
                              </a:solidFill>
                              <a:latin typeface="Cambria Math" panose="02040503050406030204" pitchFamily="18" charset="0"/>
                            </a:rPr>
                            <m:t>, </m:t>
                          </m:r>
                          <m:r>
                            <a:rPr lang="en-US" altLang="zh-CN" b="0" i="1" smtClean="0">
                              <a:solidFill>
                                <a:srgbClr val="0000FF"/>
                              </a:solidFill>
                              <a:latin typeface="Cambria Math" panose="02040503050406030204" pitchFamily="18" charset="0"/>
                            </a:rPr>
                            <m:t>𝑘</m:t>
                          </m:r>
                        </m:e>
                      </m:d>
                      <m:r>
                        <a:rPr lang="en-US" altLang="zh-CN" b="0" i="1" smtClean="0">
                          <a:latin typeface="Cambria Math" panose="02040503050406030204" pitchFamily="18" charset="0"/>
                        </a:rPr>
                        <m:t>=</m:t>
                      </m:r>
                      <m:r>
                        <a:rPr lang="en-US" altLang="zh-CN" b="0" i="1" smtClean="0">
                          <a:solidFill>
                            <a:schemeClr val="tx1"/>
                          </a:solidFill>
                          <a:latin typeface="Cambria Math" panose="02040503050406030204" pitchFamily="18" charset="0"/>
                        </a:rPr>
                        <m:t>𝐶</m:t>
                      </m:r>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𝑛</m:t>
                          </m:r>
                          <m:r>
                            <a:rPr lang="en-US" altLang="zh-CN"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𝑘</m:t>
                          </m:r>
                        </m:e>
                      </m:d>
                      <m:r>
                        <a:rPr lang="en-US" altLang="zh-CN" b="0" i="1" smtClean="0">
                          <a:latin typeface="Cambria Math" panose="02040503050406030204" pitchFamily="18" charset="0"/>
                          <a:ea typeface="Cambria Math" panose="02040503050406030204" pitchFamily="18" charset="0"/>
                        </a:rPr>
                        <m:t>∙</m:t>
                      </m:r>
                      <m:r>
                        <a:rPr lang="en-US" altLang="zh-CN" b="0" i="1" smtClean="0">
                          <a:solidFill>
                            <a:srgbClr val="FF3300"/>
                          </a:solidFill>
                          <a:latin typeface="Cambria Math" panose="02040503050406030204" pitchFamily="18" charset="0"/>
                          <a:ea typeface="Cambria Math" panose="02040503050406030204" pitchFamily="18" charset="0"/>
                        </a:rPr>
                        <m:t>𝑃</m:t>
                      </m:r>
                      <m:d>
                        <m:dPr>
                          <m:ctrlPr>
                            <a:rPr lang="en-US" altLang="zh-CN" b="0" i="1" smtClean="0">
                              <a:solidFill>
                                <a:srgbClr val="FF3300"/>
                              </a:solidFill>
                              <a:latin typeface="Cambria Math" panose="02040503050406030204" pitchFamily="18" charset="0"/>
                              <a:ea typeface="Cambria Math" panose="02040503050406030204" pitchFamily="18" charset="0"/>
                            </a:rPr>
                          </m:ctrlPr>
                        </m:dPr>
                        <m:e>
                          <m:r>
                            <a:rPr lang="en-US" altLang="zh-CN" b="0" i="1" smtClean="0">
                              <a:solidFill>
                                <a:srgbClr val="FF3300"/>
                              </a:solidFill>
                              <a:latin typeface="Cambria Math" panose="02040503050406030204" pitchFamily="18" charset="0"/>
                              <a:ea typeface="Cambria Math" panose="02040503050406030204" pitchFamily="18" charset="0"/>
                            </a:rPr>
                            <m:t>𝑘</m:t>
                          </m:r>
                          <m:r>
                            <a:rPr lang="en-US" altLang="zh-CN" b="0" i="1" smtClean="0">
                              <a:solidFill>
                                <a:srgbClr val="FF3300"/>
                              </a:solidFill>
                              <a:latin typeface="Cambria Math" panose="02040503050406030204" pitchFamily="18" charset="0"/>
                              <a:ea typeface="Cambria Math" panose="02040503050406030204" pitchFamily="18" charset="0"/>
                            </a:rPr>
                            <m:t>,</m:t>
                          </m:r>
                          <m:r>
                            <a:rPr lang="en-US" altLang="zh-CN" b="0" i="1" smtClean="0">
                              <a:solidFill>
                                <a:srgbClr val="FF3300"/>
                              </a:solidFill>
                              <a:latin typeface="Cambria Math" panose="02040503050406030204" pitchFamily="18" charset="0"/>
                              <a:ea typeface="Cambria Math" panose="02040503050406030204" pitchFamily="18" charset="0"/>
                            </a:rPr>
                            <m:t>𝑘</m:t>
                          </m:r>
                        </m:e>
                      </m:d>
                    </m:oMath>
                  </m:oMathPara>
                </a14:m>
                <a:endParaRPr lang="en-US" altLang="zh-CN" sz="2400" b="0" dirty="0">
                  <a:ea typeface="Cambria Math" panose="02040503050406030204" pitchFamily="18" charset="0"/>
                </a:endParaRPr>
              </a:p>
              <a:p>
                <a:pPr marL="0" indent="0">
                  <a:buNone/>
                </a:pPr>
                <a:endParaRPr lang="en-US" altLang="zh-CN" sz="2000" dirty="0"/>
              </a:p>
              <a:p>
                <a:pPr marL="0" indent="0">
                  <a:buNone/>
                </a:pPr>
                <a:r>
                  <a:rPr lang="en-US" altLang="zh-CN" sz="2400" dirty="0"/>
                  <a:t>This implies that</a:t>
                </a:r>
              </a:p>
              <a:p>
                <a:pPr marL="0" indent="0">
                  <a:buNone/>
                </a:pPr>
                <a:endParaRPr lang="en-US" altLang="zh-CN" sz="1600" dirty="0"/>
              </a:p>
              <a:p>
                <a:pPr marL="0" indent="0" algn="ctr">
                  <a:buNone/>
                </a:pPr>
                <a14:m>
                  <m:oMathPara xmlns:m="http://schemas.openxmlformats.org/officeDocument/2006/math">
                    <m:oMath>
                      <m:r>
                        <a:rPr lang="en-US" altLang="zh-CN" b="0" i="1" smtClean="0">
                          <a:latin typeface="Cambria Math" panose="02040503050406030204" pitchFamily="18" charset="0"/>
                        </a:rPr>
                        <m:t>𝐶</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𝑃</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𝑛</m:t>
                          </m:r>
                          <m:r>
                            <a:rPr lang="en-US" altLang="zh-CN" b="0" i="1" smtClean="0">
                              <a:solidFill>
                                <a:srgbClr val="0000FF"/>
                              </a:solidFill>
                              <a:latin typeface="Cambria Math" panose="02040503050406030204" pitchFamily="18" charset="0"/>
                            </a:rPr>
                            <m:t>,  </m:t>
                          </m:r>
                          <m:r>
                            <a:rPr lang="en-US" altLang="zh-CN" b="0" i="1" smtClean="0">
                              <a:solidFill>
                                <a:srgbClr val="0000FF"/>
                              </a:solidFill>
                              <a:latin typeface="Cambria Math" panose="02040503050406030204" pitchFamily="18" charset="0"/>
                            </a:rPr>
                            <m:t>𝑘</m:t>
                          </m:r>
                          <m:r>
                            <a:rPr lang="en-US" altLang="zh-CN" b="0" i="1" smtClean="0">
                              <a:solidFill>
                                <a:srgbClr val="0000FF"/>
                              </a:solidFill>
                              <a:latin typeface="Cambria Math" panose="02040503050406030204" pitchFamily="18" charset="0"/>
                            </a:rPr>
                            <m:t>)</m:t>
                          </m:r>
                        </m:num>
                        <m:den>
                          <m:r>
                            <a:rPr lang="en-US" altLang="zh-CN" b="0" i="1" smtClean="0">
                              <a:solidFill>
                                <a:srgbClr val="FF3300"/>
                              </a:solidFill>
                              <a:latin typeface="Cambria Math" panose="02040503050406030204" pitchFamily="18" charset="0"/>
                            </a:rPr>
                            <m:t>𝑃</m:t>
                          </m:r>
                          <m:r>
                            <a:rPr lang="en-US" altLang="zh-CN" b="0" i="1" smtClean="0">
                              <a:solidFill>
                                <a:srgbClr val="FF3300"/>
                              </a:solidFill>
                              <a:latin typeface="Cambria Math" panose="02040503050406030204" pitchFamily="18" charset="0"/>
                            </a:rPr>
                            <m:t>(</m:t>
                          </m:r>
                          <m:r>
                            <a:rPr lang="en-US" altLang="zh-CN" b="0" i="1" smtClean="0">
                              <a:solidFill>
                                <a:srgbClr val="FF3300"/>
                              </a:solidFill>
                              <a:latin typeface="Cambria Math" panose="02040503050406030204" pitchFamily="18" charset="0"/>
                            </a:rPr>
                            <m:t>𝑘</m:t>
                          </m:r>
                          <m:r>
                            <a:rPr lang="en-US" altLang="zh-CN" b="0" i="1" smtClean="0">
                              <a:solidFill>
                                <a:srgbClr val="FF3300"/>
                              </a:solidFill>
                              <a:latin typeface="Cambria Math" panose="02040503050406030204" pitchFamily="18" charset="0"/>
                            </a:rPr>
                            <m:t>,</m:t>
                          </m:r>
                          <m:r>
                            <a:rPr lang="en-US" altLang="zh-CN" b="0" i="1" smtClean="0">
                              <a:solidFill>
                                <a:srgbClr val="FF3300"/>
                              </a:solidFill>
                              <a:latin typeface="Cambria Math" panose="02040503050406030204" pitchFamily="18" charset="0"/>
                            </a:rPr>
                            <m:t>𝑘</m:t>
                          </m:r>
                          <m:r>
                            <a:rPr lang="en-US" altLang="zh-CN" b="0" i="1" smtClean="0">
                              <a:solidFill>
                                <a:srgbClr val="FF3300"/>
                              </a:solidFill>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𝑛</m:t>
                          </m:r>
                          <m:r>
                            <a:rPr lang="en-US" altLang="zh-CN" b="0" i="1" smtClean="0">
                              <a:solidFill>
                                <a:srgbClr val="0000FF"/>
                              </a:solidFill>
                              <a:latin typeface="Cambria Math" panose="02040503050406030204" pitchFamily="18" charset="0"/>
                            </a:rPr>
                            <m:t>!/</m:t>
                          </m:r>
                          <m:d>
                            <m:dPr>
                              <m:ctrlPr>
                                <a:rPr lang="en-US" altLang="zh-CN" b="0" i="1" smtClean="0">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𝑛</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𝑘</m:t>
                              </m:r>
                            </m:e>
                          </m:d>
                          <m:r>
                            <a:rPr lang="en-US" altLang="zh-CN" b="0" i="1" smtClean="0">
                              <a:solidFill>
                                <a:srgbClr val="0000FF"/>
                              </a:solidFill>
                              <a:latin typeface="Cambria Math" panose="02040503050406030204" pitchFamily="18" charset="0"/>
                            </a:rPr>
                            <m:t>!</m:t>
                          </m:r>
                        </m:num>
                        <m:den>
                          <m:r>
                            <a:rPr lang="en-US" altLang="zh-CN" b="0" i="1" smtClean="0">
                              <a:solidFill>
                                <a:srgbClr val="FF3300"/>
                              </a:solidFill>
                              <a:latin typeface="Cambria Math" panose="02040503050406030204" pitchFamily="18" charset="0"/>
                            </a:rPr>
                            <m:t>𝑘</m:t>
                          </m:r>
                          <m:r>
                            <a:rPr lang="en-US" altLang="zh-CN" b="0" i="1" smtClean="0">
                              <a:solidFill>
                                <a:srgbClr val="FF3300"/>
                              </a:solidFill>
                              <a:latin typeface="Cambria Math" panose="02040503050406030204" pitchFamily="18" charset="0"/>
                            </a:rPr>
                            <m:t>! </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𝑘</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den>
                      </m:f>
                    </m:oMath>
                  </m:oMathPara>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066800"/>
                <a:ext cx="8686800" cy="5334000"/>
              </a:xfrm>
              <a:blipFill>
                <a:blip r:embed="rId2"/>
                <a:stretch>
                  <a:fillRect l="-1123" t="-800"/>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16</a:t>
            </a:fld>
            <a:endParaRPr lang="en-US"/>
          </a:p>
        </p:txBody>
      </p:sp>
    </p:spTree>
    <p:extLst>
      <p:ext uri="{BB962C8B-B14F-4D97-AF65-F5344CB8AC3E}">
        <p14:creationId xmlns:p14="http://schemas.microsoft.com/office/powerpoint/2010/main" val="373471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143000"/>
                <a:ext cx="8686800" cy="5334000"/>
              </a:xfrm>
            </p:spPr>
            <p:txBody>
              <a:bodyPr/>
              <a:lstStyle/>
              <a:p>
                <a:r>
                  <a:rPr lang="en-US" altLang="zh-CN" sz="2200" dirty="0"/>
                  <a:t>How many poker hands of </a:t>
                </a:r>
                <a:r>
                  <a:rPr lang="en-US" altLang="zh-CN" sz="2200" dirty="0">
                    <a:solidFill>
                      <a:srgbClr val="0000FF"/>
                    </a:solidFill>
                  </a:rPr>
                  <a:t>5</a:t>
                </a:r>
                <a:r>
                  <a:rPr lang="en-US" altLang="zh-CN" sz="2200" dirty="0"/>
                  <a:t> cards can be dealt from a standard deck of 52 cards? </a:t>
                </a:r>
                <a:r>
                  <a:rPr lang="en-US" altLang="zh-CN" sz="2200" dirty="0">
                    <a:solidFill>
                      <a:srgbClr val="0000FF"/>
                    </a:solidFill>
                  </a:rPr>
                  <a:t>Equivalently</a:t>
                </a:r>
                <a:r>
                  <a:rPr lang="en-US" altLang="zh-CN" sz="2200" dirty="0"/>
                  <a:t>: how many ways to select 5 out of 52 hands? </a:t>
                </a:r>
              </a:p>
              <a:p>
                <a:r>
                  <a:rPr lang="en-US" altLang="zh-CN" sz="2200" b="1" dirty="0">
                    <a:solidFill>
                      <a:srgbClr val="0000FF"/>
                    </a:solidFill>
                  </a:rPr>
                  <a:t>Solution: </a:t>
                </a:r>
                <a:r>
                  <a:rPr lang="en-US" altLang="zh-CN" sz="2200" dirty="0"/>
                  <a:t>The order does not matter as we are only interested in the set of cards selected. Therefore, there are </a:t>
                </a:r>
                <a14:m>
                  <m:oMath xmlns:m="http://schemas.openxmlformats.org/officeDocument/2006/math">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(52,5)=</m:t>
                    </m:r>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52!</m:t>
                        </m:r>
                      </m:num>
                      <m:den>
                        <m:r>
                          <a:rPr lang="en-US" altLang="zh-CN" sz="2200" b="0" i="1" smtClean="0">
                            <a:latin typeface="Cambria Math" panose="02040503050406030204" pitchFamily="18" charset="0"/>
                          </a:rPr>
                          <m:t>5!47!</m:t>
                        </m:r>
                      </m:den>
                    </m:f>
                  </m:oMath>
                </a14:m>
                <a:r>
                  <a:rPr lang="en-US" altLang="zh-CN" sz="2200" dirty="0"/>
                  <a:t> ways. </a:t>
                </a:r>
              </a:p>
              <a:p>
                <a:r>
                  <a:rPr lang="en-US" altLang="zh-CN" sz="2200" dirty="0"/>
                  <a:t>How many ways are there to select </a:t>
                </a:r>
                <a:r>
                  <a:rPr lang="en-US" altLang="zh-CN" sz="2200" dirty="0">
                    <a:solidFill>
                      <a:srgbClr val="0000FF"/>
                    </a:solidFill>
                  </a:rPr>
                  <a:t>47</a:t>
                </a:r>
                <a:r>
                  <a:rPr lang="en-US" altLang="zh-CN" sz="2200" dirty="0"/>
                  <a:t> cards from a standard deck of 52 cards?</a:t>
                </a:r>
              </a:p>
              <a:p>
                <a:r>
                  <a:rPr lang="en-US" altLang="zh-CN" sz="2200" b="1" dirty="0">
                    <a:solidFill>
                      <a:srgbClr val="0000FF"/>
                    </a:solidFill>
                  </a:rPr>
                  <a:t>Solution: </a:t>
                </a:r>
                <a:r>
                  <a:rPr lang="en-US" altLang="zh-CN" sz="2200" dirty="0"/>
                  <a:t>When 5 cards are selected, there are 47 remaining cards. That is, there is a </a:t>
                </a:r>
                <a:r>
                  <a:rPr lang="en-US" altLang="zh-CN" sz="2200" dirty="0">
                    <a:solidFill>
                      <a:srgbClr val="FF0000"/>
                    </a:solidFill>
                  </a:rPr>
                  <a:t>1:1 correspondence</a:t>
                </a:r>
                <a:r>
                  <a:rPr lang="en-US" altLang="zh-CN" sz="2200" dirty="0"/>
                  <a:t> between sets of 5 cards and sets of 47 cards. Therefore, there are </a:t>
                </a:r>
                <a14:m>
                  <m:oMath xmlns:m="http://schemas.openxmlformats.org/officeDocument/2006/math">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(52,47)=</m:t>
                    </m:r>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(52,5)=</m:t>
                    </m:r>
                    <m:f>
                      <m:fPr>
                        <m:ctrlPr>
                          <a:rPr lang="en-US" altLang="zh-CN" sz="2200" i="1">
                            <a:latin typeface="Cambria Math" panose="02040503050406030204" pitchFamily="18" charset="0"/>
                          </a:rPr>
                        </m:ctrlPr>
                      </m:fPr>
                      <m:num>
                        <m:r>
                          <a:rPr lang="en-US" altLang="zh-CN" sz="2200" i="1">
                            <a:latin typeface="Cambria Math" panose="02040503050406030204" pitchFamily="18" charset="0"/>
                          </a:rPr>
                          <m:t>52!</m:t>
                        </m:r>
                      </m:num>
                      <m:den>
                        <m:r>
                          <a:rPr lang="en-US" altLang="zh-CN" sz="2200" i="1">
                            <a:latin typeface="Cambria Math" panose="02040503050406030204" pitchFamily="18" charset="0"/>
                          </a:rPr>
                          <m:t>5!47!</m:t>
                        </m:r>
                      </m:den>
                    </m:f>
                  </m:oMath>
                </a14:m>
                <a:r>
                  <a:rPr lang="en-US" altLang="zh-CN" sz="2200" dirty="0">
                    <a:solidFill>
                      <a:srgbClr val="0000FF"/>
                    </a:solidFill>
                  </a:rPr>
                  <a:t> </a:t>
                </a:r>
                <a:r>
                  <a:rPr lang="en-US" altLang="zh-CN" sz="2200" dirty="0"/>
                  <a:t>ways</a:t>
                </a:r>
                <a:r>
                  <a:rPr lang="en-US" altLang="zh-CN" sz="2200" dirty="0">
                    <a:solidFill>
                      <a:srgbClr val="0000FF"/>
                    </a:solidFill>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143000"/>
                <a:ext cx="8686800" cy="5334000"/>
              </a:xfrm>
              <a:blipFill>
                <a:blip r:embed="rId2"/>
                <a:stretch>
                  <a:fillRect l="-772" t="-800" r="-561"/>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Corollary</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4876800"/>
              </a:xfrm>
            </p:spPr>
            <p:txBody>
              <a:bodyPr/>
              <a:lstStyle/>
              <a:p>
                <a:r>
                  <a:rPr lang="en-US" altLang="zh-CN" dirty="0"/>
                  <a:t>Let </a:t>
                </a:r>
                <a:r>
                  <a:rPr lang="en-US" altLang="zh-CN" i="1" dirty="0"/>
                  <a:t>n</a:t>
                </a:r>
                <a:r>
                  <a:rPr lang="en-US" altLang="zh-CN" dirty="0"/>
                  <a:t> and </a:t>
                </a:r>
                <a:r>
                  <a:rPr lang="en-US" altLang="zh-CN" i="1" dirty="0"/>
                  <a:t>k</a:t>
                </a:r>
                <a:r>
                  <a:rPr lang="en-US" altLang="zh-CN" dirty="0"/>
                  <a:t> be integers with </a:t>
                </a:r>
                <a14:m>
                  <m:oMath xmlns:m="http://schemas.openxmlformats.org/officeDocument/2006/math">
                    <m:r>
                      <a:rPr lang="en-US" altLang="zh-CN" b="0" i="1" smtClean="0">
                        <a:latin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r>
                  <a:rPr lang="en-US" altLang="zh-CN" dirty="0"/>
                  <a:t>. Then</a:t>
                </a:r>
                <a:br>
                  <a:rPr lang="en-US" altLang="zh-CN" i="1" dirty="0">
                    <a:latin typeface="Cambria Math" panose="02040503050406030204" pitchFamily="18" charset="0"/>
                  </a:rPr>
                </a:b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oMath>
                </a14:m>
                <a:endParaRPr lang="en-US" altLang="zh-CN" dirty="0"/>
              </a:p>
              <a:p>
                <a:r>
                  <a:rPr lang="en-US" altLang="zh-CN" b="1" dirty="0">
                    <a:solidFill>
                      <a:srgbClr val="0000FF"/>
                    </a:solidFill>
                  </a:rPr>
                  <a:t>Proof</a:t>
                </a:r>
                <a:br>
                  <a:rPr lang="en-US" altLang="zh-CN" b="1" dirty="0">
                    <a:solidFill>
                      <a:srgbClr val="0000FF"/>
                    </a:solidFill>
                  </a:rPr>
                </a:br>
                <a:r>
                  <a:rPr lang="en-US" altLang="zh-CN" dirty="0"/>
                  <a:t>From the previous theorem, it follows that</a:t>
                </a:r>
                <a:br>
                  <a:rPr lang="en-US" altLang="zh-CN" b="0" i="1" dirty="0">
                    <a:latin typeface="Cambria Math" panose="02040503050406030204" pitchFamily="18" charset="0"/>
                  </a:rPr>
                </a:br>
                <a14:m>
                  <m:oMath xmlns:m="http://schemas.openxmlformats.org/officeDocument/2006/math">
                    <m:r>
                      <a:rPr lang="en-US" altLang="zh-CN" b="0" i="1" smtClean="0">
                        <a:latin typeface="Cambria Math" panose="02040503050406030204" pitchFamily="18" charset="0"/>
                      </a:rPr>
                      <m:t>𝐶</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𝑘</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den>
                    </m:f>
                  </m:oMath>
                </a14:m>
                <a:br>
                  <a:rPr lang="en-US" altLang="zh-CN" b="0" i="1" dirty="0">
                    <a:latin typeface="Cambria Math" panose="02040503050406030204" pitchFamily="18" charset="0"/>
                  </a:rPr>
                </a:br>
                <a14:m>
                  <m:oMath xmlns:m="http://schemas.openxmlformats.org/officeDocument/2006/math">
                    <m:r>
                      <a:rPr lang="en-US" altLang="zh-CN" b="0" i="1" smtClean="0">
                        <a:latin typeface="Cambria Math" panose="02040503050406030204" pitchFamily="18" charset="0"/>
                      </a:rPr>
                      <m:t>𝐶</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e>
                        </m:d>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num>
                      <m:den>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den>
                    </m:f>
                  </m:oMath>
                </a14:m>
                <a:br>
                  <a:rPr lang="en-US" altLang="zh-CN" b="0" i="1" dirty="0">
                    <a:latin typeface="Cambria Math" panose="02040503050406030204" pitchFamily="18" charset="0"/>
                  </a:rPr>
                </a:br>
                <a:r>
                  <a:rPr lang="en-US" altLang="zh-CN" dirty="0"/>
                  <a:t>Hence, </a:t>
                </a: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oMath>
                </a14:m>
                <a:r>
                  <a:rPr lang="en-US" altLang="zh-CN" dirty="0"/>
                  <a:t>.</a:t>
                </a:r>
              </a:p>
              <a:p>
                <a:pPr marL="0" indent="0">
                  <a:buNone/>
                </a:pPr>
                <a:endParaRPr lang="en-US" altLang="zh-CN" dirty="0"/>
              </a:p>
              <a:p>
                <a:pPr marL="0" indent="0">
                  <a:buNone/>
                </a:pPr>
                <a:endParaRPr lang="en-US" altLang="zh-CN" dirty="0"/>
              </a:p>
              <a:p>
                <a:pPr marL="0" indent="0">
                  <a:buNone/>
                </a:pPr>
                <a:endParaRPr lang="en-US" altLang="zh-CN" dirty="0"/>
              </a:p>
              <a:p>
                <a:pPr algn="just">
                  <a:buNone/>
                </a:pPr>
                <a:endParaRPr lang="en-US" altLang="zh-CN"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4876800"/>
              </a:xfrm>
              <a:blipFill>
                <a:blip r:embed="rId2"/>
                <a:stretch>
                  <a:fillRect l="-982" t="-87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18</a:t>
            </a:fld>
            <a:endParaRPr lang="en-US"/>
          </a:p>
        </p:txBody>
      </p:sp>
    </p:spTree>
    <p:extLst>
      <p:ext uri="{BB962C8B-B14F-4D97-AF65-F5344CB8AC3E}">
        <p14:creationId xmlns:p14="http://schemas.microsoft.com/office/powerpoint/2010/main" val="11726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Committee Selection</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295400"/>
                <a:ext cx="8686800" cy="5562600"/>
              </a:xfrm>
            </p:spPr>
            <p:txBody>
              <a:bodyPr/>
              <a:lstStyle/>
              <a:p>
                <a:r>
                  <a:rPr lang="en-US" altLang="zh-CN" sz="2200" dirty="0"/>
                  <a:t>Suppose there are </a:t>
                </a:r>
                <a:r>
                  <a:rPr lang="en-US" altLang="zh-CN" sz="2200" dirty="0">
                    <a:solidFill>
                      <a:srgbClr val="0000FF"/>
                    </a:solidFill>
                  </a:rPr>
                  <a:t>40</a:t>
                </a:r>
                <a:r>
                  <a:rPr lang="en-US" altLang="zh-CN" sz="2200" dirty="0"/>
                  <a:t> faculty members in the computer science department and </a:t>
                </a:r>
                <a:r>
                  <a:rPr lang="en-US" altLang="zh-CN" sz="2200" dirty="0">
                    <a:solidFill>
                      <a:srgbClr val="FF3300"/>
                    </a:solidFill>
                  </a:rPr>
                  <a:t>30</a:t>
                </a:r>
                <a:r>
                  <a:rPr lang="en-US" altLang="zh-CN" sz="2200" dirty="0"/>
                  <a:t> in the mathematics department. How many ways are there to select a committee that has </a:t>
                </a:r>
                <a:r>
                  <a:rPr lang="en-US" altLang="zh-CN" sz="2200" dirty="0">
                    <a:solidFill>
                      <a:srgbClr val="0000FF"/>
                    </a:solidFill>
                  </a:rPr>
                  <a:t>4</a:t>
                </a:r>
                <a:r>
                  <a:rPr lang="en-US" altLang="zh-CN" sz="2200" dirty="0"/>
                  <a:t> faculty members from the computer science and </a:t>
                </a:r>
                <a:r>
                  <a:rPr lang="en-US" altLang="zh-CN" sz="2200" dirty="0">
                    <a:solidFill>
                      <a:srgbClr val="FF3300"/>
                    </a:solidFill>
                  </a:rPr>
                  <a:t>3</a:t>
                </a:r>
                <a:r>
                  <a:rPr lang="en-US" altLang="zh-CN" sz="2200" dirty="0"/>
                  <a:t> from the mathematics department?</a:t>
                </a:r>
              </a:p>
              <a:p>
                <a:r>
                  <a:rPr lang="en-US" altLang="zh-CN" sz="2200" b="1" dirty="0">
                    <a:solidFill>
                      <a:srgbClr val="0000FF"/>
                    </a:solidFill>
                  </a:rPr>
                  <a:t>Solution</a:t>
                </a:r>
              </a:p>
              <a:p>
                <a:r>
                  <a:rPr lang="en-US" altLang="zh-CN" sz="2200" dirty="0"/>
                  <a:t>There are </a:t>
                </a:r>
                <a14:m>
                  <m:oMath xmlns:m="http://schemas.openxmlformats.org/officeDocument/2006/math">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(40, 4)</m:t>
                    </m:r>
                  </m:oMath>
                </a14:m>
                <a:r>
                  <a:rPr lang="en-US" altLang="zh-CN" sz="2200" dirty="0"/>
                  <a:t> ways to select the 4 computer science faculty members. </a:t>
                </a:r>
              </a:p>
              <a:p>
                <a:r>
                  <a:rPr lang="en-US" altLang="zh-CN" sz="2200" dirty="0"/>
                  <a:t>For each fixed set of selected CSE faculty members, there are </a:t>
                </a:r>
                <a14:m>
                  <m:oMath xmlns:m="http://schemas.openxmlformats.org/officeDocument/2006/math">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(30, 3)</m:t>
                    </m:r>
                  </m:oMath>
                </a14:m>
                <a:r>
                  <a:rPr lang="en-US" altLang="zh-CN" sz="2200" dirty="0"/>
                  <a:t> ways to select the 3 Math faculty members.</a:t>
                </a:r>
              </a:p>
              <a:p>
                <a:r>
                  <a:rPr lang="en-US" altLang="zh-CN" sz="2200" dirty="0"/>
                  <a:t>By the </a:t>
                </a:r>
                <a:r>
                  <a:rPr lang="en-US" altLang="zh-CN" sz="2200" dirty="0">
                    <a:solidFill>
                      <a:srgbClr val="0000FF"/>
                    </a:solidFill>
                  </a:rPr>
                  <a:t>product rule</a:t>
                </a:r>
                <a:r>
                  <a:rPr lang="en-US" altLang="zh-CN" sz="2200" dirty="0"/>
                  <a:t> so there are a total of </a:t>
                </a:r>
                <a14:m>
                  <m:oMath xmlns:m="http://schemas.openxmlformats.org/officeDocument/2006/math">
                    <m:r>
                      <a:rPr lang="en-US" altLang="zh-CN" sz="2200" i="1" dirty="0" smtClean="0">
                        <a:latin typeface="Cambria Math" panose="02040503050406030204" pitchFamily="18" charset="0"/>
                      </a:rPr>
                      <m:t>𝐶</m:t>
                    </m:r>
                    <m:d>
                      <m:dPr>
                        <m:ctrlPr>
                          <a:rPr lang="en-US" altLang="zh-CN" sz="2200" i="1" dirty="0" smtClean="0">
                            <a:latin typeface="Cambria Math" panose="02040503050406030204" pitchFamily="18" charset="0"/>
                          </a:rPr>
                        </m:ctrlPr>
                      </m:dPr>
                      <m:e>
                        <m:r>
                          <a:rPr lang="en-US" altLang="zh-CN" sz="2200" i="1" dirty="0" smtClean="0">
                            <a:latin typeface="Cambria Math" panose="02040503050406030204" pitchFamily="18" charset="0"/>
                          </a:rPr>
                          <m:t>40,4</m:t>
                        </m:r>
                      </m:e>
                    </m:d>
                    <m:r>
                      <a:rPr lang="en-US" altLang="zh-CN" sz="2200" b="0" i="1" dirty="0" smtClean="0">
                        <a:latin typeface="Cambria Math" panose="02040503050406030204" pitchFamily="18" charset="0"/>
                      </a:rPr>
                      <m:t>×</m:t>
                    </m:r>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(30,3)=</m:t>
                    </m:r>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40</m:t>
                        </m:r>
                        <m:r>
                          <a:rPr lang="en-US" altLang="zh-CN" sz="2200" i="1">
                            <a:latin typeface="Cambria Math" panose="02040503050406030204" pitchFamily="18" charset="0"/>
                          </a:rPr>
                          <m:t>!</m:t>
                        </m:r>
                      </m:num>
                      <m:den>
                        <m:r>
                          <a:rPr lang="en-US" altLang="zh-CN" sz="2200" b="0" i="1" smtClean="0">
                            <a:latin typeface="Cambria Math" panose="02040503050406030204" pitchFamily="18" charset="0"/>
                          </a:rPr>
                          <m:t>4</m:t>
                        </m:r>
                        <m:r>
                          <a:rPr lang="en-US" altLang="zh-CN" sz="2200" i="1">
                            <a:latin typeface="Cambria Math" panose="02040503050406030204" pitchFamily="18" charset="0"/>
                          </a:rPr>
                          <m:t>!</m:t>
                        </m:r>
                        <m:r>
                          <a:rPr lang="en-US" altLang="zh-CN" sz="2200" b="0" i="1" smtClean="0">
                            <a:latin typeface="Cambria Math" panose="02040503050406030204" pitchFamily="18" charset="0"/>
                          </a:rPr>
                          <m:t>36</m:t>
                        </m:r>
                        <m:r>
                          <a:rPr lang="en-US" altLang="zh-CN" sz="2200" i="1">
                            <a:latin typeface="Cambria Math" panose="02040503050406030204" pitchFamily="18" charset="0"/>
                          </a:rPr>
                          <m:t>!</m:t>
                        </m:r>
                      </m:den>
                    </m:f>
                  </m:oMath>
                </a14:m>
                <a:r>
                  <a:rPr lang="en-US" altLang="zh-CN" sz="2200" dirty="0"/>
                  <a:t> </a:t>
                </a:r>
                <a14:m>
                  <m:oMath xmlns:m="http://schemas.openxmlformats.org/officeDocument/2006/math">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30</m:t>
                        </m:r>
                        <m:r>
                          <a:rPr lang="en-US" altLang="zh-CN" sz="2200" i="1">
                            <a:latin typeface="Cambria Math" panose="02040503050406030204" pitchFamily="18" charset="0"/>
                          </a:rPr>
                          <m:t>!</m:t>
                        </m:r>
                      </m:num>
                      <m:den>
                        <m:r>
                          <a:rPr lang="en-US" altLang="zh-CN" sz="2200" b="0" i="1" smtClean="0">
                            <a:latin typeface="Cambria Math" panose="02040503050406030204" pitchFamily="18" charset="0"/>
                          </a:rPr>
                          <m:t>3</m:t>
                        </m:r>
                        <m:r>
                          <a:rPr lang="en-US" altLang="zh-CN" sz="2200" i="1">
                            <a:latin typeface="Cambria Math" panose="02040503050406030204" pitchFamily="18" charset="0"/>
                          </a:rPr>
                          <m:t>!</m:t>
                        </m:r>
                        <m:r>
                          <a:rPr lang="en-US" altLang="zh-CN" sz="2200" b="0" i="1" smtClean="0">
                            <a:latin typeface="Cambria Math" panose="02040503050406030204" pitchFamily="18" charset="0"/>
                          </a:rPr>
                          <m:t>2</m:t>
                        </m:r>
                        <m:r>
                          <a:rPr lang="en-US" altLang="zh-CN" sz="2200" i="1">
                            <a:latin typeface="Cambria Math" panose="02040503050406030204" pitchFamily="18" charset="0"/>
                          </a:rPr>
                          <m:t>7!</m:t>
                        </m:r>
                      </m:den>
                    </m:f>
                  </m:oMath>
                </a14:m>
                <a:r>
                  <a:rPr lang="en-US" altLang="zh-CN" sz="2200" dirty="0"/>
                  <a:t> possible ways.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295400"/>
                <a:ext cx="8686800" cy="5562600"/>
              </a:xfrm>
              <a:blipFill>
                <a:blip r:embed="rId2"/>
                <a:stretch>
                  <a:fillRect l="-772" t="-768" r="-14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19</a:t>
            </a:fld>
            <a:endParaRPr lang="en-US" dirty="0"/>
          </a:p>
        </p:txBody>
      </p:sp>
    </p:spTree>
    <p:extLst>
      <p:ext uri="{BB962C8B-B14F-4D97-AF65-F5344CB8AC3E}">
        <p14:creationId xmlns:p14="http://schemas.microsoft.com/office/powerpoint/2010/main" val="88264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Group Selection</a:t>
            </a:r>
            <a:endParaRPr lang="en-US" dirty="0"/>
          </a:p>
        </p:txBody>
      </p:sp>
      <p:sp>
        <p:nvSpPr>
          <p:cNvPr id="3" name="Content Placeholder 2"/>
          <p:cNvSpPr>
            <a:spLocks noGrp="1"/>
          </p:cNvSpPr>
          <p:nvPr>
            <p:ph idx="1"/>
          </p:nvPr>
        </p:nvSpPr>
        <p:spPr>
          <a:xfrm>
            <a:off x="0" y="990600"/>
            <a:ext cx="8991600" cy="5181600"/>
          </a:xfrm>
        </p:spPr>
        <p:txBody>
          <a:bodyPr/>
          <a:lstStyle/>
          <a:p>
            <a:pPr lvl="0"/>
            <a:r>
              <a:rPr lang="en-US" sz="2000" dirty="0"/>
              <a:t>There are </a:t>
            </a:r>
            <a:r>
              <a:rPr lang="en-US" sz="2000" dirty="0">
                <a:solidFill>
                  <a:srgbClr val="FF0000"/>
                </a:solidFill>
              </a:rPr>
              <a:t>7</a:t>
            </a:r>
            <a:r>
              <a:rPr lang="en-US" sz="2000" dirty="0"/>
              <a:t> boys and </a:t>
            </a:r>
            <a:r>
              <a:rPr lang="en-US" sz="2000" dirty="0">
                <a:solidFill>
                  <a:srgbClr val="FF0000"/>
                </a:solidFill>
              </a:rPr>
              <a:t>5</a:t>
            </a:r>
            <a:r>
              <a:rPr lang="en-US" sz="2000" dirty="0"/>
              <a:t> girls in a class. We want to form a </a:t>
            </a:r>
            <a:r>
              <a:rPr lang="en-US" sz="2000" dirty="0">
                <a:solidFill>
                  <a:srgbClr val="0000FF"/>
                </a:solidFill>
              </a:rPr>
              <a:t>4</a:t>
            </a:r>
            <a:r>
              <a:rPr lang="en-US" sz="2000" dirty="0"/>
              <a:t>-person group from these 12 people, so that there is </a:t>
            </a:r>
            <a:r>
              <a:rPr lang="en-US" sz="2000" dirty="0">
                <a:solidFill>
                  <a:srgbClr val="0000FF"/>
                </a:solidFill>
              </a:rPr>
              <a:t>at least 1 girl</a:t>
            </a:r>
            <a:r>
              <a:rPr lang="en-US" sz="2000" dirty="0"/>
              <a:t> in the group. In how many ways can the 4-person group be chosen?</a:t>
            </a:r>
          </a:p>
          <a:p>
            <a:pPr lvl="0"/>
            <a:r>
              <a:rPr lang="en-US" sz="2000" dirty="0">
                <a:solidFill>
                  <a:srgbClr val="0000FF"/>
                </a:solidFill>
              </a:rPr>
              <a:t>Solution:</a:t>
            </a:r>
            <a:endParaRPr lang="en-US" sz="2000" dirty="0"/>
          </a:p>
          <a:p>
            <a:pPr lvl="1"/>
            <a:r>
              <a:rPr lang="en-US" sz="2000" dirty="0"/>
              <a:t>Select without any constraint C(12,4)=495.</a:t>
            </a:r>
          </a:p>
          <a:p>
            <a:pPr lvl="1"/>
            <a:r>
              <a:rPr lang="en-US" sz="2000" dirty="0"/>
              <a:t>Select only boys C(7,4)=35. </a:t>
            </a:r>
          </a:p>
          <a:p>
            <a:pPr lvl="1"/>
            <a:r>
              <a:rPr lang="en-US" sz="2000" dirty="0"/>
              <a:t>Select at least one girl: C(12,4)- C(7,4)=460.</a:t>
            </a:r>
          </a:p>
          <a:p>
            <a:r>
              <a:rPr lang="en-US" sz="2000" dirty="0">
                <a:solidFill>
                  <a:srgbClr val="0000FF"/>
                </a:solidFill>
              </a:rPr>
              <a:t>Alternative</a:t>
            </a:r>
            <a:r>
              <a:rPr lang="en-US" sz="2000" dirty="0"/>
              <a:t> </a:t>
            </a:r>
            <a:r>
              <a:rPr lang="en-US" sz="2000" dirty="0">
                <a:solidFill>
                  <a:srgbClr val="0000FF"/>
                </a:solidFill>
              </a:rPr>
              <a:t>Solution:</a:t>
            </a:r>
            <a:r>
              <a:rPr lang="en-US" sz="2000" dirty="0"/>
              <a:t> The group may contain:</a:t>
            </a:r>
          </a:p>
          <a:p>
            <a:pPr lvl="1"/>
            <a:r>
              <a:rPr lang="en-US" sz="2000" dirty="0"/>
              <a:t>4 girls in C(5,4)=5 ways, or </a:t>
            </a:r>
          </a:p>
          <a:p>
            <a:pPr lvl="1"/>
            <a:r>
              <a:rPr lang="en-US" sz="2000" dirty="0"/>
              <a:t>3 girls and 1 boy in C(5,3)</a:t>
            </a:r>
            <a:r>
              <a:rPr lang="en-US" sz="2000" dirty="0" err="1"/>
              <a:t>xC</a:t>
            </a:r>
            <a:r>
              <a:rPr lang="en-US" sz="2000" dirty="0"/>
              <a:t>(7,1)=10x7=70 ways, or</a:t>
            </a:r>
          </a:p>
          <a:p>
            <a:pPr lvl="1"/>
            <a:r>
              <a:rPr lang="en-US" sz="2000" dirty="0"/>
              <a:t>2 girls and 2 boys in C(5,2)</a:t>
            </a:r>
            <a:r>
              <a:rPr lang="en-US" sz="2000" dirty="0" err="1"/>
              <a:t>xC</a:t>
            </a:r>
            <a:r>
              <a:rPr lang="en-US" sz="2000" dirty="0"/>
              <a:t>(7,2)=10x210=210 ways, or</a:t>
            </a:r>
          </a:p>
          <a:p>
            <a:pPr lvl="1"/>
            <a:r>
              <a:rPr lang="en-US" sz="2000" dirty="0"/>
              <a:t>1 girl and 3 boys in C(5,1)</a:t>
            </a:r>
            <a:r>
              <a:rPr lang="en-US" sz="2000" dirty="0" err="1"/>
              <a:t>xC</a:t>
            </a:r>
            <a:r>
              <a:rPr lang="en-US" sz="2000" dirty="0"/>
              <a:t>(7,3) = 5x35 = 175 ways. </a:t>
            </a:r>
          </a:p>
          <a:p>
            <a:pPr lvl="1"/>
            <a:r>
              <a:rPr lang="en-US" sz="2000" dirty="0"/>
              <a:t>The sum of all ways is 460.</a:t>
            </a:r>
          </a:p>
        </p:txBody>
      </p:sp>
      <p:sp>
        <p:nvSpPr>
          <p:cNvPr id="4" name="Slide Number Placeholder 3"/>
          <p:cNvSpPr>
            <a:spLocks noGrp="1"/>
          </p:cNvSpPr>
          <p:nvPr>
            <p:ph type="sldNum" sz="quarter" idx="12"/>
          </p:nvPr>
        </p:nvSpPr>
        <p:spPr/>
        <p:txBody>
          <a:bodyPr/>
          <a:lstStyle/>
          <a:p>
            <a:fld id="{5EC735E3-5B29-4F54-8FB9-022B0DB6C884}" type="slidenum">
              <a:rPr lang="en-US" smtClean="0"/>
              <a:pPr/>
              <a:t>20</a:t>
            </a:fld>
            <a:endParaRPr lang="en-US"/>
          </a:p>
        </p:txBody>
      </p:sp>
    </p:spTree>
    <p:extLst>
      <p:ext uri="{BB962C8B-B14F-4D97-AF65-F5344CB8AC3E}">
        <p14:creationId xmlns:p14="http://schemas.microsoft.com/office/powerpoint/2010/main" val="270631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Ball Selection</a:t>
            </a:r>
            <a:endParaRPr lang="en-US" dirty="0"/>
          </a:p>
        </p:txBody>
      </p:sp>
      <p:sp>
        <p:nvSpPr>
          <p:cNvPr id="3" name="Content Placeholder 2"/>
          <p:cNvSpPr>
            <a:spLocks noGrp="1"/>
          </p:cNvSpPr>
          <p:nvPr>
            <p:ph idx="1"/>
          </p:nvPr>
        </p:nvSpPr>
        <p:spPr>
          <a:xfrm>
            <a:off x="0" y="990600"/>
            <a:ext cx="8763000" cy="5181600"/>
          </a:xfrm>
        </p:spPr>
        <p:txBody>
          <a:bodyPr/>
          <a:lstStyle/>
          <a:p>
            <a:pPr lvl="0"/>
            <a:r>
              <a:rPr lang="en-US" b="1" dirty="0"/>
              <a:t>3</a:t>
            </a:r>
            <a:r>
              <a:rPr lang="en-US" dirty="0"/>
              <a:t> balls are selected randomly from a bag with </a:t>
            </a:r>
            <a:r>
              <a:rPr lang="en-US" b="1" dirty="0"/>
              <a:t>36</a:t>
            </a:r>
            <a:r>
              <a:rPr lang="en-US" dirty="0"/>
              <a:t> balls. If the bag contains </a:t>
            </a:r>
            <a:r>
              <a:rPr lang="en-US" dirty="0">
                <a:solidFill>
                  <a:srgbClr val="FFC000"/>
                </a:solidFill>
              </a:rPr>
              <a:t>8 yellow</a:t>
            </a:r>
            <a:r>
              <a:rPr lang="en-US" dirty="0"/>
              <a:t> balls, </a:t>
            </a:r>
            <a:r>
              <a:rPr lang="en-US" dirty="0">
                <a:solidFill>
                  <a:srgbClr val="00B050"/>
                </a:solidFill>
              </a:rPr>
              <a:t>7 green</a:t>
            </a:r>
            <a:r>
              <a:rPr lang="en-US" dirty="0"/>
              <a:t> balls, </a:t>
            </a:r>
            <a:r>
              <a:rPr lang="en-US" dirty="0">
                <a:solidFill>
                  <a:srgbClr val="0000FF"/>
                </a:solidFill>
              </a:rPr>
              <a:t>6 blue</a:t>
            </a:r>
            <a:r>
              <a:rPr lang="en-US" dirty="0"/>
              <a:t> balls, </a:t>
            </a:r>
            <a:r>
              <a:rPr lang="en-US" dirty="0">
                <a:solidFill>
                  <a:srgbClr val="FF3300"/>
                </a:solidFill>
              </a:rPr>
              <a:t>5 red</a:t>
            </a:r>
            <a:r>
              <a:rPr lang="en-US" dirty="0"/>
              <a:t> balls, and 10 black balls. How many ways are there such that at least </a:t>
            </a:r>
            <a:r>
              <a:rPr lang="en-US" dirty="0">
                <a:solidFill>
                  <a:srgbClr val="0000FF"/>
                </a:solidFill>
              </a:rPr>
              <a:t>1 blue ball</a:t>
            </a:r>
            <a:r>
              <a:rPr lang="en-US" dirty="0"/>
              <a:t> is selected? </a:t>
            </a:r>
          </a:p>
          <a:p>
            <a:r>
              <a:rPr lang="en-US" dirty="0">
                <a:solidFill>
                  <a:srgbClr val="0000FF"/>
                </a:solidFill>
              </a:rPr>
              <a:t>Solution</a:t>
            </a:r>
          </a:p>
          <a:p>
            <a:r>
              <a:rPr lang="en-US" dirty="0"/>
              <a:t>There are C(36,3) to select 3 balls with no constraints. </a:t>
            </a:r>
          </a:p>
          <a:p>
            <a:r>
              <a:rPr lang="en-US" dirty="0"/>
              <a:t>There are C(30,3) ways to select 3 balls that are not blue. </a:t>
            </a:r>
          </a:p>
          <a:p>
            <a:r>
              <a:rPr lang="en-US" dirty="0"/>
              <a:t>Thus, the number of ways to select 3 balls with at least one blue is: C(36,3)-C(30,3)=3080.</a:t>
            </a:r>
          </a:p>
        </p:txBody>
      </p:sp>
      <p:sp>
        <p:nvSpPr>
          <p:cNvPr id="4" name="Slide Number Placeholder 3"/>
          <p:cNvSpPr>
            <a:spLocks noGrp="1"/>
          </p:cNvSpPr>
          <p:nvPr>
            <p:ph type="sldNum" sz="quarter" idx="12"/>
          </p:nvPr>
        </p:nvSpPr>
        <p:spPr/>
        <p:txBody>
          <a:bodyPr/>
          <a:lstStyle/>
          <a:p>
            <a:fld id="{5EC735E3-5B29-4F54-8FB9-022B0DB6C884}" type="slidenum">
              <a:rPr lang="en-US" smtClean="0"/>
              <a:pPr/>
              <a:t>21</a:t>
            </a:fld>
            <a:endParaRPr lang="en-US"/>
          </a:p>
        </p:txBody>
      </p:sp>
    </p:spTree>
    <p:extLst>
      <p:ext uri="{BB962C8B-B14F-4D97-AF65-F5344CB8AC3E}">
        <p14:creationId xmlns:p14="http://schemas.microsoft.com/office/powerpoint/2010/main" val="71385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Earring Selection</a:t>
            </a:r>
            <a:endParaRPr lang="en-US" dirty="0"/>
          </a:p>
        </p:txBody>
      </p:sp>
      <p:sp>
        <p:nvSpPr>
          <p:cNvPr id="3" name="Content Placeholder 2"/>
          <p:cNvSpPr>
            <a:spLocks noGrp="1"/>
          </p:cNvSpPr>
          <p:nvPr>
            <p:ph idx="1"/>
          </p:nvPr>
        </p:nvSpPr>
        <p:spPr>
          <a:xfrm>
            <a:off x="0" y="990600"/>
            <a:ext cx="8763000" cy="5181600"/>
          </a:xfrm>
        </p:spPr>
        <p:txBody>
          <a:bodyPr/>
          <a:lstStyle/>
          <a:p>
            <a:pPr lvl="0"/>
            <a:r>
              <a:rPr lang="en-US" sz="2000" dirty="0"/>
              <a:t>Mary has </a:t>
            </a:r>
            <a:r>
              <a:rPr lang="en-US" sz="2000" b="1" dirty="0"/>
              <a:t>9 different earrings</a:t>
            </a:r>
            <a:r>
              <a:rPr lang="en-US" sz="2000" dirty="0"/>
              <a:t>. Mary </a:t>
            </a:r>
            <a:r>
              <a:rPr lang="en-US" sz="2000" dirty="0">
                <a:solidFill>
                  <a:srgbClr val="0000FF"/>
                </a:solidFill>
              </a:rPr>
              <a:t>must wear at least one earring</a:t>
            </a:r>
            <a:r>
              <a:rPr lang="en-US" sz="2000" dirty="0"/>
              <a:t>. </a:t>
            </a:r>
            <a:r>
              <a:rPr lang="en-US" sz="2000" dirty="0">
                <a:solidFill>
                  <a:srgbClr val="FF0000"/>
                </a:solidFill>
              </a:rPr>
              <a:t>Each ear has two piercings</a:t>
            </a:r>
            <a:r>
              <a:rPr lang="en-US" sz="2000" dirty="0"/>
              <a:t> for wearing an earring. It is not necessary for her to wear all the 4 earrings on her ears, e.g. she can wear one earring and leave the other 3 piercings empty. How many possible ways for Mary to wear her 9 earrings </a:t>
            </a:r>
            <a:r>
              <a:rPr lang="en-US" sz="2000" dirty="0">
                <a:solidFill>
                  <a:srgbClr val="FF0000"/>
                </a:solidFill>
              </a:rPr>
              <a:t>if the position of the earrings matters</a:t>
            </a:r>
            <a:r>
              <a:rPr lang="en-US" sz="2000" dirty="0"/>
              <a:t>? </a:t>
            </a:r>
          </a:p>
          <a:p>
            <a:r>
              <a:rPr lang="en-US" sz="2000" dirty="0">
                <a:solidFill>
                  <a:srgbClr val="0000FF"/>
                </a:solidFill>
              </a:rPr>
              <a:t>Solution</a:t>
            </a:r>
            <a:r>
              <a:rPr lang="en-US" sz="2000" dirty="0"/>
              <a:t>: </a:t>
            </a:r>
          </a:p>
          <a:p>
            <a:r>
              <a:rPr lang="en-US" sz="2000" dirty="0"/>
              <a:t>If Mary wears 4 earrings there are 9x8x7x6 permutations. </a:t>
            </a:r>
          </a:p>
          <a:p>
            <a:r>
              <a:rPr lang="en-US" sz="2000" dirty="0"/>
              <a:t>If Mary wears 3 earrings we must select the 3 piercings in C(4,3) ways, and permute the earrings in 9x8x7 ways. </a:t>
            </a:r>
          </a:p>
          <a:p>
            <a:r>
              <a:rPr lang="en-US" sz="2000" dirty="0"/>
              <a:t>If Mary wears 2 earrings we must select the 2 piercings in C(4,2) ways, and permute the earrings in 9x8 ways. </a:t>
            </a:r>
          </a:p>
          <a:p>
            <a:r>
              <a:rPr lang="en-US" sz="2000" dirty="0"/>
              <a:t>If Mary wears 1 earring we must select the 1 piercing in C(4,1) ways, and permute the earrings in 9 ways.</a:t>
            </a:r>
          </a:p>
          <a:p>
            <a:r>
              <a:rPr lang="en-US" sz="2000" dirty="0"/>
              <a:t>Sum of all ways is:  C(4,3)x9x8x7 + C(4,2)x9x8 + C(4,1)x9 = 5508</a:t>
            </a:r>
            <a:endParaRPr lang="en-US" sz="1600"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22</a:t>
            </a:fld>
            <a:endParaRPr lang="en-US"/>
          </a:p>
        </p:txBody>
      </p:sp>
    </p:spTree>
    <p:extLst>
      <p:ext uri="{BB962C8B-B14F-4D97-AF65-F5344CB8AC3E}">
        <p14:creationId xmlns:p14="http://schemas.microsoft.com/office/powerpoint/2010/main" val="125920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8F0FE-7837-01D2-369F-5794165EAF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19AA2B-052C-6318-E1AC-C94A6DBE962D}"/>
              </a:ext>
            </a:extLst>
          </p:cNvPr>
          <p:cNvSpPr>
            <a:spLocks noGrp="1"/>
          </p:cNvSpPr>
          <p:nvPr>
            <p:ph idx="1"/>
          </p:nvPr>
        </p:nvSpPr>
        <p:spPr>
          <a:xfrm>
            <a:off x="0" y="762000"/>
            <a:ext cx="8763000" cy="5410200"/>
          </a:xfrm>
        </p:spPr>
        <p:txBody>
          <a:bodyPr/>
          <a:lstStyle/>
          <a:p>
            <a:pPr lvl="0"/>
            <a:r>
              <a:rPr lang="en-US" sz="2000" dirty="0"/>
              <a:t>Assume that in any decimal number the leftmost digit cannot be 0. How many 6-digit numbers exist such that </a:t>
            </a:r>
            <a:r>
              <a:rPr lang="en-US" sz="2000" dirty="0">
                <a:solidFill>
                  <a:srgbClr val="FF0000"/>
                </a:solidFill>
              </a:rPr>
              <a:t>their digits from left to right</a:t>
            </a:r>
            <a:r>
              <a:rPr lang="en-US" sz="2000" dirty="0"/>
              <a:t> (i.e., no two digits are identical) </a:t>
            </a:r>
          </a:p>
          <a:p>
            <a:pPr lvl="0"/>
            <a:r>
              <a:rPr lang="en-US" sz="2000" b="1" dirty="0"/>
              <a:t>(a) </a:t>
            </a:r>
            <a:r>
              <a:rPr lang="en-US" sz="2000" dirty="0"/>
              <a:t>Are strictly decreasing (e.g., 864320). </a:t>
            </a:r>
            <a:r>
              <a:rPr lang="en-US" sz="2000" u="sng" dirty="0"/>
              <a:t>Hint</a:t>
            </a:r>
            <a:r>
              <a:rPr lang="en-US" sz="2000" dirty="0"/>
              <a:t>: Any six different digits give you a unique number with strictly decreasing digits. </a:t>
            </a:r>
          </a:p>
          <a:p>
            <a:pPr marL="400050" lvl="1" indent="0">
              <a:buNone/>
            </a:pPr>
            <a:r>
              <a:rPr lang="en-US" sz="2000" dirty="0">
                <a:solidFill>
                  <a:srgbClr val="0000FF"/>
                </a:solidFill>
              </a:rPr>
              <a:t>By choosing any 6 digits from {0, 1, 2, · · · , 9} we can form a unique 6 digit number that its digits are strictly decreasing from left to right. The answer is C(10,6)</a:t>
            </a:r>
            <a:r>
              <a:rPr lang="en-HK" sz="2000" dirty="0">
                <a:solidFill>
                  <a:srgbClr val="0000FF"/>
                </a:solidFill>
              </a:rPr>
              <a:t> </a:t>
            </a:r>
          </a:p>
          <a:p>
            <a:pPr lvl="0"/>
            <a:r>
              <a:rPr lang="en-US" sz="2000" b="1" dirty="0"/>
              <a:t>(b) </a:t>
            </a:r>
            <a:r>
              <a:rPr lang="en-US" sz="2000" dirty="0"/>
              <a:t>Are strictly increasing (e.g., 136789).  </a:t>
            </a:r>
          </a:p>
          <a:p>
            <a:pPr marL="400050" lvl="1" indent="0">
              <a:buNone/>
            </a:pPr>
            <a:r>
              <a:rPr lang="en-US" sz="2000" dirty="0">
                <a:solidFill>
                  <a:srgbClr val="0000FF"/>
                </a:solidFill>
              </a:rPr>
              <a:t>Similar to part (a), but we can not pick 0 because then it has to be the leftmost digit. So, the answer is C(9,6)</a:t>
            </a:r>
          </a:p>
          <a:p>
            <a:pPr marL="400050" lvl="1" indent="0">
              <a:buNone/>
            </a:pPr>
            <a:endParaRPr lang="en-US" sz="1800" dirty="0">
              <a:solidFill>
                <a:srgbClr val="0000FF"/>
              </a:solidFill>
            </a:endParaRPr>
          </a:p>
          <a:p>
            <a:pPr marL="400050" lvl="1" indent="0">
              <a:buNone/>
            </a:pPr>
            <a:r>
              <a:rPr lang="en-US" sz="1800" dirty="0"/>
              <a:t>  </a:t>
            </a:r>
            <a:br>
              <a:rPr lang="en-US" sz="1800" dirty="0"/>
            </a:br>
            <a:endParaRPr lang="en-US" sz="1800" b="1" dirty="0">
              <a:solidFill>
                <a:srgbClr val="0000FF"/>
              </a:solidFill>
            </a:endParaRPr>
          </a:p>
        </p:txBody>
      </p:sp>
      <p:sp>
        <p:nvSpPr>
          <p:cNvPr id="4" name="Slide Number Placeholder 3">
            <a:extLst>
              <a:ext uri="{FF2B5EF4-FFF2-40B4-BE49-F238E27FC236}">
                <a16:creationId xmlns:a16="http://schemas.microsoft.com/office/drawing/2014/main" id="{0C08C5E5-975C-7CCB-6AEF-3B3604E93489}"/>
              </a:ext>
            </a:extLst>
          </p:cNvPr>
          <p:cNvSpPr>
            <a:spLocks noGrp="1"/>
          </p:cNvSpPr>
          <p:nvPr>
            <p:ph type="sldNum" sz="quarter" idx="12"/>
          </p:nvPr>
        </p:nvSpPr>
        <p:spPr/>
        <p:txBody>
          <a:bodyPr/>
          <a:lstStyle/>
          <a:p>
            <a:fld id="{5EC735E3-5B29-4F54-8FB9-022B0DB6C884}" type="slidenum">
              <a:rPr lang="en-US" smtClean="0"/>
              <a:pPr/>
              <a:t>23</a:t>
            </a:fld>
            <a:endParaRPr lang="en-US"/>
          </a:p>
        </p:txBody>
      </p:sp>
      <p:sp>
        <p:nvSpPr>
          <p:cNvPr id="6" name="Title 1">
            <a:extLst>
              <a:ext uri="{FF2B5EF4-FFF2-40B4-BE49-F238E27FC236}">
                <a16:creationId xmlns:a16="http://schemas.microsoft.com/office/drawing/2014/main" id="{41BC86DF-82EE-A401-4E5E-A61C0EA5DED4}"/>
              </a:ext>
            </a:extLst>
          </p:cNvPr>
          <p:cNvSpPr txBox="1">
            <a:spLocks/>
          </p:cNvSpPr>
          <p:nvPr/>
        </p:nvSpPr>
        <p:spPr bwMode="auto">
          <a:xfrm>
            <a:off x="304800" y="136525"/>
            <a:ext cx="8382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2pPr>
            <a:lvl3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3pPr>
            <a:lvl4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4pPr>
            <a:lvl5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5pPr>
            <a:lvl6pPr marL="457200" algn="r" rtl="0" fontAlgn="base">
              <a:spcBef>
                <a:spcPct val="0"/>
              </a:spcBef>
              <a:spcAft>
                <a:spcPct val="0"/>
              </a:spcAft>
              <a:defRPr sz="3600">
                <a:solidFill>
                  <a:schemeClr val="tx2"/>
                </a:solidFill>
                <a:latin typeface="Lucida Sans" charset="0"/>
              </a:defRPr>
            </a:lvl6pPr>
            <a:lvl7pPr marL="914400" algn="r" rtl="0" fontAlgn="base">
              <a:spcBef>
                <a:spcPct val="0"/>
              </a:spcBef>
              <a:spcAft>
                <a:spcPct val="0"/>
              </a:spcAft>
              <a:defRPr sz="3600">
                <a:solidFill>
                  <a:schemeClr val="tx2"/>
                </a:solidFill>
                <a:latin typeface="Lucida Sans" charset="0"/>
              </a:defRPr>
            </a:lvl7pPr>
            <a:lvl8pPr marL="1371600" algn="r" rtl="0" fontAlgn="base">
              <a:spcBef>
                <a:spcPct val="0"/>
              </a:spcBef>
              <a:spcAft>
                <a:spcPct val="0"/>
              </a:spcAft>
              <a:defRPr sz="3600">
                <a:solidFill>
                  <a:schemeClr val="tx2"/>
                </a:solidFill>
                <a:latin typeface="Lucida Sans" charset="0"/>
              </a:defRPr>
            </a:lvl8pPr>
            <a:lvl9pPr marL="1828800" algn="r" rtl="0" fontAlgn="base">
              <a:spcBef>
                <a:spcPct val="0"/>
              </a:spcBef>
              <a:spcAft>
                <a:spcPct val="0"/>
              </a:spcAft>
              <a:defRPr sz="3600">
                <a:solidFill>
                  <a:schemeClr val="tx2"/>
                </a:solidFill>
                <a:latin typeface="Lucida Sans" charset="0"/>
              </a:defRPr>
            </a:lvl9pPr>
          </a:lstStyle>
          <a:p>
            <a:r>
              <a:rPr lang="en-US" altLang="zh-CN" b="0" dirty="0">
                <a:solidFill>
                  <a:srgbClr val="0000FF"/>
                </a:solidFill>
              </a:rPr>
              <a:t>Exercise</a:t>
            </a:r>
            <a:r>
              <a:rPr lang="en-US" altLang="zh-CN" b="0" dirty="0">
                <a:solidFill>
                  <a:schemeClr val="tx1"/>
                </a:solidFill>
              </a:rPr>
              <a:t> on Decreasing Numbers</a:t>
            </a:r>
            <a:endParaRPr lang="en-HK" b="0" kern="0" dirty="0"/>
          </a:p>
        </p:txBody>
      </p:sp>
    </p:spTree>
    <p:extLst>
      <p:ext uri="{BB962C8B-B14F-4D97-AF65-F5344CB8AC3E}">
        <p14:creationId xmlns:p14="http://schemas.microsoft.com/office/powerpoint/2010/main" val="474615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Seating Arrangements</a:t>
            </a:r>
            <a:endParaRPr lang="en-US" dirty="0"/>
          </a:p>
        </p:txBody>
      </p:sp>
      <p:sp>
        <p:nvSpPr>
          <p:cNvPr id="3" name="Content Placeholder 2"/>
          <p:cNvSpPr>
            <a:spLocks noGrp="1"/>
          </p:cNvSpPr>
          <p:nvPr>
            <p:ph idx="1"/>
          </p:nvPr>
        </p:nvSpPr>
        <p:spPr>
          <a:xfrm>
            <a:off x="0" y="990600"/>
            <a:ext cx="8763000" cy="5181600"/>
          </a:xfrm>
        </p:spPr>
        <p:txBody>
          <a:bodyPr/>
          <a:lstStyle/>
          <a:p>
            <a:pPr lvl="0"/>
            <a:r>
              <a:rPr lang="en-US" dirty="0"/>
              <a:t>In how many ways, can 5 boys and 3 girls sit around a circular table so that </a:t>
            </a:r>
            <a:r>
              <a:rPr lang="en-US" dirty="0">
                <a:solidFill>
                  <a:srgbClr val="0000FF"/>
                </a:solidFill>
              </a:rPr>
              <a:t>no two girls are together</a:t>
            </a:r>
            <a:r>
              <a:rPr lang="en-US" dirty="0"/>
              <a:t>? (Order matters. Since people sit on a circular table, the arrangement 12345678 and 23456781 are considered to be same.)</a:t>
            </a:r>
          </a:p>
          <a:p>
            <a:pPr lvl="0"/>
            <a:r>
              <a:rPr lang="en-US" dirty="0">
                <a:solidFill>
                  <a:srgbClr val="0000FF"/>
                </a:solidFill>
              </a:rPr>
              <a:t>Solution </a:t>
            </a:r>
          </a:p>
          <a:p>
            <a:r>
              <a:rPr lang="en-US" dirty="0"/>
              <a:t>There are 4! seating arrangements for the 5 boys, when rotations are equivalent (see slide 11). </a:t>
            </a:r>
          </a:p>
          <a:p>
            <a:r>
              <a:rPr lang="en-US" dirty="0"/>
              <a:t>For each girl not to seat next to another girl, she must have a boy to the left in C(5,3) ways (also a boy to the right). Moreover, there are 3! permutations for the girls. Thus, C(5,3)4!3!</a:t>
            </a:r>
          </a:p>
        </p:txBody>
      </p:sp>
      <p:sp>
        <p:nvSpPr>
          <p:cNvPr id="4" name="Slide Number Placeholder 3"/>
          <p:cNvSpPr>
            <a:spLocks noGrp="1"/>
          </p:cNvSpPr>
          <p:nvPr>
            <p:ph type="sldNum" sz="quarter" idx="12"/>
          </p:nvPr>
        </p:nvSpPr>
        <p:spPr/>
        <p:txBody>
          <a:bodyPr/>
          <a:lstStyle/>
          <a:p>
            <a:fld id="{5EC735E3-5B29-4F54-8FB9-022B0DB6C884}" type="slidenum">
              <a:rPr lang="en-US" smtClean="0"/>
              <a:pPr/>
              <a:t>24</a:t>
            </a:fld>
            <a:endParaRPr lang="en-US"/>
          </a:p>
        </p:txBody>
      </p:sp>
    </p:spTree>
    <p:extLst>
      <p:ext uri="{BB962C8B-B14F-4D97-AF65-F5344CB8AC3E}">
        <p14:creationId xmlns:p14="http://schemas.microsoft.com/office/powerpoint/2010/main" val="152595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Poker</a:t>
            </a:r>
            <a:r>
              <a:rPr lang="en-US" b="1" dirty="0">
                <a:solidFill>
                  <a:srgbClr val="0000FF"/>
                </a:solidFill>
              </a:rPr>
              <a:t> Exercises 1</a:t>
            </a:r>
            <a:endParaRPr lang="en-US" dirty="0"/>
          </a:p>
        </p:txBody>
      </p:sp>
      <p:sp>
        <p:nvSpPr>
          <p:cNvPr id="3" name="Content Placeholder 2"/>
          <p:cNvSpPr>
            <a:spLocks noGrp="1"/>
          </p:cNvSpPr>
          <p:nvPr>
            <p:ph idx="1"/>
          </p:nvPr>
        </p:nvSpPr>
        <p:spPr>
          <a:xfrm>
            <a:off x="76200" y="990600"/>
            <a:ext cx="8839200" cy="5257800"/>
          </a:xfrm>
        </p:spPr>
        <p:txBody>
          <a:bodyPr/>
          <a:lstStyle/>
          <a:p>
            <a:r>
              <a:rPr lang="en-US" sz="2000" dirty="0"/>
              <a:t>A poker hand contains 5 out of 52 cards. The cards are 13 </a:t>
            </a:r>
            <a:r>
              <a:rPr lang="en-US" sz="2000" dirty="0">
                <a:solidFill>
                  <a:srgbClr val="0000FF"/>
                </a:solidFill>
              </a:rPr>
              <a:t>kinds</a:t>
            </a:r>
            <a:r>
              <a:rPr lang="en-US" sz="2000" dirty="0"/>
              <a:t> (1-Ace, 2,..,10,J,Q,K) and 4 </a:t>
            </a:r>
            <a:r>
              <a:rPr lang="en-US" sz="2000" dirty="0">
                <a:solidFill>
                  <a:srgbClr val="0000FF"/>
                </a:solidFill>
              </a:rPr>
              <a:t>suites</a:t>
            </a:r>
            <a:r>
              <a:rPr lang="en-US" sz="2000" dirty="0"/>
              <a:t> (spades, hearts, clubs, diamonds)</a:t>
            </a:r>
          </a:p>
          <a:p>
            <a:r>
              <a:rPr lang="en-US" sz="2000" dirty="0"/>
              <a:t>What is the total number of poker hands?</a:t>
            </a:r>
          </a:p>
          <a:p>
            <a:r>
              <a:rPr lang="en-US" sz="2000" dirty="0"/>
              <a:t>C(52,5)</a:t>
            </a:r>
          </a:p>
          <a:p>
            <a:r>
              <a:rPr lang="en-US" sz="2000" dirty="0"/>
              <a:t>How many hands contain 5 different kinds?</a:t>
            </a:r>
          </a:p>
          <a:p>
            <a:r>
              <a:rPr lang="en-US" sz="2000" dirty="0"/>
              <a:t>There are C(13,5) ways to choose the 5 kinds. For each card there are 4 choices of suit: 4</a:t>
            </a:r>
            <a:r>
              <a:rPr lang="en-US" sz="2000" baseline="30000" dirty="0"/>
              <a:t>5</a:t>
            </a:r>
            <a:r>
              <a:rPr lang="en-US" sz="2000" dirty="0">
                <a:sym typeface="Symbol" panose="05050102010706020507" pitchFamily="18" charset="2"/>
              </a:rPr>
              <a:t></a:t>
            </a:r>
            <a:r>
              <a:rPr lang="en-US" sz="2000" dirty="0"/>
              <a:t>C(13,5)</a:t>
            </a:r>
          </a:p>
          <a:p>
            <a:r>
              <a:rPr lang="en-US" sz="2000" dirty="0"/>
              <a:t>How many hands contain the Ace of Spades and the King of Spades?</a:t>
            </a:r>
          </a:p>
          <a:p>
            <a:r>
              <a:rPr lang="en-US" sz="2000" dirty="0"/>
              <a:t>Since these 2 cards are fixed, I have C(50,3) choices for the remaining 3 cards.   </a:t>
            </a:r>
          </a:p>
          <a:p>
            <a:r>
              <a:rPr lang="en-US" sz="2000" dirty="0"/>
              <a:t>How many hands contain exactly 1 Ace?</a:t>
            </a:r>
          </a:p>
          <a:p>
            <a:r>
              <a:rPr lang="en-US" sz="2000" dirty="0"/>
              <a:t>There are 4 ways to choose the Ace. Once the Ace is selected, there are C(48,4) ways to choose the remaining four cards: 4</a:t>
            </a:r>
            <a:r>
              <a:rPr lang="en-US" sz="2000" dirty="0">
                <a:sym typeface="Symbol" panose="05050102010706020507" pitchFamily="18" charset="2"/>
              </a:rPr>
              <a:t></a:t>
            </a:r>
            <a:r>
              <a:rPr lang="en-US" sz="2000" dirty="0"/>
              <a:t>C(48,4)</a:t>
            </a:r>
          </a:p>
          <a:p>
            <a:pPr marL="0" indent="0">
              <a:buNone/>
            </a:pPr>
            <a:endParaRPr lang="en-US"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25</a:t>
            </a:fld>
            <a:endParaRPr lang="en-US"/>
          </a:p>
        </p:txBody>
      </p:sp>
    </p:spTree>
    <p:extLst>
      <p:ext uri="{BB962C8B-B14F-4D97-AF65-F5344CB8AC3E}">
        <p14:creationId xmlns:p14="http://schemas.microsoft.com/office/powerpoint/2010/main" val="77225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Poker</a:t>
            </a:r>
            <a:r>
              <a:rPr lang="en-US" b="1" dirty="0">
                <a:solidFill>
                  <a:srgbClr val="0000FF"/>
                </a:solidFill>
              </a:rPr>
              <a:t> Exercises 2</a:t>
            </a:r>
            <a:endParaRPr lang="en-US" dirty="0"/>
          </a:p>
        </p:txBody>
      </p:sp>
      <p:sp>
        <p:nvSpPr>
          <p:cNvPr id="3" name="Content Placeholder 2"/>
          <p:cNvSpPr>
            <a:spLocks noGrp="1"/>
          </p:cNvSpPr>
          <p:nvPr>
            <p:ph idx="1"/>
          </p:nvPr>
        </p:nvSpPr>
        <p:spPr>
          <a:xfrm>
            <a:off x="76200" y="990600"/>
            <a:ext cx="8839200" cy="5257800"/>
          </a:xfrm>
        </p:spPr>
        <p:txBody>
          <a:bodyPr/>
          <a:lstStyle/>
          <a:p>
            <a:r>
              <a:rPr lang="en-US" sz="1600" dirty="0"/>
              <a:t>A poker hand contains 5 out of 52 cards. The cards are 13 </a:t>
            </a:r>
            <a:r>
              <a:rPr lang="en-US" sz="1600" dirty="0">
                <a:solidFill>
                  <a:srgbClr val="0000FF"/>
                </a:solidFill>
              </a:rPr>
              <a:t>kinds</a:t>
            </a:r>
            <a:r>
              <a:rPr lang="en-US" sz="1600" dirty="0"/>
              <a:t> (1-Ace, 2,..,10,J,Q,K) and 4 </a:t>
            </a:r>
            <a:r>
              <a:rPr lang="en-US" sz="1600" dirty="0">
                <a:solidFill>
                  <a:srgbClr val="0000FF"/>
                </a:solidFill>
              </a:rPr>
              <a:t>suites</a:t>
            </a:r>
            <a:r>
              <a:rPr lang="en-US" sz="1600" dirty="0"/>
              <a:t> (spades, hearts, clubs, diamonds)</a:t>
            </a:r>
          </a:p>
          <a:p>
            <a:r>
              <a:rPr lang="en-US" sz="1600" dirty="0"/>
              <a:t>How many hands are </a:t>
            </a:r>
            <a:r>
              <a:rPr lang="en-US" sz="1600" dirty="0">
                <a:solidFill>
                  <a:srgbClr val="FF0000"/>
                </a:solidFill>
              </a:rPr>
              <a:t>royal flush</a:t>
            </a:r>
            <a:r>
              <a:rPr lang="en-US" sz="1600" dirty="0"/>
              <a:t>? Royal flush is </a:t>
            </a:r>
            <a:r>
              <a:rPr lang="en-US" sz="1600" dirty="0">
                <a:solidFill>
                  <a:srgbClr val="0000FF"/>
                </a:solidFill>
              </a:rPr>
              <a:t>{10,J,Q,K,Ace} of the same suit</a:t>
            </a:r>
            <a:r>
              <a:rPr lang="en-US" sz="1600" dirty="0"/>
              <a:t>. This is the strongest card in poker. </a:t>
            </a:r>
          </a:p>
          <a:p>
            <a:r>
              <a:rPr lang="en-US" sz="1600" dirty="0"/>
              <a:t>There are 4 royal flushes/one per suit</a:t>
            </a:r>
          </a:p>
          <a:p>
            <a:r>
              <a:rPr lang="en-US" sz="1600" dirty="0"/>
              <a:t>How many hands are </a:t>
            </a:r>
            <a:r>
              <a:rPr lang="en-US" sz="1600" dirty="0">
                <a:solidFill>
                  <a:srgbClr val="FF0000"/>
                </a:solidFill>
              </a:rPr>
              <a:t>straight flush</a:t>
            </a:r>
            <a:r>
              <a:rPr lang="en-US" sz="1600" dirty="0"/>
              <a:t>? A straight flush is a hand with all five cards of the same suit in sequential order starting at 1,2,….,9. 10 is excluded because it would lead to a Royal flush.</a:t>
            </a:r>
          </a:p>
          <a:p>
            <a:r>
              <a:rPr lang="en-US" sz="1600" dirty="0"/>
              <a:t>I have C(9,1)=9 options for the beginning of straight flush, and 4 options for the suit, yielding a total of 4</a:t>
            </a:r>
            <a:r>
              <a:rPr lang="en-US" sz="1600" dirty="0">
                <a:sym typeface="Symbol" panose="05050102010706020507" pitchFamily="18" charset="2"/>
              </a:rPr>
              <a:t>9=36</a:t>
            </a:r>
            <a:r>
              <a:rPr lang="en-US" sz="1600" dirty="0"/>
              <a:t>. There is a single option for each of the remaining cards.   </a:t>
            </a:r>
          </a:p>
          <a:p>
            <a:r>
              <a:rPr lang="en-US" sz="1600" dirty="0"/>
              <a:t>How many hands are </a:t>
            </a:r>
            <a:r>
              <a:rPr lang="en-US" sz="1600" dirty="0">
                <a:solidFill>
                  <a:srgbClr val="FF0000"/>
                </a:solidFill>
              </a:rPr>
              <a:t>straight</a:t>
            </a:r>
            <a:r>
              <a:rPr lang="en-US" sz="1600" dirty="0"/>
              <a:t>? A straight is a hand with all five cards in sequential order. At least two cards are of different suit; otherwise, it would be a royal or straight flush.</a:t>
            </a:r>
          </a:p>
          <a:p>
            <a:r>
              <a:rPr lang="en-US" sz="1600" dirty="0"/>
              <a:t>I will first count all straights including straight and royal flushes.</a:t>
            </a:r>
          </a:p>
          <a:p>
            <a:r>
              <a:rPr lang="en-US" sz="1600" dirty="0"/>
              <a:t>I have C(10,1)=10 options for the beginning of the straight. For each of the five cards, there are 4 suite options. Therefore, total number of straights is: 10</a:t>
            </a:r>
            <a:r>
              <a:rPr lang="en-US" sz="1600" dirty="0">
                <a:sym typeface="Symbol" panose="05050102010706020507" pitchFamily="18" charset="2"/>
              </a:rPr>
              <a:t>4</a:t>
            </a:r>
            <a:r>
              <a:rPr lang="en-US" sz="1600" baseline="30000" dirty="0">
                <a:sym typeface="Symbol" panose="05050102010706020507" pitchFamily="18" charset="2"/>
              </a:rPr>
              <a:t>5</a:t>
            </a:r>
            <a:r>
              <a:rPr lang="en-US" sz="1600" dirty="0"/>
              <a:t>. </a:t>
            </a:r>
          </a:p>
          <a:p>
            <a:r>
              <a:rPr lang="en-US" sz="1600" dirty="0"/>
              <a:t>If I exclude the straight and royal flushes, the number becomes: 10</a:t>
            </a:r>
            <a:r>
              <a:rPr lang="en-US" sz="1600" dirty="0">
                <a:sym typeface="Symbol" panose="05050102010706020507" pitchFamily="18" charset="2"/>
              </a:rPr>
              <a:t>4</a:t>
            </a:r>
            <a:r>
              <a:rPr lang="en-US" sz="1600" baseline="30000" dirty="0">
                <a:sym typeface="Symbol" panose="05050102010706020507" pitchFamily="18" charset="2"/>
              </a:rPr>
              <a:t>5 </a:t>
            </a:r>
            <a:r>
              <a:rPr lang="en-US" sz="1600" dirty="0"/>
              <a:t>- 40. </a:t>
            </a:r>
            <a:endParaRPr lang="en-US"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26</a:t>
            </a:fld>
            <a:endParaRPr lang="en-US"/>
          </a:p>
        </p:txBody>
      </p:sp>
    </p:spTree>
    <p:extLst>
      <p:ext uri="{BB962C8B-B14F-4D97-AF65-F5344CB8AC3E}">
        <p14:creationId xmlns:p14="http://schemas.microsoft.com/office/powerpoint/2010/main" val="241957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Poker</a:t>
            </a:r>
            <a:r>
              <a:rPr lang="en-US" b="1" dirty="0">
                <a:solidFill>
                  <a:srgbClr val="0000FF"/>
                </a:solidFill>
              </a:rPr>
              <a:t> Exercises 3</a:t>
            </a:r>
            <a:endParaRPr lang="en-US" dirty="0"/>
          </a:p>
        </p:txBody>
      </p:sp>
      <p:sp>
        <p:nvSpPr>
          <p:cNvPr id="3" name="Content Placeholder 2"/>
          <p:cNvSpPr>
            <a:spLocks noGrp="1"/>
          </p:cNvSpPr>
          <p:nvPr>
            <p:ph idx="1"/>
          </p:nvPr>
        </p:nvSpPr>
        <p:spPr>
          <a:xfrm>
            <a:off x="76200" y="990600"/>
            <a:ext cx="8839200" cy="5257800"/>
          </a:xfrm>
        </p:spPr>
        <p:txBody>
          <a:bodyPr/>
          <a:lstStyle/>
          <a:p>
            <a:r>
              <a:rPr lang="en-US" sz="1600" dirty="0"/>
              <a:t>A poker hand contains 5 out of 52 cards. The cards are 13 </a:t>
            </a:r>
            <a:r>
              <a:rPr lang="en-US" sz="1600" dirty="0">
                <a:solidFill>
                  <a:srgbClr val="0000FF"/>
                </a:solidFill>
              </a:rPr>
              <a:t>kinds</a:t>
            </a:r>
            <a:r>
              <a:rPr lang="en-US" sz="1600" dirty="0"/>
              <a:t> (1-Ace, 2,..,10,J,Q,K) and 4 </a:t>
            </a:r>
            <a:r>
              <a:rPr lang="en-US" sz="1600" dirty="0">
                <a:solidFill>
                  <a:srgbClr val="0000FF"/>
                </a:solidFill>
              </a:rPr>
              <a:t>suites</a:t>
            </a:r>
            <a:r>
              <a:rPr lang="en-US" sz="1600" dirty="0"/>
              <a:t> (spades, hearts, clubs, diamonds)</a:t>
            </a:r>
          </a:p>
          <a:p>
            <a:r>
              <a:rPr lang="en-US" sz="1600" dirty="0"/>
              <a:t>How many hands are </a:t>
            </a:r>
            <a:r>
              <a:rPr lang="en-US" sz="1600" dirty="0">
                <a:solidFill>
                  <a:srgbClr val="FF0000"/>
                </a:solidFill>
              </a:rPr>
              <a:t>flush</a:t>
            </a:r>
            <a:r>
              <a:rPr lang="en-US" sz="1600" dirty="0"/>
              <a:t>, i.e., a flush consists of 5 card of the same suit, excluding the cases of royal and straight flush. </a:t>
            </a:r>
          </a:p>
          <a:p>
            <a:r>
              <a:rPr lang="en-US" sz="1600" dirty="0"/>
              <a:t>The flush is a combination of 5 out of 13 cards of the same suit. Thus, there are 4</a:t>
            </a:r>
            <a:r>
              <a:rPr lang="en-US" sz="1600" dirty="0">
                <a:sym typeface="Symbol" panose="05050102010706020507" pitchFamily="18" charset="2"/>
              </a:rPr>
              <a:t></a:t>
            </a:r>
            <a:r>
              <a:rPr lang="en-US" sz="1600" dirty="0"/>
              <a:t>C(13,5) flushes. After excluding the straight and the royal flashes the number is 4</a:t>
            </a:r>
            <a:r>
              <a:rPr lang="en-US" sz="1600" dirty="0">
                <a:sym typeface="Symbol" panose="05050102010706020507" pitchFamily="18" charset="2"/>
              </a:rPr>
              <a:t></a:t>
            </a:r>
            <a:r>
              <a:rPr lang="en-US" sz="1600" dirty="0"/>
              <a:t>C(13,5)-40</a:t>
            </a:r>
          </a:p>
          <a:p>
            <a:r>
              <a:rPr lang="en-US" sz="1600" dirty="0"/>
              <a:t>How many hands contain </a:t>
            </a:r>
            <a:r>
              <a:rPr lang="en-US" sz="1600" dirty="0">
                <a:solidFill>
                  <a:srgbClr val="FF0000"/>
                </a:solidFill>
              </a:rPr>
              <a:t>3-of a kind</a:t>
            </a:r>
            <a:r>
              <a:rPr lang="en-US" sz="1600" dirty="0"/>
              <a:t> (e.g., 3 aces - the 4</a:t>
            </a:r>
            <a:r>
              <a:rPr lang="en-US" sz="1600" baseline="30000" dirty="0"/>
              <a:t>th</a:t>
            </a:r>
            <a:r>
              <a:rPr lang="en-US" sz="1600" dirty="0"/>
              <a:t> and 5</a:t>
            </a:r>
            <a:r>
              <a:rPr lang="en-US" sz="1600" baseline="30000" dirty="0"/>
              <a:t>th</a:t>
            </a:r>
            <a:r>
              <a:rPr lang="en-US" sz="1600" dirty="0"/>
              <a:t> card must be different because otherwise we would have stronger hands, to be discussed later):</a:t>
            </a:r>
          </a:p>
          <a:p>
            <a:r>
              <a:rPr lang="en-US" sz="1600" dirty="0"/>
              <a:t>Number of ways to select the kind of the 3-of a kind C(13,1).</a:t>
            </a:r>
          </a:p>
          <a:p>
            <a:r>
              <a:rPr lang="en-US" sz="1600" dirty="0"/>
              <a:t>Number of ways to select the suites of the 3-of a kind C(4,3).</a:t>
            </a:r>
          </a:p>
          <a:p>
            <a:r>
              <a:rPr lang="en-US" sz="1600" dirty="0"/>
              <a:t>Number of ways to select the kind of the 4</a:t>
            </a:r>
            <a:r>
              <a:rPr lang="en-US" sz="1600" baseline="30000" dirty="0"/>
              <a:t>th</a:t>
            </a:r>
            <a:r>
              <a:rPr lang="en-US" sz="1600" dirty="0"/>
              <a:t> and 5</a:t>
            </a:r>
            <a:r>
              <a:rPr lang="en-US" sz="1600" baseline="30000" dirty="0"/>
              <a:t>th</a:t>
            </a:r>
            <a:r>
              <a:rPr lang="en-US" sz="1600" dirty="0"/>
              <a:t> card: C(12,2).</a:t>
            </a:r>
          </a:p>
          <a:p>
            <a:r>
              <a:rPr lang="en-US" sz="1600" dirty="0"/>
              <a:t>Number of ways to select the suit of the 4</a:t>
            </a:r>
            <a:r>
              <a:rPr lang="en-US" sz="1600" baseline="30000" dirty="0"/>
              <a:t>th</a:t>
            </a:r>
            <a:r>
              <a:rPr lang="en-US" sz="1600" dirty="0"/>
              <a:t> and 5</a:t>
            </a:r>
            <a:r>
              <a:rPr lang="en-US" sz="1600" baseline="30000" dirty="0"/>
              <a:t>th</a:t>
            </a:r>
            <a:r>
              <a:rPr lang="en-US" sz="1600" dirty="0"/>
              <a:t> card: C(4,1)</a:t>
            </a:r>
            <a:r>
              <a:rPr lang="en-US" sz="1600" dirty="0">
                <a:sym typeface="Symbol" panose="05050102010706020507" pitchFamily="18" charset="2"/>
              </a:rPr>
              <a:t></a:t>
            </a:r>
            <a:r>
              <a:rPr lang="en-US" sz="1600" dirty="0"/>
              <a:t>C(4,1)</a:t>
            </a:r>
          </a:p>
          <a:p>
            <a:r>
              <a:rPr lang="en-US" sz="1600" dirty="0"/>
              <a:t>Total number: C(13,1)</a:t>
            </a:r>
            <a:r>
              <a:rPr lang="en-US" sz="1600" dirty="0">
                <a:sym typeface="Symbol" panose="05050102010706020507" pitchFamily="18" charset="2"/>
              </a:rPr>
              <a:t></a:t>
            </a:r>
            <a:r>
              <a:rPr lang="en-US" sz="1600" dirty="0"/>
              <a:t>C(4,3)</a:t>
            </a:r>
            <a:r>
              <a:rPr lang="en-US" sz="1600" dirty="0">
                <a:sym typeface="Symbol" panose="05050102010706020507" pitchFamily="18" charset="2"/>
              </a:rPr>
              <a:t></a:t>
            </a:r>
            <a:r>
              <a:rPr lang="en-US" sz="1600" dirty="0"/>
              <a:t>C(12,2)</a:t>
            </a:r>
            <a:r>
              <a:rPr lang="en-US" sz="1600" dirty="0">
                <a:sym typeface="Symbol" panose="05050102010706020507" pitchFamily="18" charset="2"/>
              </a:rPr>
              <a:t></a:t>
            </a:r>
            <a:r>
              <a:rPr lang="en-US" sz="1600" dirty="0"/>
              <a:t> C(4,1)</a:t>
            </a:r>
            <a:r>
              <a:rPr lang="en-US" sz="1600" dirty="0">
                <a:sym typeface="Symbol" panose="05050102010706020507" pitchFamily="18" charset="2"/>
              </a:rPr>
              <a:t></a:t>
            </a:r>
            <a:r>
              <a:rPr lang="en-US" sz="1600" dirty="0"/>
              <a:t>C(4,1)</a:t>
            </a:r>
          </a:p>
          <a:p>
            <a:r>
              <a:rPr lang="en-US" sz="1600" dirty="0"/>
              <a:t>How many hands contain </a:t>
            </a:r>
            <a:r>
              <a:rPr lang="en-US" sz="1600" dirty="0">
                <a:solidFill>
                  <a:srgbClr val="FF0000"/>
                </a:solidFill>
              </a:rPr>
              <a:t>2 pairs</a:t>
            </a:r>
            <a:r>
              <a:rPr lang="en-US" sz="1600" dirty="0"/>
              <a:t> (e.g., 2 aces and 2 kings - the 5</a:t>
            </a:r>
            <a:r>
              <a:rPr lang="en-US" sz="1600" baseline="30000" dirty="0"/>
              <a:t>th</a:t>
            </a:r>
            <a:r>
              <a:rPr lang="en-US" sz="1600" dirty="0"/>
              <a:t> card cannot be ace or king):</a:t>
            </a:r>
          </a:p>
          <a:p>
            <a:r>
              <a:rPr lang="en-US" sz="1600" dirty="0"/>
              <a:t>Number of ways to select 2 pairs is C(13,2).</a:t>
            </a:r>
          </a:p>
          <a:p>
            <a:r>
              <a:rPr lang="en-US" sz="1600" dirty="0"/>
              <a:t>Number of ways to select suites of the 2 pairs C(4,2)</a:t>
            </a:r>
            <a:r>
              <a:rPr lang="en-US" sz="1600" dirty="0">
                <a:sym typeface="Symbol" panose="05050102010706020507" pitchFamily="18" charset="2"/>
              </a:rPr>
              <a:t></a:t>
            </a:r>
            <a:r>
              <a:rPr lang="en-US" sz="1600" dirty="0"/>
              <a:t>C(4,2).</a:t>
            </a:r>
          </a:p>
          <a:p>
            <a:r>
              <a:rPr lang="en-US" sz="1600" dirty="0"/>
              <a:t>Number of ways to select fifth card: 52-</a:t>
            </a:r>
            <a:r>
              <a:rPr lang="en-US" sz="1600" dirty="0">
                <a:solidFill>
                  <a:srgbClr val="0000FF"/>
                </a:solidFill>
              </a:rPr>
              <a:t>8</a:t>
            </a:r>
            <a:r>
              <a:rPr lang="en-US" sz="1600" dirty="0"/>
              <a:t>=</a:t>
            </a:r>
            <a:r>
              <a:rPr lang="en-US" sz="1600" dirty="0">
                <a:solidFill>
                  <a:srgbClr val="0000FF"/>
                </a:solidFill>
              </a:rPr>
              <a:t>44</a:t>
            </a:r>
            <a:r>
              <a:rPr lang="en-US" sz="1600" dirty="0"/>
              <a:t> (e.g., 5</a:t>
            </a:r>
            <a:r>
              <a:rPr lang="en-US" sz="1600" baseline="30000" dirty="0"/>
              <a:t>th</a:t>
            </a:r>
            <a:r>
              <a:rPr lang="en-US" sz="1600" dirty="0"/>
              <a:t> card different from 2 pairs). </a:t>
            </a:r>
          </a:p>
          <a:p>
            <a:r>
              <a:rPr lang="en-US" sz="1600" dirty="0"/>
              <a:t>Total number: C(13,2)</a:t>
            </a:r>
            <a:r>
              <a:rPr lang="en-US" sz="1600" dirty="0">
                <a:sym typeface="Symbol" panose="05050102010706020507" pitchFamily="18" charset="2"/>
              </a:rPr>
              <a:t></a:t>
            </a:r>
            <a:r>
              <a:rPr lang="en-US" sz="1600" dirty="0"/>
              <a:t>C(4,2)</a:t>
            </a:r>
            <a:r>
              <a:rPr lang="en-US" sz="1600" dirty="0">
                <a:sym typeface="Symbol" panose="05050102010706020507" pitchFamily="18" charset="2"/>
              </a:rPr>
              <a:t></a:t>
            </a:r>
            <a:r>
              <a:rPr lang="en-US" sz="1600" dirty="0"/>
              <a:t>C(4,2)</a:t>
            </a:r>
            <a:r>
              <a:rPr lang="en-US" sz="1600" dirty="0">
                <a:sym typeface="Symbol" panose="05050102010706020507" pitchFamily="18" charset="2"/>
              </a:rPr>
              <a:t></a:t>
            </a:r>
            <a:r>
              <a:rPr lang="en-US" sz="1600" dirty="0">
                <a:solidFill>
                  <a:srgbClr val="0000FF"/>
                </a:solidFill>
              </a:rPr>
              <a:t>44</a:t>
            </a:r>
            <a:r>
              <a:rPr lang="en-US" sz="1600" dirty="0"/>
              <a:t>=C(13,2)</a:t>
            </a:r>
            <a:r>
              <a:rPr lang="en-US" sz="1600" dirty="0">
                <a:sym typeface="Symbol" panose="05050102010706020507" pitchFamily="18" charset="2"/>
              </a:rPr>
              <a:t></a:t>
            </a:r>
            <a:r>
              <a:rPr lang="en-US" sz="1600" dirty="0"/>
              <a:t>C(4,2)</a:t>
            </a:r>
            <a:r>
              <a:rPr lang="en-US" sz="1600" dirty="0">
                <a:sym typeface="Symbol" panose="05050102010706020507" pitchFamily="18" charset="2"/>
              </a:rPr>
              <a:t></a:t>
            </a:r>
            <a:r>
              <a:rPr lang="en-US" sz="1600" dirty="0"/>
              <a:t>C(4,2)</a:t>
            </a:r>
            <a:r>
              <a:rPr lang="en-US" sz="1600" dirty="0">
                <a:sym typeface="Symbol" panose="05050102010706020507" pitchFamily="18" charset="2"/>
              </a:rPr>
              <a:t></a:t>
            </a:r>
            <a:r>
              <a:rPr lang="en-US" sz="1600" dirty="0">
                <a:solidFill>
                  <a:srgbClr val="0000FF"/>
                </a:solidFill>
                <a:sym typeface="Symbol" panose="05050102010706020507" pitchFamily="18" charset="2"/>
              </a:rPr>
              <a:t>C(11,1)</a:t>
            </a:r>
            <a:r>
              <a:rPr lang="en-US" sz="1600" dirty="0">
                <a:solidFill>
                  <a:srgbClr val="0000FF"/>
                </a:solidFill>
              </a:rPr>
              <a:t>4</a:t>
            </a:r>
          </a:p>
        </p:txBody>
      </p:sp>
      <p:sp>
        <p:nvSpPr>
          <p:cNvPr id="4" name="Slide Number Placeholder 3"/>
          <p:cNvSpPr>
            <a:spLocks noGrp="1"/>
          </p:cNvSpPr>
          <p:nvPr>
            <p:ph type="sldNum" sz="quarter" idx="12"/>
          </p:nvPr>
        </p:nvSpPr>
        <p:spPr/>
        <p:txBody>
          <a:bodyPr/>
          <a:lstStyle/>
          <a:p>
            <a:fld id="{5EC735E3-5B29-4F54-8FB9-022B0DB6C884}" type="slidenum">
              <a:rPr lang="en-US" smtClean="0"/>
              <a:pPr/>
              <a:t>27</a:t>
            </a:fld>
            <a:endParaRPr lang="en-US" dirty="0"/>
          </a:p>
        </p:txBody>
      </p:sp>
    </p:spTree>
    <p:extLst>
      <p:ext uri="{BB962C8B-B14F-4D97-AF65-F5344CB8AC3E}">
        <p14:creationId xmlns:p14="http://schemas.microsoft.com/office/powerpoint/2010/main" val="7356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676400" cy="2239962"/>
          </a:xfrm>
        </p:spPr>
        <p:txBody>
          <a:bodyPr/>
          <a:lstStyle/>
          <a:p>
            <a:r>
              <a:rPr lang="en-US" dirty="0"/>
              <a:t>Poker</a:t>
            </a:r>
            <a:r>
              <a:rPr lang="en-US" b="1" dirty="0">
                <a:solidFill>
                  <a:srgbClr val="0000FF"/>
                </a:solidFill>
              </a:rPr>
              <a:t> </a:t>
            </a:r>
            <a:r>
              <a:rPr lang="en-US" sz="2000" b="1" dirty="0">
                <a:solidFill>
                  <a:srgbClr val="0000FF"/>
                </a:solidFill>
              </a:rPr>
              <a:t>Exercises 4</a:t>
            </a:r>
            <a:endParaRPr lang="en-US" dirty="0"/>
          </a:p>
        </p:txBody>
      </p:sp>
      <p:pic>
        <p:nvPicPr>
          <p:cNvPr id="5" name="Content Placeholder 4"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9841" y="427038"/>
            <a:ext cx="6449359" cy="2239962"/>
          </a:xfrm>
        </p:spPr>
      </p:pic>
      <p:sp>
        <p:nvSpPr>
          <p:cNvPr id="4" name="Slide Number Placeholder 3"/>
          <p:cNvSpPr>
            <a:spLocks noGrp="1"/>
          </p:cNvSpPr>
          <p:nvPr>
            <p:ph type="sldNum" sz="quarter" idx="12"/>
          </p:nvPr>
        </p:nvSpPr>
        <p:spPr/>
        <p:txBody>
          <a:bodyPr/>
          <a:lstStyle/>
          <a:p>
            <a:fld id="{5EC735E3-5B29-4F54-8FB9-022B0DB6C884}" type="slidenum">
              <a:rPr lang="en-US" smtClean="0"/>
              <a:pPr/>
              <a:t>28</a:t>
            </a:fld>
            <a:endParaRPr lang="en-US"/>
          </a:p>
        </p:txBody>
      </p:sp>
      <p:sp>
        <p:nvSpPr>
          <p:cNvPr id="6" name="Content Placeholder 2"/>
          <p:cNvSpPr txBox="1">
            <a:spLocks/>
          </p:cNvSpPr>
          <p:nvPr/>
        </p:nvSpPr>
        <p:spPr bwMode="auto">
          <a:xfrm>
            <a:off x="228600" y="2743200"/>
            <a:ext cx="8686800" cy="35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r>
              <a:rPr lang="en-US" sz="1600" b="0" dirty="0"/>
              <a:t>How many hands contain </a:t>
            </a:r>
            <a:r>
              <a:rPr lang="en-US" sz="1600" b="0" dirty="0">
                <a:solidFill>
                  <a:srgbClr val="FF0000"/>
                </a:solidFill>
              </a:rPr>
              <a:t>4-of a kind</a:t>
            </a:r>
            <a:r>
              <a:rPr lang="en-US" sz="1600" b="0" dirty="0"/>
              <a:t>?</a:t>
            </a:r>
          </a:p>
          <a:p>
            <a:r>
              <a:rPr lang="en-US" sz="1600" b="0" dirty="0"/>
              <a:t>Number of ways to select the kind of the 4-of a kind C(13,1).</a:t>
            </a:r>
          </a:p>
          <a:p>
            <a:r>
              <a:rPr lang="en-US" sz="1600" b="0" dirty="0"/>
              <a:t>Number of ways to select the 5</a:t>
            </a:r>
            <a:r>
              <a:rPr lang="en-US" sz="1600" b="0" baseline="30000" dirty="0"/>
              <a:t>th</a:t>
            </a:r>
            <a:r>
              <a:rPr lang="en-US" sz="1600" b="0" dirty="0"/>
              <a:t> card: 48 (12 for the rank times 4 for the suit).</a:t>
            </a:r>
          </a:p>
          <a:p>
            <a:r>
              <a:rPr lang="en-US" sz="1600" b="0" dirty="0"/>
              <a:t>Total number is: 13</a:t>
            </a:r>
            <a:r>
              <a:rPr lang="en-US" sz="1600" b="0" dirty="0">
                <a:sym typeface="Symbol" panose="05050102010706020507" pitchFamily="18" charset="2"/>
              </a:rPr>
              <a:t>48</a:t>
            </a:r>
            <a:endParaRPr lang="en-US" sz="1600" b="0" dirty="0"/>
          </a:p>
          <a:p>
            <a:r>
              <a:rPr lang="en-US" sz="1600" b="0" dirty="0"/>
              <a:t>How many hands contain a </a:t>
            </a:r>
            <a:r>
              <a:rPr lang="en-US" sz="1600" b="0" dirty="0">
                <a:solidFill>
                  <a:srgbClr val="FF0000"/>
                </a:solidFill>
              </a:rPr>
              <a:t>full house</a:t>
            </a:r>
            <a:r>
              <a:rPr lang="en-US" sz="1600" b="0" dirty="0"/>
              <a:t>?</a:t>
            </a:r>
          </a:p>
          <a:p>
            <a:r>
              <a:rPr lang="en-US" sz="1600" b="0" dirty="0"/>
              <a:t>Number of ways to select the 2 kinds C(13,2).</a:t>
            </a:r>
          </a:p>
          <a:p>
            <a:r>
              <a:rPr lang="en-US" sz="1600" b="0" dirty="0"/>
              <a:t>Number of ways to select the kind for the 3-of a kind C(2,1).</a:t>
            </a:r>
          </a:p>
          <a:p>
            <a:r>
              <a:rPr lang="en-US" sz="1600" b="0" dirty="0"/>
              <a:t>Number of ways to select the suits for the 3-of a kind C(4,3)</a:t>
            </a:r>
          </a:p>
          <a:p>
            <a:r>
              <a:rPr lang="en-US" sz="1600" b="0" dirty="0"/>
              <a:t>Number of ways to select the suits for the pair C(4,2).</a:t>
            </a:r>
          </a:p>
          <a:p>
            <a:r>
              <a:rPr lang="en-US" sz="1600" b="0" dirty="0"/>
              <a:t>Total number is: C(13,2)</a:t>
            </a:r>
            <a:r>
              <a:rPr lang="en-US" sz="1600" b="0" dirty="0">
                <a:sym typeface="Symbol" panose="05050102010706020507" pitchFamily="18" charset="2"/>
              </a:rPr>
              <a:t></a:t>
            </a:r>
            <a:r>
              <a:rPr lang="en-US" sz="1600" b="0" dirty="0"/>
              <a:t>C(2,1)</a:t>
            </a:r>
            <a:r>
              <a:rPr lang="en-US" sz="1600" b="0" dirty="0">
                <a:sym typeface="Symbol" panose="05050102010706020507" pitchFamily="18" charset="2"/>
              </a:rPr>
              <a:t></a:t>
            </a:r>
            <a:r>
              <a:rPr lang="en-US" sz="1600" b="0" dirty="0"/>
              <a:t>C(4,3)</a:t>
            </a:r>
            <a:r>
              <a:rPr lang="en-US" sz="1600" b="0" dirty="0">
                <a:sym typeface="Symbol" panose="05050102010706020507" pitchFamily="18" charset="2"/>
              </a:rPr>
              <a:t> </a:t>
            </a:r>
            <a:r>
              <a:rPr lang="en-US" sz="1600" b="0" dirty="0"/>
              <a:t>C(2,2) </a:t>
            </a:r>
          </a:p>
          <a:p>
            <a:r>
              <a:rPr lang="en-US" sz="1600" b="0" dirty="0">
                <a:solidFill>
                  <a:srgbClr val="0000FF"/>
                </a:solidFill>
              </a:rPr>
              <a:t>Poker Hands</a:t>
            </a:r>
            <a:r>
              <a:rPr lang="en-US" sz="1600" b="0" dirty="0"/>
              <a:t>: Royal Flush &gt; Straight Flush &gt; 4-of a kind &gt; Full house &gt; Flush &gt; Straight &gt; 3-of a kind &gt; 2 pairs &gt; 1 pair</a:t>
            </a:r>
          </a:p>
        </p:txBody>
      </p:sp>
    </p:spTree>
    <p:extLst>
      <p:ext uri="{BB962C8B-B14F-4D97-AF65-F5344CB8AC3E}">
        <p14:creationId xmlns:p14="http://schemas.microsoft.com/office/powerpoint/2010/main" val="183535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000" dirty="0">
                <a:solidFill>
                  <a:schemeClr val="tx1"/>
                </a:solidFill>
              </a:rPr>
              <a:t>Combinatorial Proof and Bijection Principle</a:t>
            </a:r>
            <a:endParaRPr lang="zh-CN" altLang="en-US" sz="3000"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5181600"/>
              </a:xfrm>
            </p:spPr>
            <p:txBody>
              <a:bodyPr/>
              <a:lstStyle/>
              <a:p>
                <a:r>
                  <a:rPr lang="en-US" altLang="zh-CN" sz="2400" b="1" dirty="0">
                    <a:solidFill>
                      <a:srgbClr val="0000FF"/>
                    </a:solidFill>
                  </a:rPr>
                  <a:t>Definition</a:t>
                </a:r>
                <a:br>
                  <a:rPr lang="en-US" altLang="zh-CN" sz="2400" b="1" dirty="0">
                    <a:solidFill>
                      <a:srgbClr val="0000FF"/>
                    </a:solidFill>
                  </a:rPr>
                </a:br>
                <a:r>
                  <a:rPr lang="en-US" altLang="zh-CN" sz="2400" dirty="0"/>
                  <a:t>A </a:t>
                </a:r>
                <a:r>
                  <a:rPr lang="en-US" altLang="zh-CN" sz="2400" b="1" dirty="0"/>
                  <a:t>combinatorial proof</a:t>
                </a:r>
                <a:r>
                  <a:rPr lang="en-US" altLang="zh-CN" sz="2400" dirty="0"/>
                  <a:t> of an identity is a proof that uses counting arguments to prove that both sides of the identity count the same objects but in different ways.</a:t>
                </a:r>
                <a:endParaRPr lang="en-US" altLang="zh-CN" dirty="0"/>
              </a:p>
              <a:p>
                <a:endParaRPr lang="en-US" altLang="zh-CN" sz="2400" b="1" dirty="0">
                  <a:solidFill>
                    <a:srgbClr val="0000FF"/>
                  </a:solidFill>
                </a:endParaRPr>
              </a:p>
              <a:p>
                <a:r>
                  <a:rPr lang="en-US" altLang="zh-CN" sz="2400" b="1" dirty="0">
                    <a:solidFill>
                      <a:srgbClr val="0000FF"/>
                    </a:solidFill>
                  </a:rPr>
                  <a:t>Bijection principle (type of combinatorial proof)</a:t>
                </a:r>
                <a:br>
                  <a:rPr lang="en-US" altLang="zh-CN" sz="2400" b="1" dirty="0">
                    <a:solidFill>
                      <a:srgbClr val="0000FF"/>
                    </a:solidFill>
                  </a:rPr>
                </a:br>
                <a:r>
                  <a:rPr lang="en-US" altLang="zh-CN" sz="2400" dirty="0"/>
                  <a:t>Two sets </a:t>
                </a:r>
                <a14:m>
                  <m:oMath xmlns:m="http://schemas.openxmlformats.org/officeDocument/2006/math">
                    <m:r>
                      <a:rPr lang="en-US" altLang="zh-CN" sz="2400" i="1" dirty="0" smtClean="0">
                        <a:latin typeface="Cambria Math" panose="02040503050406030204" pitchFamily="18" charset="0"/>
                      </a:rPr>
                      <m:t>𝑈</m:t>
                    </m:r>
                  </m:oMath>
                </a14:m>
                <a:r>
                  <a:rPr lang="en-US" altLang="zh-CN" sz="2400" dirty="0"/>
                  <a:t> and </a:t>
                </a:r>
                <a14:m>
                  <m:oMath xmlns:m="http://schemas.openxmlformats.org/officeDocument/2006/math">
                    <m:r>
                      <a:rPr lang="en-US" altLang="zh-CN" sz="2400" i="1" dirty="0" smtClean="0">
                        <a:latin typeface="Cambria Math" panose="02040503050406030204" pitchFamily="18" charset="0"/>
                      </a:rPr>
                      <m:t>𝑉</m:t>
                    </m:r>
                  </m:oMath>
                </a14:m>
                <a:r>
                  <a:rPr lang="en-US" altLang="zh-CN" sz="2400" dirty="0"/>
                  <a:t> have the same size, i.e., </a:t>
                </a:r>
                <a14:m>
                  <m:oMath xmlns:m="http://schemas.openxmlformats.org/officeDocument/2006/math">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𝑈</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𝑉</m:t>
                    </m:r>
                    <m:r>
                      <a:rPr lang="en-US" altLang="zh-CN" sz="2400" i="1" dirty="0" smtClean="0">
                        <a:latin typeface="Cambria Math" panose="02040503050406030204" pitchFamily="18" charset="0"/>
                      </a:rPr>
                      <m:t>|</m:t>
                    </m:r>
                  </m:oMath>
                </a14:m>
                <a:r>
                  <a:rPr lang="en-US" altLang="zh-CN" sz="2400" dirty="0"/>
                  <a:t>, if and only if there is a bijection function </a:t>
                </a:r>
                <a14:m>
                  <m:oMath xmlns:m="http://schemas.openxmlformats.org/officeDocument/2006/math">
                    <m:r>
                      <a:rPr lang="en-US" altLang="zh-CN" sz="2400" i="1" dirty="0" smtClean="0">
                        <a:latin typeface="Cambria Math" panose="02040503050406030204" pitchFamily="18" charset="0"/>
                      </a:rPr>
                      <m:t>𝑓</m:t>
                    </m:r>
                  </m:oMath>
                </a14:m>
                <a:r>
                  <a:rPr lang="en-US" altLang="zh-CN" sz="2400" dirty="0"/>
                  <a:t>  from </a:t>
                </a:r>
                <a14:m>
                  <m:oMath xmlns:m="http://schemas.openxmlformats.org/officeDocument/2006/math">
                    <m:r>
                      <a:rPr lang="en-US" altLang="zh-CN" sz="2400" i="1" dirty="0" smtClean="0">
                        <a:latin typeface="Cambria Math" panose="02040503050406030204" pitchFamily="18" charset="0"/>
                      </a:rPr>
                      <m:t>𝑈</m:t>
                    </m:r>
                  </m:oMath>
                </a14:m>
                <a:r>
                  <a:rPr lang="en-US" altLang="zh-CN" sz="2400" dirty="0"/>
                  <a:t> to</a:t>
                </a:r>
                <a:r>
                  <a:rPr lang="en-US" altLang="zh-CN" sz="2400" i="1" dirty="0"/>
                  <a:t> </a:t>
                </a:r>
                <a14:m>
                  <m:oMath xmlns:m="http://schemas.openxmlformats.org/officeDocument/2006/math">
                    <m:r>
                      <a:rPr lang="en-US" altLang="zh-CN" sz="2400" i="1" dirty="0" smtClean="0">
                        <a:latin typeface="Cambria Math" panose="02040503050406030204" pitchFamily="18" charset="0"/>
                      </a:rPr>
                      <m:t>𝑉</m:t>
                    </m:r>
                  </m:oMath>
                </a14:m>
                <a:r>
                  <a:rPr lang="en-US" altLang="zh-CN" sz="2400" i="1" dirty="0"/>
                  <a:t> </a:t>
                </a:r>
                <a:r>
                  <a:rPr lang="en-US" altLang="zh-CN" sz="2400" dirty="0"/>
                  <a:t>(i.e., one-to-one and onto)</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5181600"/>
              </a:xfrm>
              <a:blipFill>
                <a:blip r:embed="rId2"/>
                <a:stretch>
                  <a:fillRect l="-982" t="-9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title"/>
              </p:nvPr>
            </p:nvSpPr>
            <p:spPr>
              <a:xfrm>
                <a:off x="152400" y="274638"/>
                <a:ext cx="8839200" cy="715962"/>
              </a:xfrm>
            </p:spPr>
            <p:txBody>
              <a:bodyPr/>
              <a:lstStyle/>
              <a:p>
                <a:r>
                  <a:rPr lang="en-US" altLang="zh-CN" sz="3000" dirty="0">
                    <a:solidFill>
                      <a:schemeClr val="tx1"/>
                    </a:solidFill>
                  </a:rPr>
                  <a:t>Proof of </a:t>
                </a:r>
                <a14:m>
                  <m:oMath xmlns:m="http://schemas.openxmlformats.org/officeDocument/2006/math">
                    <m:r>
                      <a:rPr lang="en-US" altLang="zh-CN" sz="3200" i="1" dirty="0">
                        <a:latin typeface="Cambria Math" panose="02040503050406030204" pitchFamily="18" charset="0"/>
                      </a:rPr>
                      <m:t>𝐶</m:t>
                    </m:r>
                    <m:r>
                      <a:rPr lang="en-US" altLang="zh-CN" sz="3200" i="1" dirty="0">
                        <a:latin typeface="Cambria Math" panose="02040503050406030204" pitchFamily="18" charset="0"/>
                      </a:rPr>
                      <m:t>(</m:t>
                    </m:r>
                    <m:r>
                      <a:rPr lang="en-US" altLang="zh-CN" sz="3200" i="1" dirty="0">
                        <a:latin typeface="Cambria Math" panose="02040503050406030204" pitchFamily="18" charset="0"/>
                      </a:rPr>
                      <m:t>𝑛</m:t>
                    </m:r>
                    <m:r>
                      <a:rPr lang="en-US" altLang="zh-CN" sz="3200" i="1" dirty="0">
                        <a:latin typeface="Cambria Math" panose="02040503050406030204" pitchFamily="18" charset="0"/>
                      </a:rPr>
                      <m:t>, </m:t>
                    </m:r>
                    <m:r>
                      <a:rPr lang="en-US" altLang="zh-CN" sz="3200" i="1" dirty="0">
                        <a:latin typeface="Cambria Math" panose="02040503050406030204" pitchFamily="18" charset="0"/>
                      </a:rPr>
                      <m:t>𝑘</m:t>
                    </m:r>
                    <m:r>
                      <a:rPr lang="en-US" altLang="zh-CN" sz="3200" i="1" dirty="0">
                        <a:latin typeface="Cambria Math" panose="02040503050406030204" pitchFamily="18" charset="0"/>
                      </a:rPr>
                      <m:t>) = </m:t>
                    </m:r>
                    <m:r>
                      <a:rPr lang="en-US" altLang="zh-CN" sz="3200" i="1" dirty="0">
                        <a:latin typeface="Cambria Math" panose="02040503050406030204" pitchFamily="18" charset="0"/>
                      </a:rPr>
                      <m:t>𝐶</m:t>
                    </m:r>
                    <m:r>
                      <a:rPr lang="en-US" altLang="zh-CN" sz="3200" i="1" dirty="0">
                        <a:latin typeface="Cambria Math" panose="02040503050406030204" pitchFamily="18" charset="0"/>
                      </a:rPr>
                      <m:t>(</m:t>
                    </m:r>
                    <m:r>
                      <a:rPr lang="en-US" altLang="zh-CN" sz="3200" i="1" dirty="0">
                        <a:latin typeface="Cambria Math" panose="02040503050406030204" pitchFamily="18" charset="0"/>
                      </a:rPr>
                      <m:t>𝑛</m:t>
                    </m:r>
                    <m:r>
                      <a:rPr lang="en-US" altLang="zh-CN" sz="3200" i="1" dirty="0">
                        <a:latin typeface="Cambria Math" panose="02040503050406030204" pitchFamily="18" charset="0"/>
                      </a:rPr>
                      <m:t>, </m:t>
                    </m:r>
                    <m:r>
                      <a:rPr lang="en-US" altLang="zh-CN" sz="3200" i="1" dirty="0">
                        <a:latin typeface="Cambria Math" panose="02040503050406030204" pitchFamily="18" charset="0"/>
                      </a:rPr>
                      <m:t>𝑛</m:t>
                    </m:r>
                    <m:r>
                      <a:rPr lang="en-US" altLang="zh-CN" sz="3200" i="1" dirty="0">
                        <a:latin typeface="Cambria Math" panose="02040503050406030204" pitchFamily="18" charset="0"/>
                      </a:rPr>
                      <m:t>−</m:t>
                    </m:r>
                    <m:r>
                      <a:rPr lang="en-US" altLang="zh-CN" sz="3200" i="1" dirty="0">
                        <a:latin typeface="Cambria Math" panose="02040503050406030204" pitchFamily="18" charset="0"/>
                      </a:rPr>
                      <m:t>𝑘</m:t>
                    </m:r>
                    <m:r>
                      <a:rPr lang="en-US" altLang="zh-CN" sz="3200" i="1" dirty="0">
                        <a:latin typeface="Cambria Math" panose="02040503050406030204" pitchFamily="18" charset="0"/>
                      </a:rPr>
                      <m:t>)</m:t>
                    </m:r>
                  </m:oMath>
                </a14:m>
                <a:r>
                  <a:rPr lang="en-US" altLang="zh-CN" sz="3000" dirty="0">
                    <a:solidFill>
                      <a:schemeClr val="tx1"/>
                    </a:solidFill>
                  </a:rPr>
                  <a:t> by Bijection Principle</a:t>
                </a:r>
                <a:endParaRPr lang="zh-CN" altLang="en-US" sz="3000" dirty="0">
                  <a:solidFill>
                    <a:schemeClr val="tx1"/>
                  </a:solidFill>
                </a:endParaRPr>
              </a:p>
            </p:txBody>
          </p:sp>
        </mc:Choice>
        <mc:Fallback xmlns="">
          <p:sp>
            <p:nvSpPr>
              <p:cNvPr id="2" name="标题 1"/>
              <p:cNvSpPr>
                <a:spLocks noGrp="1" noRot="1" noChangeAspect="1" noMove="1" noResize="1" noEditPoints="1" noAdjustHandles="1" noChangeArrowheads="1" noChangeShapeType="1" noTextEdit="1"/>
              </p:cNvSpPr>
              <p:nvPr>
                <p:ph type="title"/>
              </p:nvPr>
            </p:nvSpPr>
            <p:spPr>
              <a:xfrm>
                <a:off x="152400" y="274638"/>
                <a:ext cx="8839200" cy="715962"/>
              </a:xfrm>
              <a:blipFill>
                <a:blip r:embed="rId2"/>
                <a:stretch>
                  <a:fillRect l="-1586" t="-30508" b="-47458"/>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600200"/>
                <a:ext cx="8686800" cy="5181600"/>
              </a:xfrm>
            </p:spPr>
            <p:txBody>
              <a:bodyPr/>
              <a:lstStyle/>
              <a:p>
                <a:r>
                  <a:rPr lang="en-US" altLang="zh-CN" sz="2400" dirty="0"/>
                  <a:t>Suppose </a:t>
                </a:r>
                <a:r>
                  <a:rPr lang="en-US" altLang="zh-CN" sz="2400" i="1" dirty="0"/>
                  <a:t>S</a:t>
                </a:r>
                <a:r>
                  <a:rPr lang="en-US" altLang="zh-CN" sz="2400" dirty="0"/>
                  <a:t> is a set with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distinct elements.</a:t>
                </a:r>
                <a:br>
                  <a:rPr lang="en-US" altLang="zh-CN" sz="2400" dirty="0"/>
                </a:br>
                <a:r>
                  <a:rPr lang="en-US" altLang="zh-CN" sz="2400" dirty="0"/>
                  <a:t>Every subset </a:t>
                </a:r>
                <a:r>
                  <a:rPr lang="en-US" altLang="zh-CN" sz="2400" i="1" dirty="0"/>
                  <a:t>A</a:t>
                </a:r>
                <a:r>
                  <a:rPr lang="en-US" altLang="zh-CN" sz="2400" dirty="0"/>
                  <a:t> of </a:t>
                </a:r>
                <a:r>
                  <a:rPr lang="en-US" altLang="zh-CN" sz="2400" i="1" dirty="0"/>
                  <a:t>S</a:t>
                </a:r>
                <a:r>
                  <a:rPr lang="en-US" altLang="zh-CN" sz="2400" dirty="0"/>
                  <a:t> with </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𝑛</m:t>
                    </m:r>
                  </m:oMath>
                </a14:m>
                <a:r>
                  <a:rPr lang="en-US" altLang="zh-CN" sz="2400" dirty="0"/>
                  <a:t> elements corresponds to the subset </a:t>
                </a:r>
                <a:r>
                  <a:rPr lang="en-US" altLang="zh-CN" sz="2400" i="1" dirty="0"/>
                  <a:t>A</a:t>
                </a:r>
                <a:r>
                  <a:rPr lang="en-US" altLang="zh-CN" sz="2400" dirty="0"/>
                  <a:t>'=</a:t>
                </a:r>
                <a14:m>
                  <m:oMath xmlns:m="http://schemas.openxmlformats.org/officeDocument/2006/math">
                    <m:r>
                      <a:rPr lang="en-US" altLang="zh-CN" sz="2400" b="0" i="1" smtClean="0">
                        <a:latin typeface="Cambria Math" panose="02040503050406030204" pitchFamily="18" charset="0"/>
                      </a:rPr>
                      <m:t>𝑆</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oMath>
                </a14:m>
                <a:r>
                  <a:rPr lang="en-US" altLang="zh-CN" sz="2400" dirty="0"/>
                  <a:t> of </a:t>
                </a:r>
                <a:r>
                  <a:rPr lang="en-US" altLang="zh-CN" sz="2400" i="1" dirty="0"/>
                  <a:t>S</a:t>
                </a:r>
                <a:r>
                  <a:rPr lang="en-US" altLang="zh-CN" sz="2400" dirty="0"/>
                  <a:t> with </a:t>
                </a:r>
                <a14:m>
                  <m:oMath xmlns:m="http://schemas.openxmlformats.org/officeDocument/2006/math">
                    <m:r>
                      <a:rPr lang="en-US" altLang="zh-CN" sz="2400" b="0" i="1" smtClean="0">
                        <a:latin typeface="Cambria Math" panose="02040503050406030204" pitchFamily="18" charset="0"/>
                      </a:rPr>
                      <m:t>𝑛</m:t>
                    </m:r>
                    <m:r>
                      <a:rPr lang="en-US" altLang="zh-CN" sz="2400" i="1">
                        <a:latin typeface="Cambria Math" panose="02040503050406030204" pitchFamily="18" charset="0"/>
                      </a:rPr>
                      <m:t>−</m:t>
                    </m:r>
                    <m:r>
                      <a:rPr lang="en-US" altLang="zh-CN" sz="2400" b="0" i="1" smtClean="0">
                        <a:latin typeface="Cambria Math" panose="02040503050406030204" pitchFamily="18" charset="0"/>
                      </a:rPr>
                      <m:t>𝑘</m:t>
                    </m:r>
                  </m:oMath>
                </a14:m>
                <a:r>
                  <a:rPr lang="en-US" altLang="zh-CN" sz="2400" dirty="0"/>
                  <a:t> elements. Therefore, the function that maps </a:t>
                </a:r>
                <a:r>
                  <a:rPr lang="en-US" altLang="zh-CN" i="1" dirty="0"/>
                  <a:t>A</a:t>
                </a:r>
                <a:r>
                  <a:rPr lang="en-US" altLang="zh-CN" sz="2400" dirty="0"/>
                  <a:t> to </a:t>
                </a:r>
                <a:r>
                  <a:rPr lang="en-US" altLang="zh-CN" i="1" dirty="0"/>
                  <a:t>A</a:t>
                </a:r>
                <a:r>
                  <a:rPr lang="en-US" altLang="zh-CN" dirty="0"/>
                  <a:t>' is a bijection </a:t>
                </a:r>
                <a:r>
                  <a:rPr lang="en-US" altLang="zh-CN" sz="2400" dirty="0"/>
                  <a:t>Consequently, the number of subsets of </a:t>
                </a:r>
                <a:r>
                  <a:rPr lang="en-US" altLang="zh-CN" i="1" dirty="0"/>
                  <a:t>S </a:t>
                </a:r>
                <a:r>
                  <a:rPr lang="en-US" altLang="zh-CN" dirty="0"/>
                  <a:t>with</a:t>
                </a:r>
                <a:r>
                  <a:rPr lang="en-US" altLang="zh-CN" i="1" dirty="0"/>
                  <a:t> </a:t>
                </a:r>
                <a14:m>
                  <m:oMath xmlns:m="http://schemas.openxmlformats.org/officeDocument/2006/math">
                    <m:r>
                      <a:rPr lang="en-US" altLang="zh-CN" i="1">
                        <a:latin typeface="Cambria Math" panose="02040503050406030204" pitchFamily="18" charset="0"/>
                      </a:rPr>
                      <m:t>𝑘</m:t>
                    </m:r>
                  </m:oMath>
                </a14:m>
                <a:r>
                  <a:rPr lang="en-US" altLang="zh-CN" sz="2400" dirty="0"/>
                  <a:t> elements is the same as th</a:t>
                </a:r>
                <a:r>
                  <a:rPr lang="en-US" altLang="zh-CN" dirty="0"/>
                  <a:t>e number of subsets of S with </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𝑘</m:t>
                    </m:r>
                  </m:oMath>
                </a14:m>
                <a:r>
                  <a:rPr lang="en-US" altLang="zh-CN" dirty="0"/>
                  <a:t> elements. The former can be counted by </a:t>
                </a:r>
                <a14:m>
                  <m:oMath xmlns:m="http://schemas.openxmlformats.org/officeDocument/2006/math">
                    <m:r>
                      <a:rPr lang="en-US" altLang="zh-CN" i="1" dirty="0">
                        <a:latin typeface="Cambria Math" panose="02040503050406030204" pitchFamily="18" charset="0"/>
                      </a:rPr>
                      <m:t>𝐶</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𝑛</m:t>
                        </m:r>
                        <m:r>
                          <a:rPr lang="en-US" altLang="zh-CN" i="1" dirty="0">
                            <a:latin typeface="Cambria Math" panose="02040503050406030204" pitchFamily="18" charset="0"/>
                          </a:rPr>
                          <m:t>, </m:t>
                        </m:r>
                        <m:r>
                          <a:rPr lang="en-US" altLang="zh-CN" i="1" dirty="0">
                            <a:latin typeface="Cambria Math" panose="02040503050406030204" pitchFamily="18" charset="0"/>
                          </a:rPr>
                          <m:t>𝑘</m:t>
                        </m:r>
                      </m:e>
                    </m:d>
                    <m:r>
                      <a:rPr lang="en-US" altLang="zh-CN" b="0" i="1" dirty="0" smtClean="0">
                        <a:latin typeface="Cambria Math" panose="02040503050406030204" pitchFamily="18" charset="0"/>
                      </a:rPr>
                      <m:t> </m:t>
                    </m:r>
                  </m:oMath>
                </a14:m>
                <a:r>
                  <a:rPr lang="en-US" altLang="zh-CN" dirty="0"/>
                  <a:t>and the latter by </a:t>
                </a:r>
                <a14:m>
                  <m:oMath xmlns:m="http://schemas.openxmlformats.org/officeDocument/2006/math">
                    <m:r>
                      <a:rPr lang="en-US" altLang="zh-CN" i="1" dirty="0">
                        <a:latin typeface="Cambria Math" panose="02040503050406030204" pitchFamily="18" charset="0"/>
                      </a:rPr>
                      <m:t>𝐶</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 </m:t>
                    </m:r>
                    <m:r>
                      <a:rPr lang="en-US" altLang="zh-CN" i="1" dirty="0">
                        <a:latin typeface="Cambria Math" panose="02040503050406030204" pitchFamily="18" charset="0"/>
                      </a:rPr>
                      <m:t>𝑛</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m:t>
                    </m:r>
                  </m:oMath>
                </a14:m>
                <a:r>
                  <a:rPr lang="en-US" altLang="zh-CN" dirty="0"/>
                  <a:t>.</a:t>
                </a:r>
              </a:p>
              <a:p>
                <a:pPr marL="0" indent="0">
                  <a:buNone/>
                </a:pPr>
                <a:r>
                  <a:rPr lang="en-US" altLang="zh-CN" dirty="0"/>
                  <a:t>    </a:t>
                </a:r>
              </a:p>
              <a:p>
                <a:pPr marL="0" indent="0">
                  <a:buNone/>
                </a:pPr>
                <a:r>
                  <a:rPr lang="en-US" altLang="zh-CN" sz="2400" dirty="0"/>
                  <a:t>    </a:t>
                </a:r>
                <a:r>
                  <a:rPr lang="pt-BR" altLang="zh-CN" sz="2400" dirty="0" err="1"/>
                  <a:t>Consequently</a:t>
                </a:r>
                <a:r>
                  <a:rPr lang="pt-BR" altLang="zh-CN" sz="2400" dirty="0"/>
                  <a:t>, </a:t>
                </a:r>
                <a14:m>
                  <m:oMath xmlns:m="http://schemas.openxmlformats.org/officeDocument/2006/math">
                    <m:r>
                      <a:rPr lang="en-US" altLang="zh-CN" sz="2400" i="1" dirty="0" smtClean="0">
                        <a:latin typeface="Cambria Math" panose="02040503050406030204" pitchFamily="18" charset="0"/>
                      </a:rPr>
                      <m:t>𝐶</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𝑘</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𝐶</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𝑘</m:t>
                    </m:r>
                    <m:r>
                      <a:rPr lang="en-US" altLang="zh-CN" sz="2400" i="1" dirty="0" smtClean="0">
                        <a:latin typeface="Cambria Math" panose="02040503050406030204" pitchFamily="18" charset="0"/>
                      </a:rPr>
                      <m:t>)</m:t>
                    </m:r>
                  </m:oMath>
                </a14:m>
                <a:r>
                  <a:rPr lang="en-US" altLang="zh-CN" sz="2400"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600200"/>
                <a:ext cx="8686800" cy="5181600"/>
              </a:xfrm>
              <a:blipFill>
                <a:blip r:embed="rId3"/>
                <a:stretch>
                  <a:fillRect l="-982" t="-824" r="-112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30</a:t>
            </a:fld>
            <a:endParaRPr lang="en-US"/>
          </a:p>
        </p:txBody>
      </p:sp>
    </p:spTree>
    <p:extLst>
      <p:ext uri="{BB962C8B-B14F-4D97-AF65-F5344CB8AC3E}">
        <p14:creationId xmlns:p14="http://schemas.microsoft.com/office/powerpoint/2010/main" val="176525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Example by Bijection Principle</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04800" y="1099457"/>
                <a:ext cx="8686800" cy="5257800"/>
              </a:xfrm>
            </p:spPr>
            <p:txBody>
              <a:bodyPr/>
              <a:lstStyle/>
              <a:p>
                <a:r>
                  <a:rPr lang="en-US" altLang="zh-CN" dirty="0"/>
                  <a:t>How many bit strings of length </a:t>
                </a:r>
                <a:r>
                  <a:rPr lang="en-US" altLang="zh-CN" i="1" dirty="0"/>
                  <a:t>n</a:t>
                </a:r>
                <a:r>
                  <a:rPr lang="en-US" altLang="zh-CN" dirty="0"/>
                  <a:t>, contain exactly </a:t>
                </a:r>
                <a:r>
                  <a:rPr lang="en-US" altLang="zh-CN" i="1" dirty="0"/>
                  <a:t>k</a:t>
                </a:r>
                <a:r>
                  <a:rPr lang="en-US" altLang="zh-CN" dirty="0"/>
                  <a:t> 1s?</a:t>
                </a:r>
              </a:p>
              <a:p>
                <a:r>
                  <a:rPr lang="en-US" altLang="zh-CN" b="1" dirty="0">
                    <a:solidFill>
                      <a:srgbClr val="0000FF"/>
                    </a:solidFill>
                  </a:rPr>
                  <a:t>Solution</a:t>
                </a:r>
                <a:br>
                  <a:rPr lang="en-US" altLang="zh-CN" b="1" dirty="0">
                    <a:solidFill>
                      <a:srgbClr val="0000FF"/>
                    </a:solidFill>
                  </a:rPr>
                </a:br>
                <a14:m>
                  <m:oMath xmlns:m="http://schemas.openxmlformats.org/officeDocument/2006/math">
                    <m:r>
                      <a:rPr lang="en-US" altLang="zh-CN" i="1" dirty="0">
                        <a:latin typeface="Cambria Math" panose="02040503050406030204" pitchFamily="18" charset="0"/>
                      </a:rPr>
                      <m:t>𝐶</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m:t>
                    </m:r>
                  </m:oMath>
                </a14:m>
                <a:r>
                  <a:rPr lang="en-US" altLang="zh-CN" dirty="0"/>
                  <a:t>. </a:t>
                </a:r>
              </a:p>
              <a:p>
                <a:r>
                  <a:rPr lang="en-US" altLang="zh-CN" dirty="0"/>
                  <a:t>How many subsets of a set S with </a:t>
                </a:r>
                <a:r>
                  <a:rPr lang="en-US" altLang="zh-CN" i="1" dirty="0"/>
                  <a:t>n</a:t>
                </a:r>
                <a:r>
                  <a:rPr lang="en-US" altLang="zh-CN" dirty="0"/>
                  <a:t> elements, contain exactly </a:t>
                </a:r>
                <a:r>
                  <a:rPr lang="en-US" altLang="zh-CN" i="1" dirty="0"/>
                  <a:t>k</a:t>
                </a:r>
                <a:r>
                  <a:rPr lang="en-US" altLang="zh-CN" dirty="0"/>
                  <a:t> elements?</a:t>
                </a:r>
              </a:p>
              <a:p>
                <a:r>
                  <a:rPr lang="en-US" altLang="zh-CN" b="1" dirty="0">
                    <a:solidFill>
                      <a:srgbClr val="0000FF"/>
                    </a:solidFill>
                  </a:rPr>
                  <a:t>Solution</a:t>
                </a:r>
                <a:br>
                  <a:rPr lang="en-US" altLang="zh-CN" b="1" dirty="0">
                    <a:solidFill>
                      <a:srgbClr val="0000FF"/>
                    </a:solidFill>
                  </a:rPr>
                </a:br>
                <a:r>
                  <a:rPr lang="en-US" altLang="zh-CN" dirty="0"/>
                  <a:t>We have already seen that there is a 1:1 correspondence between the </a:t>
                </a:r>
                <a:r>
                  <a:rPr lang="en-US" altLang="zh-CN" dirty="0">
                    <a:solidFill>
                      <a:srgbClr val="FF0000"/>
                    </a:solidFill>
                  </a:rPr>
                  <a:t>subsets of </a:t>
                </a:r>
                <a:r>
                  <a:rPr lang="en-US" altLang="zh-CN" i="1" dirty="0">
                    <a:solidFill>
                      <a:srgbClr val="FF0000"/>
                    </a:solidFill>
                  </a:rPr>
                  <a:t>k</a:t>
                </a:r>
                <a:r>
                  <a:rPr lang="en-US" altLang="zh-CN" dirty="0">
                    <a:solidFill>
                      <a:srgbClr val="FF0000"/>
                    </a:solidFill>
                  </a:rPr>
                  <a:t> elements of a set </a:t>
                </a:r>
                <a:r>
                  <a:rPr lang="en-US" altLang="zh-CN" i="1" dirty="0">
                    <a:solidFill>
                      <a:srgbClr val="FF0000"/>
                    </a:solidFill>
                  </a:rPr>
                  <a:t>S</a:t>
                </a:r>
                <a:r>
                  <a:rPr lang="en-US" altLang="zh-CN" dirty="0">
                    <a:solidFill>
                      <a:srgbClr val="FF0000"/>
                    </a:solidFill>
                  </a:rPr>
                  <a:t> with cardinality </a:t>
                </a:r>
                <a:r>
                  <a:rPr lang="en-US" altLang="zh-CN" i="1" dirty="0">
                    <a:solidFill>
                      <a:srgbClr val="FF0000"/>
                    </a:solidFill>
                  </a:rPr>
                  <a:t>n</a:t>
                </a:r>
                <a:r>
                  <a:rPr lang="en-US" altLang="zh-CN" dirty="0"/>
                  <a:t>, with the </a:t>
                </a:r>
                <a:r>
                  <a:rPr lang="en-US" altLang="zh-CN" dirty="0">
                    <a:solidFill>
                      <a:srgbClr val="0000FF"/>
                    </a:solidFill>
                  </a:rPr>
                  <a:t>bit strings of length </a:t>
                </a:r>
                <a:r>
                  <a:rPr lang="en-US" altLang="zh-CN" i="1" dirty="0">
                    <a:solidFill>
                      <a:srgbClr val="0000FF"/>
                    </a:solidFill>
                  </a:rPr>
                  <a:t>n</a:t>
                </a:r>
                <a:r>
                  <a:rPr lang="en-US" altLang="zh-CN" dirty="0">
                    <a:solidFill>
                      <a:srgbClr val="0000FF"/>
                    </a:solidFill>
                  </a:rPr>
                  <a:t> that contain exactly </a:t>
                </a:r>
                <a:r>
                  <a:rPr lang="en-US" altLang="zh-CN" i="1" dirty="0">
                    <a:solidFill>
                      <a:srgbClr val="0000FF"/>
                    </a:solidFill>
                  </a:rPr>
                  <a:t>k</a:t>
                </a:r>
                <a:r>
                  <a:rPr lang="en-US" altLang="zh-CN" dirty="0">
                    <a:solidFill>
                      <a:srgbClr val="0000FF"/>
                    </a:solidFill>
                  </a:rPr>
                  <a:t> 1s</a:t>
                </a:r>
                <a:r>
                  <a:rPr lang="en-US" altLang="zh-CN" dirty="0"/>
                  <a:t>. Thus, the answer is the same as the first question </a:t>
                </a:r>
                <a14:m>
                  <m:oMath xmlns:m="http://schemas.openxmlformats.org/officeDocument/2006/math">
                    <m:r>
                      <a:rPr lang="en-US" altLang="zh-CN" i="1" dirty="0">
                        <a:latin typeface="Cambria Math" panose="02040503050406030204" pitchFamily="18" charset="0"/>
                      </a:rPr>
                      <m:t>𝐶</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m:t>
                    </m:r>
                  </m:oMath>
                </a14:m>
                <a:r>
                  <a:rPr lang="en-US" altLang="zh-CN" dirty="0"/>
                  <a:t>.</a:t>
                </a:r>
                <a:endParaRPr lang="en-US" altLang="zh-CN" dirty="0">
                  <a:solidFill>
                    <a:srgbClr val="0000FF"/>
                  </a:solidFill>
                </a:endParaRPr>
              </a:p>
              <a:p>
                <a:pPr marL="0" indent="0" algn="just">
                  <a:buNone/>
                </a:pPr>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04800" y="1099457"/>
                <a:ext cx="8686800" cy="5257800"/>
              </a:xfrm>
              <a:blipFill>
                <a:blip r:embed="rId2"/>
                <a:stretch>
                  <a:fillRect l="-912" t="-811" r="-84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31</a:t>
            </a:fld>
            <a:endParaRPr lang="en-US"/>
          </a:p>
        </p:txBody>
      </p:sp>
    </p:spTree>
    <p:extLst>
      <p:ext uri="{BB962C8B-B14F-4D97-AF65-F5344CB8AC3E}">
        <p14:creationId xmlns:p14="http://schemas.microsoft.com/office/powerpoint/2010/main" val="135927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None/>
            </a:pPr>
            <a:r>
              <a:rPr lang="en-US" altLang="zh-CN" sz="3200" dirty="0">
                <a:sym typeface="Symbol"/>
              </a:rPr>
              <a:t>The Playoff Example (solved using tree diagrams in previous lecture)</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04800" y="1523999"/>
                <a:ext cx="8686800" cy="4833257"/>
              </a:xfrm>
            </p:spPr>
            <p:txBody>
              <a:bodyPr/>
              <a:lstStyle/>
              <a:p>
                <a:pPr marL="0" indent="0">
                  <a:buNone/>
                </a:pPr>
                <a:r>
                  <a:rPr lang="en-US" altLang="zh-CN" sz="2000">
                    <a:sym typeface="Symbol"/>
                  </a:rPr>
                  <a:t>Two teams A and B </a:t>
                </a:r>
                <a:r>
                  <a:rPr lang="en-US" altLang="zh-CN" sz="2000" dirty="0">
                    <a:sym typeface="Symbol"/>
                  </a:rPr>
                  <a:t>play a play-off series. Whoever wins 3 games becomes champion; there are no ties. How many possible outcomes exist for team A to become the champion?</a:t>
                </a:r>
              </a:p>
              <a:p>
                <a:r>
                  <a:rPr lang="en-US" altLang="zh-CN" sz="2000" dirty="0">
                    <a:sym typeface="Symbol"/>
                  </a:rPr>
                  <a:t>The output can be represented as a bit string with up to 5 bits, where each bit corresponds to a game.</a:t>
                </a:r>
              </a:p>
              <a:p>
                <a:r>
                  <a:rPr lang="en-US" altLang="zh-CN" sz="2000" dirty="0">
                    <a:sym typeface="Symbol"/>
                  </a:rPr>
                  <a:t>1 for some bit means that team A won the game. 0 means that team B won the game. There are no ties.</a:t>
                </a:r>
              </a:p>
              <a:p>
                <a:r>
                  <a:rPr lang="en-US" altLang="zh-CN" sz="2000" dirty="0">
                    <a:sym typeface="Symbol"/>
                  </a:rPr>
                  <a:t>Total ways for A to win = number of bit strings that contain three 1s: </a:t>
                </a:r>
                <a14:m>
                  <m:oMath xmlns:m="http://schemas.openxmlformats.org/officeDocument/2006/math">
                    <m:r>
                      <a:rPr lang="en-US" altLang="zh-CN" sz="2000" i="1" dirty="0">
                        <a:latin typeface="Cambria Math" panose="02040503050406030204" pitchFamily="18" charset="0"/>
                      </a:rPr>
                      <m:t>𝐶</m:t>
                    </m:r>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5</m:t>
                        </m:r>
                        <m:r>
                          <a:rPr lang="en-US" altLang="zh-CN" sz="2000" i="1" dirty="0">
                            <a:latin typeface="Cambria Math" panose="02040503050406030204" pitchFamily="18" charset="0"/>
                          </a:rPr>
                          <m:t>, </m:t>
                        </m:r>
                        <m:r>
                          <a:rPr lang="en-US" altLang="zh-CN" sz="2000" b="0" i="1" dirty="0" smtClean="0">
                            <a:latin typeface="Cambria Math" panose="02040503050406030204" pitchFamily="18" charset="0"/>
                          </a:rPr>
                          <m:t>3</m:t>
                        </m:r>
                      </m:e>
                    </m:d>
                    <m:r>
                      <a:rPr lang="en-US" altLang="zh-CN" sz="2000" b="0" i="1" dirty="0" smtClean="0">
                        <a:latin typeface="Cambria Math" panose="02040503050406030204" pitchFamily="18" charset="0"/>
                      </a:rPr>
                      <m:t>=10.</m:t>
                    </m:r>
                  </m:oMath>
                </a14:m>
                <a:endParaRPr lang="en-US" altLang="zh-CN" sz="2000" b="0" dirty="0"/>
              </a:p>
              <a:p>
                <a:r>
                  <a:rPr lang="en-US" altLang="zh-CN" sz="2000" dirty="0">
                    <a:sym typeface="Symbol"/>
                  </a:rPr>
                  <a:t>Total ways for B to win = number of bit strings that contain three 0s: </a:t>
                </a:r>
                <a14:m>
                  <m:oMath xmlns:m="http://schemas.openxmlformats.org/officeDocument/2006/math">
                    <m:r>
                      <a:rPr lang="en-US" altLang="zh-CN" sz="2000" i="1" dirty="0">
                        <a:latin typeface="Cambria Math" panose="02040503050406030204" pitchFamily="18" charset="0"/>
                      </a:rPr>
                      <m:t>𝐶</m:t>
                    </m:r>
                    <m:d>
                      <m:dPr>
                        <m:ctrlPr>
                          <a:rPr lang="en-US" altLang="zh-CN" sz="2000" i="1" dirty="0">
                            <a:latin typeface="Cambria Math" panose="02040503050406030204" pitchFamily="18" charset="0"/>
                          </a:rPr>
                        </m:ctrlPr>
                      </m:dPr>
                      <m:e>
                        <m:r>
                          <a:rPr lang="en-US" altLang="zh-CN" sz="2000" i="1" dirty="0">
                            <a:latin typeface="Cambria Math" panose="02040503050406030204" pitchFamily="18" charset="0"/>
                          </a:rPr>
                          <m:t>5, 3</m:t>
                        </m:r>
                      </m:e>
                    </m:d>
                    <m:r>
                      <a:rPr lang="en-US" altLang="zh-CN" sz="2000" i="1" dirty="0">
                        <a:latin typeface="Cambria Math" panose="02040503050406030204" pitchFamily="18" charset="0"/>
                      </a:rPr>
                      <m:t>=10. </m:t>
                    </m:r>
                  </m:oMath>
                </a14:m>
                <a:endParaRPr lang="en-US" altLang="zh-CN" sz="2000" dirty="0"/>
              </a:p>
              <a:p>
                <a:r>
                  <a:rPr lang="en-US" altLang="zh-CN" sz="2000" dirty="0"/>
                  <a:t>Total ways for series</a:t>
                </a:r>
                <a14:m>
                  <m:oMath xmlns:m="http://schemas.openxmlformats.org/officeDocument/2006/math">
                    <m:r>
                      <a:rPr lang="en-US" altLang="zh-CN" sz="2000" i="1" dirty="0">
                        <a:latin typeface="Cambria Math" panose="02040503050406030204" pitchFamily="18" charset="0"/>
                      </a:rPr>
                      <m:t>=10</m:t>
                    </m:r>
                    <m:r>
                      <a:rPr lang="en-US" altLang="zh-CN" sz="2000" b="0" i="1" dirty="0" smtClean="0">
                        <a:latin typeface="Cambria Math" panose="02040503050406030204" pitchFamily="18" charset="0"/>
                      </a:rPr>
                      <m:t>+10=20</m:t>
                    </m:r>
                    <m:r>
                      <a:rPr lang="en-US" altLang="zh-CN" sz="2000" i="1" dirty="0">
                        <a:latin typeface="Cambria Math" panose="02040503050406030204" pitchFamily="18" charset="0"/>
                      </a:rPr>
                      <m:t>.</m:t>
                    </m:r>
                  </m:oMath>
                </a14:m>
                <a:endParaRPr lang="en-US" altLang="zh-CN" sz="2200" dirty="0"/>
              </a:p>
              <a:p>
                <a:r>
                  <a:rPr lang="en-US" altLang="zh-CN" sz="2000" dirty="0"/>
                  <a:t>Observation: There cannot be a bit string of length 5 that contains both three 1s and three 0s </a:t>
                </a:r>
              </a:p>
              <a:p>
                <a:pPr marL="0" indent="0" algn="just">
                  <a:buNone/>
                </a:pPr>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04800" y="1523999"/>
                <a:ext cx="8686800" cy="4833257"/>
              </a:xfrm>
              <a:blipFill>
                <a:blip r:embed="rId2"/>
                <a:stretch>
                  <a:fillRect l="-702" t="-631" r="-421"/>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32</a:t>
            </a:fld>
            <a:endParaRPr lang="en-US"/>
          </a:p>
        </p:txBody>
      </p:sp>
    </p:spTree>
    <p:extLst>
      <p:ext uri="{BB962C8B-B14F-4D97-AF65-F5344CB8AC3E}">
        <p14:creationId xmlns:p14="http://schemas.microsoft.com/office/powerpoint/2010/main" val="157897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Exercise</a:t>
            </a:r>
            <a:r>
              <a:rPr lang="en-US" dirty="0"/>
              <a:t> on Coin Flipping</a:t>
            </a:r>
          </a:p>
        </p:txBody>
      </p:sp>
      <p:sp>
        <p:nvSpPr>
          <p:cNvPr id="3" name="Content Placeholder 2"/>
          <p:cNvSpPr>
            <a:spLocks noGrp="1"/>
          </p:cNvSpPr>
          <p:nvPr>
            <p:ph idx="1"/>
          </p:nvPr>
        </p:nvSpPr>
        <p:spPr>
          <a:xfrm>
            <a:off x="0" y="990600"/>
            <a:ext cx="8763000" cy="5181600"/>
          </a:xfrm>
        </p:spPr>
        <p:txBody>
          <a:bodyPr/>
          <a:lstStyle/>
          <a:p>
            <a:pPr lvl="0"/>
            <a:r>
              <a:rPr lang="en-US" sz="1800" dirty="0"/>
              <a:t>How many ways are there to repeatedly flip a coin </a:t>
            </a:r>
            <a:r>
              <a:rPr lang="en-US" sz="1800" dirty="0">
                <a:solidFill>
                  <a:srgbClr val="FF0000"/>
                </a:solidFill>
              </a:rPr>
              <a:t>until the number of tails is more than the number of heads</a:t>
            </a:r>
            <a:r>
              <a:rPr lang="en-US" sz="1800" dirty="0"/>
              <a:t> or </a:t>
            </a:r>
            <a:r>
              <a:rPr lang="en-US" sz="1800" dirty="0">
                <a:solidFill>
                  <a:srgbClr val="FF0000"/>
                </a:solidFill>
              </a:rPr>
              <a:t>the coin is flipped for five times</a:t>
            </a:r>
            <a:r>
              <a:rPr lang="en-US" sz="1800" dirty="0"/>
              <a:t>?  </a:t>
            </a:r>
            <a:r>
              <a:rPr lang="en-US" sz="1800" i="1" dirty="0"/>
              <a:t>Example 1</a:t>
            </a:r>
            <a:r>
              <a:rPr lang="en-US" sz="1800" dirty="0"/>
              <a:t>: The first flip is head, the second flip is tail and the third flip is tail. No fourth flip. </a:t>
            </a:r>
            <a:r>
              <a:rPr lang="en-US" sz="1800" i="1" dirty="0"/>
              <a:t>Example 2</a:t>
            </a:r>
            <a:r>
              <a:rPr lang="en-US" sz="1800" dirty="0"/>
              <a:t>: All the five flips are head. </a:t>
            </a:r>
          </a:p>
          <a:p>
            <a:r>
              <a:rPr lang="en-US" sz="1800" dirty="0">
                <a:solidFill>
                  <a:srgbClr val="0000FF"/>
                </a:solidFill>
              </a:rPr>
              <a:t>Solution: </a:t>
            </a:r>
          </a:p>
          <a:p>
            <a:r>
              <a:rPr lang="en-US" sz="1800" dirty="0"/>
              <a:t>There are 2</a:t>
            </a:r>
            <a:r>
              <a:rPr lang="en-US" sz="1800" baseline="30000" dirty="0"/>
              <a:t>5</a:t>
            </a:r>
            <a:r>
              <a:rPr lang="en-US" sz="1800" dirty="0"/>
              <a:t> =32 bit-strings of length 5. Let 1 denote tails. </a:t>
            </a:r>
          </a:p>
          <a:p>
            <a:r>
              <a:rPr lang="en-US" sz="1800" dirty="0"/>
              <a:t>If the first flip is a tail you stop the experiment – i.e., you exclude 2</a:t>
            </a:r>
            <a:r>
              <a:rPr lang="en-US" sz="1800" baseline="30000" dirty="0"/>
              <a:t>4</a:t>
            </a:r>
            <a:r>
              <a:rPr lang="en-US" sz="1800" dirty="0"/>
              <a:t> bit-strings that start with </a:t>
            </a:r>
            <a:r>
              <a:rPr lang="en-US" sz="1800" dirty="0">
                <a:solidFill>
                  <a:srgbClr val="FF0000"/>
                </a:solidFill>
              </a:rPr>
              <a:t>1</a:t>
            </a:r>
            <a:r>
              <a:rPr lang="en-US" sz="1800" dirty="0"/>
              <a:t>.</a:t>
            </a:r>
          </a:p>
          <a:p>
            <a:r>
              <a:rPr lang="en-US" sz="1800" dirty="0"/>
              <a:t>The only other outcome where you stop the experiment before 5 flips is when the first 3 flips are HTT (i.e., </a:t>
            </a:r>
            <a:r>
              <a:rPr lang="en-US" sz="1800" dirty="0">
                <a:solidFill>
                  <a:srgbClr val="FF0000"/>
                </a:solidFill>
              </a:rPr>
              <a:t>011</a:t>
            </a:r>
            <a:r>
              <a:rPr lang="en-US" sz="1800" dirty="0"/>
              <a:t>). In this case, you exclude 01100, 01101, 01110, 01111. Thus, the total number of ways is: 2</a:t>
            </a:r>
            <a:r>
              <a:rPr lang="en-US" sz="1800" baseline="30000" dirty="0"/>
              <a:t>5</a:t>
            </a:r>
            <a:r>
              <a:rPr lang="en-US" sz="1800" dirty="0"/>
              <a:t>-2</a:t>
            </a:r>
            <a:r>
              <a:rPr lang="en-US" sz="1800" baseline="30000" dirty="0"/>
              <a:t>4</a:t>
            </a:r>
            <a:r>
              <a:rPr lang="en-US" sz="1800" dirty="0"/>
              <a:t>-4=12. </a:t>
            </a:r>
          </a:p>
          <a:p>
            <a:r>
              <a:rPr lang="en-US" sz="1800" dirty="0"/>
              <a:t>Add the two cases of early termination (1 and 011), the total is 12+2=14 ways.</a:t>
            </a:r>
          </a:p>
          <a:p>
            <a:r>
              <a:rPr lang="en-US" sz="1800" dirty="0"/>
              <a:t>Specifically, the possible strings are: </a:t>
            </a:r>
            <a:r>
              <a:rPr lang="en-US" sz="1800" dirty="0">
                <a:solidFill>
                  <a:srgbClr val="FF0000"/>
                </a:solidFill>
              </a:rPr>
              <a:t>1</a:t>
            </a:r>
            <a:r>
              <a:rPr lang="en-US" sz="1800" dirty="0"/>
              <a:t>, </a:t>
            </a:r>
            <a:r>
              <a:rPr lang="en-US" sz="1800" dirty="0">
                <a:solidFill>
                  <a:srgbClr val="FF0000"/>
                </a:solidFill>
              </a:rPr>
              <a:t>011</a:t>
            </a:r>
            <a:r>
              <a:rPr lang="en-US" sz="1800" dirty="0"/>
              <a:t>, 00000, 00001, 00010, 00011, 00100, 00101, 00110, </a:t>
            </a:r>
            <a:r>
              <a:rPr lang="en-US" sz="1800" dirty="0">
                <a:solidFill>
                  <a:srgbClr val="0000FF"/>
                </a:solidFill>
              </a:rPr>
              <a:t>00111</a:t>
            </a:r>
            <a:r>
              <a:rPr lang="en-US" sz="1800" dirty="0"/>
              <a:t>, 01000, 01001, 01010, </a:t>
            </a:r>
            <a:r>
              <a:rPr lang="en-US" sz="1800" dirty="0">
                <a:solidFill>
                  <a:srgbClr val="0000FF"/>
                </a:solidFill>
              </a:rPr>
              <a:t>01011</a:t>
            </a:r>
            <a:r>
              <a:rPr lang="en-US" sz="1800" dirty="0"/>
              <a:t>.  </a:t>
            </a:r>
          </a:p>
        </p:txBody>
      </p:sp>
      <p:sp>
        <p:nvSpPr>
          <p:cNvPr id="4" name="Slide Number Placeholder 3"/>
          <p:cNvSpPr>
            <a:spLocks noGrp="1"/>
          </p:cNvSpPr>
          <p:nvPr>
            <p:ph type="sldNum" sz="quarter" idx="12"/>
          </p:nvPr>
        </p:nvSpPr>
        <p:spPr/>
        <p:txBody>
          <a:bodyPr/>
          <a:lstStyle/>
          <a:p>
            <a:fld id="{5EC735E3-5B29-4F54-8FB9-022B0DB6C884}" type="slidenum">
              <a:rPr lang="en-US" smtClean="0"/>
              <a:pPr/>
              <a:t>33</a:t>
            </a:fld>
            <a:endParaRPr lang="en-US"/>
          </a:p>
        </p:txBody>
      </p:sp>
    </p:spTree>
    <p:extLst>
      <p:ext uri="{BB962C8B-B14F-4D97-AF65-F5344CB8AC3E}">
        <p14:creationId xmlns:p14="http://schemas.microsoft.com/office/powerpoint/2010/main" val="134592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solidFill>
                  <a:schemeClr val="tx1"/>
                </a:solidFill>
              </a:rPr>
              <a:t>Permutations with </a:t>
            </a:r>
            <a:r>
              <a:rPr lang="en-US" altLang="zh-CN" sz="2800" dirty="0">
                <a:solidFill>
                  <a:srgbClr val="0000FF"/>
                </a:solidFill>
              </a:rPr>
              <a:t>Indistinguishable</a:t>
            </a:r>
            <a:r>
              <a:rPr lang="en-US" altLang="zh-CN" sz="2800" dirty="0">
                <a:solidFill>
                  <a:schemeClr val="tx1"/>
                </a:solidFill>
              </a:rPr>
              <a:t> Objects</a:t>
            </a:r>
            <a:endParaRPr lang="zh-CN" altLang="en-US" sz="2800"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295400"/>
                <a:ext cx="8686800" cy="5562600"/>
              </a:xfrm>
            </p:spPr>
            <p:txBody>
              <a:bodyPr/>
              <a:lstStyle/>
              <a:p>
                <a:r>
                  <a:rPr lang="en-US" altLang="zh-CN" sz="2300" dirty="0"/>
                  <a:t>How many different strings can be made by reordering the letters of the word </a:t>
                </a:r>
                <a:r>
                  <a:rPr lang="en-US" altLang="zh-CN" sz="2300" i="1" dirty="0"/>
                  <a:t>SUCCESS</a:t>
                </a:r>
                <a:r>
                  <a:rPr lang="en-US" altLang="zh-CN" sz="2300" dirty="0"/>
                  <a:t>?</a:t>
                </a:r>
              </a:p>
              <a:p>
                <a:r>
                  <a:rPr lang="en-US" altLang="zh-CN" sz="2300" b="1" dirty="0">
                    <a:solidFill>
                      <a:srgbClr val="0000FF"/>
                    </a:solidFill>
                  </a:rPr>
                  <a:t>Solution:</a:t>
                </a:r>
                <a:br>
                  <a:rPr lang="en-US" altLang="zh-CN" sz="2300" b="1" dirty="0">
                    <a:solidFill>
                      <a:srgbClr val="0000FF"/>
                    </a:solidFill>
                  </a:rPr>
                </a:br>
                <a:r>
                  <a:rPr lang="en-US" altLang="zh-CN" sz="2300" dirty="0"/>
                  <a:t>Since some of the letters repeat in SUCCESS, so the number of permutations for 7 distinct letters is not the correct answer here. SUCCESS contains 3 S’s, 2 C’s, 1 E and 1 U. The three </a:t>
                </a:r>
                <a:r>
                  <a:rPr lang="en-US" altLang="zh-CN" sz="2300" dirty="0">
                    <a:solidFill>
                      <a:srgbClr val="0000FF"/>
                    </a:solidFill>
                  </a:rPr>
                  <a:t>indistinguishable</a:t>
                </a:r>
                <a:r>
                  <a:rPr lang="en-US" altLang="zh-CN" sz="2300" dirty="0"/>
                  <a:t> S’s can be placed among the 7 positions in </a:t>
                </a:r>
                <a14:m>
                  <m:oMath xmlns:m="http://schemas.openxmlformats.org/officeDocument/2006/math">
                    <m:r>
                      <a:rPr lang="en-US" altLang="zh-CN" sz="2300" i="1" dirty="0" smtClean="0">
                        <a:latin typeface="Cambria Math" panose="02040503050406030204" pitchFamily="18" charset="0"/>
                      </a:rPr>
                      <m:t>𝐶</m:t>
                    </m:r>
                    <m:r>
                      <a:rPr lang="en-US" altLang="zh-CN" sz="2300" i="1" dirty="0" smtClean="0">
                        <a:latin typeface="Cambria Math" panose="02040503050406030204" pitchFamily="18" charset="0"/>
                      </a:rPr>
                      <m:t>(7,3)</m:t>
                    </m:r>
                  </m:oMath>
                </a14:m>
                <a:r>
                  <a:rPr lang="en-US" altLang="zh-CN" sz="2300" dirty="0"/>
                  <a:t> different ways, leaving 4 positions free. Then, the two C’s can be placed in </a:t>
                </a:r>
                <a14:m>
                  <m:oMath xmlns:m="http://schemas.openxmlformats.org/officeDocument/2006/math">
                    <m:r>
                      <a:rPr lang="en-US" altLang="zh-CN" sz="2300" i="1" dirty="0" smtClean="0">
                        <a:latin typeface="Cambria Math" panose="02040503050406030204" pitchFamily="18" charset="0"/>
                      </a:rPr>
                      <m:t>𝐶</m:t>
                    </m:r>
                    <m:r>
                      <a:rPr lang="en-US" altLang="zh-CN" sz="2300" i="1" dirty="0" smtClean="0">
                        <a:latin typeface="Cambria Math" panose="02040503050406030204" pitchFamily="18" charset="0"/>
                      </a:rPr>
                      <m:t>(4,2)</m:t>
                    </m:r>
                  </m:oMath>
                </a14:m>
                <a:r>
                  <a:rPr lang="en-US" altLang="zh-CN" sz="2300" dirty="0"/>
                  <a:t> ways, leaving 2 free positions. … By the product rule, the number of different ways is </a:t>
                </a:r>
                <a:br>
                  <a:rPr lang="en-US" altLang="zh-CN" sz="2300" dirty="0"/>
                </a:br>
                <a14:m>
                  <m:oMath xmlns:m="http://schemas.openxmlformats.org/officeDocument/2006/math">
                    <m:r>
                      <a:rPr lang="en-US" altLang="zh-CN" sz="2300" i="1" dirty="0" smtClean="0">
                        <a:latin typeface="Cambria Math" panose="02040503050406030204" pitchFamily="18" charset="0"/>
                      </a:rPr>
                      <m:t>𝐶</m:t>
                    </m:r>
                    <m:r>
                      <a:rPr lang="en-US" altLang="zh-CN" sz="2300" i="1" dirty="0" smtClean="0">
                        <a:latin typeface="Cambria Math" panose="02040503050406030204" pitchFamily="18" charset="0"/>
                      </a:rPr>
                      <m:t>(7,3)</m:t>
                    </m:r>
                    <m:r>
                      <a:rPr lang="en-US" altLang="zh-CN" sz="2300" i="1" dirty="0" smtClean="0">
                        <a:latin typeface="Cambria Math" panose="02040503050406030204" pitchFamily="18" charset="0"/>
                      </a:rPr>
                      <m:t>𝐶</m:t>
                    </m:r>
                    <m:r>
                      <a:rPr lang="en-US" altLang="zh-CN" sz="2300" i="1" dirty="0" smtClean="0">
                        <a:latin typeface="Cambria Math" panose="02040503050406030204" pitchFamily="18" charset="0"/>
                      </a:rPr>
                      <m:t>(4,2)</m:t>
                    </m:r>
                    <m:r>
                      <a:rPr lang="en-US" altLang="zh-CN" sz="2300" i="1" dirty="0" smtClean="0">
                        <a:latin typeface="Cambria Math" panose="02040503050406030204" pitchFamily="18" charset="0"/>
                      </a:rPr>
                      <m:t>𝐶</m:t>
                    </m:r>
                    <m:r>
                      <a:rPr lang="en-US" altLang="zh-CN" sz="2300" i="1" dirty="0" smtClean="0">
                        <a:latin typeface="Cambria Math" panose="02040503050406030204" pitchFamily="18" charset="0"/>
                      </a:rPr>
                      <m:t>(2,1)</m:t>
                    </m:r>
                    <m:r>
                      <a:rPr lang="en-US" altLang="zh-CN" sz="2300" i="1" dirty="0" smtClean="0">
                        <a:latin typeface="Cambria Math" panose="02040503050406030204" pitchFamily="18" charset="0"/>
                      </a:rPr>
                      <m:t>𝐶</m:t>
                    </m:r>
                    <m:r>
                      <a:rPr lang="en-US" altLang="zh-CN" sz="2300" i="1" dirty="0" smtClean="0">
                        <a:latin typeface="Cambria Math" panose="02040503050406030204" pitchFamily="18" charset="0"/>
                      </a:rPr>
                      <m:t>(1,1)=</m:t>
                    </m:r>
                    <m:f>
                      <m:fPr>
                        <m:ctrlPr>
                          <a:rPr lang="en-US" altLang="zh-CN" sz="2400" b="0" i="1" smtClean="0">
                            <a:latin typeface="Cambria Math"/>
                          </a:rPr>
                        </m:ctrlPr>
                      </m:fPr>
                      <m:num>
                        <m:r>
                          <a:rPr lang="en-US" altLang="zh-CN" sz="2400" b="0" i="1" smtClean="0">
                            <a:latin typeface="Cambria Math"/>
                          </a:rPr>
                          <m:t>7</m:t>
                        </m:r>
                        <m:r>
                          <a:rPr lang="en-US" altLang="zh-CN" sz="2400" i="1">
                            <a:latin typeface="Cambria Math" panose="02040503050406030204" pitchFamily="18" charset="0"/>
                          </a:rPr>
                          <m:t>!</m:t>
                        </m:r>
                      </m:num>
                      <m:den>
                        <m:r>
                          <a:rPr lang="en-US" altLang="zh-CN" sz="2400" b="0" i="1" smtClean="0">
                            <a:latin typeface="Cambria Math"/>
                          </a:rPr>
                          <m:t>3</m:t>
                        </m:r>
                        <m:r>
                          <a:rPr lang="en-US" altLang="zh-CN" sz="2400" i="1">
                            <a:latin typeface="Cambria Math" panose="02040503050406030204" pitchFamily="18" charset="0"/>
                          </a:rPr>
                          <m:t>!</m:t>
                        </m:r>
                        <m:r>
                          <a:rPr lang="en-US" altLang="zh-CN" sz="2400" b="0" i="1" smtClean="0">
                            <a:latin typeface="Cambria Math"/>
                          </a:rPr>
                          <m:t>2</m:t>
                        </m:r>
                        <m:r>
                          <a:rPr lang="en-US" altLang="zh-CN" sz="2400" i="1">
                            <a:latin typeface="Cambria Math" panose="02040503050406030204" pitchFamily="18" charset="0"/>
                          </a:rPr>
                          <m:t>!</m:t>
                        </m:r>
                        <m:r>
                          <a:rPr lang="en-US" altLang="zh-CN" sz="2400" b="0" i="1" smtClean="0">
                            <a:latin typeface="Cambria Math" panose="02040503050406030204" pitchFamily="18" charset="0"/>
                          </a:rPr>
                          <m:t>1!1!</m:t>
                        </m:r>
                        <m:r>
                          <a:rPr lang="en-US" altLang="zh-CN" sz="2400" i="1" smtClean="0">
                            <a:latin typeface="Cambria Math"/>
                          </a:rPr>
                          <m:t> </m:t>
                        </m:r>
                      </m:den>
                    </m:f>
                  </m:oMath>
                </a14:m>
                <a:endParaRPr lang="en-US" altLang="zh-CN" sz="23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295400"/>
                <a:ext cx="8686800" cy="5562600"/>
              </a:xfrm>
              <a:blipFill>
                <a:blip r:embed="rId2"/>
                <a:stretch>
                  <a:fillRect l="-842" t="-877" r="-1404"/>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34</a:t>
            </a:fld>
            <a:endParaRPr lang="en-US"/>
          </a:p>
        </p:txBody>
      </p:sp>
    </p:spTree>
    <p:extLst>
      <p:ext uri="{BB962C8B-B14F-4D97-AF65-F5344CB8AC3E}">
        <p14:creationId xmlns:p14="http://schemas.microsoft.com/office/powerpoint/2010/main" val="65692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800" dirty="0">
                <a:solidFill>
                  <a:schemeClr val="tx1"/>
                </a:solidFill>
              </a:rPr>
              <a:t>Permutations with Indistinguishable Objects</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CN" b="1" dirty="0">
                    <a:solidFill>
                      <a:srgbClr val="0000FF"/>
                    </a:solidFill>
                  </a:rPr>
                  <a:t>Theorem</a:t>
                </a:r>
              </a:p>
              <a:p>
                <a:pPr marL="0" indent="0">
                  <a:buNone/>
                </a:pPr>
                <a:r>
                  <a:rPr lang="en-US" altLang="zh-CN" dirty="0"/>
                  <a:t>The number of different permutations of </a:t>
                </a:r>
                <a:r>
                  <a:rPr lang="en-US" altLang="zh-CN" i="1" dirty="0"/>
                  <a:t>n</a:t>
                </a:r>
                <a:r>
                  <a:rPr lang="en-US" altLang="zh-CN" dirty="0"/>
                  <a:t> objects, where there are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1</m:t>
                        </m:r>
                      </m:sub>
                    </m:sSub>
                  </m:oMath>
                </a14:m>
                <a:r>
                  <a:rPr lang="en-US" altLang="zh-CN" dirty="0"/>
                  <a:t> indistinguishable objects of type 1,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2</m:t>
                        </m:r>
                      </m:sub>
                    </m:sSub>
                  </m:oMath>
                </a14:m>
                <a:r>
                  <a:rPr lang="en-US" altLang="zh-CN" dirty="0"/>
                  <a:t> indistinguishable objects of type 2, …, and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𝑘</m:t>
                        </m:r>
                      </m:sub>
                    </m:sSub>
                  </m:oMath>
                </a14:m>
                <a:r>
                  <a:rPr lang="en-US" altLang="zh-CN" dirty="0"/>
                  <a:t> indistinguishable objects of type </a:t>
                </a:r>
                <a:r>
                  <a:rPr lang="en-US" altLang="zh-CN" i="1" dirty="0"/>
                  <a:t>k</a:t>
                </a:r>
                <a:r>
                  <a:rPr lang="en-US" altLang="zh-CN" dirty="0"/>
                  <a:t>, (</a:t>
                </a:r>
                <a:r>
                  <a:rPr lang="en-US" altLang="zh-CN" i="1" dirty="0"/>
                  <a:t>n</a:t>
                </a:r>
                <a:r>
                  <a:rPr lang="en-US" altLang="zh-CN" dirty="0"/>
                  <a:t>=</a:t>
                </a:r>
                <a:r>
                  <a:rPr lang="en-US" altLang="zh-CN" i="1" dirty="0"/>
                  <a:t>n</a:t>
                </a:r>
                <a:r>
                  <a:rPr lang="en-US" altLang="zh-CN" baseline="-25000" dirty="0"/>
                  <a:t>1</a:t>
                </a:r>
                <a:r>
                  <a:rPr lang="en-US" altLang="zh-CN" dirty="0"/>
                  <a:t>+</a:t>
                </a:r>
                <a:r>
                  <a:rPr lang="en-US" altLang="zh-CN" i="1" dirty="0"/>
                  <a:t>n</a:t>
                </a:r>
                <a:r>
                  <a:rPr lang="en-US" altLang="zh-CN" baseline="-25000" dirty="0"/>
                  <a:t>2</a:t>
                </a:r>
                <a:r>
                  <a:rPr lang="en-US" altLang="zh-CN" dirty="0"/>
                  <a:t>+..</a:t>
                </a:r>
                <a:r>
                  <a:rPr lang="en-US" altLang="zh-CN" i="1" dirty="0"/>
                  <a:t> </a:t>
                </a:r>
                <a:r>
                  <a:rPr lang="en-US" altLang="zh-CN" dirty="0"/>
                  <a:t>+</a:t>
                </a:r>
                <a:r>
                  <a:rPr lang="en-US" altLang="zh-CN" i="1" dirty="0" err="1"/>
                  <a:t>n</a:t>
                </a:r>
                <a:r>
                  <a:rPr lang="en-US" altLang="zh-CN" i="1" baseline="-25000" dirty="0" err="1"/>
                  <a:t>k</a:t>
                </a:r>
                <a:r>
                  <a:rPr lang="en-US" altLang="zh-CN" dirty="0"/>
                  <a:t>) is</a:t>
                </a:r>
              </a:p>
              <a:p>
                <a:pPr marL="0" indent="0">
                  <a:buNone/>
                </a:pPr>
                <a:endParaRPr lang="en-US" altLang="zh-CN" sz="1400" dirty="0"/>
              </a:p>
              <a:p>
                <a:pPr marL="0" indent="0">
                  <a:buNone/>
                </a:pPr>
                <a14:m>
                  <m:oMathPara xmlns:m="http://schemas.openxmlformats.org/officeDocument/2006/math">
                    <m:oMath>
                      <m:f>
                        <m:fPr>
                          <m:ctrlPr>
                            <a:rPr lang="en-US" altLang="zh-CN" i="1">
                              <a:latin typeface="Cambria Math" panose="02040503050406030204" pitchFamily="18" charset="0"/>
                            </a:rPr>
                          </m:ctrlPr>
                        </m:fPr>
                        <m:num>
                          <m:r>
                            <a:rPr lang="en-US" altLang="zh-CN" i="1">
                              <a:latin typeface="Cambria Math" panose="02040503050406030204" pitchFamily="18" charset="0"/>
                            </a:rPr>
                            <m:t>𝑛</m:t>
                          </m:r>
                          <m:r>
                            <a:rPr lang="en-US" altLang="zh-CN" i="1">
                              <a:latin typeface="Cambria Math" panose="02040503050406030204" pitchFamily="18" charset="0"/>
                            </a:rPr>
                            <m:t>!</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𝑛</m:t>
                              </m:r>
                            </m:e>
                            <m:sub>
                              <m:r>
                                <a:rPr lang="en-US" altLang="zh-CN" i="1">
                                  <a:latin typeface="Cambria Math" panose="02040503050406030204" pitchFamily="18" charset="0"/>
                                </a:rPr>
                                <m:t>𝑘</m:t>
                              </m:r>
                            </m:sub>
                          </m:sSub>
                          <m:r>
                            <a:rPr lang="en-US" altLang="zh-CN" i="1">
                              <a:latin typeface="Cambria Math" panose="02040503050406030204" pitchFamily="18" charset="0"/>
                            </a:rPr>
                            <m:t>!</m:t>
                          </m:r>
                        </m:den>
                      </m:f>
                    </m:oMath>
                  </m:oMathPara>
                </a14:m>
                <a:endParaRPr lang="en-US" altLang="zh-CN" i="1" dirty="0">
                  <a:solidFill>
                    <a:srgbClr val="0000FF"/>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23" t="-10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35</a:t>
            </a:fld>
            <a:endParaRPr lang="en-US"/>
          </a:p>
        </p:txBody>
      </p:sp>
    </p:spTree>
    <p:extLst>
      <p:ext uri="{BB962C8B-B14F-4D97-AF65-F5344CB8AC3E}">
        <p14:creationId xmlns:p14="http://schemas.microsoft.com/office/powerpoint/2010/main" val="3947605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800" b="1" dirty="0">
                <a:solidFill>
                  <a:srgbClr val="0000FF"/>
                </a:solidFill>
              </a:rPr>
              <a:t>Proof of Theorem</a:t>
            </a:r>
          </a:p>
        </p:txBody>
      </p:sp>
      <p:sp>
        <p:nvSpPr>
          <p:cNvPr id="3" name="Content Placeholder 2"/>
          <p:cNvSpPr>
            <a:spLocks noGrp="1"/>
          </p:cNvSpPr>
          <p:nvPr>
            <p:ph idx="1"/>
          </p:nvPr>
        </p:nvSpPr>
        <p:spPr>
          <a:xfrm>
            <a:off x="228600" y="1143000"/>
            <a:ext cx="8686800" cy="3810000"/>
          </a:xfrm>
        </p:spPr>
        <p:txBody>
          <a:bodyPr/>
          <a:lstStyle/>
          <a:p>
            <a:pPr marL="0" indent="0">
              <a:buNone/>
            </a:pPr>
            <a:r>
              <a:rPr lang="en-US" altLang="zh-CN" sz="2000" dirty="0"/>
              <a:t>The </a:t>
            </a:r>
            <a:r>
              <a:rPr lang="en-US" altLang="zh-CN" sz="2000" i="1" dirty="0"/>
              <a:t>n</a:t>
            </a:r>
            <a:r>
              <a:rPr lang="en-US" altLang="zh-CN" sz="2000" baseline="-25000" dirty="0"/>
              <a:t>1</a:t>
            </a:r>
            <a:r>
              <a:rPr lang="en-US" altLang="zh-CN" sz="2000" dirty="0"/>
              <a:t> indistinguishable objects of type 1 can be placed among the </a:t>
            </a:r>
            <a:r>
              <a:rPr lang="en-US" altLang="zh-CN" sz="2000" i="1" dirty="0"/>
              <a:t>n</a:t>
            </a:r>
            <a:r>
              <a:rPr lang="en-US" altLang="zh-CN" sz="2000" dirty="0"/>
              <a:t> positions in C(</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dirty="0">
                <a:solidFill>
                  <a:srgbClr val="FF0000"/>
                </a:solidFill>
              </a:rPr>
              <a:t>(</a:t>
            </a:r>
            <a:r>
              <a:rPr lang="en-US" altLang="zh-CN" sz="2000" i="1" dirty="0">
                <a:solidFill>
                  <a:srgbClr val="FF0000"/>
                </a:solidFill>
              </a:rPr>
              <a:t>n</a:t>
            </a:r>
            <a:r>
              <a:rPr lang="en-US" altLang="zh-CN" sz="2000" dirty="0">
                <a:solidFill>
                  <a:srgbClr val="FF0000"/>
                </a:solidFill>
              </a:rPr>
              <a:t>-</a:t>
            </a:r>
            <a:r>
              <a:rPr lang="en-US" altLang="zh-CN" sz="2000" i="1" dirty="0">
                <a:solidFill>
                  <a:srgbClr val="FF0000"/>
                </a:solidFill>
              </a:rPr>
              <a:t>n</a:t>
            </a:r>
            <a:r>
              <a:rPr lang="en-US" altLang="zh-CN" sz="2000" baseline="-25000" dirty="0">
                <a:solidFill>
                  <a:srgbClr val="FF0000"/>
                </a:solidFill>
              </a:rPr>
              <a:t>1</a:t>
            </a:r>
            <a:r>
              <a:rPr lang="en-US" altLang="zh-CN" sz="2000" dirty="0">
                <a:solidFill>
                  <a:srgbClr val="FF0000"/>
                </a:solidFill>
              </a:rPr>
              <a:t>)!</a:t>
            </a:r>
            <a:r>
              <a:rPr lang="en-US" altLang="zh-CN" sz="2000" dirty="0"/>
              <a:t> ways.</a:t>
            </a:r>
          </a:p>
          <a:p>
            <a:pPr marL="0" indent="0">
              <a:buNone/>
            </a:pPr>
            <a:r>
              <a:rPr lang="en-US" altLang="zh-CN" sz="2000" dirty="0"/>
              <a:t>The </a:t>
            </a:r>
            <a:r>
              <a:rPr lang="en-US" altLang="zh-CN" sz="2000" i="1" dirty="0"/>
              <a:t>n</a:t>
            </a:r>
            <a:r>
              <a:rPr lang="en-US" altLang="zh-CN" sz="2000" baseline="-25000" dirty="0"/>
              <a:t>2</a:t>
            </a:r>
            <a:r>
              <a:rPr lang="en-US" altLang="zh-CN" sz="2000" dirty="0"/>
              <a:t> indistinguishable objects of type 2 can be placed among the (</a:t>
            </a:r>
            <a:r>
              <a:rPr lang="en-US" altLang="zh-CN" sz="2000" i="1" dirty="0"/>
              <a:t>n</a:t>
            </a:r>
            <a:r>
              <a:rPr lang="en-US" altLang="zh-CN" sz="2000" dirty="0"/>
              <a:t>-</a:t>
            </a:r>
            <a:r>
              <a:rPr lang="en-US" altLang="zh-CN" sz="2000" i="1" dirty="0"/>
              <a:t>n</a:t>
            </a:r>
            <a:r>
              <a:rPr lang="en-US" altLang="zh-CN" sz="2000" baseline="-25000" dirty="0"/>
              <a:t>1</a:t>
            </a:r>
            <a:r>
              <a:rPr lang="en-US" altLang="zh-CN" sz="2000" dirty="0"/>
              <a:t>) positions in C(</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baseline="-25000" dirty="0"/>
              <a:t>2</a:t>
            </a:r>
            <a:r>
              <a:rPr lang="en-US" altLang="zh-CN" sz="2000" dirty="0"/>
              <a:t>)=</a:t>
            </a:r>
            <a:r>
              <a:rPr lang="en-US" altLang="zh-CN" sz="2000" dirty="0">
                <a:solidFill>
                  <a:srgbClr val="FF0000"/>
                </a:solidFill>
              </a:rPr>
              <a:t>(</a:t>
            </a:r>
            <a:r>
              <a:rPr lang="en-US" altLang="zh-CN" sz="2000" i="1" dirty="0">
                <a:solidFill>
                  <a:srgbClr val="FF0000"/>
                </a:solidFill>
              </a:rPr>
              <a:t>n</a:t>
            </a:r>
            <a:r>
              <a:rPr lang="en-US" altLang="zh-CN" sz="2000" dirty="0">
                <a:solidFill>
                  <a:srgbClr val="FF0000"/>
                </a:solidFill>
              </a:rPr>
              <a:t>-</a:t>
            </a:r>
            <a:r>
              <a:rPr lang="en-US" altLang="zh-CN" sz="2000" i="1" dirty="0">
                <a:solidFill>
                  <a:srgbClr val="FF0000"/>
                </a:solidFill>
              </a:rPr>
              <a:t>n</a:t>
            </a:r>
            <a:r>
              <a:rPr lang="en-US" altLang="zh-CN" sz="2000" baseline="-25000" dirty="0">
                <a:solidFill>
                  <a:srgbClr val="FF0000"/>
                </a:solidFill>
              </a:rPr>
              <a:t>1</a:t>
            </a:r>
            <a:r>
              <a:rPr lang="en-US" altLang="zh-CN" sz="2000" dirty="0">
                <a:solidFill>
                  <a:srgbClr val="FF0000"/>
                </a:solidFill>
              </a:rPr>
              <a:t>)!</a:t>
            </a:r>
            <a:r>
              <a:rPr lang="en-US" altLang="zh-CN" sz="2000" dirty="0"/>
              <a:t>/</a:t>
            </a:r>
            <a:r>
              <a:rPr lang="en-US" altLang="zh-CN" sz="2000" i="1" dirty="0"/>
              <a:t>n</a:t>
            </a:r>
            <a:r>
              <a:rPr lang="en-US" altLang="zh-CN" sz="2000" baseline="-25000" dirty="0"/>
              <a:t>2</a:t>
            </a:r>
            <a:r>
              <a:rPr lang="en-US" altLang="zh-CN" sz="2000" dirty="0"/>
              <a:t>! </a:t>
            </a:r>
            <a:r>
              <a:rPr lang="en-US" altLang="zh-CN" sz="2000" dirty="0">
                <a:solidFill>
                  <a:srgbClr val="0000FF"/>
                </a:solidFill>
              </a:rPr>
              <a:t>(</a:t>
            </a:r>
            <a:r>
              <a:rPr lang="en-US" altLang="zh-CN" sz="2000" i="1" dirty="0">
                <a:solidFill>
                  <a:srgbClr val="0000FF"/>
                </a:solidFill>
              </a:rPr>
              <a:t>n</a:t>
            </a:r>
            <a:r>
              <a:rPr lang="en-US" altLang="zh-CN" sz="2000" dirty="0">
                <a:solidFill>
                  <a:srgbClr val="0000FF"/>
                </a:solidFill>
              </a:rPr>
              <a:t>-</a:t>
            </a:r>
            <a:r>
              <a:rPr lang="en-US" altLang="zh-CN" sz="2000" i="1" dirty="0">
                <a:solidFill>
                  <a:srgbClr val="0000FF"/>
                </a:solidFill>
              </a:rPr>
              <a:t>n</a:t>
            </a:r>
            <a:r>
              <a:rPr lang="en-US" altLang="zh-CN" sz="2000" baseline="-25000" dirty="0">
                <a:solidFill>
                  <a:srgbClr val="0000FF"/>
                </a:solidFill>
              </a:rPr>
              <a:t>1</a:t>
            </a:r>
            <a:r>
              <a:rPr lang="en-US" altLang="zh-CN" sz="2000" dirty="0">
                <a:solidFill>
                  <a:srgbClr val="0000FF"/>
                </a:solidFill>
              </a:rPr>
              <a:t>-</a:t>
            </a:r>
            <a:r>
              <a:rPr lang="en-US" altLang="zh-CN" sz="2000" i="1" dirty="0">
                <a:solidFill>
                  <a:srgbClr val="0000FF"/>
                </a:solidFill>
              </a:rPr>
              <a:t>n</a:t>
            </a:r>
            <a:r>
              <a:rPr lang="en-US" altLang="zh-CN" sz="2000" baseline="-25000" dirty="0">
                <a:solidFill>
                  <a:srgbClr val="0000FF"/>
                </a:solidFill>
              </a:rPr>
              <a:t>2</a:t>
            </a:r>
            <a:r>
              <a:rPr lang="en-US" altLang="zh-CN" sz="2000" dirty="0">
                <a:solidFill>
                  <a:srgbClr val="0000FF"/>
                </a:solidFill>
              </a:rPr>
              <a:t>)!</a:t>
            </a:r>
            <a:r>
              <a:rPr lang="en-US" altLang="zh-CN" sz="2000" dirty="0"/>
              <a:t> ways.</a:t>
            </a:r>
          </a:p>
          <a:p>
            <a:pPr marL="0" indent="0">
              <a:buNone/>
            </a:pPr>
            <a:r>
              <a:rPr lang="en-US" altLang="zh-CN" sz="2000" dirty="0"/>
              <a:t>….</a:t>
            </a:r>
          </a:p>
          <a:p>
            <a:pPr marL="0" indent="0">
              <a:buNone/>
            </a:pPr>
            <a:r>
              <a:rPr lang="en-US" altLang="zh-CN" sz="2000" dirty="0"/>
              <a:t>The </a:t>
            </a:r>
            <a:r>
              <a:rPr lang="en-US" altLang="zh-CN" sz="2000" i="1" dirty="0"/>
              <a:t>n</a:t>
            </a:r>
            <a:r>
              <a:rPr lang="en-US" altLang="zh-CN" sz="2000" i="1" baseline="-25000" dirty="0"/>
              <a:t>k</a:t>
            </a:r>
            <a:r>
              <a:rPr lang="en-US" altLang="zh-CN" sz="2000" baseline="-25000" dirty="0"/>
              <a:t>-1</a:t>
            </a:r>
            <a:r>
              <a:rPr lang="en-US" altLang="zh-CN" sz="2000" dirty="0"/>
              <a:t> indistinguishable objects of type </a:t>
            </a:r>
            <a:r>
              <a:rPr lang="en-US" altLang="zh-CN" sz="2000" i="1" dirty="0"/>
              <a:t>k</a:t>
            </a:r>
            <a:r>
              <a:rPr lang="en-US" altLang="zh-CN" sz="2000" dirty="0"/>
              <a:t>-1 can be placed among the (</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baseline="-25000" dirty="0"/>
              <a:t>-2</a:t>
            </a:r>
            <a:r>
              <a:rPr lang="en-US" altLang="zh-CN" sz="2000" dirty="0"/>
              <a:t>) positions in C(</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baseline="-25000" dirty="0"/>
              <a:t>-2</a:t>
            </a:r>
            <a:r>
              <a:rPr lang="en-US" altLang="zh-CN" sz="2000" dirty="0"/>
              <a:t>, </a:t>
            </a:r>
            <a:r>
              <a:rPr lang="en-US" altLang="zh-CN" sz="2000" i="1" dirty="0"/>
              <a:t>n</a:t>
            </a:r>
            <a:r>
              <a:rPr lang="en-US" altLang="zh-CN" sz="2000" i="1" baseline="-25000" dirty="0"/>
              <a:t>k</a:t>
            </a:r>
            <a:r>
              <a:rPr lang="en-US" altLang="zh-CN" sz="2000" baseline="-25000" dirty="0"/>
              <a:t>-1</a:t>
            </a:r>
            <a:r>
              <a:rPr lang="en-US" altLang="zh-CN" sz="2000" dirty="0"/>
              <a:t>)= (</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baseline="-25000" dirty="0"/>
              <a:t>-2</a:t>
            </a:r>
            <a:r>
              <a:rPr lang="en-US" altLang="zh-CN" sz="2000" dirty="0"/>
              <a:t>)!/</a:t>
            </a:r>
            <a:r>
              <a:rPr lang="en-US" altLang="zh-CN" sz="2000" i="1" dirty="0"/>
              <a:t> n</a:t>
            </a:r>
            <a:r>
              <a:rPr lang="en-US" altLang="zh-CN" sz="2000" i="1" baseline="-25000" dirty="0"/>
              <a:t>k</a:t>
            </a:r>
            <a:r>
              <a:rPr lang="en-US" altLang="zh-CN" sz="2000" baseline="-25000" dirty="0"/>
              <a:t>-1</a:t>
            </a:r>
            <a:r>
              <a:rPr lang="en-US" altLang="zh-CN" sz="2000" dirty="0"/>
              <a:t>! (</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baseline="-25000" dirty="0"/>
              <a:t>2</a:t>
            </a:r>
            <a:r>
              <a:rPr lang="en-US" altLang="zh-CN" sz="2000" dirty="0"/>
              <a:t> …-</a:t>
            </a:r>
            <a:r>
              <a:rPr lang="en-US" altLang="zh-CN" sz="2000" i="1" dirty="0"/>
              <a:t>n</a:t>
            </a:r>
            <a:r>
              <a:rPr lang="en-US" altLang="zh-CN" sz="2000" i="1" baseline="-25000" dirty="0"/>
              <a:t>k</a:t>
            </a:r>
            <a:r>
              <a:rPr lang="en-US" altLang="zh-CN" sz="2000" baseline="-25000" dirty="0"/>
              <a:t>-2</a:t>
            </a:r>
            <a:r>
              <a:rPr lang="en-US" altLang="zh-CN" sz="2000" dirty="0"/>
              <a:t>-</a:t>
            </a:r>
            <a:r>
              <a:rPr lang="en-US" altLang="zh-CN" sz="2000" i="1" dirty="0"/>
              <a:t>n</a:t>
            </a:r>
            <a:r>
              <a:rPr lang="en-US" altLang="zh-CN" sz="2000" i="1" baseline="-25000" dirty="0"/>
              <a:t>k</a:t>
            </a:r>
            <a:r>
              <a:rPr lang="en-US" altLang="zh-CN" sz="2000" baseline="-25000" dirty="0"/>
              <a:t>-1</a:t>
            </a:r>
            <a:r>
              <a:rPr lang="en-US" altLang="zh-CN" sz="2000" dirty="0"/>
              <a:t>)! ways.</a:t>
            </a:r>
          </a:p>
          <a:p>
            <a:pPr marL="0" indent="0">
              <a:buNone/>
            </a:pPr>
            <a:r>
              <a:rPr lang="en-US" altLang="zh-CN" sz="2000" dirty="0"/>
              <a:t>The </a:t>
            </a:r>
            <a:r>
              <a:rPr lang="en-US" altLang="zh-CN" sz="2000" i="1" dirty="0" err="1"/>
              <a:t>n</a:t>
            </a:r>
            <a:r>
              <a:rPr lang="en-US" altLang="zh-CN" sz="2000" i="1" baseline="-25000" dirty="0" err="1"/>
              <a:t>k</a:t>
            </a:r>
            <a:r>
              <a:rPr lang="en-US" altLang="zh-CN" sz="2000" dirty="0"/>
              <a:t> indistinguishable objects of type </a:t>
            </a:r>
            <a:r>
              <a:rPr lang="en-US" altLang="zh-CN" sz="2000" i="1" dirty="0"/>
              <a:t>k</a:t>
            </a:r>
            <a:r>
              <a:rPr lang="en-US" altLang="zh-CN" sz="2000" dirty="0"/>
              <a:t> can be placed among the (</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baseline="-25000" dirty="0"/>
              <a:t>-1</a:t>
            </a:r>
            <a:r>
              <a:rPr lang="en-US" altLang="zh-CN" sz="2000" dirty="0"/>
              <a:t>) positions in C(</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baseline="-25000" dirty="0"/>
              <a:t>-1</a:t>
            </a:r>
            <a:r>
              <a:rPr lang="en-US" altLang="zh-CN" sz="2000" dirty="0"/>
              <a:t>, </a:t>
            </a:r>
            <a:r>
              <a:rPr lang="en-US" altLang="zh-CN" sz="2000" i="1" dirty="0" err="1"/>
              <a:t>n</a:t>
            </a:r>
            <a:r>
              <a:rPr lang="en-US" altLang="zh-CN" sz="2000" i="1" baseline="-25000" dirty="0" err="1"/>
              <a:t>k</a:t>
            </a:r>
            <a:r>
              <a:rPr lang="en-US" altLang="zh-CN" sz="2000" dirty="0"/>
              <a:t>)= (</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baseline="-25000" dirty="0"/>
              <a:t>-1</a:t>
            </a:r>
            <a:r>
              <a:rPr lang="en-US" altLang="zh-CN" sz="2000" dirty="0"/>
              <a:t>)!/</a:t>
            </a:r>
            <a:r>
              <a:rPr lang="en-US" altLang="zh-CN" sz="2000" i="1" dirty="0"/>
              <a:t> </a:t>
            </a:r>
            <a:r>
              <a:rPr lang="en-US" altLang="zh-CN" sz="2000" i="1" dirty="0" err="1"/>
              <a:t>n</a:t>
            </a:r>
            <a:r>
              <a:rPr lang="en-US" altLang="zh-CN" sz="2000" i="1" baseline="-25000" dirty="0" err="1"/>
              <a:t>k</a:t>
            </a:r>
            <a:r>
              <a:rPr lang="en-US" altLang="zh-CN" sz="2000" dirty="0"/>
              <a:t>! (</a:t>
            </a:r>
            <a:r>
              <a:rPr lang="en-US" altLang="zh-CN" sz="2000" i="1" dirty="0"/>
              <a:t>n</a:t>
            </a:r>
            <a:r>
              <a:rPr lang="en-US" altLang="zh-CN" sz="2000" dirty="0"/>
              <a:t>-</a:t>
            </a:r>
            <a:r>
              <a:rPr lang="en-US" altLang="zh-CN" sz="2000" i="1" dirty="0"/>
              <a:t>n</a:t>
            </a:r>
            <a:r>
              <a:rPr lang="en-US" altLang="zh-CN" sz="2000" baseline="-25000" dirty="0"/>
              <a:t>1</a:t>
            </a:r>
            <a:r>
              <a:rPr lang="en-US" altLang="zh-CN" sz="2000" dirty="0"/>
              <a:t>-</a:t>
            </a:r>
            <a:r>
              <a:rPr lang="en-US" altLang="zh-CN" sz="2000" i="1" dirty="0"/>
              <a:t>n</a:t>
            </a:r>
            <a:r>
              <a:rPr lang="en-US" altLang="zh-CN" sz="2000" baseline="-25000" dirty="0"/>
              <a:t>2</a:t>
            </a:r>
            <a:r>
              <a:rPr lang="en-US" altLang="zh-CN" sz="2000" dirty="0"/>
              <a:t> …-</a:t>
            </a:r>
            <a:r>
              <a:rPr lang="en-US" altLang="zh-CN" sz="2000" i="1" dirty="0"/>
              <a:t>n</a:t>
            </a:r>
            <a:r>
              <a:rPr lang="en-US" altLang="zh-CN" sz="2000" i="1" baseline="-25000" dirty="0"/>
              <a:t>k</a:t>
            </a:r>
            <a:r>
              <a:rPr lang="en-US" altLang="zh-CN" sz="2000" baseline="-25000" dirty="0"/>
              <a:t>-1</a:t>
            </a:r>
            <a:r>
              <a:rPr lang="en-US" altLang="zh-CN" sz="2000" dirty="0"/>
              <a:t>-</a:t>
            </a:r>
            <a:r>
              <a:rPr lang="en-US" altLang="zh-CN" sz="2000" i="1" dirty="0"/>
              <a:t>n</a:t>
            </a:r>
            <a:r>
              <a:rPr lang="en-US" altLang="zh-CN" sz="2000" i="1" baseline="-25000" dirty="0"/>
              <a:t>k</a:t>
            </a:r>
            <a:r>
              <a:rPr lang="en-US" altLang="zh-CN" sz="2000" dirty="0"/>
              <a:t>)! ways.</a:t>
            </a:r>
          </a:p>
          <a:p>
            <a:pPr marL="0" indent="0">
              <a:buNone/>
            </a:pPr>
            <a:endParaRPr lang="en-US" altLang="zh-CN" dirty="0"/>
          </a:p>
          <a:p>
            <a:pPr marL="0" indent="0">
              <a:buNone/>
            </a:pPr>
            <a:endParaRPr lang="en-US" altLang="zh-CN" dirty="0"/>
          </a:p>
          <a:p>
            <a:pPr marL="0" indent="0">
              <a:buNone/>
            </a:pPr>
            <a:endParaRPr lang="en-US" altLang="zh-CN" sz="1400" dirty="0"/>
          </a:p>
          <a:p>
            <a:pPr marL="0" indent="0">
              <a:buNone/>
            </a:pPr>
            <a:endParaRPr lang="en-US" altLang="zh-CN" i="1"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36</a:t>
            </a:fld>
            <a:endParaRPr lang="en-US"/>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00CB4BF2-82F8-4D8B-B1FE-562D4C3F0F69}"/>
                  </a:ext>
                </a:extLst>
              </p:cNvPr>
              <p:cNvSpPr txBox="1"/>
              <p:nvPr/>
            </p:nvSpPr>
            <p:spPr>
              <a:xfrm>
                <a:off x="381000" y="5029200"/>
                <a:ext cx="8250238" cy="1314450"/>
              </a:xfrm>
              <a:prstGeom prst="rect">
                <a:avLst/>
              </a:prstGeom>
            </p:spPr>
            <p:txBody>
              <a:bodyPr>
                <a:normAutofit fontScale="77500" lnSpcReduction="20000"/>
              </a:bodyPr>
              <a:lstStyle/>
              <a:p>
                <a:pPr/>
                <a14:m>
                  <m:oMathPara xmlns:m="http://schemas.openxmlformats.org/officeDocument/2006/math">
                    <m:oMathParaPr>
                      <m:jc m:val="left"/>
                    </m:oMathParaPr>
                    <m:oMath>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den>
                      </m:f>
                      <m:r>
                        <a:rPr lang="en-HK" i="1">
                          <a:solidFill>
                            <a:srgbClr val="000000"/>
                          </a:solidFill>
                          <a:latin typeface="Cambria Math" panose="02040503050406030204" pitchFamily="18" charset="0"/>
                        </a:rPr>
                        <m:t>⋅</m:t>
                      </m:r>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den>
                      </m:f>
                      <m:r>
                        <a:rPr lang="en-HK" i="1">
                          <a:solidFill>
                            <a:srgbClr val="000000"/>
                          </a:solidFill>
                          <a:latin typeface="Cambria Math" panose="02040503050406030204" pitchFamily="18" charset="0"/>
                        </a:rPr>
                        <m:t>⋅⋅</m:t>
                      </m:r>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den>
                      </m:f>
                      <m:r>
                        <a:rPr lang="en-HK" i="1">
                          <a:solidFill>
                            <a:srgbClr val="000000"/>
                          </a:solidFill>
                          <a:latin typeface="Cambria Math" panose="02040503050406030204" pitchFamily="18" charset="0"/>
                        </a:rPr>
                        <m:t>⋅</m:t>
                      </m:r>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sub>
                          </m:sSub>
                          <m:r>
                            <a:rPr lang="en-HK" i="1">
                              <a:solidFill>
                                <a:srgbClr val="000000"/>
                              </a:solidFill>
                              <a:latin typeface="Cambria Math" panose="02040503050406030204" pitchFamily="18" charset="0"/>
                            </a:rPr>
                            <m:t>!</m:t>
                          </m:r>
                          <m:r>
                            <a:rPr lang="en-HK" i="1" smtClean="0">
                              <a:solidFill>
                                <a:srgbClr val="FF3300"/>
                              </a:solidFill>
                              <a:latin typeface="Cambria Math" panose="02040503050406030204" pitchFamily="18" charset="0"/>
                            </a:rPr>
                            <m:t>(</m:t>
                          </m:r>
                          <m:r>
                            <a:rPr lang="en-HK" i="1" smtClean="0">
                              <a:solidFill>
                                <a:srgbClr val="FF3300"/>
                              </a:solidFill>
                              <a:latin typeface="Cambria Math" panose="02040503050406030204" pitchFamily="18" charset="0"/>
                            </a:rPr>
                            <m:t>𝑛</m:t>
                          </m:r>
                          <m:r>
                            <a:rPr lang="en-HK" i="1" smtClean="0">
                              <a:solidFill>
                                <a:srgbClr val="FF3300"/>
                              </a:solidFill>
                              <a:latin typeface="Cambria Math" panose="02040503050406030204" pitchFamily="18" charset="0"/>
                            </a:rPr>
                            <m:t>−</m:t>
                          </m:r>
                          <m:sSub>
                            <m:sSubPr>
                              <m:ctrlPr>
                                <a:rPr lang="en-HK" i="1">
                                  <a:solidFill>
                                    <a:srgbClr val="FF3300"/>
                                  </a:solidFill>
                                  <a:latin typeface="Cambria Math" panose="02040503050406030204" pitchFamily="18" charset="0"/>
                                </a:rPr>
                              </m:ctrlPr>
                            </m:sSubPr>
                            <m:e>
                              <m:r>
                                <a:rPr lang="en-HK" i="1">
                                  <a:solidFill>
                                    <a:srgbClr val="FF3300"/>
                                  </a:solidFill>
                                  <a:latin typeface="Cambria Math" panose="02040503050406030204" pitchFamily="18" charset="0"/>
                                </a:rPr>
                                <m:t>𝑛</m:t>
                              </m:r>
                            </m:e>
                            <m:sub>
                              <m:r>
                                <a:rPr lang="en-HK" i="1">
                                  <a:solidFill>
                                    <a:srgbClr val="FF3300"/>
                                  </a:solidFill>
                                  <a:latin typeface="Cambria Math" panose="02040503050406030204" pitchFamily="18" charset="0"/>
                                </a:rPr>
                                <m:t>1</m:t>
                              </m:r>
                            </m:sub>
                          </m:sSub>
                          <m:r>
                            <a:rPr lang="en-HK" i="1">
                              <a:solidFill>
                                <a:srgbClr val="FF3300"/>
                              </a:solidFill>
                              <a:latin typeface="Cambria Math" panose="02040503050406030204" pitchFamily="18" charset="0"/>
                            </a:rPr>
                            <m:t>...−</m:t>
                          </m:r>
                          <m:sSub>
                            <m:sSubPr>
                              <m:ctrlPr>
                                <a:rPr lang="en-HK" i="1">
                                  <a:solidFill>
                                    <a:srgbClr val="FF3300"/>
                                  </a:solidFill>
                                  <a:latin typeface="Cambria Math" panose="02040503050406030204" pitchFamily="18" charset="0"/>
                                </a:rPr>
                              </m:ctrlPr>
                            </m:sSubPr>
                            <m:e>
                              <m:r>
                                <a:rPr lang="en-HK" i="1">
                                  <a:solidFill>
                                    <a:srgbClr val="FF3300"/>
                                  </a:solidFill>
                                  <a:latin typeface="Cambria Math" panose="02040503050406030204" pitchFamily="18" charset="0"/>
                                </a:rPr>
                                <m:t>𝑛</m:t>
                              </m:r>
                            </m:e>
                            <m:sub>
                              <m:r>
                                <a:rPr lang="en-HK" i="1">
                                  <a:solidFill>
                                    <a:srgbClr val="FF3300"/>
                                  </a:solidFill>
                                  <a:latin typeface="Cambria Math" panose="02040503050406030204" pitchFamily="18" charset="0"/>
                                </a:rPr>
                                <m:t>𝑘</m:t>
                              </m:r>
                            </m:sub>
                          </m:sSub>
                          <m:r>
                            <a:rPr lang="en-HK" i="1">
                              <a:solidFill>
                                <a:srgbClr val="FF3300"/>
                              </a:solidFill>
                              <a:latin typeface="Cambria Math" panose="02040503050406030204" pitchFamily="18" charset="0"/>
                            </a:rPr>
                            <m:t>)!</m:t>
                          </m:r>
                        </m:den>
                      </m:f>
                      <m:r>
                        <a:rPr lang="en-HK" i="1">
                          <a:solidFill>
                            <a:srgbClr val="000000"/>
                          </a:solidFill>
                          <a:latin typeface="Cambria Math" panose="02040503050406030204" pitchFamily="18" charset="0"/>
                        </a:rPr>
                        <m:t>=</m:t>
                      </m:r>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sub>
                          </m:sSub>
                          <m:r>
                            <a:rPr lang="en-HK" i="1">
                              <a:solidFill>
                                <a:srgbClr val="000000"/>
                              </a:solidFill>
                              <a:latin typeface="Cambria Math" panose="02040503050406030204" pitchFamily="18" charset="0"/>
                            </a:rPr>
                            <m:t>!</m:t>
                          </m:r>
                          <m:r>
                            <a:rPr lang="en-HK" i="1" smtClean="0">
                              <a:solidFill>
                                <a:srgbClr val="FF3300"/>
                              </a:solidFill>
                              <a:latin typeface="Cambria Math" panose="02040503050406030204" pitchFamily="18" charset="0"/>
                            </a:rPr>
                            <m:t>0!</m:t>
                          </m:r>
                        </m:den>
                      </m:f>
                      <m:r>
                        <a:rPr lang="en-HK" i="1">
                          <a:solidFill>
                            <a:srgbClr val="000000"/>
                          </a:solidFill>
                          <a:latin typeface="Cambria Math" panose="02040503050406030204" pitchFamily="18" charset="0"/>
                        </a:rPr>
                        <m:t>=</m:t>
                      </m:r>
                    </m:oMath>
                    <m:oMath>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sub>
                          </m:sSub>
                          <m:r>
                            <a:rPr lang="en-HK" i="1">
                              <a:solidFill>
                                <a:srgbClr val="000000"/>
                              </a:solidFill>
                              <a:latin typeface="Cambria Math" panose="02040503050406030204" pitchFamily="18" charset="0"/>
                            </a:rPr>
                            <m:t>!</m:t>
                          </m:r>
                        </m:den>
                      </m:f>
                    </m:oMath>
                  </m:oMathPara>
                </a14:m>
                <a:endParaRPr lang="en-HK" dirty="0"/>
              </a:p>
            </p:txBody>
          </p:sp>
        </mc:Choice>
        <mc:Fallback xmlns="">
          <p:sp>
            <p:nvSpPr>
              <p:cNvPr id="5" name="Object 4">
                <a:extLst>
                  <a:ext uri="{FF2B5EF4-FFF2-40B4-BE49-F238E27FC236}">
                    <a16:creationId xmlns:a16="http://schemas.microsoft.com/office/drawing/2014/main" id="{00CB4BF2-82F8-4D8B-B1FE-562D4C3F0F69}"/>
                  </a:ext>
                </a:extLst>
              </p:cNvPr>
              <p:cNvSpPr txBox="1">
                <a:spLocks noRot="1" noChangeAspect="1" noMove="1" noResize="1" noEditPoints="1" noAdjustHandles="1" noChangeArrowheads="1" noChangeShapeType="1" noTextEdit="1"/>
              </p:cNvSpPr>
              <p:nvPr/>
            </p:nvSpPr>
            <p:spPr>
              <a:xfrm>
                <a:off x="381000" y="5029200"/>
                <a:ext cx="8250238" cy="1314450"/>
              </a:xfrm>
              <a:prstGeom prst="rect">
                <a:avLst/>
              </a:prstGeom>
              <a:blipFill>
                <a:blip r:embed="rId2"/>
                <a:stretch>
                  <a:fillRect/>
                </a:stretch>
              </a:blipFill>
            </p:spPr>
            <p:txBody>
              <a:bodyPr/>
              <a:lstStyle/>
              <a:p>
                <a:r>
                  <a:rPr lang="en-HK">
                    <a:noFill/>
                  </a:rPr>
                  <a:t> </a:t>
                </a:r>
              </a:p>
            </p:txBody>
          </p:sp>
        </mc:Fallback>
      </mc:AlternateContent>
    </p:spTree>
    <p:extLst>
      <p:ext uri="{BB962C8B-B14F-4D97-AF65-F5344CB8AC3E}">
        <p14:creationId xmlns:p14="http://schemas.microsoft.com/office/powerpoint/2010/main" val="23942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rPr>
              <a:t>Distributing Objects into Boxes</a:t>
            </a:r>
            <a:endParaRPr lang="zh-CN" altLang="en-US" dirty="0">
              <a:solidFill>
                <a:schemeClr val="tx1"/>
              </a:solidFill>
            </a:endParaRPr>
          </a:p>
        </p:txBody>
      </p:sp>
      <p:sp>
        <p:nvSpPr>
          <p:cNvPr id="3" name="内容占位符 2"/>
          <p:cNvSpPr>
            <a:spLocks noGrp="1"/>
          </p:cNvSpPr>
          <p:nvPr>
            <p:ph idx="1"/>
          </p:nvPr>
        </p:nvSpPr>
        <p:spPr>
          <a:xfrm>
            <a:off x="228600" y="1295400"/>
            <a:ext cx="8686800" cy="5181600"/>
          </a:xfrm>
        </p:spPr>
        <p:txBody>
          <a:bodyPr/>
          <a:lstStyle/>
          <a:p>
            <a:pPr marL="0" indent="0">
              <a:buNone/>
            </a:pPr>
            <a:r>
              <a:rPr lang="en-US" altLang="zh-CN" sz="2200" dirty="0"/>
              <a:t>Many counting problems can be solved by enumerating the different ways objects can be placed into boxes where the order these objects are placed into the boxes does not matter.</a:t>
            </a:r>
          </a:p>
          <a:p>
            <a:pPr marL="0" indent="0">
              <a:buNone/>
            </a:pPr>
            <a:r>
              <a:rPr lang="en-US" altLang="zh-CN" sz="2200" dirty="0"/>
              <a:t>The objects and the boxes can be either </a:t>
            </a:r>
            <a:r>
              <a:rPr lang="en-US" altLang="zh-CN" sz="2200" i="1" dirty="0">
                <a:solidFill>
                  <a:srgbClr val="FF0000"/>
                </a:solidFill>
              </a:rPr>
              <a:t>Distinguishable</a:t>
            </a:r>
            <a:r>
              <a:rPr lang="en-US" altLang="zh-CN" sz="2200" dirty="0"/>
              <a:t> (labeled) or </a:t>
            </a:r>
            <a:r>
              <a:rPr lang="en-US" altLang="zh-CN" sz="2200" i="1" dirty="0">
                <a:solidFill>
                  <a:srgbClr val="0000FF"/>
                </a:solidFill>
              </a:rPr>
              <a:t>Indistinguishable</a:t>
            </a:r>
            <a:r>
              <a:rPr lang="en-US" altLang="zh-CN" sz="2200" i="1" dirty="0"/>
              <a:t> </a:t>
            </a:r>
            <a:r>
              <a:rPr lang="en-US" altLang="zh-CN" sz="2200" dirty="0"/>
              <a:t>(unlabeled).</a:t>
            </a:r>
          </a:p>
          <a:p>
            <a:pPr marL="0" indent="0">
              <a:buNone/>
            </a:pPr>
            <a:r>
              <a:rPr lang="en-US" altLang="zh-CN" sz="2200" dirty="0"/>
              <a:t>Examples: </a:t>
            </a:r>
          </a:p>
          <a:p>
            <a:r>
              <a:rPr lang="en-US" altLang="zh-CN" sz="2200" dirty="0">
                <a:solidFill>
                  <a:srgbClr val="FF0000"/>
                </a:solidFill>
              </a:rPr>
              <a:t>D</a:t>
            </a:r>
            <a:r>
              <a:rPr lang="en-US" altLang="zh-CN" sz="2200" dirty="0"/>
              <a:t>-</a:t>
            </a:r>
            <a:r>
              <a:rPr lang="en-US" altLang="zh-CN" sz="2200" dirty="0">
                <a:solidFill>
                  <a:srgbClr val="FF0000"/>
                </a:solidFill>
              </a:rPr>
              <a:t>D</a:t>
            </a:r>
            <a:r>
              <a:rPr lang="en-US" altLang="zh-CN" sz="2200" dirty="0"/>
              <a:t>: How many ways to place </a:t>
            </a:r>
            <a:r>
              <a:rPr lang="en-US" altLang="zh-CN" sz="2200" i="1" dirty="0"/>
              <a:t>n</a:t>
            </a:r>
            <a:r>
              <a:rPr lang="en-US" altLang="zh-CN" sz="2200" dirty="0"/>
              <a:t> </a:t>
            </a:r>
            <a:r>
              <a:rPr lang="en-US" altLang="zh-CN" sz="2200" dirty="0">
                <a:solidFill>
                  <a:srgbClr val="FF3300"/>
                </a:solidFill>
              </a:rPr>
              <a:t>labeled objects</a:t>
            </a:r>
            <a:r>
              <a:rPr lang="en-US" altLang="zh-CN" sz="2200" dirty="0"/>
              <a:t> in </a:t>
            </a:r>
            <a:r>
              <a:rPr lang="en-US" altLang="zh-CN" sz="2200" i="1" dirty="0"/>
              <a:t>m</a:t>
            </a:r>
            <a:r>
              <a:rPr lang="en-US" altLang="zh-CN" sz="2200" dirty="0"/>
              <a:t> </a:t>
            </a:r>
            <a:r>
              <a:rPr lang="en-US" altLang="zh-CN" sz="2200" dirty="0">
                <a:solidFill>
                  <a:srgbClr val="FF3300"/>
                </a:solidFill>
              </a:rPr>
              <a:t>labeled</a:t>
            </a:r>
            <a:r>
              <a:rPr lang="en-US" altLang="zh-CN" sz="2200" dirty="0"/>
              <a:t> </a:t>
            </a:r>
            <a:r>
              <a:rPr lang="en-US" altLang="zh-CN" sz="2200" dirty="0">
                <a:solidFill>
                  <a:srgbClr val="FF3300"/>
                </a:solidFill>
              </a:rPr>
              <a:t>boxes</a:t>
            </a:r>
          </a:p>
          <a:p>
            <a:r>
              <a:rPr lang="en-US" altLang="zh-CN" sz="2200" dirty="0">
                <a:solidFill>
                  <a:srgbClr val="FF0000"/>
                </a:solidFill>
              </a:rPr>
              <a:t>D</a:t>
            </a:r>
            <a:r>
              <a:rPr lang="en-US" altLang="zh-CN" sz="2200" dirty="0"/>
              <a:t>-</a:t>
            </a:r>
            <a:r>
              <a:rPr lang="en-US" altLang="zh-CN" sz="2200" dirty="0">
                <a:solidFill>
                  <a:srgbClr val="0000FF"/>
                </a:solidFill>
              </a:rPr>
              <a:t>I</a:t>
            </a:r>
            <a:r>
              <a:rPr lang="en-US" altLang="zh-CN" sz="2200" dirty="0"/>
              <a:t>: How many ways to place </a:t>
            </a:r>
            <a:r>
              <a:rPr lang="en-US" altLang="zh-CN" sz="2200" i="1" dirty="0"/>
              <a:t>n</a:t>
            </a:r>
            <a:r>
              <a:rPr lang="en-US" altLang="zh-CN" sz="2200" dirty="0"/>
              <a:t> </a:t>
            </a:r>
            <a:r>
              <a:rPr lang="en-US" altLang="zh-CN" sz="2200" dirty="0">
                <a:solidFill>
                  <a:srgbClr val="FF3300"/>
                </a:solidFill>
              </a:rPr>
              <a:t>labeled objects</a:t>
            </a:r>
            <a:r>
              <a:rPr lang="en-US" altLang="zh-CN" sz="2200" dirty="0"/>
              <a:t> in </a:t>
            </a:r>
            <a:r>
              <a:rPr lang="en-US" altLang="zh-CN" sz="2200" i="1" dirty="0"/>
              <a:t>m</a:t>
            </a:r>
            <a:r>
              <a:rPr lang="en-US" altLang="zh-CN" sz="2200" dirty="0"/>
              <a:t> </a:t>
            </a:r>
            <a:r>
              <a:rPr lang="en-US" altLang="zh-CN" sz="2200" dirty="0">
                <a:solidFill>
                  <a:srgbClr val="0000FF"/>
                </a:solidFill>
              </a:rPr>
              <a:t>unlabeled boxes</a:t>
            </a:r>
          </a:p>
          <a:p>
            <a:r>
              <a:rPr lang="en-US" altLang="zh-CN" sz="2200" dirty="0">
                <a:solidFill>
                  <a:srgbClr val="0000FF"/>
                </a:solidFill>
              </a:rPr>
              <a:t>I</a:t>
            </a:r>
            <a:r>
              <a:rPr lang="en-US" altLang="zh-CN" sz="2200" dirty="0"/>
              <a:t>-</a:t>
            </a:r>
            <a:r>
              <a:rPr lang="en-US" altLang="zh-CN" sz="2200" dirty="0">
                <a:solidFill>
                  <a:srgbClr val="FF3300"/>
                </a:solidFill>
              </a:rPr>
              <a:t>D</a:t>
            </a:r>
            <a:r>
              <a:rPr lang="en-US" altLang="zh-CN" sz="2200" dirty="0"/>
              <a:t>: How many ways to place </a:t>
            </a:r>
            <a:r>
              <a:rPr lang="en-US" altLang="zh-CN" sz="2200" i="1" dirty="0"/>
              <a:t>n</a:t>
            </a:r>
            <a:r>
              <a:rPr lang="en-US" altLang="zh-CN" sz="2200" dirty="0"/>
              <a:t> </a:t>
            </a:r>
            <a:r>
              <a:rPr lang="en-US" altLang="zh-CN" sz="2200" dirty="0">
                <a:solidFill>
                  <a:srgbClr val="0000FF"/>
                </a:solidFill>
              </a:rPr>
              <a:t>unlabeled objects</a:t>
            </a:r>
            <a:r>
              <a:rPr lang="en-US" altLang="zh-CN" sz="2200" dirty="0"/>
              <a:t> in </a:t>
            </a:r>
            <a:r>
              <a:rPr lang="en-US" altLang="zh-CN" sz="2200" i="1" dirty="0"/>
              <a:t>m</a:t>
            </a:r>
            <a:r>
              <a:rPr lang="en-US" altLang="zh-CN" sz="2200" dirty="0"/>
              <a:t> </a:t>
            </a:r>
            <a:r>
              <a:rPr lang="en-US" altLang="zh-CN" sz="2200" dirty="0">
                <a:solidFill>
                  <a:srgbClr val="FF3300"/>
                </a:solidFill>
              </a:rPr>
              <a:t>labeled boxes</a:t>
            </a:r>
          </a:p>
          <a:p>
            <a:r>
              <a:rPr lang="en-US" altLang="zh-CN" sz="2200" dirty="0">
                <a:solidFill>
                  <a:srgbClr val="0000FF"/>
                </a:solidFill>
              </a:rPr>
              <a:t>I</a:t>
            </a:r>
            <a:r>
              <a:rPr lang="en-US" altLang="zh-CN" sz="2200" dirty="0"/>
              <a:t>-</a:t>
            </a:r>
            <a:r>
              <a:rPr lang="en-US" altLang="zh-CN" sz="2200" dirty="0">
                <a:solidFill>
                  <a:srgbClr val="0000FF"/>
                </a:solidFill>
              </a:rPr>
              <a:t>I</a:t>
            </a:r>
            <a:r>
              <a:rPr lang="en-US" altLang="zh-CN" sz="2200" dirty="0"/>
              <a:t>: How many ways to place </a:t>
            </a:r>
            <a:r>
              <a:rPr lang="en-US" altLang="zh-CN" sz="2200" i="1" dirty="0"/>
              <a:t>n</a:t>
            </a:r>
            <a:r>
              <a:rPr lang="en-US" altLang="zh-CN" sz="2200" dirty="0"/>
              <a:t> </a:t>
            </a:r>
            <a:r>
              <a:rPr lang="en-US" altLang="zh-CN" sz="2200" dirty="0">
                <a:solidFill>
                  <a:srgbClr val="0000FF"/>
                </a:solidFill>
              </a:rPr>
              <a:t>unlabeled objects</a:t>
            </a:r>
            <a:r>
              <a:rPr lang="en-US" altLang="zh-CN" sz="2200" dirty="0"/>
              <a:t> in </a:t>
            </a:r>
            <a:r>
              <a:rPr lang="en-US" altLang="zh-CN" sz="2200" i="1" dirty="0"/>
              <a:t>m</a:t>
            </a:r>
            <a:r>
              <a:rPr lang="en-US" altLang="zh-CN" sz="2200" dirty="0"/>
              <a:t> </a:t>
            </a:r>
            <a:r>
              <a:rPr lang="en-US" altLang="zh-CN" sz="2200" dirty="0">
                <a:solidFill>
                  <a:srgbClr val="0000FF"/>
                </a:solidFill>
              </a:rPr>
              <a:t>unlabeled</a:t>
            </a:r>
            <a:r>
              <a:rPr lang="en-US" altLang="zh-CN" sz="2200" dirty="0">
                <a:solidFill>
                  <a:srgbClr val="FF3300"/>
                </a:solidFill>
              </a:rPr>
              <a:t> </a:t>
            </a:r>
            <a:r>
              <a:rPr lang="en-US" altLang="zh-CN" sz="2200" dirty="0">
                <a:solidFill>
                  <a:srgbClr val="0000FF"/>
                </a:solidFill>
              </a:rPr>
              <a:t>boxes</a:t>
            </a:r>
            <a:endParaRPr lang="en-US" altLang="zh-CN" sz="2200" dirty="0">
              <a:solidFill>
                <a:srgbClr val="FF3300"/>
              </a:solidFill>
            </a:endParaRPr>
          </a:p>
          <a:p>
            <a:endParaRPr lang="en-US" altLang="zh-CN" sz="2200" dirty="0">
              <a:solidFill>
                <a:srgbClr val="FF3300"/>
              </a:solidFill>
            </a:endParaRPr>
          </a:p>
          <a:p>
            <a:endParaRPr lang="en-US" altLang="zh-CN" sz="2200" dirty="0">
              <a:solidFill>
                <a:srgbClr val="FF3300"/>
              </a:solidFill>
            </a:endParaRPr>
          </a:p>
        </p:txBody>
      </p:sp>
      <p:sp>
        <p:nvSpPr>
          <p:cNvPr id="4" name="Slide Number Placeholder 3"/>
          <p:cNvSpPr>
            <a:spLocks noGrp="1"/>
          </p:cNvSpPr>
          <p:nvPr>
            <p:ph type="sldNum" sz="quarter" idx="12"/>
          </p:nvPr>
        </p:nvSpPr>
        <p:spPr/>
        <p:txBody>
          <a:bodyPr/>
          <a:lstStyle/>
          <a:p>
            <a:fld id="{5EC735E3-5B29-4F54-8FB9-022B0DB6C884}" type="slidenum">
              <a:rPr lang="en-US" smtClean="0"/>
              <a:pPr/>
              <a:t>37</a:t>
            </a:fld>
            <a:endParaRPr lang="en-US"/>
          </a:p>
        </p:txBody>
      </p:sp>
    </p:spTree>
    <p:extLst>
      <p:ext uri="{BB962C8B-B14F-4D97-AF65-F5344CB8AC3E}">
        <p14:creationId xmlns:p14="http://schemas.microsoft.com/office/powerpoint/2010/main" val="184693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solidFill>
                  <a:schemeClr val="tx1"/>
                </a:solidFill>
              </a:rPr>
              <a:t>Distributing Objects into Boxes</a:t>
            </a:r>
            <a:endParaRPr lang="zh-CN" altLang="en-US" sz="3200" dirty="0">
              <a:solidFill>
                <a:schemeClr val="tx1"/>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8600" y="1066800"/>
                <a:ext cx="8686800" cy="5410200"/>
              </a:xfrm>
            </p:spPr>
            <p:txBody>
              <a:bodyPr/>
              <a:lstStyle/>
              <a:p>
                <a:r>
                  <a:rPr lang="en-US" altLang="zh-CN" dirty="0"/>
                  <a:t>How many ways are there to deal </a:t>
                </a:r>
                <a:r>
                  <a:rPr lang="en-US" altLang="zh-CN" dirty="0">
                    <a:solidFill>
                      <a:srgbClr val="FF0000"/>
                    </a:solidFill>
                  </a:rPr>
                  <a:t>5 cards to each of 4 players</a:t>
                </a:r>
                <a:r>
                  <a:rPr lang="en-US" altLang="zh-CN" dirty="0"/>
                  <a:t>, from the standard deck of 52 cards?</a:t>
                </a:r>
              </a:p>
              <a:p>
                <a:r>
                  <a:rPr lang="en-US" altLang="zh-CN" b="1" dirty="0">
                    <a:solidFill>
                      <a:srgbClr val="0000FF"/>
                    </a:solidFill>
                  </a:rPr>
                  <a:t>Solution</a:t>
                </a:r>
              </a:p>
              <a:p>
                <a:r>
                  <a:rPr lang="en-US" altLang="zh-CN" dirty="0">
                    <a:solidFill>
                      <a:srgbClr val="0000FF"/>
                    </a:solidFill>
                  </a:rPr>
                  <a:t>Here, the cards are the </a:t>
                </a:r>
                <a:r>
                  <a:rPr lang="en-US" altLang="zh-CN" dirty="0">
                    <a:solidFill>
                      <a:srgbClr val="FF3300"/>
                    </a:solidFill>
                  </a:rPr>
                  <a:t>distinguishable</a:t>
                </a:r>
                <a:r>
                  <a:rPr lang="en-US" altLang="zh-CN" dirty="0">
                    <a:solidFill>
                      <a:srgbClr val="0000FF"/>
                    </a:solidFill>
                  </a:rPr>
                  <a:t> objects and the players hands are the </a:t>
                </a:r>
                <a:r>
                  <a:rPr lang="en-US" altLang="zh-CN" dirty="0">
                    <a:solidFill>
                      <a:srgbClr val="FF3300"/>
                    </a:solidFill>
                  </a:rPr>
                  <a:t>distinguishable</a:t>
                </a:r>
                <a:r>
                  <a:rPr lang="en-US" altLang="zh-CN" dirty="0">
                    <a:solidFill>
                      <a:srgbClr val="0000FF"/>
                    </a:solidFill>
                  </a:rPr>
                  <a:t> boxes.</a:t>
                </a:r>
              </a:p>
              <a:p>
                <a:r>
                  <a:rPr lang="en-US" altLang="zh-CN" dirty="0"/>
                  <a:t>The first player’s can be chosen in </a:t>
                </a: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(52,5)</m:t>
                    </m:r>
                  </m:oMath>
                </a14:m>
                <a:r>
                  <a:rPr lang="en-US" altLang="zh-CN" dirty="0"/>
                  <a:t> ways</a:t>
                </a:r>
              </a:p>
              <a:p>
                <a:r>
                  <a:rPr lang="en-US" altLang="zh-CN" dirty="0"/>
                  <a:t>The second player: </a:t>
                </a: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(47,5)</m:t>
                    </m:r>
                  </m:oMath>
                </a14:m>
                <a:r>
                  <a:rPr lang="en-US" altLang="zh-CN" dirty="0"/>
                  <a:t> ways</a:t>
                </a:r>
              </a:p>
              <a:p>
                <a:r>
                  <a:rPr lang="en-US" altLang="zh-CN" dirty="0"/>
                  <a:t>The third player: </a:t>
                </a: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(42,5)</m:t>
                    </m:r>
                  </m:oMath>
                </a14:m>
                <a:r>
                  <a:rPr lang="en-US" altLang="zh-CN" dirty="0"/>
                  <a:t> ways</a:t>
                </a:r>
              </a:p>
              <a:p>
                <a:r>
                  <a:rPr lang="en-US" altLang="zh-CN" dirty="0"/>
                  <a:t>The fourth player: </a:t>
                </a:r>
                <a14:m>
                  <m:oMath xmlns:m="http://schemas.openxmlformats.org/officeDocument/2006/math">
                    <m:r>
                      <a:rPr lang="en-US" altLang="zh-CN" i="1" dirty="0" smtClean="0">
                        <a:latin typeface="Cambria Math" panose="02040503050406030204" pitchFamily="18" charset="0"/>
                      </a:rPr>
                      <m:t>𝐶</m:t>
                    </m:r>
                    <m:r>
                      <a:rPr lang="en-US" altLang="zh-CN" i="1" dirty="0" smtClean="0">
                        <a:latin typeface="Cambria Math" panose="02040503050406030204" pitchFamily="18" charset="0"/>
                      </a:rPr>
                      <m:t>(37,5)</m:t>
                    </m:r>
                  </m:oMath>
                </a14:m>
                <a:r>
                  <a:rPr lang="en-US" altLang="zh-CN" dirty="0"/>
                  <a:t> ways</a:t>
                </a:r>
              </a:p>
              <a:p>
                <a:r>
                  <a:rPr lang="en-US" altLang="zh-CN" dirty="0"/>
                  <a:t>By the product rule, the total number of ways is </a:t>
                </a:r>
                <a14:m>
                  <m:oMath xmlns:m="http://schemas.openxmlformats.org/officeDocument/2006/math">
                    <m:r>
                      <a:rPr lang="en-US" altLang="zh-CN" sz="2000" i="1" dirty="0" smtClean="0">
                        <a:latin typeface="Cambria Math" panose="02040503050406030204" pitchFamily="18" charset="0"/>
                      </a:rPr>
                      <m:t>𝐶</m:t>
                    </m:r>
                    <m:r>
                      <a:rPr lang="en-US" altLang="zh-CN" sz="2000" i="1" dirty="0" smtClean="0">
                        <a:latin typeface="Cambria Math" panose="02040503050406030204" pitchFamily="18" charset="0"/>
                      </a:rPr>
                      <m:t>(52,5)</m:t>
                    </m:r>
                    <m:r>
                      <a:rPr lang="en-US" altLang="zh-CN" sz="2000" i="1" dirty="0" smtClean="0">
                        <a:latin typeface="Cambria Math" panose="02040503050406030204" pitchFamily="18" charset="0"/>
                      </a:rPr>
                      <m:t>𝐶</m:t>
                    </m:r>
                    <m:r>
                      <a:rPr lang="en-US" altLang="zh-CN" sz="2000" i="1" dirty="0" smtClean="0">
                        <a:latin typeface="Cambria Math" panose="02040503050406030204" pitchFamily="18" charset="0"/>
                      </a:rPr>
                      <m:t>(47,5)</m:t>
                    </m:r>
                    <m:r>
                      <a:rPr lang="en-US" altLang="zh-CN" sz="2000" i="1" dirty="0" smtClean="0">
                        <a:latin typeface="Cambria Math" panose="02040503050406030204" pitchFamily="18" charset="0"/>
                      </a:rPr>
                      <m:t>𝐶</m:t>
                    </m:r>
                    <m:r>
                      <a:rPr lang="en-US" altLang="zh-CN" sz="2000" i="1" dirty="0" smtClean="0">
                        <a:latin typeface="Cambria Math" panose="02040503050406030204" pitchFamily="18" charset="0"/>
                      </a:rPr>
                      <m:t>(42,5)</m:t>
                    </m:r>
                    <m:r>
                      <a:rPr lang="en-US" altLang="zh-CN" sz="2000" i="1" dirty="0" smtClean="0">
                        <a:latin typeface="Cambria Math" panose="02040503050406030204" pitchFamily="18" charset="0"/>
                      </a:rPr>
                      <m:t>𝐶</m:t>
                    </m:r>
                    <m:r>
                      <a:rPr lang="en-US" altLang="zh-CN" sz="2000" i="1" dirty="0" smtClean="0">
                        <a:latin typeface="Cambria Math" panose="02040503050406030204" pitchFamily="18" charset="0"/>
                      </a:rPr>
                      <m:t>(37,5)=</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52!</m:t>
                        </m:r>
                      </m:num>
                      <m:den>
                        <m:r>
                          <a:rPr lang="en-US" altLang="zh-CN" b="0" i="1" smtClean="0">
                            <a:latin typeface="Cambria Math" panose="02040503050406030204" pitchFamily="18" charset="0"/>
                          </a:rPr>
                          <m:t>47!5!</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47</m:t>
                        </m:r>
                        <m:r>
                          <a:rPr lang="en-US" altLang="zh-CN" i="1">
                            <a:latin typeface="Cambria Math" panose="02040503050406030204" pitchFamily="18" charset="0"/>
                          </a:rPr>
                          <m:t>!</m:t>
                        </m:r>
                      </m:num>
                      <m:den>
                        <m:r>
                          <a:rPr lang="en-US" altLang="zh-CN" i="1">
                            <a:latin typeface="Cambria Math" panose="02040503050406030204" pitchFamily="18" charset="0"/>
                          </a:rPr>
                          <m:t>4</m:t>
                        </m:r>
                        <m:r>
                          <a:rPr lang="en-US" altLang="zh-CN" b="0" i="1" smtClean="0">
                            <a:latin typeface="Cambria Math" panose="02040503050406030204" pitchFamily="18" charset="0"/>
                          </a:rPr>
                          <m:t>2</m:t>
                        </m:r>
                        <m:r>
                          <a:rPr lang="en-US" altLang="zh-CN" i="1">
                            <a:latin typeface="Cambria Math" panose="02040503050406030204" pitchFamily="18" charset="0"/>
                          </a:rPr>
                          <m:t>!5!</m:t>
                        </m:r>
                      </m:den>
                    </m:f>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42</m:t>
                        </m:r>
                        <m:r>
                          <a:rPr lang="en-US" altLang="zh-CN" i="1">
                            <a:latin typeface="Cambria Math" panose="02040503050406030204" pitchFamily="18" charset="0"/>
                          </a:rPr>
                          <m:t>!</m:t>
                        </m:r>
                      </m:num>
                      <m:den>
                        <m:r>
                          <a:rPr lang="en-US" altLang="zh-CN" b="0" i="1" smtClean="0">
                            <a:latin typeface="Cambria Math" panose="02040503050406030204" pitchFamily="18" charset="0"/>
                          </a:rPr>
                          <m:t>3</m:t>
                        </m:r>
                        <m:r>
                          <a:rPr lang="en-US" altLang="zh-CN" i="1">
                            <a:latin typeface="Cambria Math" panose="02040503050406030204" pitchFamily="18" charset="0"/>
                          </a:rPr>
                          <m:t>7!5!</m:t>
                        </m:r>
                      </m:den>
                    </m:f>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37</m:t>
                        </m:r>
                        <m:r>
                          <a:rPr lang="en-US" altLang="zh-CN" i="1">
                            <a:latin typeface="Cambria Math" panose="02040503050406030204" pitchFamily="18" charset="0"/>
                          </a:rPr>
                          <m:t>!</m:t>
                        </m:r>
                      </m:num>
                      <m:den>
                        <m:r>
                          <a:rPr lang="en-US" altLang="zh-CN" b="0" i="1" smtClean="0">
                            <a:latin typeface="Cambria Math" panose="02040503050406030204" pitchFamily="18" charset="0"/>
                          </a:rPr>
                          <m:t>32</m:t>
                        </m:r>
                        <m:r>
                          <a:rPr lang="en-US" altLang="zh-CN" i="1">
                            <a:latin typeface="Cambria Math" panose="02040503050406030204" pitchFamily="18" charset="0"/>
                          </a:rPr>
                          <m:t>!5!</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52!</m:t>
                        </m:r>
                      </m:num>
                      <m:den>
                        <m:r>
                          <a:rPr lang="en-US" altLang="zh-CN" b="0" i="1" smtClean="0">
                            <a:latin typeface="Cambria Math" panose="02040503050406030204" pitchFamily="18" charset="0"/>
                          </a:rPr>
                          <m:t>5!5!5!5!</m:t>
                        </m:r>
                        <m:r>
                          <a:rPr lang="en-US" altLang="zh-CN" b="0" i="1" smtClean="0">
                            <a:solidFill>
                              <a:srgbClr val="FF3300"/>
                            </a:solidFill>
                            <a:latin typeface="Cambria Math" panose="02040503050406030204" pitchFamily="18" charset="0"/>
                          </a:rPr>
                          <m:t>32!</m:t>
                        </m:r>
                      </m:den>
                    </m:f>
                  </m:oMath>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8600" y="1066800"/>
                <a:ext cx="8686800" cy="5410200"/>
              </a:xfrm>
              <a:blipFill>
                <a:blip r:embed="rId2"/>
                <a:stretch>
                  <a:fillRect l="-982" t="-788" r="-1614"/>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38</a:t>
            </a:fld>
            <a:endParaRPr lang="en-US"/>
          </a:p>
        </p:txBody>
      </p:sp>
    </p:spTree>
    <p:extLst>
      <p:ext uri="{BB962C8B-B14F-4D97-AF65-F5344CB8AC3E}">
        <p14:creationId xmlns:p14="http://schemas.microsoft.com/office/powerpoint/2010/main" val="356062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solidFill>
                  <a:schemeClr val="tx1"/>
                </a:solidFill>
              </a:rPr>
              <a:t>Distributing Objects into Boxes</a:t>
            </a:r>
            <a:endParaRPr lang="zh-CN" altLang="en-US" sz="3200" dirty="0">
              <a:solidFill>
                <a:schemeClr val="tx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0" y="1216511"/>
                <a:ext cx="8686800" cy="4953000"/>
              </a:xfrm>
            </p:spPr>
            <p:txBody>
              <a:bodyPr/>
              <a:lstStyle/>
              <a:p>
                <a:r>
                  <a:rPr lang="en-US" altLang="zh-CN" b="1" dirty="0">
                    <a:solidFill>
                      <a:srgbClr val="0000FF"/>
                    </a:solidFill>
                  </a:rPr>
                  <a:t>Theorem</a:t>
                </a:r>
                <a:br>
                  <a:rPr lang="en-US" altLang="zh-CN" b="1" dirty="0">
                    <a:solidFill>
                      <a:srgbClr val="0000FF"/>
                    </a:solidFill>
                  </a:rPr>
                </a:br>
                <a:r>
                  <a:rPr lang="en-US" altLang="zh-CN" dirty="0"/>
                  <a:t>The number of ways to distribute </a:t>
                </a:r>
                <a:r>
                  <a:rPr lang="en-US" altLang="zh-CN" i="1" dirty="0"/>
                  <a:t>n</a:t>
                </a:r>
                <a:r>
                  <a:rPr lang="en-US" altLang="zh-CN" dirty="0"/>
                  <a:t> </a:t>
                </a:r>
                <a:r>
                  <a:rPr lang="en-US" altLang="zh-CN" dirty="0">
                    <a:solidFill>
                      <a:srgbClr val="FF3300"/>
                    </a:solidFill>
                  </a:rPr>
                  <a:t>distinguishable</a:t>
                </a:r>
                <a:r>
                  <a:rPr lang="en-US" altLang="zh-CN" dirty="0"/>
                  <a:t> objects into </a:t>
                </a:r>
                <a:r>
                  <a:rPr lang="en-US" altLang="zh-CN" i="1" dirty="0"/>
                  <a:t>k</a:t>
                </a:r>
                <a:r>
                  <a:rPr lang="en-US" altLang="zh-CN" dirty="0"/>
                  <a:t> </a:t>
                </a:r>
                <a:r>
                  <a:rPr lang="en-US" altLang="zh-CN" dirty="0">
                    <a:solidFill>
                      <a:srgbClr val="FF3300"/>
                    </a:solidFill>
                  </a:rPr>
                  <a:t>distinguishable</a:t>
                </a:r>
                <a:r>
                  <a:rPr lang="en-US" altLang="zh-CN" dirty="0"/>
                  <a:t> boxes so that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𝑖</m:t>
                        </m:r>
                      </m:sub>
                    </m:sSub>
                  </m:oMath>
                </a14:m>
                <a:r>
                  <a:rPr lang="en-US" altLang="zh-CN" dirty="0"/>
                  <a:t> objects are placed into box </a:t>
                </a:r>
                <a:r>
                  <a:rPr lang="en-US" altLang="zh-CN" i="1" dirty="0" err="1"/>
                  <a:t>i</a:t>
                </a:r>
                <a:r>
                  <a:rPr lang="en-US" altLang="zh-CN" dirty="0"/>
                  <a:t>, where</a:t>
                </a:r>
                <a:r>
                  <a:rPr lang="en-US" altLang="zh-CN" i="1" dirty="0"/>
                  <a:t> n</a:t>
                </a:r>
                <a:r>
                  <a:rPr lang="en-US" altLang="zh-CN" baseline="-25000" dirty="0"/>
                  <a:t>1</a:t>
                </a:r>
                <a:r>
                  <a:rPr lang="en-US" altLang="zh-CN" dirty="0"/>
                  <a:t>+</a:t>
                </a:r>
                <a:r>
                  <a:rPr lang="en-US" altLang="zh-CN" i="1" dirty="0"/>
                  <a:t>n</a:t>
                </a:r>
                <a:r>
                  <a:rPr lang="en-US" altLang="zh-CN" baseline="-25000" dirty="0"/>
                  <a:t>2</a:t>
                </a:r>
                <a:r>
                  <a:rPr lang="en-US" altLang="zh-CN" dirty="0"/>
                  <a:t>+..</a:t>
                </a:r>
                <a:r>
                  <a:rPr lang="en-US" altLang="zh-CN" i="1" dirty="0"/>
                  <a:t> </a:t>
                </a:r>
                <a:r>
                  <a:rPr lang="en-US" altLang="zh-CN" dirty="0"/>
                  <a:t>+</a:t>
                </a:r>
                <a:r>
                  <a:rPr lang="en-US" altLang="zh-CN" i="1" dirty="0" err="1"/>
                  <a:t>n</a:t>
                </a:r>
                <a:r>
                  <a:rPr lang="en-US" altLang="zh-CN" i="1" baseline="-25000" dirty="0" err="1"/>
                  <a:t>k</a:t>
                </a:r>
                <a:r>
                  <a:rPr lang="en-US" altLang="zh-CN" i="1" baseline="-25000" dirty="0"/>
                  <a:t> </a:t>
                </a:r>
                <a:r>
                  <a:rPr lang="en-US" altLang="zh-CN" dirty="0"/>
                  <a:t>= </a:t>
                </a:r>
                <a:r>
                  <a:rPr lang="en-US" altLang="zh-CN" i="1" dirty="0">
                    <a:solidFill>
                      <a:srgbClr val="FF3300"/>
                    </a:solidFill>
                  </a:rPr>
                  <a:t>m </a:t>
                </a:r>
                <a:r>
                  <a:rPr lang="en-US" altLang="zh-CN" dirty="0"/>
                  <a:t>&lt; </a:t>
                </a:r>
                <a:r>
                  <a:rPr lang="en-US" altLang="zh-CN" i="1" dirty="0"/>
                  <a:t>n</a:t>
                </a:r>
                <a:r>
                  <a:rPr lang="en-US" altLang="zh-CN" dirty="0"/>
                  <a:t>, is equal to:</a:t>
                </a:r>
              </a:p>
              <a:p>
                <a:pPr marL="0" indent="0">
                  <a:buNone/>
                </a:pPr>
                <a14:m>
                  <m:oMathPara xmlns:m="http://schemas.openxmlformats.org/officeDocument/2006/math">
                    <m:oMath>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sub>
                          </m:sSub>
                          <m:r>
                            <a:rPr lang="en-HK" i="1">
                              <a:solidFill>
                                <a:srgbClr val="000000"/>
                              </a:solidFill>
                              <a:latin typeface="Cambria Math" panose="02040503050406030204" pitchFamily="18" charset="0"/>
                            </a:rPr>
                            <m:t>!</m:t>
                          </m:r>
                          <m:r>
                            <a:rPr lang="en-HK" i="1">
                              <a:solidFill>
                                <a:srgbClr val="FF3300"/>
                              </a:solidFill>
                              <a:latin typeface="Cambria Math" panose="02040503050406030204" pitchFamily="18" charset="0"/>
                            </a:rPr>
                            <m:t>(</m:t>
                          </m:r>
                          <m:r>
                            <a:rPr lang="en-HK" i="1">
                              <a:solidFill>
                                <a:srgbClr val="FF3300"/>
                              </a:solidFill>
                              <a:latin typeface="Cambria Math" panose="02040503050406030204" pitchFamily="18" charset="0"/>
                            </a:rPr>
                            <m:t>𝑛</m:t>
                          </m:r>
                          <m:r>
                            <a:rPr lang="en-HK" i="1">
                              <a:solidFill>
                                <a:srgbClr val="FF3300"/>
                              </a:solidFill>
                              <a:latin typeface="Cambria Math" panose="02040503050406030204" pitchFamily="18" charset="0"/>
                            </a:rPr>
                            <m:t>−</m:t>
                          </m:r>
                          <m:r>
                            <a:rPr lang="en-HK" i="1">
                              <a:solidFill>
                                <a:srgbClr val="FF3300"/>
                              </a:solidFill>
                              <a:latin typeface="Cambria Math" panose="02040503050406030204" pitchFamily="18" charset="0"/>
                            </a:rPr>
                            <m:t>𝑚</m:t>
                          </m:r>
                          <m:r>
                            <a:rPr lang="en-HK" i="1">
                              <a:solidFill>
                                <a:srgbClr val="FF3300"/>
                              </a:solidFill>
                              <a:latin typeface="Cambria Math" panose="02040503050406030204" pitchFamily="18" charset="0"/>
                            </a:rPr>
                            <m:t>)!</m:t>
                          </m:r>
                        </m:den>
                      </m:f>
                    </m:oMath>
                  </m:oMathPara>
                </a14:m>
                <a:endParaRPr lang="en-US" altLang="zh-CN" dirty="0">
                  <a:solidFill>
                    <a:srgbClr val="0000FF"/>
                  </a:solidFill>
                </a:endParaRPr>
              </a:p>
              <a:p>
                <a:pPr marL="0" indent="0">
                  <a:buNone/>
                </a:pPr>
                <a:endParaRPr lang="en-US" altLang="zh-CN" dirty="0">
                  <a:solidFill>
                    <a:srgbClr val="0000FF"/>
                  </a:solidFill>
                </a:endParaRPr>
              </a:p>
              <a:p>
                <a:r>
                  <a:rPr lang="en-US" altLang="zh-CN" b="1" dirty="0">
                    <a:solidFill>
                      <a:srgbClr val="0000FF"/>
                    </a:solidFill>
                  </a:rPr>
                  <a:t>Special Case</a:t>
                </a:r>
              </a:p>
              <a:p>
                <a:r>
                  <a:rPr lang="en-US" altLang="zh-CN" dirty="0"/>
                  <a:t>When </a:t>
                </a:r>
                <a:r>
                  <a:rPr lang="en-US" altLang="zh-CN" i="1" dirty="0"/>
                  <a:t>n</a:t>
                </a:r>
                <a:r>
                  <a:rPr lang="en-US" altLang="zh-CN" baseline="-25000" dirty="0"/>
                  <a:t>1</a:t>
                </a:r>
                <a:r>
                  <a:rPr lang="en-US" altLang="zh-CN" dirty="0"/>
                  <a:t>+</a:t>
                </a:r>
                <a:r>
                  <a:rPr lang="en-US" altLang="zh-CN" i="1" dirty="0"/>
                  <a:t>n</a:t>
                </a:r>
                <a:r>
                  <a:rPr lang="en-US" altLang="zh-CN" baseline="-25000" dirty="0"/>
                  <a:t>2</a:t>
                </a:r>
                <a:r>
                  <a:rPr lang="en-US" altLang="zh-CN" dirty="0"/>
                  <a:t>+..</a:t>
                </a:r>
                <a:r>
                  <a:rPr lang="en-US" altLang="zh-CN" i="1" dirty="0"/>
                  <a:t> </a:t>
                </a:r>
                <a:r>
                  <a:rPr lang="en-US" altLang="zh-CN" dirty="0"/>
                  <a:t>+</a:t>
                </a:r>
                <a:r>
                  <a:rPr lang="en-US" altLang="zh-CN" i="1" dirty="0" err="1"/>
                  <a:t>n</a:t>
                </a:r>
                <a:r>
                  <a:rPr lang="en-US" altLang="zh-CN" i="1" baseline="-25000" dirty="0" err="1"/>
                  <a:t>k</a:t>
                </a:r>
                <a:r>
                  <a:rPr lang="en-US" altLang="zh-CN" i="1" baseline="-25000" dirty="0"/>
                  <a:t> </a:t>
                </a:r>
                <a:r>
                  <a:rPr lang="en-US" altLang="zh-CN" dirty="0"/>
                  <a:t>= </a:t>
                </a:r>
                <a:r>
                  <a:rPr lang="en-US" altLang="zh-CN" i="1" dirty="0"/>
                  <a:t>n</a:t>
                </a:r>
                <a:r>
                  <a:rPr lang="en-US" altLang="zh-CN" dirty="0"/>
                  <a:t> the above formula becomes:</a:t>
                </a:r>
              </a:p>
              <a:p>
                <a:pPr marL="0" indent="0">
                  <a:buNone/>
                </a:pPr>
                <a14:m>
                  <m:oMathPara xmlns:m="http://schemas.openxmlformats.org/officeDocument/2006/math">
                    <m:oMath>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𝑛</m:t>
                          </m:r>
                          <m:r>
                            <a:rPr lang="en-HK" i="1">
                              <a:solidFill>
                                <a:srgbClr val="000000"/>
                              </a:solidFill>
                              <a:latin typeface="Cambria Math" panose="02040503050406030204" pitchFamily="18" charset="0"/>
                            </a:rPr>
                            <m:t>!</m:t>
                          </m:r>
                        </m:num>
                        <m:den>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2</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r>
                                <a:rPr lang="en-HK" i="1">
                                  <a:solidFill>
                                    <a:srgbClr val="000000"/>
                                  </a:solidFill>
                                  <a:latin typeface="Cambria Math" panose="02040503050406030204" pitchFamily="18" charset="0"/>
                                </a:rPr>
                                <m:t>−1</m:t>
                              </m:r>
                            </m:sub>
                          </m:sSub>
                          <m:r>
                            <a:rPr lang="en-HK" i="1">
                              <a:solidFill>
                                <a:srgbClr val="000000"/>
                              </a:solidFill>
                              <a:latin typeface="Cambria Math" panose="02040503050406030204" pitchFamily="18" charset="0"/>
                            </a:rPr>
                            <m:t>!</m:t>
                          </m:r>
                          <m:sSub>
                            <m:sSubPr>
                              <m:ctrlPr>
                                <a:rPr lang="en-HK" i="1">
                                  <a:solidFill>
                                    <a:srgbClr val="000000"/>
                                  </a:solidFill>
                                  <a:latin typeface="Cambria Math" panose="02040503050406030204" pitchFamily="18" charset="0"/>
                                </a:rPr>
                              </m:ctrlPr>
                            </m:sSubPr>
                            <m:e>
                              <m:r>
                                <a:rPr lang="en-HK" i="1">
                                  <a:solidFill>
                                    <a:srgbClr val="000000"/>
                                  </a:solidFill>
                                  <a:latin typeface="Cambria Math" panose="02040503050406030204" pitchFamily="18" charset="0"/>
                                </a:rPr>
                                <m:t>𝑛</m:t>
                              </m:r>
                            </m:e>
                            <m:sub>
                              <m:r>
                                <a:rPr lang="en-HK" i="1">
                                  <a:solidFill>
                                    <a:srgbClr val="000000"/>
                                  </a:solidFill>
                                  <a:latin typeface="Cambria Math" panose="02040503050406030204" pitchFamily="18" charset="0"/>
                                </a:rPr>
                                <m:t>𝑘</m:t>
                              </m:r>
                            </m:sub>
                          </m:sSub>
                          <m:r>
                            <a:rPr lang="en-HK" i="1">
                              <a:solidFill>
                                <a:srgbClr val="000000"/>
                              </a:solidFill>
                              <a:latin typeface="Cambria Math" panose="02040503050406030204" pitchFamily="18" charset="0"/>
                            </a:rPr>
                            <m:t>!</m:t>
                          </m:r>
                        </m:den>
                      </m:f>
                    </m:oMath>
                  </m:oMathPara>
                </a14:m>
                <a:endParaRPr lang="en-US" altLang="zh-CN" dirty="0">
                  <a:solidFill>
                    <a:srgbClr val="0000FF"/>
                  </a:solidFill>
                </a:endParaRPr>
              </a:p>
              <a:p>
                <a:r>
                  <a:rPr lang="en-US" altLang="zh-CN" sz="2000" dirty="0">
                    <a:solidFill>
                      <a:schemeClr val="tx1"/>
                    </a:solidFill>
                  </a:rPr>
                  <a:t>Same formula as “Permutations with Indistinguishable Object”</a:t>
                </a:r>
                <a:endParaRPr lang="en-US" altLang="zh-CN" sz="2000" dirty="0">
                  <a:solidFill>
                    <a:srgbClr val="0000FF"/>
                  </a:solidFill>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0" y="1216511"/>
                <a:ext cx="8686800" cy="4953000"/>
              </a:xfrm>
              <a:blipFill>
                <a:blip r:embed="rId2"/>
                <a:stretch>
                  <a:fillRect l="-1023" t="-1282" r="-585" b="-512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39</a:t>
            </a:fld>
            <a:endParaRPr lang="en-US"/>
          </a:p>
        </p:txBody>
      </p:sp>
    </p:spTree>
    <p:extLst>
      <p:ext uri="{BB962C8B-B14F-4D97-AF65-F5344CB8AC3E}">
        <p14:creationId xmlns:p14="http://schemas.microsoft.com/office/powerpoint/2010/main" val="4206429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Combinations with Repetition</a:t>
            </a:r>
          </a:p>
        </p:txBody>
      </p:sp>
      <p:sp>
        <p:nvSpPr>
          <p:cNvPr id="3" name="Content Placeholder 2"/>
          <p:cNvSpPr>
            <a:spLocks noGrp="1"/>
          </p:cNvSpPr>
          <p:nvPr>
            <p:ph idx="1"/>
          </p:nvPr>
        </p:nvSpPr>
        <p:spPr>
          <a:xfrm>
            <a:off x="152400" y="990600"/>
            <a:ext cx="8839200" cy="3429000"/>
          </a:xfrm>
        </p:spPr>
        <p:txBody>
          <a:bodyPr/>
          <a:lstStyle/>
          <a:p>
            <a:r>
              <a:rPr lang="en-US" sz="2000" dirty="0"/>
              <a:t>How many ways are there to select </a:t>
            </a:r>
            <a:r>
              <a:rPr lang="en-US" sz="2000" dirty="0">
                <a:solidFill>
                  <a:srgbClr val="0000FF"/>
                </a:solidFill>
              </a:rPr>
              <a:t>5</a:t>
            </a:r>
            <a:r>
              <a:rPr lang="en-US" sz="2000" dirty="0"/>
              <a:t> bills from the following </a:t>
            </a:r>
            <a:r>
              <a:rPr lang="en-US" sz="2000" dirty="0">
                <a:solidFill>
                  <a:srgbClr val="FF0000"/>
                </a:solidFill>
              </a:rPr>
              <a:t>7</a:t>
            </a:r>
            <a:r>
              <a:rPr lang="en-US" sz="2000" dirty="0"/>
              <a:t> denominations: </a:t>
            </a:r>
            <a:r>
              <a:rPr lang="en-US" dirty="0"/>
              <a:t>$</a:t>
            </a:r>
            <a:r>
              <a:rPr lang="en-US" sz="2000" dirty="0">
                <a:latin typeface="Cambria" pitchFamily="18" charset="0"/>
              </a:rPr>
              <a:t>1</a:t>
            </a:r>
            <a:r>
              <a:rPr lang="en-US" sz="2000" dirty="0"/>
              <a:t>, </a:t>
            </a:r>
            <a:r>
              <a:rPr lang="en-US" dirty="0"/>
              <a:t>$</a:t>
            </a:r>
            <a:r>
              <a:rPr lang="en-US" sz="2000" dirty="0">
                <a:latin typeface="Cambria" pitchFamily="18" charset="0"/>
              </a:rPr>
              <a:t>2</a:t>
            </a:r>
            <a:r>
              <a:rPr lang="en-US" sz="2000" dirty="0"/>
              <a:t>, </a:t>
            </a:r>
            <a:r>
              <a:rPr lang="en-US" dirty="0"/>
              <a:t>$</a:t>
            </a:r>
            <a:r>
              <a:rPr lang="en-US" sz="2000" dirty="0">
                <a:latin typeface="Cambria" pitchFamily="18" charset="0"/>
              </a:rPr>
              <a:t>5</a:t>
            </a:r>
            <a:r>
              <a:rPr lang="en-US" sz="2000" dirty="0"/>
              <a:t>, </a:t>
            </a:r>
            <a:r>
              <a:rPr lang="en-US" dirty="0"/>
              <a:t>$</a:t>
            </a:r>
            <a:r>
              <a:rPr lang="en-US" sz="2000" dirty="0">
                <a:latin typeface="Cambria" pitchFamily="18" charset="0"/>
              </a:rPr>
              <a:t>10</a:t>
            </a:r>
            <a:r>
              <a:rPr lang="en-US" sz="2000" dirty="0"/>
              <a:t>, </a:t>
            </a:r>
            <a:r>
              <a:rPr lang="en-US" dirty="0"/>
              <a:t>$</a:t>
            </a:r>
            <a:r>
              <a:rPr lang="en-US" sz="2000" dirty="0">
                <a:latin typeface="Cambria" pitchFamily="18" charset="0"/>
              </a:rPr>
              <a:t>20</a:t>
            </a:r>
            <a:r>
              <a:rPr lang="en-US" sz="2000" dirty="0"/>
              <a:t>, </a:t>
            </a:r>
            <a:r>
              <a:rPr lang="en-US" dirty="0"/>
              <a:t>$</a:t>
            </a:r>
            <a:r>
              <a:rPr lang="en-US" sz="2000" dirty="0">
                <a:latin typeface="Cambria" pitchFamily="18" charset="0"/>
              </a:rPr>
              <a:t>50</a:t>
            </a:r>
            <a:r>
              <a:rPr lang="en-US" sz="2000" dirty="0"/>
              <a:t>, and </a:t>
            </a:r>
            <a:r>
              <a:rPr lang="en-US" dirty="0"/>
              <a:t>$</a:t>
            </a:r>
            <a:r>
              <a:rPr lang="en-US" sz="2000" dirty="0">
                <a:latin typeface="Cambria" pitchFamily="18" charset="0"/>
              </a:rPr>
              <a:t>100</a:t>
            </a:r>
            <a:r>
              <a:rPr lang="en-US" sz="2000" dirty="0"/>
              <a:t>? Assume there are enough bills of each denomination</a:t>
            </a:r>
          </a:p>
          <a:p>
            <a:r>
              <a:rPr lang="en-US" sz="2000" b="1" dirty="0"/>
              <a:t>Solution</a:t>
            </a:r>
            <a:br>
              <a:rPr lang="en-US" sz="2000" b="1" dirty="0"/>
            </a:br>
            <a:r>
              <a:rPr lang="en-US" sz="2000" dirty="0"/>
              <a:t>Select the bills from the appropriate position of a cash box illustrated below. </a:t>
            </a:r>
          </a:p>
          <a:p>
            <a:r>
              <a:rPr lang="en-US" sz="2000" dirty="0"/>
              <a:t>Equivalently, according to the "</a:t>
            </a:r>
            <a:r>
              <a:rPr lang="en-US" altLang="zh-CN" sz="2000" i="1" dirty="0"/>
              <a:t>Distributing Objects into Boxes</a:t>
            </a:r>
            <a:r>
              <a:rPr lang="en-US" altLang="zh-CN" sz="2000" dirty="0"/>
              <a:t>" framework, </a:t>
            </a:r>
            <a:r>
              <a:rPr lang="en-US" sz="2000" dirty="0"/>
              <a:t>distribute </a:t>
            </a:r>
            <a:r>
              <a:rPr lang="en-US" sz="2000" dirty="0">
                <a:solidFill>
                  <a:srgbClr val="0000FF"/>
                </a:solidFill>
              </a:rPr>
              <a:t>5</a:t>
            </a:r>
            <a:r>
              <a:rPr lang="en-US" sz="2000" dirty="0"/>
              <a:t> </a:t>
            </a:r>
            <a:r>
              <a:rPr lang="en-US" sz="2000" dirty="0">
                <a:solidFill>
                  <a:srgbClr val="0000FF"/>
                </a:solidFill>
              </a:rPr>
              <a:t>indistinguishable</a:t>
            </a:r>
            <a:r>
              <a:rPr lang="en-US" sz="2000" dirty="0"/>
              <a:t> objects (bills) into </a:t>
            </a:r>
            <a:r>
              <a:rPr lang="en-US" sz="2000" dirty="0">
                <a:solidFill>
                  <a:srgbClr val="FF3300"/>
                </a:solidFill>
              </a:rPr>
              <a:t>7</a:t>
            </a:r>
            <a:r>
              <a:rPr lang="en-US" sz="2000" dirty="0"/>
              <a:t> </a:t>
            </a:r>
            <a:r>
              <a:rPr lang="en-US" sz="2000" dirty="0">
                <a:solidFill>
                  <a:srgbClr val="FF0000"/>
                </a:solidFill>
              </a:rPr>
              <a:t>distinguishable</a:t>
            </a:r>
            <a:r>
              <a:rPr lang="en-US" sz="2000" dirty="0"/>
              <a:t> boxes (denominations).</a:t>
            </a:r>
          </a:p>
        </p:txBody>
      </p:sp>
      <p:sp>
        <p:nvSpPr>
          <p:cNvPr id="4" name="Slide Number Placeholder 3"/>
          <p:cNvSpPr>
            <a:spLocks noGrp="1"/>
          </p:cNvSpPr>
          <p:nvPr>
            <p:ph type="sldNum" sz="quarter" idx="12"/>
          </p:nvPr>
        </p:nvSpPr>
        <p:spPr/>
        <p:txBody>
          <a:bodyPr/>
          <a:lstStyle/>
          <a:p>
            <a:fld id="{5EC735E3-5B29-4F54-8FB9-022B0DB6C884}" type="slidenum">
              <a:rPr lang="en-US" smtClean="0"/>
              <a:pPr/>
              <a:t>40</a:t>
            </a:fld>
            <a:endParaRPr lang="en-US"/>
          </a:p>
        </p:txBody>
      </p:sp>
      <p:pic>
        <p:nvPicPr>
          <p:cNvPr id="5" name="Picture 4" descr="0513.jpg"/>
          <p:cNvPicPr>
            <a:picLocks noChangeAspect="1"/>
          </p:cNvPicPr>
          <p:nvPr/>
        </p:nvPicPr>
        <p:blipFill>
          <a:blip r:embed="rId2" cstate="print"/>
          <a:stretch>
            <a:fillRect/>
          </a:stretch>
        </p:blipFill>
        <p:spPr>
          <a:xfrm>
            <a:off x="2743200" y="4578921"/>
            <a:ext cx="3244596" cy="1113282"/>
          </a:xfrm>
          <a:prstGeom prst="rect">
            <a:avLst/>
          </a:prstGeom>
        </p:spPr>
      </p:pic>
    </p:spTree>
    <p:extLst>
      <p:ext uri="{BB962C8B-B14F-4D97-AF65-F5344CB8AC3E}">
        <p14:creationId xmlns:p14="http://schemas.microsoft.com/office/powerpoint/2010/main" val="286989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2400" y="1066800"/>
                <a:ext cx="8915400" cy="4648200"/>
              </a:xfrm>
            </p:spPr>
            <p:txBody>
              <a:bodyPr/>
              <a:lstStyle/>
              <a:p>
                <a:r>
                  <a:rPr lang="en-US" sz="2000" dirty="0"/>
                  <a:t>Some possible ways of placing the five bills:</a:t>
                </a:r>
              </a:p>
              <a:p>
                <a:endParaRPr lang="en-US" dirty="0"/>
              </a:p>
              <a:p>
                <a:endParaRPr lang="en-US" dirty="0"/>
              </a:p>
              <a:p>
                <a:endParaRPr lang="en-US" dirty="0"/>
              </a:p>
              <a:p>
                <a:endParaRPr lang="en-US" dirty="0"/>
              </a:p>
              <a:p>
                <a:endParaRPr lang="en-US" dirty="0"/>
              </a:p>
              <a:p>
                <a:endParaRPr lang="en-US" dirty="0"/>
              </a:p>
              <a:p>
                <a:r>
                  <a:rPr lang="en-US" sz="2000" dirty="0"/>
                  <a:t># of ways to select </a:t>
                </a:r>
                <a:r>
                  <a:rPr lang="en-US" sz="2000" dirty="0">
                    <a:solidFill>
                      <a:srgbClr val="0000FF"/>
                    </a:solidFill>
                  </a:rPr>
                  <a:t>5</a:t>
                </a:r>
                <a:r>
                  <a:rPr lang="en-US" sz="2000" dirty="0"/>
                  <a:t> bills from </a:t>
                </a:r>
                <a:r>
                  <a:rPr lang="en-US" sz="2000" b="1" dirty="0">
                    <a:solidFill>
                      <a:srgbClr val="00B050"/>
                    </a:solidFill>
                  </a:rPr>
                  <a:t>7</a:t>
                </a:r>
                <a:r>
                  <a:rPr lang="en-US" sz="2000" dirty="0"/>
                  <a:t> denominations</a:t>
                </a:r>
                <a:br>
                  <a:rPr lang="en-US" sz="2000" dirty="0"/>
                </a:br>
                <a:r>
                  <a:rPr lang="en-US" sz="2000" dirty="0"/>
                  <a:t>= # </a:t>
                </a:r>
                <a:r>
                  <a:rPr lang="en-US" sz="2000" dirty="0">
                    <a:solidFill>
                      <a:srgbClr val="FF0000"/>
                    </a:solidFill>
                  </a:rPr>
                  <a:t>permutations (</a:t>
                </a:r>
                <a:r>
                  <a:rPr lang="en-US" altLang="zh-CN" sz="2000" dirty="0"/>
                  <a:t>with indistinguishable objects</a:t>
                </a:r>
                <a:r>
                  <a:rPr lang="en-US" sz="2000" dirty="0">
                    <a:solidFill>
                      <a:srgbClr val="FF0000"/>
                    </a:solidFill>
                  </a:rPr>
                  <a:t>)</a:t>
                </a:r>
                <a:r>
                  <a:rPr lang="en-US" sz="2000" dirty="0"/>
                  <a:t> for </a:t>
                </a:r>
                <a:r>
                  <a:rPr lang="en-US" sz="2000" b="1" dirty="0">
                    <a:solidFill>
                      <a:srgbClr val="FF3300"/>
                    </a:solidFill>
                  </a:rPr>
                  <a:t>6</a:t>
                </a:r>
                <a:r>
                  <a:rPr lang="en-US" sz="2000" dirty="0"/>
                  <a:t> </a:t>
                </a:r>
                <a:r>
                  <a:rPr lang="en-US" sz="2000" b="1" u="sng" dirty="0">
                    <a:solidFill>
                      <a:srgbClr val="0000FF"/>
                    </a:solidFill>
                  </a:rPr>
                  <a:t>B</a:t>
                </a:r>
                <a:r>
                  <a:rPr lang="en-US" sz="2000" b="1" u="sng" dirty="0"/>
                  <a:t>ars</a:t>
                </a:r>
                <a:r>
                  <a:rPr lang="en-US" sz="2000" dirty="0"/>
                  <a:t> and </a:t>
                </a:r>
                <a:r>
                  <a:rPr lang="en-US" sz="2000" dirty="0">
                    <a:solidFill>
                      <a:srgbClr val="0000FF"/>
                    </a:solidFill>
                  </a:rPr>
                  <a:t>5</a:t>
                </a:r>
                <a:r>
                  <a:rPr lang="en-US" sz="2000" dirty="0"/>
                  <a:t> </a:t>
                </a:r>
                <a:r>
                  <a:rPr lang="en-US" sz="2000" b="1" u="sng" dirty="0">
                    <a:solidFill>
                      <a:srgbClr val="FF3300"/>
                    </a:solidFill>
                  </a:rPr>
                  <a:t>S</a:t>
                </a:r>
                <a:r>
                  <a:rPr lang="en-US" sz="2000" b="1" u="sng" dirty="0"/>
                  <a:t>tars</a:t>
                </a:r>
                <a:r>
                  <a:rPr lang="en-US" sz="2000" dirty="0"/>
                  <a:t>.</a:t>
                </a:r>
                <a:r>
                  <a:rPr lang="en-US" altLang="zh-CN" sz="2000" dirty="0"/>
                  <a:t> </a:t>
                </a:r>
              </a:p>
              <a:p>
                <a:r>
                  <a:rPr lang="en-US" altLang="zh-CN" sz="2000" dirty="0"/>
                  <a:t>How many different strings of length </a:t>
                </a:r>
                <a:r>
                  <a:rPr lang="en-US" altLang="zh-CN" sz="2000" dirty="0">
                    <a:solidFill>
                      <a:srgbClr val="00B050"/>
                    </a:solidFill>
                  </a:rPr>
                  <a:t>11</a:t>
                </a:r>
                <a:r>
                  <a:rPr lang="en-US" altLang="zh-CN" sz="2000" dirty="0"/>
                  <a:t> can be made by reordering 6 </a:t>
                </a:r>
                <a:r>
                  <a:rPr lang="en-US" sz="2000" b="1" u="sng" dirty="0">
                    <a:solidFill>
                      <a:srgbClr val="0000FF"/>
                    </a:solidFill>
                  </a:rPr>
                  <a:t>B</a:t>
                </a:r>
                <a:r>
                  <a:rPr lang="en-US" sz="2000" dirty="0"/>
                  <a:t>s</a:t>
                </a:r>
                <a:r>
                  <a:rPr lang="en-US" sz="2000" b="1" dirty="0">
                    <a:solidFill>
                      <a:srgbClr val="0000FF"/>
                    </a:solidFill>
                  </a:rPr>
                  <a:t> </a:t>
                </a:r>
                <a:r>
                  <a:rPr lang="en-US" altLang="zh-CN" sz="2000" dirty="0"/>
                  <a:t>and 5 </a:t>
                </a:r>
                <a:r>
                  <a:rPr lang="en-US" sz="2000" b="1" u="sng" dirty="0">
                    <a:solidFill>
                      <a:srgbClr val="FF3300"/>
                    </a:solidFill>
                  </a:rPr>
                  <a:t>S</a:t>
                </a:r>
                <a:r>
                  <a:rPr lang="en-US" sz="2000" dirty="0"/>
                  <a:t>s</a:t>
                </a:r>
                <a:r>
                  <a:rPr lang="en-US" altLang="zh-CN" sz="2000" dirty="0"/>
                  <a:t>? How many bitstrings of length 11 contain 6 1s? </a:t>
                </a:r>
              </a:p>
              <a:p>
                <a14:m>
                  <m:oMath xmlns:m="http://schemas.openxmlformats.org/officeDocument/2006/math">
                    <m:r>
                      <a:rPr lang="en-US" sz="2000" i="1">
                        <a:latin typeface="Cambria Math" panose="02040503050406030204" pitchFamily="18" charset="0"/>
                      </a:rPr>
                      <m:t>𝐶</m:t>
                    </m:r>
                    <m:d>
                      <m:dPr>
                        <m:ctrlPr>
                          <a:rPr lang="en-US" sz="2000" i="1">
                            <a:latin typeface="Cambria Math" panose="02040503050406030204" pitchFamily="18" charset="0"/>
                          </a:rPr>
                        </m:ctrlPr>
                      </m:dPr>
                      <m:e>
                        <m:r>
                          <a:rPr lang="en-US" sz="2000" i="1">
                            <a:latin typeface="Cambria Math" panose="02040503050406030204" pitchFamily="18" charset="0"/>
                          </a:rPr>
                          <m:t>11,5</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11!</m:t>
                        </m:r>
                      </m:num>
                      <m:den>
                        <m:r>
                          <a:rPr lang="en-US" sz="2000" i="1">
                            <a:latin typeface="Cambria Math" panose="02040503050406030204" pitchFamily="18" charset="0"/>
                          </a:rPr>
                          <m:t>5!6!</m:t>
                        </m:r>
                      </m:den>
                    </m:f>
                  </m:oMath>
                </a14:m>
                <a:br>
                  <a:rPr lang="en-US" sz="2000" dirty="0"/>
                </a:b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2400" y="1066800"/>
                <a:ext cx="8915400" cy="4648200"/>
              </a:xfrm>
              <a:blipFill>
                <a:blip r:embed="rId2"/>
                <a:stretch>
                  <a:fillRect l="-569" t="-817" r="-1138" b="-119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41</a:t>
            </a:fld>
            <a:endParaRPr lang="en-US"/>
          </a:p>
        </p:txBody>
      </p:sp>
      <p:pic>
        <p:nvPicPr>
          <p:cNvPr id="5" name="Picture 4" descr="0514.jpg"/>
          <p:cNvPicPr>
            <a:picLocks noChangeAspect="1"/>
          </p:cNvPicPr>
          <p:nvPr/>
        </p:nvPicPr>
        <p:blipFill>
          <a:blip r:embed="rId3" cstate="print"/>
          <a:stretch>
            <a:fillRect/>
          </a:stretch>
        </p:blipFill>
        <p:spPr>
          <a:xfrm>
            <a:off x="1676400" y="1524000"/>
            <a:ext cx="3733800" cy="2350110"/>
          </a:xfrm>
          <a:prstGeom prst="rect">
            <a:avLst/>
          </a:prstGeom>
        </p:spPr>
      </p:pic>
    </p:spTree>
    <p:extLst>
      <p:ext uri="{BB962C8B-B14F-4D97-AF65-F5344CB8AC3E}">
        <p14:creationId xmlns:p14="http://schemas.microsoft.com/office/powerpoint/2010/main" val="397926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 on the Bill Example</a:t>
            </a:r>
          </a:p>
        </p:txBody>
      </p:sp>
      <p:sp>
        <p:nvSpPr>
          <p:cNvPr id="3" name="Content Placeholder 2"/>
          <p:cNvSpPr>
            <a:spLocks noGrp="1"/>
          </p:cNvSpPr>
          <p:nvPr>
            <p:ph idx="1"/>
          </p:nvPr>
        </p:nvSpPr>
        <p:spPr>
          <a:xfrm>
            <a:off x="76200" y="914400"/>
            <a:ext cx="8839200" cy="5334000"/>
          </a:xfrm>
        </p:spPr>
        <p:txBody>
          <a:bodyPr/>
          <a:lstStyle/>
          <a:p>
            <a:r>
              <a:rPr lang="en-US" sz="1600" dirty="0"/>
              <a:t>How many ways are there to select 5 bills from 7 denominations, assuming there are enough bills of each denomination</a:t>
            </a:r>
          </a:p>
          <a:p>
            <a:r>
              <a:rPr lang="en-US" sz="1600" b="1" dirty="0"/>
              <a:t>An alternative solution</a:t>
            </a:r>
            <a:br>
              <a:rPr lang="en-US" sz="1600" b="1" dirty="0"/>
            </a:br>
            <a:r>
              <a:rPr lang="en-US" sz="1600" dirty="0"/>
              <a:t>Given that there are 7 choices for the first bill, 7 choices for the second bill,…., 7 choices for the fifth bill, somebody could argue that</a:t>
            </a:r>
          </a:p>
          <a:p>
            <a:r>
              <a:rPr lang="en-US" sz="1600" dirty="0"/>
              <a:t>The total number of ways is 7</a:t>
            </a:r>
            <a:r>
              <a:rPr lang="en-US" sz="1600" baseline="30000" dirty="0"/>
              <a:t>5</a:t>
            </a:r>
            <a:r>
              <a:rPr lang="en-US" sz="1600" dirty="0"/>
              <a:t>.</a:t>
            </a:r>
          </a:p>
          <a:p>
            <a:r>
              <a:rPr lang="en-US" sz="1600" dirty="0"/>
              <a:t>What is </a:t>
            </a:r>
            <a:r>
              <a:rPr lang="en-US" sz="1600" dirty="0">
                <a:solidFill>
                  <a:srgbClr val="FF3300"/>
                </a:solidFill>
              </a:rPr>
              <a:t>wrong</a:t>
            </a:r>
            <a:r>
              <a:rPr lang="en-US" sz="1600" dirty="0"/>
              <a:t> with this solution?</a:t>
            </a:r>
          </a:p>
          <a:p>
            <a:r>
              <a:rPr lang="en-US" sz="1600" dirty="0"/>
              <a:t>Lets take a choice by the alternative solution : e.g., (</a:t>
            </a:r>
            <a:r>
              <a:rPr lang="en-US" sz="1600" dirty="0">
                <a:solidFill>
                  <a:srgbClr val="FF3300"/>
                </a:solidFill>
              </a:rPr>
              <a:t>7,7</a:t>
            </a:r>
            <a:r>
              <a:rPr lang="en-US" sz="1600" dirty="0"/>
              <a:t>,</a:t>
            </a:r>
            <a:r>
              <a:rPr lang="en-US" sz="1600" dirty="0">
                <a:solidFill>
                  <a:srgbClr val="0000FF"/>
                </a:solidFill>
              </a:rPr>
              <a:t>1,1,1</a:t>
            </a:r>
            <a:r>
              <a:rPr lang="en-US" sz="1600" dirty="0"/>
              <a:t>) means that for the </a:t>
            </a:r>
            <a:r>
              <a:rPr lang="en-US" sz="1600" dirty="0">
                <a:solidFill>
                  <a:srgbClr val="0000FF"/>
                </a:solidFill>
              </a:rPr>
              <a:t>first 3 bills, I select the first denomination</a:t>
            </a:r>
            <a:r>
              <a:rPr lang="en-US" sz="1600" dirty="0"/>
              <a:t>, while for </a:t>
            </a:r>
            <a:r>
              <a:rPr lang="en-US" sz="1600" dirty="0">
                <a:solidFill>
                  <a:srgbClr val="FF3300"/>
                </a:solidFill>
              </a:rPr>
              <a:t>the next 2, I select the 7</a:t>
            </a:r>
            <a:r>
              <a:rPr lang="en-US" sz="1600" baseline="30000" dirty="0">
                <a:solidFill>
                  <a:srgbClr val="FF3300"/>
                </a:solidFill>
              </a:rPr>
              <a:t>th</a:t>
            </a:r>
            <a:r>
              <a:rPr lang="en-US" sz="1600" dirty="0"/>
              <a:t>. </a:t>
            </a:r>
          </a:p>
          <a:p>
            <a:r>
              <a:rPr lang="en-US" sz="1600" dirty="0"/>
              <a:t>Any other choice, e.g., (1,7,1,1,7)  with the same number of 1s and 7 is considered </a:t>
            </a:r>
            <a:r>
              <a:rPr lang="en-US" sz="1600" dirty="0">
                <a:solidFill>
                  <a:srgbClr val="00B050"/>
                </a:solidFill>
              </a:rPr>
              <a:t>distinct</a:t>
            </a:r>
            <a:r>
              <a:rPr lang="en-US" sz="1600" dirty="0"/>
              <a:t> by the alternative solution. </a:t>
            </a:r>
          </a:p>
          <a:p>
            <a:r>
              <a:rPr lang="en-US" sz="1600" dirty="0"/>
              <a:t>But it should </a:t>
            </a:r>
            <a:r>
              <a:rPr lang="en-US" sz="1600" dirty="0">
                <a:solidFill>
                  <a:srgbClr val="FF3300"/>
                </a:solidFill>
              </a:rPr>
              <a:t>not</a:t>
            </a:r>
            <a:r>
              <a:rPr lang="en-US" sz="1600" dirty="0"/>
              <a:t> be </a:t>
            </a:r>
            <a:r>
              <a:rPr lang="en-US" sz="1600" dirty="0">
                <a:solidFill>
                  <a:srgbClr val="00B050"/>
                </a:solidFill>
              </a:rPr>
              <a:t>distinct</a:t>
            </a:r>
            <a:r>
              <a:rPr lang="en-US" sz="1600" dirty="0"/>
              <a:t> because the order in which the bills are selected is not important. Bills of the same denomination are </a:t>
            </a:r>
            <a:r>
              <a:rPr lang="en-US" sz="1600" dirty="0">
                <a:solidFill>
                  <a:srgbClr val="0000FF"/>
                </a:solidFill>
              </a:rPr>
              <a:t>indistinguishable.</a:t>
            </a:r>
            <a:endParaRPr lang="en-US" sz="1600" dirty="0"/>
          </a:p>
          <a:p>
            <a:r>
              <a:rPr lang="en-US" sz="1600" dirty="0"/>
              <a:t>The bars and stars representation eliminates this problem. </a:t>
            </a:r>
          </a:p>
          <a:p>
            <a:r>
              <a:rPr lang="en-US" sz="1600" dirty="0"/>
              <a:t>All choices with three 1s and two 7s have the same representation and are counted once. </a:t>
            </a:r>
          </a:p>
          <a:p>
            <a:r>
              <a:rPr lang="en-US" sz="1600" dirty="0"/>
              <a:t>Representation of (1,7,1,1,7) (7,7,1,1,1) and all equivalent choices using bars and stars:**||||||*** </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5EC735E3-5B29-4F54-8FB9-022B0DB6C884}" type="slidenum">
              <a:rPr lang="en-US" smtClean="0"/>
              <a:pPr/>
              <a:t>42</a:t>
            </a:fld>
            <a:endParaRPr lang="en-US"/>
          </a:p>
        </p:txBody>
      </p:sp>
    </p:spTree>
    <p:extLst>
      <p:ext uri="{BB962C8B-B14F-4D97-AF65-F5344CB8AC3E}">
        <p14:creationId xmlns:p14="http://schemas.microsoft.com/office/powerpoint/2010/main" val="315615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Combinations with Repetition </a:t>
            </a:r>
            <a:r>
              <a:rPr lang="en-US" i="1" dirty="0"/>
              <a:t>(bars and stars)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1371600"/>
                <a:ext cx="8686800" cy="4876800"/>
              </a:xfrm>
            </p:spPr>
            <p:txBody>
              <a:bodyPr/>
              <a:lstStyle/>
              <a:p>
                <a:r>
                  <a:rPr lang="en-US" sz="2000" dirty="0"/>
                  <a:t>The </a:t>
                </a:r>
                <a:r>
                  <a:rPr lang="en-US" sz="2000" i="1" dirty="0"/>
                  <a:t>bars and stars</a:t>
                </a:r>
                <a:r>
                  <a:rPr lang="en-US" sz="2000" dirty="0"/>
                  <a:t> problem is the same as </a:t>
                </a:r>
                <a:r>
                  <a:rPr lang="en-US" sz="2000" dirty="0">
                    <a:solidFill>
                      <a:srgbClr val="0000FF"/>
                    </a:solidFill>
                  </a:rPr>
                  <a:t>selecting </a:t>
                </a:r>
                <a:r>
                  <a:rPr lang="en-US" sz="2000" i="1" dirty="0">
                    <a:solidFill>
                      <a:srgbClr val="0000FF"/>
                    </a:solidFill>
                  </a:rPr>
                  <a:t>r</a:t>
                </a:r>
                <a:r>
                  <a:rPr lang="en-US" sz="2000" dirty="0">
                    <a:solidFill>
                      <a:srgbClr val="0000FF"/>
                    </a:solidFill>
                  </a:rPr>
                  <a:t> out of </a:t>
                </a:r>
                <a:r>
                  <a:rPr lang="en-US" sz="2000" i="1" dirty="0">
                    <a:solidFill>
                      <a:srgbClr val="0000FF"/>
                    </a:solidFill>
                  </a:rPr>
                  <a:t>n</a:t>
                </a:r>
                <a:r>
                  <a:rPr lang="en-US" sz="2000" dirty="0">
                    <a:solidFill>
                      <a:srgbClr val="0000FF"/>
                    </a:solidFill>
                  </a:rPr>
                  <a:t> elements of a set, provided that you can select the same element multiple times</a:t>
                </a:r>
                <a:r>
                  <a:rPr lang="en-US" sz="2000" dirty="0"/>
                  <a:t>. </a:t>
                </a:r>
                <a:endParaRPr lang="en-US" sz="2000" b="1" dirty="0"/>
              </a:p>
              <a:p>
                <a:r>
                  <a:rPr lang="en-US" sz="2000" b="1" dirty="0"/>
                  <a:t>Theorem</a:t>
                </a:r>
                <a:br>
                  <a:rPr lang="en-US" sz="2000" b="1" dirty="0"/>
                </a:br>
                <a:r>
                  <a:rPr lang="en-US" sz="2000" dirty="0"/>
                  <a:t>The number of </a:t>
                </a:r>
                <a14:m>
                  <m:oMath xmlns:m="http://schemas.openxmlformats.org/officeDocument/2006/math">
                    <m:r>
                      <a:rPr lang="en-US" sz="2000" i="1" dirty="0" smtClean="0">
                        <a:latin typeface="Cambria Math" panose="02040503050406030204" pitchFamily="18" charset="0"/>
                      </a:rPr>
                      <m:t>𝑟</m:t>
                    </m:r>
                  </m:oMath>
                </a14:m>
                <a:r>
                  <a:rPr lang="en-US" sz="2000" dirty="0"/>
                  <a:t>-combinations from a set with </a:t>
                </a:r>
                <a14:m>
                  <m:oMath xmlns:m="http://schemas.openxmlformats.org/officeDocument/2006/math">
                    <m:r>
                      <a:rPr lang="en-US" sz="2000" i="1" dirty="0" smtClean="0">
                        <a:latin typeface="Cambria Math" panose="02040503050406030204" pitchFamily="18" charset="0"/>
                      </a:rPr>
                      <m:t>𝑛</m:t>
                    </m:r>
                  </m:oMath>
                </a14:m>
                <a:r>
                  <a:rPr lang="en-US" sz="2000" dirty="0"/>
                  <a:t> elements when repetition of elements is allowed is</a:t>
                </a:r>
                <a:br>
                  <a:rPr lang="en-US" sz="2000" dirty="0"/>
                </a:br>
                <a14:m>
                  <m:oMath xmlns:m="http://schemas.openxmlformats.org/officeDocument/2006/math">
                    <m:r>
                      <a:rPr lang="en-US" sz="2000" b="0" i="1" smtClean="0">
                        <a:latin typeface="Cambria Math" panose="02040503050406030204" pitchFamily="18" charset="0"/>
                      </a:rPr>
                      <m:t>𝐶</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−1,</m:t>
                    </m:r>
                    <m:r>
                      <a:rPr lang="en-US" sz="2000" b="0" i="1" smtClean="0">
                        <a:latin typeface="Cambria Math" panose="02040503050406030204" pitchFamily="18" charset="0"/>
                      </a:rPr>
                      <m:t>𝑟</m:t>
                    </m:r>
                    <m:r>
                      <a:rPr lang="en-US" sz="2000" b="0" i="1" smtClean="0">
                        <a:latin typeface="Cambria Math" panose="02040503050406030204" pitchFamily="18" charset="0"/>
                      </a:rPr>
                      <m:t>)</m:t>
                    </m:r>
                  </m:oMath>
                </a14:m>
                <a:r>
                  <a:rPr lang="en-US" sz="2000" dirty="0"/>
                  <a:t> = </a:t>
                </a:r>
                <a14:m>
                  <m:oMath xmlns:m="http://schemas.openxmlformats.org/officeDocument/2006/math">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−1</m:t>
                            </m:r>
                          </m:e>
                        </m:d>
                        <m:r>
                          <a:rPr lang="en-US" sz="2000" b="0" i="1" smtClean="0">
                            <a:latin typeface="Cambria Math" panose="02040503050406030204" pitchFamily="18" charset="0"/>
                          </a:rPr>
                          <m:t>!</m:t>
                        </m:r>
                      </m:num>
                      <m:den>
                        <m:r>
                          <a:rPr lang="en-US" sz="2000" b="0" i="1" smtClean="0">
                            <a:latin typeface="Cambria Math" panose="02040503050406030204" pitchFamily="18" charset="0"/>
                          </a:rPr>
                          <m:t>𝑟</m:t>
                        </m:r>
                        <m:r>
                          <a:rPr lang="en-US" sz="2000" i="1">
                            <a:latin typeface="Cambria Math" panose="02040503050406030204" pitchFamily="18" charset="0"/>
                          </a:rPr>
                          <m:t>!</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−1)!</m:t>
                        </m:r>
                      </m:den>
                    </m:f>
                  </m:oMath>
                </a14:m>
                <a:endParaRPr lang="en-US" sz="2000" dirty="0"/>
              </a:p>
              <a:p>
                <a:r>
                  <a:rPr lang="en-US" sz="2000" b="1" dirty="0"/>
                  <a:t>Proof</a:t>
                </a:r>
                <a:r>
                  <a:rPr lang="en-US" sz="2000" dirty="0"/>
                  <a:t>: Each such </a:t>
                </a:r>
                <a14:m>
                  <m:oMath xmlns:m="http://schemas.openxmlformats.org/officeDocument/2006/math">
                    <m:r>
                      <a:rPr lang="en-US" sz="2000" i="1" dirty="0" smtClean="0">
                        <a:latin typeface="Cambria Math" panose="02040503050406030204" pitchFamily="18" charset="0"/>
                      </a:rPr>
                      <m:t>𝑟</m:t>
                    </m:r>
                  </m:oMath>
                </a14:m>
                <a:r>
                  <a:rPr lang="en-US" sz="2000" dirty="0"/>
                  <a:t>-combination can be represented by a list of </a:t>
                </a:r>
                <a14:m>
                  <m:oMath xmlns:m="http://schemas.openxmlformats.org/officeDocument/2006/math">
                    <m:r>
                      <a:rPr lang="en-US" sz="2000" i="1" dirty="0" smtClean="0">
                        <a:solidFill>
                          <a:srgbClr val="FF0000"/>
                        </a:solidFill>
                        <a:latin typeface="Cambria Math" panose="02040503050406030204" pitchFamily="18" charset="0"/>
                      </a:rPr>
                      <m:t>𝑛</m:t>
                    </m:r>
                    <m:r>
                      <a:rPr lang="en-US" sz="2000" b="0" i="1" dirty="0" smtClean="0">
                        <a:solidFill>
                          <a:srgbClr val="FF0000"/>
                        </a:solidFill>
                        <a:latin typeface="Cambria Math" panose="02040503050406030204" pitchFamily="18" charset="0"/>
                      </a:rPr>
                      <m:t>−</m:t>
                    </m:r>
                    <m:r>
                      <a:rPr lang="en-US" sz="2000" i="1" dirty="0" smtClean="0">
                        <a:solidFill>
                          <a:srgbClr val="FF0000"/>
                        </a:solidFill>
                        <a:latin typeface="Cambria Math" panose="02040503050406030204" pitchFamily="18" charset="0"/>
                      </a:rPr>
                      <m:t>1</m:t>
                    </m:r>
                  </m:oMath>
                </a14:m>
                <a:r>
                  <a:rPr lang="en-US" sz="2000" dirty="0">
                    <a:latin typeface="Cambria" pitchFamily="18" charset="0"/>
                  </a:rPr>
                  <a:t> </a:t>
                </a:r>
                <a:r>
                  <a:rPr lang="en-US" sz="2000" dirty="0"/>
                  <a:t>bars and </a:t>
                </a:r>
                <a14:m>
                  <m:oMath xmlns:m="http://schemas.openxmlformats.org/officeDocument/2006/math">
                    <m:r>
                      <a:rPr lang="en-US" sz="2000" i="1" dirty="0" smtClean="0">
                        <a:solidFill>
                          <a:srgbClr val="0000FF"/>
                        </a:solidFill>
                        <a:latin typeface="Cambria Math" panose="02040503050406030204" pitchFamily="18" charset="0"/>
                      </a:rPr>
                      <m:t>𝑟</m:t>
                    </m:r>
                  </m:oMath>
                </a14:m>
                <a:r>
                  <a:rPr lang="en-US" sz="2000" dirty="0"/>
                  <a:t> stars. The bars mark the </a:t>
                </a:r>
                <a14:m>
                  <m:oMath xmlns:m="http://schemas.openxmlformats.org/officeDocument/2006/math">
                    <m:r>
                      <a:rPr lang="en-US" sz="2000" i="1" dirty="0" smtClean="0">
                        <a:solidFill>
                          <a:srgbClr val="FF3300"/>
                        </a:solidFill>
                        <a:latin typeface="Cambria Math" panose="02040503050406030204" pitchFamily="18" charset="0"/>
                      </a:rPr>
                      <m:t>𝑛</m:t>
                    </m:r>
                  </m:oMath>
                </a14:m>
                <a:r>
                  <a:rPr lang="en-US" sz="2000" dirty="0"/>
                  <a:t> cells, each corresponding to a distinct element. The stars between two bars correspond to the repetitions of an element. </a:t>
                </a:r>
                <a:br>
                  <a:rPr lang="en-US" sz="2000" dirty="0"/>
                </a:br>
                <a:r>
                  <a:rPr lang="en-US" sz="2000" dirty="0"/>
                  <a:t>The list has </a:t>
                </a:r>
                <a14:m>
                  <m:oMath xmlns:m="http://schemas.openxmlformats.org/officeDocument/2006/math">
                    <m:r>
                      <a:rPr lang="en-US" sz="2000" b="0" i="1" smtClean="0">
                        <a:solidFill>
                          <a:srgbClr val="FF3300"/>
                        </a:solidFill>
                        <a:latin typeface="Cambria Math" panose="02040503050406030204" pitchFamily="18" charset="0"/>
                      </a:rPr>
                      <m:t>𝑛</m:t>
                    </m:r>
                    <m:r>
                      <a:rPr lang="en-US" sz="2000" b="0" i="1" smtClean="0">
                        <a:solidFill>
                          <a:srgbClr val="FF3300"/>
                        </a:solidFill>
                        <a:latin typeface="Cambria Math" panose="02040503050406030204" pitchFamily="18" charset="0"/>
                      </a:rPr>
                      <m:t>+</m:t>
                    </m:r>
                    <m:r>
                      <a:rPr lang="en-US" sz="2000" b="0" i="1" smtClean="0">
                        <a:solidFill>
                          <a:srgbClr val="FF3300"/>
                        </a:solidFill>
                        <a:latin typeface="Cambria Math" panose="02040503050406030204" pitchFamily="18" charset="0"/>
                      </a:rPr>
                      <m:t>𝑟</m:t>
                    </m:r>
                    <m:r>
                      <a:rPr lang="en-US" sz="2000" b="0" i="1" smtClean="0">
                        <a:solidFill>
                          <a:srgbClr val="FF3300"/>
                        </a:solidFill>
                        <a:latin typeface="Cambria Math" panose="02040503050406030204" pitchFamily="18" charset="0"/>
                      </a:rPr>
                      <m:t>−1</m:t>
                    </m:r>
                  </m:oMath>
                </a14:m>
                <a:r>
                  <a:rPr lang="en-US" sz="2000" dirty="0"/>
                  <a:t> positions, and we choose </a:t>
                </a:r>
                <a14:m>
                  <m:oMath xmlns:m="http://schemas.openxmlformats.org/officeDocument/2006/math">
                    <m:r>
                      <a:rPr lang="en-US" sz="2000" b="0" i="1" smtClean="0">
                        <a:solidFill>
                          <a:srgbClr val="0000FF"/>
                        </a:solidFill>
                        <a:latin typeface="Cambria Math" panose="02040503050406030204" pitchFamily="18" charset="0"/>
                      </a:rPr>
                      <m:t>𝑟</m:t>
                    </m:r>
                  </m:oMath>
                </a14:m>
                <a:r>
                  <a:rPr lang="en-US" sz="2000" dirty="0"/>
                  <a:t> of them to place the stars. Or equivalently, we choose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−1</m:t>
                    </m:r>
                  </m:oMath>
                </a14:m>
                <a:r>
                  <a:rPr lang="en-US" sz="2000" dirty="0"/>
                  <a:t> positions to place the bars.</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1371600"/>
                <a:ext cx="8686800" cy="4876800"/>
              </a:xfrm>
              <a:blipFill>
                <a:blip r:embed="rId2"/>
                <a:stretch>
                  <a:fillRect l="-730" t="-779" r="-14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43</a:t>
            </a:fld>
            <a:endParaRPr lang="en-US"/>
          </a:p>
        </p:txBody>
      </p:sp>
    </p:spTree>
    <p:extLst>
      <p:ext uri="{BB962C8B-B14F-4D97-AF65-F5344CB8AC3E}">
        <p14:creationId xmlns:p14="http://schemas.microsoft.com/office/powerpoint/2010/main" val="305987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63EA-0C63-714C-F2CF-2A7A6AA71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4D1C1-E9C9-023A-2398-A2D34E8F9330}"/>
              </a:ext>
            </a:extLst>
          </p:cNvPr>
          <p:cNvSpPr>
            <a:spLocks noGrp="1"/>
          </p:cNvSpPr>
          <p:nvPr>
            <p:ph type="title"/>
          </p:nvPr>
        </p:nvSpPr>
        <p:spPr/>
        <p:txBody>
          <a:bodyPr/>
          <a:lstStyle/>
          <a:p>
            <a:r>
              <a:rPr lang="en-US" sz="3200" dirty="0"/>
              <a:t>Combinations with Repetition - Cookies</a:t>
            </a:r>
          </a:p>
        </p:txBody>
      </p:sp>
      <p:sp>
        <p:nvSpPr>
          <p:cNvPr id="3" name="Content Placeholder 2">
            <a:extLst>
              <a:ext uri="{FF2B5EF4-FFF2-40B4-BE49-F238E27FC236}">
                <a16:creationId xmlns:a16="http://schemas.microsoft.com/office/drawing/2014/main" id="{DCEB389E-3891-B43A-5246-01F88B75601A}"/>
              </a:ext>
            </a:extLst>
          </p:cNvPr>
          <p:cNvSpPr>
            <a:spLocks noGrp="1"/>
          </p:cNvSpPr>
          <p:nvPr>
            <p:ph idx="1"/>
          </p:nvPr>
        </p:nvSpPr>
        <p:spPr>
          <a:xfrm>
            <a:off x="152400" y="1143000"/>
            <a:ext cx="8839200" cy="4648200"/>
          </a:xfrm>
        </p:spPr>
        <p:txBody>
          <a:bodyPr/>
          <a:lstStyle/>
          <a:p>
            <a:r>
              <a:rPr lang="en-US" sz="1800" dirty="0"/>
              <a:t>Suppose that a cookie shop has </a:t>
            </a:r>
            <a:r>
              <a:rPr lang="en-US" sz="1800" i="1" dirty="0">
                <a:solidFill>
                  <a:srgbClr val="FF0000"/>
                </a:solidFill>
              </a:rPr>
              <a:t>n</a:t>
            </a:r>
            <a:r>
              <a:rPr lang="en-US" sz="1800" dirty="0">
                <a:solidFill>
                  <a:srgbClr val="FF0000"/>
                </a:solidFill>
              </a:rPr>
              <a:t> different kinds of cookies</a:t>
            </a:r>
            <a:r>
              <a:rPr lang="en-US" sz="1800" dirty="0"/>
              <a:t>. In how many different ways can </a:t>
            </a:r>
            <a:r>
              <a:rPr lang="en-US" sz="1800" i="1" dirty="0">
                <a:solidFill>
                  <a:srgbClr val="0000FF"/>
                </a:solidFill>
              </a:rPr>
              <a:t>r</a:t>
            </a:r>
            <a:r>
              <a:rPr lang="en-US" sz="1800" dirty="0"/>
              <a:t> cookies be chosen? There are no constraints on how many cookies of each kind are chosen (e.g., all may be of the same kind)</a:t>
            </a:r>
          </a:p>
          <a:p>
            <a:r>
              <a:rPr lang="en-US" sz="1800" b="1" dirty="0"/>
              <a:t>Solution</a:t>
            </a:r>
            <a:br>
              <a:rPr lang="en-US" sz="1800" b="1" dirty="0"/>
            </a:br>
            <a:r>
              <a:rPr lang="en-US" sz="1800" dirty="0"/>
              <a:t>Equivalently, I wish to distribute </a:t>
            </a:r>
            <a:r>
              <a:rPr lang="en-US" sz="1800" i="1" dirty="0">
                <a:solidFill>
                  <a:srgbClr val="0000FF"/>
                </a:solidFill>
              </a:rPr>
              <a:t>r</a:t>
            </a:r>
            <a:r>
              <a:rPr lang="en-US" sz="1800" dirty="0">
                <a:solidFill>
                  <a:srgbClr val="0000FF"/>
                </a:solidFill>
              </a:rPr>
              <a:t> indistinguishable</a:t>
            </a:r>
            <a:r>
              <a:rPr lang="en-US" sz="1800" dirty="0"/>
              <a:t> cookies to </a:t>
            </a:r>
            <a:r>
              <a:rPr lang="en-US" sz="1800" i="1" dirty="0">
                <a:solidFill>
                  <a:srgbClr val="FF0000"/>
                </a:solidFill>
              </a:rPr>
              <a:t>n</a:t>
            </a:r>
            <a:r>
              <a:rPr lang="en-US" sz="1800" dirty="0"/>
              <a:t> </a:t>
            </a:r>
            <a:r>
              <a:rPr lang="en-US" sz="1800" dirty="0">
                <a:solidFill>
                  <a:srgbClr val="FF0000"/>
                </a:solidFill>
              </a:rPr>
              <a:t>distinguishable</a:t>
            </a:r>
            <a:r>
              <a:rPr lang="en-US" sz="1800" dirty="0"/>
              <a:t> cookie boxes. </a:t>
            </a:r>
          </a:p>
          <a:p>
            <a:r>
              <a:rPr lang="en-US" sz="1800" dirty="0"/>
              <a:t>I indicate cookies with </a:t>
            </a:r>
            <a:r>
              <a:rPr lang="en-US" sz="1800" i="1" dirty="0">
                <a:solidFill>
                  <a:srgbClr val="0000FF"/>
                </a:solidFill>
              </a:rPr>
              <a:t>r </a:t>
            </a:r>
            <a:r>
              <a:rPr lang="en-US" sz="1800" dirty="0">
                <a:solidFill>
                  <a:srgbClr val="0000FF"/>
                </a:solidFill>
              </a:rPr>
              <a:t>stars</a:t>
            </a:r>
            <a:r>
              <a:rPr lang="en-US" sz="1800" dirty="0"/>
              <a:t>. Instead of </a:t>
            </a:r>
            <a:r>
              <a:rPr lang="en-US" sz="1800" i="1" dirty="0">
                <a:solidFill>
                  <a:srgbClr val="FF0000"/>
                </a:solidFill>
              </a:rPr>
              <a:t>n</a:t>
            </a:r>
            <a:r>
              <a:rPr lang="en-US" sz="1800" dirty="0"/>
              <a:t> boxes, I use </a:t>
            </a:r>
            <a:r>
              <a:rPr lang="en-US" sz="1800" i="1" dirty="0">
                <a:solidFill>
                  <a:srgbClr val="FF0000"/>
                </a:solidFill>
              </a:rPr>
              <a:t>n</a:t>
            </a:r>
            <a:r>
              <a:rPr lang="en-US" sz="1800" dirty="0">
                <a:solidFill>
                  <a:srgbClr val="FF0000"/>
                </a:solidFill>
              </a:rPr>
              <a:t>-1</a:t>
            </a:r>
            <a:r>
              <a:rPr lang="en-US" sz="1800" dirty="0"/>
              <a:t> </a:t>
            </a:r>
            <a:r>
              <a:rPr lang="en-US" sz="1800" dirty="0">
                <a:solidFill>
                  <a:srgbClr val="FF0000"/>
                </a:solidFill>
              </a:rPr>
              <a:t>bars</a:t>
            </a:r>
            <a:r>
              <a:rPr lang="en-US" sz="1800" dirty="0"/>
              <a:t> to indicate their boundaries. </a:t>
            </a:r>
          </a:p>
          <a:p>
            <a:r>
              <a:rPr lang="en-US" sz="1800" dirty="0"/>
              <a:t>A selection corresponds to a bars and stars arrangement</a:t>
            </a:r>
          </a:p>
          <a:p>
            <a:r>
              <a:rPr lang="en-US" sz="1800" dirty="0"/>
              <a:t>Example: **|*|*|** (2 cookies from first and fourth kind, 1 from the rest).</a:t>
            </a:r>
          </a:p>
          <a:p>
            <a:r>
              <a:rPr lang="en-US" sz="1800" dirty="0"/>
              <a:t># of arrangements = # combinations with repetition = </a:t>
            </a:r>
          </a:p>
          <a:p>
            <a:r>
              <a:rPr lang="en-US" sz="1800" dirty="0"/>
              <a:t>= #</a:t>
            </a:r>
            <a:r>
              <a:rPr lang="en-US" altLang="zh-CN" sz="1800" dirty="0"/>
              <a:t> strings of length </a:t>
            </a:r>
            <a:r>
              <a:rPr lang="en-US" sz="1800" dirty="0"/>
              <a:t>(</a:t>
            </a:r>
            <a:r>
              <a:rPr lang="en-US" sz="1800" i="1" dirty="0"/>
              <a:t>r</a:t>
            </a:r>
            <a:r>
              <a:rPr lang="en-US" sz="1800" dirty="0"/>
              <a:t>+</a:t>
            </a:r>
            <a:r>
              <a:rPr lang="en-US" sz="1800" i="1" dirty="0"/>
              <a:t>n</a:t>
            </a:r>
            <a:r>
              <a:rPr lang="en-US" sz="1800" dirty="0"/>
              <a:t>-1)</a:t>
            </a:r>
            <a:r>
              <a:rPr lang="en-US" altLang="zh-CN" sz="1800" dirty="0">
                <a:solidFill>
                  <a:srgbClr val="0000FF"/>
                </a:solidFill>
              </a:rPr>
              <a:t> </a:t>
            </a:r>
            <a:r>
              <a:rPr lang="en-US" altLang="zh-CN" sz="1800" dirty="0"/>
              <a:t>by reordering </a:t>
            </a:r>
            <a:r>
              <a:rPr lang="en-US" sz="1800" i="1" dirty="0">
                <a:solidFill>
                  <a:srgbClr val="0000FF"/>
                </a:solidFill>
              </a:rPr>
              <a:t>r </a:t>
            </a:r>
            <a:r>
              <a:rPr lang="en-US" sz="1800" dirty="0">
                <a:solidFill>
                  <a:srgbClr val="0000FF"/>
                </a:solidFill>
              </a:rPr>
              <a:t>stars</a:t>
            </a:r>
            <a:r>
              <a:rPr lang="en-US" sz="1800" b="1" dirty="0">
                <a:solidFill>
                  <a:srgbClr val="0000FF"/>
                </a:solidFill>
              </a:rPr>
              <a:t> </a:t>
            </a:r>
            <a:r>
              <a:rPr lang="en-US" altLang="zh-CN" sz="1800" dirty="0"/>
              <a:t>and </a:t>
            </a:r>
            <a:r>
              <a:rPr lang="en-US" sz="1800" i="1" dirty="0">
                <a:solidFill>
                  <a:srgbClr val="FF0000"/>
                </a:solidFill>
              </a:rPr>
              <a:t>n</a:t>
            </a:r>
            <a:r>
              <a:rPr lang="en-US" sz="1800" dirty="0">
                <a:solidFill>
                  <a:srgbClr val="FF0000"/>
                </a:solidFill>
              </a:rPr>
              <a:t>-1</a:t>
            </a:r>
            <a:r>
              <a:rPr lang="en-US" sz="1800" dirty="0"/>
              <a:t> </a:t>
            </a:r>
            <a:r>
              <a:rPr lang="en-US" sz="1800" dirty="0">
                <a:solidFill>
                  <a:srgbClr val="FF0000"/>
                </a:solidFill>
              </a:rPr>
              <a:t>bars</a:t>
            </a:r>
            <a:r>
              <a:rPr lang="en-US" sz="1800" dirty="0"/>
              <a:t> = </a:t>
            </a:r>
          </a:p>
          <a:p>
            <a:r>
              <a:rPr lang="en-US" sz="1800" dirty="0"/>
              <a:t>#</a:t>
            </a:r>
            <a:r>
              <a:rPr lang="en-US" altLang="zh-CN" sz="1800" dirty="0"/>
              <a:t> select positions of </a:t>
            </a:r>
            <a:r>
              <a:rPr lang="en-US" sz="1800" i="1" dirty="0">
                <a:solidFill>
                  <a:srgbClr val="0000FF"/>
                </a:solidFill>
              </a:rPr>
              <a:t>r </a:t>
            </a:r>
            <a:r>
              <a:rPr lang="en-US" sz="1800" dirty="0">
                <a:solidFill>
                  <a:srgbClr val="0000FF"/>
                </a:solidFill>
              </a:rPr>
              <a:t>stars</a:t>
            </a:r>
            <a:r>
              <a:rPr lang="en-US" sz="1800" b="1" dirty="0">
                <a:solidFill>
                  <a:srgbClr val="0000FF"/>
                </a:solidFill>
              </a:rPr>
              <a:t> </a:t>
            </a:r>
            <a:r>
              <a:rPr lang="en-US" altLang="zh-CN" sz="1800" dirty="0"/>
              <a:t>and </a:t>
            </a:r>
            <a:r>
              <a:rPr lang="en-US" sz="1800" dirty="0"/>
              <a:t>among possible (</a:t>
            </a:r>
            <a:r>
              <a:rPr lang="en-US" sz="1800" i="1" dirty="0"/>
              <a:t>r</a:t>
            </a:r>
            <a:r>
              <a:rPr lang="en-US" sz="1800" dirty="0"/>
              <a:t>+</a:t>
            </a:r>
            <a:r>
              <a:rPr lang="en-US" sz="1800" i="1" dirty="0"/>
              <a:t>n</a:t>
            </a:r>
            <a:r>
              <a:rPr lang="en-US" sz="1800" dirty="0"/>
              <a:t>-1) positions</a:t>
            </a:r>
          </a:p>
          <a:p>
            <a:r>
              <a:rPr lang="en-US" sz="1800" dirty="0"/>
              <a:t>C(</a:t>
            </a:r>
            <a:r>
              <a:rPr lang="en-US" sz="1800" i="1" dirty="0"/>
              <a:t>r</a:t>
            </a:r>
            <a:r>
              <a:rPr lang="en-US" sz="1800" dirty="0"/>
              <a:t>+</a:t>
            </a:r>
            <a:r>
              <a:rPr lang="en-US" sz="1800" i="1" dirty="0"/>
              <a:t>n</a:t>
            </a:r>
            <a:r>
              <a:rPr lang="en-US" sz="1800" dirty="0"/>
              <a:t>-1,</a:t>
            </a:r>
            <a:r>
              <a:rPr lang="en-US" sz="1800" i="1" dirty="0"/>
              <a:t>r</a:t>
            </a:r>
            <a:r>
              <a:rPr lang="en-US" sz="1800" dirty="0"/>
              <a:t>)=(</a:t>
            </a:r>
            <a:r>
              <a:rPr lang="en-US" sz="1800" i="1" dirty="0"/>
              <a:t>r</a:t>
            </a:r>
            <a:r>
              <a:rPr lang="en-US" sz="1800" dirty="0"/>
              <a:t>+</a:t>
            </a:r>
            <a:r>
              <a:rPr lang="en-US" sz="1800" i="1" dirty="0"/>
              <a:t>n</a:t>
            </a:r>
            <a:r>
              <a:rPr lang="en-US" sz="1800" dirty="0"/>
              <a:t>-1)!/</a:t>
            </a:r>
            <a:r>
              <a:rPr lang="en-US" sz="1800" i="1" dirty="0"/>
              <a:t>r</a:t>
            </a:r>
            <a:r>
              <a:rPr lang="en-US" sz="1800" dirty="0"/>
              <a:t>!(</a:t>
            </a:r>
            <a:r>
              <a:rPr lang="en-US" sz="1800" i="1" dirty="0"/>
              <a:t>n</a:t>
            </a:r>
            <a:r>
              <a:rPr lang="en-US" sz="1800" dirty="0"/>
              <a:t>-1)!.</a:t>
            </a:r>
          </a:p>
          <a:p>
            <a:endParaRPr lang="en-US" sz="1800" dirty="0"/>
          </a:p>
        </p:txBody>
      </p:sp>
      <p:sp>
        <p:nvSpPr>
          <p:cNvPr id="4" name="Slide Number Placeholder 3">
            <a:extLst>
              <a:ext uri="{FF2B5EF4-FFF2-40B4-BE49-F238E27FC236}">
                <a16:creationId xmlns:a16="http://schemas.microsoft.com/office/drawing/2014/main" id="{01AE4D7F-923E-8ED2-A6A8-23DC8FA072EF}"/>
              </a:ext>
            </a:extLst>
          </p:cNvPr>
          <p:cNvSpPr>
            <a:spLocks noGrp="1"/>
          </p:cNvSpPr>
          <p:nvPr>
            <p:ph type="sldNum" sz="quarter" idx="12"/>
          </p:nvPr>
        </p:nvSpPr>
        <p:spPr/>
        <p:txBody>
          <a:bodyPr/>
          <a:lstStyle/>
          <a:p>
            <a:fld id="{5EC735E3-5B29-4F54-8FB9-022B0DB6C884}" type="slidenum">
              <a:rPr lang="en-US" smtClean="0"/>
              <a:pPr/>
              <a:t>44</a:t>
            </a:fld>
            <a:endParaRPr lang="en-US"/>
          </a:p>
        </p:txBody>
      </p:sp>
    </p:spTree>
    <p:extLst>
      <p:ext uri="{BB962C8B-B14F-4D97-AF65-F5344CB8AC3E}">
        <p14:creationId xmlns:p14="http://schemas.microsoft.com/office/powerpoint/2010/main" val="367140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of Combinations with Repetition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2400" y="1143000"/>
                <a:ext cx="8839200" cy="4648200"/>
              </a:xfrm>
            </p:spPr>
            <p:txBody>
              <a:bodyPr/>
              <a:lstStyle/>
              <a:p>
                <a:r>
                  <a:rPr lang="en-US" sz="1800" dirty="0"/>
                  <a:t>Suppose that a cookie shop has </a:t>
                </a:r>
                <a:r>
                  <a:rPr lang="en-US" sz="1800" dirty="0">
                    <a:solidFill>
                      <a:srgbClr val="FF0000"/>
                    </a:solidFill>
                  </a:rPr>
                  <a:t>4 different kinds of cookies</a:t>
                </a:r>
                <a:r>
                  <a:rPr lang="en-US" sz="1800" dirty="0"/>
                  <a:t>. In how many different ways can </a:t>
                </a:r>
                <a:r>
                  <a:rPr lang="en-US" sz="1800" dirty="0">
                    <a:solidFill>
                      <a:srgbClr val="0000FF"/>
                    </a:solidFill>
                  </a:rPr>
                  <a:t>6</a:t>
                </a:r>
                <a:r>
                  <a:rPr lang="en-US" sz="1800" dirty="0"/>
                  <a:t> cookies be chosen? There are no constraints on how many cookies of each kind are chosen (e.g., all 6 may be of the same kind)</a:t>
                </a:r>
              </a:p>
              <a:p>
                <a:r>
                  <a:rPr lang="en-US" sz="1800" b="1" dirty="0"/>
                  <a:t>Solution</a:t>
                </a:r>
                <a:br>
                  <a:rPr lang="en-US" sz="1800" b="1" dirty="0"/>
                </a:br>
                <a:r>
                  <a:rPr lang="en-US" sz="1800" dirty="0"/>
                  <a:t>Equivalently, I wish to distribute </a:t>
                </a:r>
                <a:r>
                  <a:rPr lang="en-US" sz="1800" dirty="0">
                    <a:solidFill>
                      <a:srgbClr val="0000FF"/>
                    </a:solidFill>
                  </a:rPr>
                  <a:t>6 indistinguishable</a:t>
                </a:r>
                <a:r>
                  <a:rPr lang="en-US" sz="1800" dirty="0"/>
                  <a:t> cookies (</a:t>
                </a:r>
                <a:r>
                  <a:rPr lang="en-US" sz="1800" dirty="0">
                    <a:solidFill>
                      <a:srgbClr val="0000FF"/>
                    </a:solidFill>
                  </a:rPr>
                  <a:t>stars</a:t>
                </a:r>
                <a:r>
                  <a:rPr lang="en-US" sz="1800" dirty="0"/>
                  <a:t>) to </a:t>
                </a:r>
                <a:r>
                  <a:rPr lang="en-US" sz="1800" dirty="0">
                    <a:solidFill>
                      <a:srgbClr val="FF0000"/>
                    </a:solidFill>
                  </a:rPr>
                  <a:t>4</a:t>
                </a:r>
                <a:r>
                  <a:rPr lang="en-US" sz="1800" dirty="0"/>
                  <a:t> </a:t>
                </a:r>
                <a:r>
                  <a:rPr lang="en-US" sz="1800" dirty="0">
                    <a:solidFill>
                      <a:srgbClr val="FF0000"/>
                    </a:solidFill>
                  </a:rPr>
                  <a:t>distinguishable</a:t>
                </a:r>
                <a:r>
                  <a:rPr lang="en-US" sz="1800" dirty="0"/>
                  <a:t> cookie boxes (</a:t>
                </a:r>
                <a:r>
                  <a:rPr lang="en-US" sz="1800" dirty="0">
                    <a:solidFill>
                      <a:srgbClr val="FF0000"/>
                    </a:solidFill>
                  </a:rPr>
                  <a:t>bars</a:t>
                </a:r>
                <a:r>
                  <a:rPr lang="en-US" sz="1800" dirty="0"/>
                  <a:t>). </a:t>
                </a:r>
              </a:p>
              <a:p>
                <a:r>
                  <a:rPr lang="en-US" sz="1800" dirty="0"/>
                  <a:t>By previous theorem, the number of such combinations is</a:t>
                </a:r>
                <a:br>
                  <a:rPr lang="en-US" sz="1800" dirty="0"/>
                </a:br>
                <a14:m>
                  <m:oMath xmlns:m="http://schemas.openxmlformats.org/officeDocument/2006/math">
                    <m:r>
                      <a:rPr lang="en-US" sz="1800" b="0" i="1" smtClean="0">
                        <a:latin typeface="Cambria Math" panose="02040503050406030204" pitchFamily="18" charset="0"/>
                      </a:rPr>
                      <m:t>𝐶</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4+6−1,</m:t>
                        </m:r>
                        <m:r>
                          <a:rPr lang="en-US" sz="1800" b="0" i="1" smtClean="0">
                            <a:latin typeface="Cambria Math" panose="02040503050406030204" pitchFamily="18" charset="0"/>
                          </a:rPr>
                          <m:t> </m:t>
                        </m:r>
                        <m:r>
                          <a:rPr lang="en-US" sz="1800" b="0" i="1" smtClean="0">
                            <a:latin typeface="Cambria Math" panose="02040503050406030204" pitchFamily="18" charset="0"/>
                          </a:rPr>
                          <m:t>6</m:t>
                        </m:r>
                      </m:e>
                    </m:d>
                    <m:r>
                      <a:rPr lang="en-US" sz="1800" b="0" i="1" smtClean="0">
                        <a:latin typeface="Cambria Math" panose="02040503050406030204" pitchFamily="18" charset="0"/>
                      </a:rPr>
                      <m:t>=</m:t>
                    </m:r>
                    <m:r>
                      <a:rPr lang="en-US" sz="1800" b="0" i="1" smtClean="0">
                        <a:latin typeface="Cambria Math" panose="02040503050406030204" pitchFamily="18" charset="0"/>
                      </a:rPr>
                      <m:t>𝐶</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9,</m:t>
                        </m:r>
                        <m:r>
                          <a:rPr lang="en-US" sz="1800" b="0" i="1" smtClean="0">
                            <a:latin typeface="Cambria Math" panose="02040503050406030204" pitchFamily="18" charset="0"/>
                          </a:rPr>
                          <m:t> </m:t>
                        </m:r>
                        <m:r>
                          <a:rPr lang="en-US" sz="1800" b="0" i="1" smtClean="0">
                            <a:latin typeface="Cambria Math" panose="02040503050406030204" pitchFamily="18" charset="0"/>
                          </a:rPr>
                          <m:t>6</m:t>
                        </m:r>
                      </m:e>
                    </m:d>
                    <m:r>
                      <a:rPr lang="en-US" sz="1800" b="0" i="1" smtClean="0">
                        <a:latin typeface="Cambria Math" panose="02040503050406030204" pitchFamily="18" charset="0"/>
                      </a:rPr>
                      <m:t>=</m:t>
                    </m:r>
                    <m:r>
                      <a:rPr lang="en-US" sz="1800" b="0" i="1" smtClean="0">
                        <a:latin typeface="Cambria Math" panose="02040503050406030204" pitchFamily="18" charset="0"/>
                      </a:rPr>
                      <m:t>𝐶</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9,</m:t>
                        </m:r>
                        <m:r>
                          <a:rPr lang="en-US" sz="1800" b="0" i="1" smtClean="0">
                            <a:latin typeface="Cambria Math" panose="02040503050406030204" pitchFamily="18" charset="0"/>
                          </a:rPr>
                          <m:t> </m:t>
                        </m:r>
                        <m:r>
                          <a:rPr lang="en-US" sz="1800" b="0" i="1" smtClean="0">
                            <a:latin typeface="Cambria Math" panose="02040503050406030204" pitchFamily="18" charset="0"/>
                          </a:rPr>
                          <m:t>3</m:t>
                        </m:r>
                      </m:e>
                    </m:d>
                    <m:r>
                      <a:rPr lang="en-US" sz="1800" b="0" i="1" smtClean="0">
                        <a:latin typeface="Cambria Math" panose="02040503050406030204" pitchFamily="18" charset="0"/>
                      </a:rPr>
                      <m:t>=84</m:t>
                    </m:r>
                  </m:oMath>
                </a14:m>
                <a:endParaRPr lang="en-US" sz="1800" dirty="0">
                  <a:ea typeface="Cambria Math" pitchFamily="18" charset="0"/>
                </a:endParaRPr>
              </a:p>
              <a:p>
                <a:r>
                  <a:rPr lang="en-US" sz="1800" dirty="0">
                    <a:ea typeface="Cambria Math" pitchFamily="18" charset="0"/>
                  </a:rPr>
                  <a:t>Is the solution still correct if some cookie box contains fewer than 6 cookies? (Equivalently, the cookie shop does not have 6 cookies for some cookie kind(s)). </a:t>
                </a:r>
              </a:p>
              <a:p>
                <a:r>
                  <a:rPr lang="en-US" sz="1800" dirty="0">
                    <a:ea typeface="Cambria Math" pitchFamily="18" charset="0"/>
                  </a:rPr>
                  <a:t>No. We cannot place 6 stars in that box. </a:t>
                </a:r>
                <a:r>
                  <a:rPr lang="en-US" sz="1800" u="sng" dirty="0">
                    <a:solidFill>
                      <a:srgbClr val="FF3300"/>
                    </a:solidFill>
                    <a:ea typeface="Cambria Math" pitchFamily="18" charset="0"/>
                  </a:rPr>
                  <a:t>Solution later … </a:t>
                </a:r>
                <a:r>
                  <a:rPr lang="en-US" sz="1800" u="sng" dirty="0">
                    <a:solidFill>
                      <a:srgbClr val="FF3300"/>
                    </a:solidFill>
                    <a:latin typeface="Cambria Math" pitchFamily="18" charset="0"/>
                    <a:ea typeface="Cambria Math" pitchFamily="18" charset="0"/>
                  </a:rPr>
                  <a:t> </a:t>
                </a:r>
              </a:p>
              <a:p>
                <a:r>
                  <a:rPr lang="en-US" sz="1800" dirty="0">
                    <a:solidFill>
                      <a:srgbClr val="00B050"/>
                    </a:solidFill>
                    <a:ea typeface="Cambria Math" pitchFamily="18" charset="0"/>
                  </a:rPr>
                  <a:t>Equivalent problem: </a:t>
                </a:r>
                <a:r>
                  <a:rPr lang="en-US" sz="1800" dirty="0">
                    <a:ea typeface="Cambria Math" pitchFamily="18" charset="0"/>
                  </a:rPr>
                  <a:t>Find the number of (</a:t>
                </a:r>
                <a:r>
                  <a:rPr lang="en-US" sz="1800" dirty="0"/>
                  <a:t>nonnegative integer</a:t>
                </a:r>
                <a:r>
                  <a:rPr lang="en-US" sz="1800" dirty="0">
                    <a:ea typeface="Cambria Math" pitchFamily="18" charset="0"/>
                  </a:rPr>
                  <a:t>) solutions for equation: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𝑥</m:t>
                        </m:r>
                      </m:e>
                      <m:sub>
                        <m:r>
                          <a:rPr lang="en-US" sz="1800" i="1" dirty="0">
                            <a:latin typeface="Cambria Math" panose="02040503050406030204" pitchFamily="18" charset="0"/>
                          </a:rPr>
                          <m:t>1</m:t>
                        </m:r>
                      </m:sub>
                    </m:sSub>
                    <m:r>
                      <a:rPr lang="en-US" sz="1800" i="1" dirty="0">
                        <a:latin typeface="Cambria Math" panose="02040503050406030204" pitchFamily="18" charset="0"/>
                      </a:rPr>
                      <m:t>+</m:t>
                    </m:r>
                    <m:r>
                      <a:rPr lang="en-US" sz="1800" i="1" dirty="0">
                        <a:latin typeface="Cambria Math" panose="02040503050406030204" pitchFamily="18" charset="0"/>
                      </a:rPr>
                      <m:t>𝑥</m:t>
                    </m:r>
                    <m:r>
                      <a:rPr lang="en-US" sz="1800" i="1" baseline="-25000" dirty="0">
                        <a:latin typeface="Cambria Math" panose="02040503050406030204" pitchFamily="18" charset="0"/>
                        <a:ea typeface="Cambria Math" pitchFamily="18" charset="0"/>
                      </a:rPr>
                      <m:t>2</m:t>
                    </m:r>
                    <m:r>
                      <a:rPr lang="en-US" sz="1800" i="1" dirty="0">
                        <a:latin typeface="Cambria Math" panose="02040503050406030204" pitchFamily="18" charset="0"/>
                      </a:rPr>
                      <m:t>+</m:t>
                    </m:r>
                    <m:r>
                      <a:rPr lang="en-US" sz="1800" i="1" dirty="0">
                        <a:latin typeface="Cambria Math" panose="02040503050406030204" pitchFamily="18" charset="0"/>
                      </a:rPr>
                      <m:t>𝑥</m:t>
                    </m:r>
                    <m:r>
                      <a:rPr lang="en-US" sz="1800" i="1" baseline="-25000" dirty="0">
                        <a:latin typeface="Cambria Math" panose="02040503050406030204" pitchFamily="18" charset="0"/>
                        <a:ea typeface="Cambria Math" pitchFamily="18" charset="0"/>
                      </a:rPr>
                      <m:t>2</m:t>
                    </m:r>
                    <m:r>
                      <a:rPr lang="en-US" sz="1800" i="1" dirty="0">
                        <a:latin typeface="Cambria Math" panose="02040503050406030204" pitchFamily="18" charset="0"/>
                      </a:rPr>
                      <m:t>+</m:t>
                    </m:r>
                    <m:r>
                      <a:rPr lang="en-US" sz="1800" i="1" dirty="0">
                        <a:latin typeface="Cambria Math" panose="02040503050406030204" pitchFamily="18" charset="0"/>
                      </a:rPr>
                      <m:t>𝑥</m:t>
                    </m:r>
                    <m:r>
                      <a:rPr lang="en-US" sz="1800" b="0" i="1" baseline="-25000" dirty="0" smtClean="0">
                        <a:latin typeface="Cambria Math" panose="02040503050406030204" pitchFamily="18" charset="0"/>
                        <a:ea typeface="Cambria Math" pitchFamily="18" charset="0"/>
                      </a:rPr>
                      <m:t>4</m:t>
                    </m:r>
                    <m:r>
                      <a:rPr lang="en-US" sz="1800" i="1" dirty="0">
                        <a:latin typeface="Cambria Math" panose="02040503050406030204" pitchFamily="18" charset="0"/>
                      </a:rPr>
                      <m:t>=</m:t>
                    </m:r>
                    <m:r>
                      <a:rPr lang="en-US" sz="1800" b="0" i="1" dirty="0" smtClean="0">
                        <a:latin typeface="Cambria Math" panose="02040503050406030204" pitchFamily="18" charset="0"/>
                        <a:ea typeface="Cambria Math" pitchFamily="18" charset="0"/>
                      </a:rPr>
                      <m:t>6</m:t>
                    </m:r>
                  </m:oMath>
                </a14:m>
                <a:r>
                  <a:rPr lang="en-US" sz="1800" dirty="0">
                    <a:latin typeface="Cambria Math" pitchFamily="18" charset="0"/>
                    <a:ea typeface="Cambria Math" pitchFamily="18" charset="0"/>
                  </a:rPr>
                  <a:t>, </a:t>
                </a:r>
                <a:r>
                  <a:rPr lang="en-US" sz="1800" dirty="0"/>
                  <a:t>where </a:t>
                </a:r>
                <a14:m>
                  <m:oMath xmlns:m="http://schemas.openxmlformats.org/officeDocument/2006/math">
                    <m:r>
                      <a:rPr lang="en-US" sz="1800" b="0" i="0" dirty="0" smtClean="0">
                        <a:latin typeface="Cambria Math" panose="02040503050406030204" pitchFamily="18" charset="0"/>
                      </a:rPr>
                      <m:t>0</m:t>
                    </m:r>
                    <m:r>
                      <a:rPr lang="en-US" sz="1800" i="1" dirty="0" smtClean="0">
                        <a:latin typeface="Cambria Math" panose="02040503050406030204" pitchFamily="18" charset="0"/>
                      </a:rPr>
                      <m:t>≤</m:t>
                    </m:r>
                    <m:r>
                      <a:rPr lang="en-US" sz="1800" i="1" dirty="0">
                        <a:latin typeface="Cambria Math" panose="02040503050406030204" pitchFamily="18" charset="0"/>
                      </a:rPr>
                      <m:t>𝑥</m:t>
                    </m:r>
                    <m:r>
                      <a:rPr lang="en-US" sz="1800" b="0" i="1" baseline="-25000" dirty="0" smtClean="0">
                        <a:latin typeface="Cambria Math" panose="02040503050406030204" pitchFamily="18" charset="0"/>
                        <a:ea typeface="Cambria Math" pitchFamily="18" charset="0"/>
                      </a:rPr>
                      <m:t>𝑖</m:t>
                    </m:r>
                    <m:r>
                      <a:rPr lang="en-US" sz="1800" i="1" dirty="0">
                        <a:latin typeface="Cambria Math" panose="02040503050406030204" pitchFamily="18" charset="0"/>
                      </a:rPr>
                      <m:t>≤</m:t>
                    </m:r>
                    <m:r>
                      <a:rPr lang="en-US" sz="1800" b="0" i="1" dirty="0" smtClean="0">
                        <a:latin typeface="Cambria Math" panose="02040503050406030204" pitchFamily="18" charset="0"/>
                      </a:rPr>
                      <m:t>6</m:t>
                    </m:r>
                  </m:oMath>
                </a14:m>
                <a:r>
                  <a:rPr lang="en-US" sz="1800" dirty="0"/>
                  <a:t>  indicates the chosen number of cookies of type </a:t>
                </a:r>
                <a:r>
                  <a:rPr lang="en-US" sz="1800" i="1" dirty="0" err="1"/>
                  <a:t>i</a:t>
                </a:r>
                <a:r>
                  <a:rPr lang="en-US" sz="1800" dirty="0"/>
                  <a:t>. </a:t>
                </a:r>
              </a:p>
              <a:p>
                <a:r>
                  <a:rPr lang="en-US" sz="1800" dirty="0"/>
                  <a:t>The number of solutions is </a:t>
                </a:r>
                <a14:m>
                  <m:oMath xmlns:m="http://schemas.openxmlformats.org/officeDocument/2006/math">
                    <m:r>
                      <a:rPr lang="en-US" sz="1800" i="1">
                        <a:latin typeface="Cambria Math" panose="02040503050406030204" pitchFamily="18" charset="0"/>
                      </a:rPr>
                      <m:t>𝐶</m:t>
                    </m:r>
                    <m:d>
                      <m:dPr>
                        <m:ctrlPr>
                          <a:rPr lang="en-US" sz="1800" i="1">
                            <a:latin typeface="Cambria Math" panose="02040503050406030204" pitchFamily="18" charset="0"/>
                          </a:rPr>
                        </m:ctrlPr>
                      </m:dPr>
                      <m:e>
                        <m:r>
                          <a:rPr lang="en-US" sz="1800" i="1">
                            <a:latin typeface="Cambria Math" panose="02040503050406030204" pitchFamily="18" charset="0"/>
                          </a:rPr>
                          <m:t>4+6−1,</m:t>
                        </m:r>
                        <m:r>
                          <a:rPr lang="en-US" sz="1800" b="0" i="1" smtClean="0">
                            <a:latin typeface="Cambria Math" panose="02040503050406030204" pitchFamily="18" charset="0"/>
                          </a:rPr>
                          <m:t> </m:t>
                        </m:r>
                        <m:r>
                          <a:rPr lang="en-US" sz="1800" i="1">
                            <a:latin typeface="Cambria Math" panose="02040503050406030204" pitchFamily="18" charset="0"/>
                          </a:rPr>
                          <m:t>6</m:t>
                        </m:r>
                      </m:e>
                    </m:d>
                    <m:r>
                      <a:rPr lang="en-US" sz="1800" i="1">
                        <a:latin typeface="Cambria Math" panose="02040503050406030204" pitchFamily="18" charset="0"/>
                      </a:rPr>
                      <m:t>=</m:t>
                    </m:r>
                    <m:r>
                      <a:rPr lang="en-US" sz="1800" i="1">
                        <a:latin typeface="Cambria Math" panose="02040503050406030204" pitchFamily="18" charset="0"/>
                      </a:rPr>
                      <m:t>𝐶</m:t>
                    </m:r>
                    <m:d>
                      <m:dPr>
                        <m:ctrlPr>
                          <a:rPr lang="en-US" sz="1800" i="1">
                            <a:latin typeface="Cambria Math" panose="02040503050406030204" pitchFamily="18" charset="0"/>
                          </a:rPr>
                        </m:ctrlPr>
                      </m:dPr>
                      <m:e>
                        <m:r>
                          <a:rPr lang="en-US" sz="1800" i="1">
                            <a:latin typeface="Cambria Math" panose="02040503050406030204" pitchFamily="18" charset="0"/>
                          </a:rPr>
                          <m:t>9,</m:t>
                        </m:r>
                        <m:r>
                          <a:rPr lang="en-US" sz="1800" b="0" i="1" smtClean="0">
                            <a:latin typeface="Cambria Math" panose="02040503050406030204" pitchFamily="18" charset="0"/>
                          </a:rPr>
                          <m:t> </m:t>
                        </m:r>
                        <m:r>
                          <a:rPr lang="en-US" sz="1800" i="1">
                            <a:latin typeface="Cambria Math" panose="02040503050406030204" pitchFamily="18" charset="0"/>
                          </a:rPr>
                          <m:t>6</m:t>
                        </m:r>
                      </m:e>
                    </m:d>
                    <m:r>
                      <a:rPr lang="en-US" sz="1800" i="1">
                        <a:latin typeface="Cambria Math" panose="02040503050406030204" pitchFamily="18" charset="0"/>
                      </a:rPr>
                      <m:t>=</m:t>
                    </m:r>
                    <m:r>
                      <a:rPr lang="en-US" sz="1800" i="1">
                        <a:latin typeface="Cambria Math" panose="02040503050406030204" pitchFamily="18" charset="0"/>
                      </a:rPr>
                      <m:t>𝐶</m:t>
                    </m:r>
                    <m:d>
                      <m:dPr>
                        <m:ctrlPr>
                          <a:rPr lang="en-US" sz="1800" i="1">
                            <a:latin typeface="Cambria Math" panose="02040503050406030204" pitchFamily="18" charset="0"/>
                          </a:rPr>
                        </m:ctrlPr>
                      </m:dPr>
                      <m:e>
                        <m:r>
                          <a:rPr lang="en-US" sz="1800" i="1">
                            <a:latin typeface="Cambria Math" panose="02040503050406030204" pitchFamily="18" charset="0"/>
                          </a:rPr>
                          <m:t>9,</m:t>
                        </m:r>
                        <m:r>
                          <a:rPr lang="en-US" sz="1800" b="0" i="1" smtClean="0">
                            <a:latin typeface="Cambria Math" panose="02040503050406030204" pitchFamily="18" charset="0"/>
                          </a:rPr>
                          <m:t> </m:t>
                        </m:r>
                        <m:r>
                          <a:rPr lang="en-US" sz="1800" i="1">
                            <a:latin typeface="Cambria Math" panose="02040503050406030204" pitchFamily="18" charset="0"/>
                          </a:rPr>
                          <m:t>3</m:t>
                        </m:r>
                      </m:e>
                    </m:d>
                    <m:r>
                      <a:rPr lang="en-US" sz="1800" i="1">
                        <a:latin typeface="Cambria Math" panose="02040503050406030204" pitchFamily="18" charset="0"/>
                      </a:rPr>
                      <m:t>=84</m:t>
                    </m:r>
                  </m:oMath>
                </a14:m>
                <a:endParaRPr lang="en-US" sz="1800" dirty="0">
                  <a:latin typeface="Cambria Math" pitchFamily="18" charset="0"/>
                  <a:ea typeface="Cambria Math"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2400" y="1143000"/>
                <a:ext cx="8839200" cy="4648200"/>
              </a:xfrm>
              <a:blipFill>
                <a:blip r:embed="rId2"/>
                <a:stretch>
                  <a:fillRect l="-431" t="-817" r="-575" b="-517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45</a:t>
            </a:fld>
            <a:endParaRPr lang="en-US"/>
          </a:p>
        </p:txBody>
      </p:sp>
    </p:spTree>
    <p:extLst>
      <p:ext uri="{BB962C8B-B14F-4D97-AF65-F5344CB8AC3E}">
        <p14:creationId xmlns:p14="http://schemas.microsoft.com/office/powerpoint/2010/main" val="3006954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Exercise</a:t>
            </a:r>
            <a:r>
              <a:rPr lang="en-US" dirty="0"/>
              <a:t> on Equation Solutions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1295400"/>
                <a:ext cx="8686800" cy="4953000"/>
              </a:xfrm>
            </p:spPr>
            <p:txBody>
              <a:bodyPr/>
              <a:lstStyle/>
              <a:p>
                <a:r>
                  <a:rPr lang="en-US" sz="2000" dirty="0"/>
                  <a:t>How many solutions does the equation</a:t>
                </a:r>
                <a:br>
                  <a:rPr lang="en-US" sz="2000" b="0" i="1" dirty="0">
                    <a:latin typeface="Cambria Math" panose="02040503050406030204" pitchFamily="18" charset="0"/>
                  </a:rPr>
                </a:b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𝑥</m:t>
                        </m:r>
                      </m:e>
                      <m:sub>
                        <m:r>
                          <a:rPr lang="en-US" sz="2000" b="0" i="1" dirty="0" smtClean="0">
                            <a:latin typeface="Cambria Math" panose="02040503050406030204" pitchFamily="18" charset="0"/>
                          </a:rPr>
                          <m:t>1</m:t>
                        </m:r>
                      </m:sub>
                    </m:sSub>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2</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3</m:t>
                    </m:r>
                    <m:r>
                      <a:rPr lang="en-US" sz="2000" i="1" dirty="0">
                        <a:latin typeface="Cambria Math" panose="02040503050406030204" pitchFamily="18" charset="0"/>
                      </a:rPr>
                      <m:t>=</m:t>
                    </m:r>
                    <m:r>
                      <a:rPr lang="en-US" sz="2000" b="0" i="1" dirty="0" smtClean="0">
                        <a:latin typeface="Cambria Math" panose="02040503050406030204" pitchFamily="18" charset="0"/>
                        <a:ea typeface="Cambria Math" pitchFamily="18" charset="0"/>
                      </a:rPr>
                      <m:t>5</m:t>
                    </m:r>
                  </m:oMath>
                </a14:m>
                <a:br>
                  <a:rPr lang="en-US" sz="2000" dirty="0"/>
                </a:br>
                <a:r>
                  <a:rPr lang="en-US" sz="2000" dirty="0"/>
                  <a:t>have, where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m:t>
                        </m:r>
                      </m:sub>
                    </m:sSub>
                  </m:oMath>
                </a14:m>
                <a:r>
                  <a:rPr lang="en-US" sz="2000" dirty="0"/>
                  <a:t> are nonnegative integers?</a:t>
                </a:r>
              </a:p>
              <a:p>
                <a:r>
                  <a:rPr lang="en-US" sz="2000" dirty="0">
                    <a:solidFill>
                      <a:srgbClr val="00B050"/>
                    </a:solidFill>
                    <a:ea typeface="Cambria Math" pitchFamily="18" charset="0"/>
                  </a:rPr>
                  <a:t>Equivalent problem: </a:t>
                </a:r>
                <a:r>
                  <a:rPr lang="en-US" sz="2000" dirty="0"/>
                  <a:t>Suppose that a cookie shop has </a:t>
                </a:r>
                <a:r>
                  <a:rPr lang="en-US" sz="2000" dirty="0">
                    <a:solidFill>
                      <a:srgbClr val="FF0000"/>
                    </a:solidFill>
                  </a:rPr>
                  <a:t>3 different kinds of cookies</a:t>
                </a:r>
                <a:r>
                  <a:rPr lang="en-US" sz="2000" dirty="0"/>
                  <a:t>. In how many different ways can </a:t>
                </a:r>
                <a:r>
                  <a:rPr lang="en-US" sz="2000" dirty="0">
                    <a:solidFill>
                      <a:srgbClr val="0000FF"/>
                    </a:solidFill>
                  </a:rPr>
                  <a:t>5</a:t>
                </a:r>
                <a:r>
                  <a:rPr lang="en-US" sz="2000" dirty="0"/>
                  <a:t> cookies be chosen? </a:t>
                </a:r>
              </a:p>
              <a:p>
                <a:r>
                  <a:rPr lang="en-US" sz="2000" b="1" dirty="0"/>
                  <a:t>Solution</a:t>
                </a:r>
                <a:endParaRPr lang="en-US" sz="2000" dirty="0"/>
              </a:p>
              <a:p>
                <a:r>
                  <a:rPr lang="en-US" sz="2000" dirty="0"/>
                  <a:t>Each solution corresponds to a way to select </a:t>
                </a:r>
                <a:r>
                  <a:rPr lang="en-US" sz="2000" dirty="0">
                    <a:latin typeface="Cambria Math" pitchFamily="18" charset="0"/>
                    <a:ea typeface="Cambria Math" pitchFamily="18" charset="0"/>
                  </a:rPr>
                  <a:t>5</a:t>
                </a:r>
                <a:r>
                  <a:rPr lang="en-US" sz="2000" dirty="0"/>
                  <a:t> items with repetition from 3 element types; </a:t>
                </a:r>
                <a14:m>
                  <m:oMath xmlns:m="http://schemas.openxmlformats.org/officeDocument/2006/math">
                    <m:r>
                      <a:rPr lang="en-US" sz="2000" i="1" dirty="0" smtClean="0">
                        <a:latin typeface="Cambria Math" panose="02040503050406030204" pitchFamily="18" charset="0"/>
                      </a:rPr>
                      <m:t>𝑥</m:t>
                    </m:r>
                    <m:r>
                      <a:rPr lang="en-US" sz="2000" i="1" baseline="-25000" dirty="0">
                        <a:latin typeface="Cambria Math" panose="02040503050406030204" pitchFamily="18" charset="0"/>
                        <a:ea typeface="Cambria Math" pitchFamily="18" charset="0"/>
                      </a:rPr>
                      <m:t>1</m:t>
                    </m:r>
                  </m:oMath>
                </a14:m>
                <a:r>
                  <a:rPr lang="en-US" sz="2000" dirty="0"/>
                  <a:t> items of type 1, </a:t>
                </a:r>
                <a14:m>
                  <m:oMath xmlns:m="http://schemas.openxmlformats.org/officeDocument/2006/math">
                    <m:r>
                      <a:rPr lang="en-US" sz="2000" i="1" dirty="0" smtClean="0">
                        <a:latin typeface="Cambria Math" panose="02040503050406030204" pitchFamily="18" charset="0"/>
                      </a:rPr>
                      <m:t>𝑥</m:t>
                    </m:r>
                    <m:r>
                      <a:rPr lang="en-US" sz="2000" i="1" baseline="-25000" dirty="0">
                        <a:latin typeface="Cambria Math" panose="02040503050406030204" pitchFamily="18" charset="0"/>
                        <a:ea typeface="Cambria Math" pitchFamily="18" charset="0"/>
                      </a:rPr>
                      <m:t>2</m:t>
                    </m:r>
                  </m:oMath>
                </a14:m>
                <a:r>
                  <a:rPr lang="en-US" sz="2000" dirty="0"/>
                  <a:t> of type 2, and </a:t>
                </a:r>
                <a14:m>
                  <m:oMath xmlns:m="http://schemas.openxmlformats.org/officeDocument/2006/math">
                    <m:r>
                      <a:rPr lang="en-US" sz="2000" i="1" dirty="0" smtClean="0">
                        <a:latin typeface="Cambria Math" panose="02040503050406030204" pitchFamily="18" charset="0"/>
                      </a:rPr>
                      <m:t>𝑥</m:t>
                    </m:r>
                    <m:r>
                      <a:rPr lang="en-US" sz="2000" i="1" baseline="-25000" dirty="0">
                        <a:latin typeface="Cambria Math" panose="02040503050406030204" pitchFamily="18" charset="0"/>
                        <a:ea typeface="Cambria Math" pitchFamily="18" charset="0"/>
                      </a:rPr>
                      <m:t>3</m:t>
                    </m:r>
                  </m:oMath>
                </a14:m>
                <a:r>
                  <a:rPr lang="en-US" sz="2000" dirty="0"/>
                  <a:t> of type 3.</a:t>
                </a:r>
              </a:p>
              <a:p>
                <a:r>
                  <a:rPr lang="en-US" sz="2000" dirty="0"/>
                  <a:t>Equivalently: I wish to select </a:t>
                </a:r>
                <a:r>
                  <a:rPr lang="en-US" sz="2000" dirty="0">
                    <a:solidFill>
                      <a:srgbClr val="0000FF"/>
                    </a:solidFill>
                  </a:rPr>
                  <a:t>5 indistinguishable </a:t>
                </a:r>
                <a:r>
                  <a:rPr lang="en-US" sz="2000" dirty="0"/>
                  <a:t>objects from </a:t>
                </a:r>
                <a:r>
                  <a:rPr lang="en-US" sz="2000" dirty="0">
                    <a:solidFill>
                      <a:srgbClr val="FF3300"/>
                    </a:solidFill>
                  </a:rPr>
                  <a:t>3</a:t>
                </a:r>
                <a:r>
                  <a:rPr lang="en-US" sz="2000" dirty="0">
                    <a:solidFill>
                      <a:srgbClr val="0000FF"/>
                    </a:solidFill>
                  </a:rPr>
                  <a:t> </a:t>
                </a:r>
                <a:r>
                  <a:rPr lang="en-US" sz="2000" dirty="0">
                    <a:solidFill>
                      <a:srgbClr val="FF3300"/>
                    </a:solidFill>
                  </a:rPr>
                  <a:t>distinguishable</a:t>
                </a:r>
                <a:r>
                  <a:rPr lang="en-US" sz="2000" dirty="0"/>
                  <a:t> boxes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3</m:t>
                        </m:r>
                      </m:sub>
                    </m:sSub>
                  </m:oMath>
                </a14:m>
                <a:r>
                  <a:rPr lang="en-US" sz="2000" dirty="0"/>
                  <a:t>.  </a:t>
                </a:r>
              </a:p>
              <a:p>
                <a:r>
                  <a:rPr lang="en-US" sz="2000" dirty="0"/>
                  <a:t>By the previous theorem, it follows that there are </a:t>
                </a:r>
                <a:br>
                  <a:rPr lang="en-US" sz="2000" dirty="0"/>
                </a:br>
                <a14:m>
                  <m:oMath xmlns:m="http://schemas.openxmlformats.org/officeDocument/2006/math">
                    <m:r>
                      <a:rPr lang="en-US" sz="2000" b="0" i="1" smtClean="0">
                        <a:latin typeface="Cambria Math" panose="02040503050406030204" pitchFamily="18" charset="0"/>
                      </a:rPr>
                      <m:t>𝐶</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3+5−1,</m:t>
                        </m:r>
                        <m:r>
                          <a:rPr lang="en-US" sz="2000" b="0" i="1" smtClean="0">
                            <a:latin typeface="Cambria Math" panose="02040503050406030204" pitchFamily="18" charset="0"/>
                          </a:rPr>
                          <m:t> </m:t>
                        </m:r>
                        <m:r>
                          <a:rPr lang="en-US" sz="2000" b="0" i="1" smtClean="0">
                            <a:latin typeface="Cambria Math" panose="02040503050406030204" pitchFamily="18" charset="0"/>
                          </a:rPr>
                          <m:t>5</m:t>
                        </m:r>
                      </m:e>
                    </m:d>
                    <m:r>
                      <a:rPr lang="en-US" sz="2000" b="0" i="1" smtClean="0">
                        <a:latin typeface="Cambria Math" panose="02040503050406030204" pitchFamily="18" charset="0"/>
                      </a:rPr>
                      <m:t>=</m:t>
                    </m:r>
                    <m:r>
                      <a:rPr lang="en-US" sz="2000" b="0" i="1" smtClean="0">
                        <a:latin typeface="Cambria Math" panose="02040503050406030204" pitchFamily="18" charset="0"/>
                      </a:rPr>
                      <m:t>𝐶</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7,</m:t>
                        </m:r>
                        <m:r>
                          <a:rPr lang="en-US" sz="2000" b="0" i="1" smtClean="0">
                            <a:latin typeface="Cambria Math" panose="02040503050406030204" pitchFamily="18" charset="0"/>
                          </a:rPr>
                          <m:t> </m:t>
                        </m:r>
                        <m:r>
                          <a:rPr lang="en-US" sz="2000" b="0" i="1" smtClean="0">
                            <a:latin typeface="Cambria Math" panose="02040503050406030204" pitchFamily="18" charset="0"/>
                          </a:rPr>
                          <m:t>5</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m:t>
                        </m:r>
                      </m:num>
                      <m:den>
                        <m:r>
                          <a:rPr lang="en-US" sz="2000" b="0" i="1" smtClean="0">
                            <a:latin typeface="Cambria Math" panose="02040503050406030204" pitchFamily="18" charset="0"/>
                          </a:rPr>
                          <m:t>5!2!</m:t>
                        </m:r>
                      </m:den>
                    </m:f>
                    <m:r>
                      <a:rPr lang="en-US" sz="2000" b="0" i="1" smtClean="0">
                        <a:latin typeface="Cambria Math" panose="02040503050406030204" pitchFamily="18" charset="0"/>
                      </a:rPr>
                      <m:t>=21</m:t>
                    </m:r>
                  </m:oMath>
                </a14:m>
                <a:br>
                  <a:rPr lang="en-US" sz="2000" dirty="0"/>
                </a:br>
                <a:r>
                  <a:rPr lang="en-US" sz="2000" dirty="0"/>
                  <a:t>solutions.</a:t>
                </a:r>
              </a:p>
              <a:p>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1295400"/>
                <a:ext cx="8686800" cy="4953000"/>
              </a:xfrm>
              <a:blipFill>
                <a:blip r:embed="rId2"/>
                <a:stretch>
                  <a:fillRect l="-730" t="-1023" b="-741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46</a:t>
            </a:fld>
            <a:endParaRPr lang="en-US"/>
          </a:p>
        </p:txBody>
      </p:sp>
    </p:spTree>
    <p:extLst>
      <p:ext uri="{BB962C8B-B14F-4D97-AF65-F5344CB8AC3E}">
        <p14:creationId xmlns:p14="http://schemas.microsoft.com/office/powerpoint/2010/main" val="3164890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rPr>
              <a:t>Exercise </a:t>
            </a:r>
            <a:r>
              <a:rPr lang="en-US" sz="3200" dirty="0"/>
              <a:t>on Equation Solutions with minimum constraint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6200" y="1295400"/>
                <a:ext cx="8839200" cy="4953000"/>
              </a:xfrm>
            </p:spPr>
            <p:txBody>
              <a:bodyPr/>
              <a:lstStyle/>
              <a:p>
                <a:r>
                  <a:rPr lang="en-US" sz="2000" dirty="0"/>
                  <a:t>How many solutions does the equation</a:t>
                </a:r>
                <a:br>
                  <a:rPr lang="en-US" sz="2000" b="0" i="1" dirty="0">
                    <a:latin typeface="Cambria Math" panose="02040503050406030204" pitchFamily="18" charset="0"/>
                  </a:rPr>
                </a:b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𝑥</m:t>
                        </m:r>
                      </m:e>
                      <m:sub>
                        <m:r>
                          <a:rPr lang="en-US" sz="2000" b="0" i="1" dirty="0" smtClean="0">
                            <a:latin typeface="Cambria Math" panose="02040503050406030204" pitchFamily="18" charset="0"/>
                          </a:rPr>
                          <m:t>1</m:t>
                        </m:r>
                      </m:sub>
                    </m:sSub>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2</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3</m:t>
                    </m:r>
                    <m:r>
                      <a:rPr lang="en-US" sz="2000" i="1" dirty="0">
                        <a:latin typeface="Cambria Math" panose="02040503050406030204" pitchFamily="18" charset="0"/>
                      </a:rPr>
                      <m:t>=</m:t>
                    </m:r>
                    <m:r>
                      <a:rPr lang="en-US" sz="2000" b="0" i="1" dirty="0" smtClean="0">
                        <a:latin typeface="Cambria Math" panose="02040503050406030204" pitchFamily="18" charset="0"/>
                        <a:ea typeface="Cambria Math" pitchFamily="18" charset="0"/>
                      </a:rPr>
                      <m:t>5</m:t>
                    </m:r>
                  </m:oMath>
                </a14:m>
                <a:br>
                  <a:rPr lang="en-US" sz="2000" dirty="0"/>
                </a:br>
                <a:r>
                  <a:rPr lang="en-US" sz="2000" dirty="0"/>
                  <a:t>have, where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m:t>
                        </m:r>
                      </m:sub>
                    </m:sSub>
                  </m:oMath>
                </a14:m>
                <a:r>
                  <a:rPr lang="en-US" sz="2000" dirty="0"/>
                  <a:t> are nonnegative integers and </a:t>
                </a:r>
                <a14:m>
                  <m:oMath xmlns:m="http://schemas.openxmlformats.org/officeDocument/2006/math">
                    <m:sSub>
                      <m:sSubPr>
                        <m:ctrlPr>
                          <a:rPr lang="en-US" sz="2000" i="1" dirty="0">
                            <a:solidFill>
                              <a:srgbClr val="FF0000"/>
                            </a:solidFill>
                            <a:latin typeface="Cambria Math" panose="02040503050406030204" pitchFamily="18" charset="0"/>
                          </a:rPr>
                        </m:ctrlPr>
                      </m:sSubPr>
                      <m:e>
                        <m:r>
                          <a:rPr lang="en-US" sz="2000" i="1" dirty="0">
                            <a:solidFill>
                              <a:srgbClr val="FF0000"/>
                            </a:solidFill>
                            <a:latin typeface="Cambria Math" panose="02040503050406030204" pitchFamily="18" charset="0"/>
                          </a:rPr>
                          <m:t>𝑥</m:t>
                        </m:r>
                      </m:e>
                      <m:sub>
                        <m:r>
                          <a:rPr lang="en-US" sz="2000" b="0" i="1" dirty="0" smtClean="0">
                            <a:solidFill>
                              <a:srgbClr val="FF0000"/>
                            </a:solidFill>
                            <a:latin typeface="Cambria Math" panose="02040503050406030204" pitchFamily="18" charset="0"/>
                          </a:rPr>
                          <m:t>3</m:t>
                        </m:r>
                      </m:sub>
                    </m:sSub>
                  </m:oMath>
                </a14:m>
                <a:r>
                  <a:rPr lang="en-US" sz="2000" dirty="0">
                    <a:solidFill>
                      <a:srgbClr val="FF0000"/>
                    </a:solidFill>
                  </a:rPr>
                  <a:t> ≥ 3</a:t>
                </a:r>
                <a:r>
                  <a:rPr lang="en-US" sz="2000" dirty="0"/>
                  <a:t>?</a:t>
                </a:r>
              </a:p>
              <a:p>
                <a:r>
                  <a:rPr lang="en-US" sz="2000" dirty="0">
                    <a:solidFill>
                      <a:srgbClr val="00B050"/>
                    </a:solidFill>
                    <a:ea typeface="Cambria Math" pitchFamily="18" charset="0"/>
                  </a:rPr>
                  <a:t>Equivalent problem: </a:t>
                </a:r>
                <a:r>
                  <a:rPr lang="en-US" sz="2000" dirty="0"/>
                  <a:t>Suppose that a cookie shop has </a:t>
                </a:r>
                <a:r>
                  <a:rPr lang="en-US" sz="2000" dirty="0">
                    <a:solidFill>
                      <a:srgbClr val="FF0000"/>
                    </a:solidFill>
                  </a:rPr>
                  <a:t>3 different kinds of cookies</a:t>
                </a:r>
                <a:r>
                  <a:rPr lang="en-US" sz="2000" dirty="0"/>
                  <a:t>. In how many different ways can </a:t>
                </a:r>
                <a:r>
                  <a:rPr lang="en-US" sz="2000" dirty="0">
                    <a:solidFill>
                      <a:srgbClr val="0000FF"/>
                    </a:solidFill>
                  </a:rPr>
                  <a:t>5</a:t>
                </a:r>
                <a:r>
                  <a:rPr lang="en-US" sz="2000" dirty="0"/>
                  <a:t> cookies be chosen, </a:t>
                </a:r>
                <a:r>
                  <a:rPr lang="en-US" sz="2000" dirty="0">
                    <a:solidFill>
                      <a:srgbClr val="0000FF"/>
                    </a:solidFill>
                  </a:rPr>
                  <a:t>if I must choose at least 3 cookies of the third kind</a:t>
                </a:r>
                <a:r>
                  <a:rPr lang="en-US" sz="2000" dirty="0"/>
                  <a:t>?</a:t>
                </a:r>
              </a:p>
              <a:p>
                <a:r>
                  <a:rPr lang="en-US" sz="2000" b="1" dirty="0"/>
                  <a:t>Solution</a:t>
                </a:r>
                <a:endParaRPr lang="en-US" sz="2000" dirty="0"/>
              </a:p>
              <a:p>
                <a:r>
                  <a:rPr lang="en-US" sz="2000" dirty="0"/>
                  <a:t>I rewrite the equation as follows:</a:t>
                </a:r>
              </a:p>
              <a:p>
                <a14:m>
                  <m:oMath xmlns:m="http://schemas.openxmlformats.org/officeDocument/2006/math">
                    <m:r>
                      <a:rPr lang="en-US" sz="2000" i="1" dirty="0">
                        <a:latin typeface="Cambria Math" panose="02040503050406030204" pitchFamily="18" charset="0"/>
                      </a:rPr>
                      <m:t>𝑥</m:t>
                    </m:r>
                    <m:r>
                      <a:rPr lang="en-US" sz="2000" b="0" i="1" baseline="-25000" dirty="0" smtClean="0">
                        <a:latin typeface="Cambria Math" panose="02040503050406030204" pitchFamily="18" charset="0"/>
                        <a:ea typeface="Cambria Math" pitchFamily="18" charset="0"/>
                      </a:rPr>
                      <m:t>1</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2</m:t>
                    </m:r>
                    <m:r>
                      <a:rPr lang="en-US" sz="2000" i="1" dirty="0">
                        <a:latin typeface="Cambria Math" panose="02040503050406030204" pitchFamily="18" charset="0"/>
                      </a:rPr>
                      <m:t>+</m:t>
                    </m:r>
                    <m:r>
                      <a:rPr lang="en-US" sz="2000" i="1" dirty="0">
                        <a:solidFill>
                          <a:srgbClr val="FF0000"/>
                        </a:solidFill>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3</m:t>
                    </m:r>
                    <m:r>
                      <a:rPr lang="en-US" sz="2000" i="1" dirty="0">
                        <a:solidFill>
                          <a:srgbClr val="FF0000"/>
                        </a:solidFill>
                        <a:latin typeface="Cambria Math" panose="02040503050406030204" pitchFamily="18" charset="0"/>
                      </a:rPr>
                      <m:t>−3)</m:t>
                    </m:r>
                    <m:r>
                      <a:rPr lang="en-US" sz="2000" i="1" dirty="0">
                        <a:latin typeface="Cambria Math" panose="02040503050406030204" pitchFamily="18" charset="0"/>
                      </a:rPr>
                      <m:t>=</m:t>
                    </m:r>
                    <m:r>
                      <a:rPr lang="en-US" sz="2000" i="1" dirty="0">
                        <a:latin typeface="Cambria Math" panose="02040503050406030204" pitchFamily="18" charset="0"/>
                        <a:ea typeface="Cambria Math" pitchFamily="18" charset="0"/>
                      </a:rPr>
                      <m:t>5</m:t>
                    </m:r>
                    <m:r>
                      <a:rPr lang="en-US" sz="2000" b="0" i="1" dirty="0" smtClean="0">
                        <a:solidFill>
                          <a:srgbClr val="FF0000"/>
                        </a:solidFill>
                        <a:latin typeface="Cambria Math" panose="02040503050406030204" pitchFamily="18" charset="0"/>
                        <a:ea typeface="Cambria Math" pitchFamily="18" charset="0"/>
                      </a:rPr>
                      <m:t>−3</m:t>
                    </m:r>
                  </m:oMath>
                </a14:m>
                <a:r>
                  <a:rPr lang="en-US" sz="2000" dirty="0"/>
                  <a:t>  </a:t>
                </a:r>
                <a:r>
                  <a:rPr lang="en-US" sz="2000" dirty="0">
                    <a:sym typeface="Symbol" panose="05050102010706020507" pitchFamily="18" charset="2"/>
                  </a:rPr>
                  <a:t> </a:t>
                </a:r>
                <a14:m>
                  <m:oMath xmlns:m="http://schemas.openxmlformats.org/officeDocument/2006/math">
                    <m:r>
                      <a:rPr lang="en-US" sz="2000" b="0" i="0" dirty="0" smtClean="0">
                        <a:latin typeface="Cambria Math" panose="02040503050406030204" pitchFamily="18" charset="0"/>
                      </a:rPr>
                      <m:t> </m:t>
                    </m:r>
                    <m:r>
                      <a:rPr lang="en-US" sz="2000" i="1" dirty="0">
                        <a:latin typeface="Cambria Math" panose="02040503050406030204" pitchFamily="18" charset="0"/>
                      </a:rPr>
                      <m:t>𝑥</m:t>
                    </m:r>
                    <m:r>
                      <a:rPr lang="en-US" sz="2000" b="0" i="1" baseline="-25000" dirty="0" smtClean="0">
                        <a:latin typeface="Cambria Math" panose="02040503050406030204" pitchFamily="18" charset="0"/>
                        <a:ea typeface="Cambria Math" pitchFamily="18" charset="0"/>
                      </a:rPr>
                      <m:t>1</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baseline="-25000" dirty="0">
                        <a:latin typeface="Cambria Math" panose="02040503050406030204" pitchFamily="18" charset="0"/>
                        <a:ea typeface="Cambria Math" pitchFamily="18" charset="0"/>
                      </a:rPr>
                      <m:t>2</m:t>
                    </m:r>
                    <m:r>
                      <a:rPr lang="en-US" sz="2000" i="1" dirty="0">
                        <a:latin typeface="Cambria Math" panose="02040503050406030204" pitchFamily="18" charset="0"/>
                      </a:rPr>
                      <m:t>+</m:t>
                    </m:r>
                    <m:r>
                      <a:rPr lang="en-US" sz="2000" i="1" dirty="0">
                        <a:solidFill>
                          <a:srgbClr val="FF0000"/>
                        </a:solidFill>
                        <a:latin typeface="Cambria Math" panose="02040503050406030204" pitchFamily="18" charset="0"/>
                      </a:rPr>
                      <m:t>𝑥</m:t>
                    </m:r>
                    <m:r>
                      <a:rPr lang="en-US" sz="2000" i="1" dirty="0">
                        <a:latin typeface="Cambria Math" panose="02040503050406030204" pitchFamily="18" charset="0"/>
                      </a:rPr>
                      <m:t>=</m:t>
                    </m:r>
                    <m:r>
                      <a:rPr lang="en-US" sz="2000" b="0" i="1" dirty="0" smtClean="0">
                        <a:solidFill>
                          <a:srgbClr val="0000FF"/>
                        </a:solidFill>
                        <a:latin typeface="Cambria Math" panose="02040503050406030204" pitchFamily="18" charset="0"/>
                        <a:ea typeface="Cambria Math" pitchFamily="18" charset="0"/>
                      </a:rPr>
                      <m:t>2</m:t>
                    </m:r>
                  </m:oMath>
                </a14:m>
                <a:r>
                  <a:rPr lang="en-US" sz="2000" dirty="0"/>
                  <a:t>.</a:t>
                </a:r>
              </a:p>
              <a:p>
                <a:r>
                  <a:rPr lang="en-US" sz="2000" dirty="0"/>
                  <a:t>The number of solutions for the new equation is</a:t>
                </a:r>
              </a:p>
              <a:p>
                <a14:m>
                  <m:oMath xmlns:m="http://schemas.openxmlformats.org/officeDocument/2006/math">
                    <m:r>
                      <a:rPr lang="en-US" sz="2000" i="1">
                        <a:latin typeface="Cambria Math" panose="02040503050406030204" pitchFamily="18" charset="0"/>
                      </a:rPr>
                      <m:t>𝐶</m:t>
                    </m:r>
                    <m:d>
                      <m:dPr>
                        <m:ctrlPr>
                          <a:rPr lang="en-US" sz="2000" i="1">
                            <a:latin typeface="Cambria Math" panose="02040503050406030204" pitchFamily="18" charset="0"/>
                          </a:rPr>
                        </m:ctrlPr>
                      </m:dPr>
                      <m:e>
                        <m:r>
                          <a:rPr lang="en-US" sz="2000" i="1">
                            <a:latin typeface="Cambria Math" panose="02040503050406030204" pitchFamily="18" charset="0"/>
                          </a:rPr>
                          <m:t>3+</m:t>
                        </m:r>
                        <m:r>
                          <a:rPr lang="en-US" sz="2000" b="0" i="1" smtClean="0">
                            <a:latin typeface="Cambria Math" panose="02040503050406030204" pitchFamily="18" charset="0"/>
                          </a:rPr>
                          <m:t>2</m:t>
                        </m:r>
                        <m:r>
                          <a:rPr lang="en-US" sz="2000" i="1">
                            <a:latin typeface="Cambria Math" panose="02040503050406030204" pitchFamily="18" charset="0"/>
                          </a:rPr>
                          <m:t>−1,</m:t>
                        </m:r>
                        <m:r>
                          <a:rPr lang="en-US" sz="2000" b="0" i="1" smtClean="0">
                            <a:latin typeface="Cambria Math" panose="02040503050406030204" pitchFamily="18" charset="0"/>
                          </a:rPr>
                          <m:t> </m:t>
                        </m:r>
                        <m:r>
                          <a:rPr lang="en-US" sz="2000" b="0" i="1" smtClean="0">
                            <a:solidFill>
                              <a:srgbClr val="0000FF"/>
                            </a:solidFill>
                            <a:latin typeface="Cambria Math" panose="02040503050406030204" pitchFamily="18" charset="0"/>
                          </a:rPr>
                          <m:t>2</m:t>
                        </m:r>
                      </m:e>
                    </m:d>
                    <m:r>
                      <a:rPr lang="en-US" sz="2000" i="1">
                        <a:latin typeface="Cambria Math" panose="02040503050406030204" pitchFamily="18" charset="0"/>
                      </a:rPr>
                      <m:t>=</m:t>
                    </m:r>
                    <m:r>
                      <a:rPr lang="en-US" sz="2000" i="1">
                        <a:latin typeface="Cambria Math" panose="02040503050406030204" pitchFamily="18" charset="0"/>
                      </a:rPr>
                      <m:t>𝐶</m:t>
                    </m:r>
                    <m:d>
                      <m:dPr>
                        <m:ctrlPr>
                          <a:rPr lang="en-US" sz="2000" b="0" i="1" smtClean="0">
                            <a:solidFill>
                              <a:srgbClr val="0000FF"/>
                            </a:solidFill>
                            <a:latin typeface="Cambria Math" panose="02040503050406030204" pitchFamily="18" charset="0"/>
                          </a:rPr>
                        </m:ctrlPr>
                      </m:dPr>
                      <m:e>
                        <m:r>
                          <a:rPr lang="en-US" sz="2000" b="0" i="1" smtClean="0">
                            <a:solidFill>
                              <a:srgbClr val="0000FF"/>
                            </a:solidFill>
                            <a:latin typeface="Cambria Math" panose="02040503050406030204" pitchFamily="18" charset="0"/>
                          </a:rPr>
                          <m:t>4</m:t>
                        </m:r>
                        <m:r>
                          <a:rPr lang="en-US" sz="2000" i="1">
                            <a:solidFill>
                              <a:srgbClr val="0000FF"/>
                            </a:solidFill>
                            <a:latin typeface="Cambria Math" panose="02040503050406030204" pitchFamily="18" charset="0"/>
                          </a:rPr>
                          <m:t>,</m:t>
                        </m:r>
                        <m:r>
                          <a:rPr lang="en-US" sz="2000" b="0" i="1" smtClean="0">
                            <a:solidFill>
                              <a:srgbClr val="0000FF"/>
                            </a:solidFill>
                            <a:latin typeface="Cambria Math" panose="02040503050406030204" pitchFamily="18" charset="0"/>
                          </a:rPr>
                          <m:t> </m:t>
                        </m:r>
                        <m:r>
                          <a:rPr lang="en-US" sz="2000" b="0" i="1" smtClean="0">
                            <a:solidFill>
                              <a:srgbClr val="0000FF"/>
                            </a:solidFill>
                            <a:latin typeface="Cambria Math" panose="02040503050406030204" pitchFamily="18" charset="0"/>
                          </a:rPr>
                          <m:t>2</m:t>
                        </m:r>
                      </m:e>
                    </m:d>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r>
                          <a:rPr lang="en-US" sz="2000" i="1">
                            <a:latin typeface="Cambria Math" panose="02040503050406030204" pitchFamily="18" charset="0"/>
                          </a:rPr>
                          <m:t>!</m:t>
                        </m:r>
                      </m:num>
                      <m:den>
                        <m:r>
                          <a:rPr lang="en-US" sz="2000" b="0" i="1" smtClean="0">
                            <a:latin typeface="Cambria Math" panose="02040503050406030204" pitchFamily="18" charset="0"/>
                          </a:rPr>
                          <m:t>2</m:t>
                        </m:r>
                        <m:r>
                          <a:rPr lang="en-US" sz="2000" i="1">
                            <a:latin typeface="Cambria Math" panose="02040503050406030204" pitchFamily="18" charset="0"/>
                          </a:rPr>
                          <m:t>!2!</m:t>
                        </m:r>
                      </m:den>
                    </m:f>
                    <m:r>
                      <a:rPr lang="en-US" sz="2000" i="1">
                        <a:latin typeface="Cambria Math" panose="02040503050406030204" pitchFamily="18" charset="0"/>
                      </a:rPr>
                      <m:t>=</m:t>
                    </m:r>
                    <m:r>
                      <a:rPr lang="en-US" sz="2000" b="0" i="1" smtClean="0">
                        <a:latin typeface="Cambria Math" panose="02040503050406030204" pitchFamily="18" charset="0"/>
                      </a:rPr>
                      <m:t>6</m:t>
                    </m:r>
                  </m:oMath>
                </a14:m>
                <a:endParaRPr lang="en-US" sz="2000" dirty="0"/>
              </a:p>
              <a:p>
                <a:r>
                  <a:rPr lang="en-US" sz="2000" dirty="0"/>
                  <a:t>This is the number of solutions when </a:t>
                </a:r>
                <a14:m>
                  <m:oMath xmlns:m="http://schemas.openxmlformats.org/officeDocument/2006/math">
                    <m:r>
                      <a:rPr lang="en-US" sz="2000" b="0" i="1" dirty="0" smtClean="0">
                        <a:solidFill>
                          <a:srgbClr val="FF0000"/>
                        </a:solidFill>
                        <a:latin typeface="Cambria Math" panose="02040503050406030204" pitchFamily="18" charset="0"/>
                      </a:rPr>
                      <m:t>𝑥</m:t>
                    </m:r>
                    <m:r>
                      <a:rPr lang="en-US" sz="2000" i="1" dirty="0" smtClean="0">
                        <a:latin typeface="Cambria Math" panose="02040503050406030204" pitchFamily="18" charset="0"/>
                      </a:rPr>
                      <m:t>≥</m:t>
                    </m:r>
                  </m:oMath>
                </a14:m>
                <a:r>
                  <a:rPr lang="en-US" sz="2000" dirty="0">
                    <a:sym typeface="Symbol" panose="05050102010706020507" pitchFamily="18" charset="2"/>
                  </a:rPr>
                  <a:t>0 </a:t>
                </a:r>
                <a:r>
                  <a:rPr lang="en-US" sz="2000" dirty="0"/>
                  <a:t> </a:t>
                </a:r>
                <a14:m>
                  <m:oMath xmlns:m="http://schemas.openxmlformats.org/officeDocument/2006/math">
                    <m:sSub>
                      <m:sSubPr>
                        <m:ctrlPr>
                          <a:rPr lang="en-US" sz="2000" i="1" dirty="0">
                            <a:solidFill>
                              <a:srgbClr val="FF0000"/>
                            </a:solidFill>
                            <a:latin typeface="Cambria Math" panose="02040503050406030204" pitchFamily="18" charset="0"/>
                          </a:rPr>
                        </m:ctrlPr>
                      </m:sSubPr>
                      <m:e>
                        <m:r>
                          <a:rPr lang="en-US" sz="2000" i="1" dirty="0">
                            <a:solidFill>
                              <a:srgbClr val="FF0000"/>
                            </a:solidFill>
                            <a:latin typeface="Cambria Math" panose="02040503050406030204" pitchFamily="18" charset="0"/>
                          </a:rPr>
                          <m:t>𝑥</m:t>
                        </m:r>
                      </m:e>
                      <m:sub>
                        <m:r>
                          <a:rPr lang="en-US" sz="2000" b="0" i="1" dirty="0" smtClean="0">
                            <a:solidFill>
                              <a:srgbClr val="FF0000"/>
                            </a:solidFill>
                            <a:latin typeface="Cambria Math" panose="02040503050406030204" pitchFamily="18" charset="0"/>
                          </a:rPr>
                          <m:t>3</m:t>
                        </m:r>
                      </m:sub>
                    </m:sSub>
                    <m:r>
                      <a:rPr lang="en-US" sz="2000" b="0" i="1" dirty="0" smtClean="0">
                        <a:solidFill>
                          <a:srgbClr val="FF0000"/>
                        </a:solidFill>
                        <a:latin typeface="Cambria Math" panose="02040503050406030204" pitchFamily="18" charset="0"/>
                      </a:rPr>
                      <m:t>−3</m:t>
                    </m:r>
                    <m:r>
                      <a:rPr lang="en-US" sz="2000" i="1" dirty="0" smtClean="0">
                        <a:latin typeface="Cambria Math" panose="02040503050406030204" pitchFamily="18" charset="0"/>
                      </a:rPr>
                      <m:t>≥</m:t>
                    </m:r>
                    <m:r>
                      <a:rPr lang="en-US" sz="2000" b="0" i="1" dirty="0" smtClean="0">
                        <a:latin typeface="Cambria Math" panose="02040503050406030204" pitchFamily="18" charset="0"/>
                      </a:rPr>
                      <m:t>0</m:t>
                    </m:r>
                    <m:r>
                      <m:rPr>
                        <m:nor/>
                      </m:rPr>
                      <a:rPr lang="en-US" sz="2000" b="0" i="0" dirty="0" smtClean="0">
                        <a:latin typeface="Cambria Math" panose="02040503050406030204" pitchFamily="18" charset="0"/>
                      </a:rPr>
                      <m:t> </m:t>
                    </m:r>
                    <m:r>
                      <m:rPr>
                        <m:nor/>
                      </m:rPr>
                      <a:rPr lang="en-US" sz="2000" i="0" dirty="0">
                        <a:sym typeface="Symbol" panose="05050102010706020507" pitchFamily="18" charset="2"/>
                      </a:rPr>
                      <m:t></m:t>
                    </m:r>
                    <m:r>
                      <m:rPr>
                        <m:nor/>
                      </m:rPr>
                      <a:rPr lang="en-US" sz="2000" i="0" dirty="0"/>
                      <m:t> </m:t>
                    </m:r>
                    <m:sSub>
                      <m:sSubPr>
                        <m:ctrlPr>
                          <a:rPr lang="en-US" sz="2000" i="1" dirty="0">
                            <a:solidFill>
                              <a:srgbClr val="FF0000"/>
                            </a:solidFill>
                            <a:latin typeface="Cambria Math" panose="02040503050406030204" pitchFamily="18" charset="0"/>
                          </a:rPr>
                        </m:ctrlPr>
                      </m:sSubPr>
                      <m:e>
                        <m:r>
                          <a:rPr lang="en-US" sz="2000" i="1" dirty="0">
                            <a:solidFill>
                              <a:srgbClr val="FF0000"/>
                            </a:solidFill>
                            <a:latin typeface="Cambria Math" panose="02040503050406030204" pitchFamily="18" charset="0"/>
                          </a:rPr>
                          <m:t>𝑥</m:t>
                        </m:r>
                      </m:e>
                      <m:sub>
                        <m:r>
                          <a:rPr lang="en-US" sz="2000" b="0" i="1" dirty="0" smtClean="0">
                            <a:solidFill>
                              <a:srgbClr val="FF0000"/>
                            </a:solidFill>
                            <a:latin typeface="Cambria Math" panose="02040503050406030204" pitchFamily="18" charset="0"/>
                          </a:rPr>
                          <m:t>3</m:t>
                        </m:r>
                      </m:sub>
                    </m:sSub>
                    <m:r>
                      <a:rPr lang="en-US" sz="2000" i="1" dirty="0">
                        <a:latin typeface="Cambria Math" panose="02040503050406030204" pitchFamily="18" charset="0"/>
                      </a:rPr>
                      <m:t>≥</m:t>
                    </m:r>
                    <m:r>
                      <a:rPr lang="en-US" sz="2000" b="0" i="1" dirty="0" smtClean="0">
                        <a:latin typeface="Cambria Math" panose="02040503050406030204" pitchFamily="18" charset="0"/>
                      </a:rPr>
                      <m:t>3</m:t>
                    </m:r>
                  </m:oMath>
                </a14:m>
                <a:r>
                  <a:rPr lang="en-US" sz="2000"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6200" y="1295400"/>
                <a:ext cx="8839200" cy="4953000"/>
              </a:xfrm>
              <a:blipFill>
                <a:blip r:embed="rId2"/>
                <a:stretch>
                  <a:fillRect l="-717" t="-102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47</a:t>
            </a:fld>
            <a:endParaRPr lang="en-US"/>
          </a:p>
        </p:txBody>
      </p:sp>
    </p:spTree>
    <p:extLst>
      <p:ext uri="{BB962C8B-B14F-4D97-AF65-F5344CB8AC3E}">
        <p14:creationId xmlns:p14="http://schemas.microsoft.com/office/powerpoint/2010/main" val="5973976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Exercise </a:t>
            </a:r>
            <a:r>
              <a:rPr lang="en-US" dirty="0"/>
              <a:t>on Equation Solutions with maximum constraint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6200" y="1295400"/>
                <a:ext cx="8839200" cy="4953000"/>
              </a:xfrm>
            </p:spPr>
            <p:txBody>
              <a:bodyPr/>
              <a:lstStyle/>
              <a:p>
                <a:r>
                  <a:rPr lang="en-US" sz="2000" dirty="0"/>
                  <a:t>Suppose that a cookie shop has </a:t>
                </a:r>
                <a:r>
                  <a:rPr lang="en-US" sz="2000" dirty="0">
                    <a:solidFill>
                      <a:srgbClr val="FF0000"/>
                    </a:solidFill>
                  </a:rPr>
                  <a:t>3 different kinds of cookies</a:t>
                </a:r>
                <a:r>
                  <a:rPr lang="en-US" sz="2000" dirty="0"/>
                  <a:t>. However, </a:t>
                </a:r>
                <a:r>
                  <a:rPr lang="en-US" sz="2000" dirty="0">
                    <a:ea typeface="Cambria Math" pitchFamily="18" charset="0"/>
                  </a:rPr>
                  <a:t>some cookie box (say </a:t>
                </a:r>
                <a:r>
                  <a:rPr lang="en-US" sz="2000" dirty="0">
                    <a:solidFill>
                      <a:srgbClr val="0000FF"/>
                    </a:solidFill>
                    <a:ea typeface="Cambria Math" pitchFamily="18" charset="0"/>
                  </a:rPr>
                  <a:t>kind 3</a:t>
                </a:r>
                <a:r>
                  <a:rPr lang="en-US" sz="2000" dirty="0">
                    <a:ea typeface="Cambria Math" pitchFamily="18" charset="0"/>
                  </a:rPr>
                  <a:t>) contains only </a:t>
                </a:r>
                <a:r>
                  <a:rPr lang="en-US" sz="2000" dirty="0">
                    <a:solidFill>
                      <a:srgbClr val="0000FF"/>
                    </a:solidFill>
                  </a:rPr>
                  <a:t>2 cookies</a:t>
                </a:r>
                <a:r>
                  <a:rPr lang="en-US" sz="2000" dirty="0"/>
                  <a:t>. In how many different ways can </a:t>
                </a:r>
                <a:r>
                  <a:rPr lang="en-US" sz="2000" dirty="0">
                    <a:solidFill>
                      <a:srgbClr val="0000FF"/>
                    </a:solidFill>
                  </a:rPr>
                  <a:t>5</a:t>
                </a:r>
                <a:r>
                  <a:rPr lang="en-US" sz="2000" dirty="0"/>
                  <a:t> cookies be chosen, </a:t>
                </a:r>
                <a:r>
                  <a:rPr lang="en-US" sz="2000" dirty="0">
                    <a:solidFill>
                      <a:srgbClr val="0000FF"/>
                    </a:solidFill>
                  </a:rPr>
                  <a:t>so that you have at most 2 cookies of kind 1</a:t>
                </a:r>
                <a:r>
                  <a:rPr lang="en-US" sz="2000" dirty="0"/>
                  <a:t>?</a:t>
                </a:r>
              </a:p>
              <a:p>
                <a:r>
                  <a:rPr lang="en-US" sz="2000" b="1" dirty="0">
                    <a:solidFill>
                      <a:schemeClr val="tx1"/>
                    </a:solidFill>
                  </a:rPr>
                  <a:t>Solution</a:t>
                </a:r>
                <a:br>
                  <a:rPr lang="en-US" sz="2000" b="1" dirty="0">
                    <a:solidFill>
                      <a:schemeClr val="tx1"/>
                    </a:solidFill>
                  </a:rPr>
                </a:br>
                <a:r>
                  <a:rPr lang="en-US" sz="2000" dirty="0">
                    <a:solidFill>
                      <a:schemeClr val="tx1"/>
                    </a:solidFill>
                  </a:rPr>
                  <a:t>From previous slides of “Exercises on Equation Solutions”, without any constraint, the number of solutions is </a:t>
                </a:r>
                <a14:m>
                  <m:oMath xmlns:m="http://schemas.openxmlformats.org/officeDocument/2006/math">
                    <m:r>
                      <a:rPr lang="en-US" sz="2000" i="1">
                        <a:solidFill>
                          <a:schemeClr val="tx1"/>
                        </a:solidFill>
                        <a:latin typeface="Cambria Math" panose="02040503050406030204" pitchFamily="18" charset="0"/>
                      </a:rPr>
                      <m:t>𝐶</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3+5−1,5</m:t>
                        </m:r>
                      </m:e>
                    </m:d>
                    <m:r>
                      <a:rPr lang="en-US" sz="2000" i="1">
                        <a:solidFill>
                          <a:schemeClr val="tx1"/>
                        </a:solidFill>
                        <a:latin typeface="Cambria Math" panose="02040503050406030204" pitchFamily="18" charset="0"/>
                      </a:rPr>
                      <m:t> </m:t>
                    </m:r>
                  </m:oMath>
                </a14:m>
                <a:r>
                  <a:rPr lang="en-US" sz="2000" dirty="0">
                    <a:solidFill>
                      <a:schemeClr val="tx1"/>
                    </a:solidFill>
                  </a:rPr>
                  <a:t>= </a:t>
                </a:r>
                <a14:m>
                  <m:oMath xmlns:m="http://schemas.openxmlformats.org/officeDocument/2006/math">
                    <m:r>
                      <a:rPr lang="en-US" sz="2000" i="1">
                        <a:solidFill>
                          <a:schemeClr val="tx1"/>
                        </a:solidFill>
                        <a:latin typeface="Cambria Math" panose="02040503050406030204" pitchFamily="18" charset="0"/>
                      </a:rPr>
                      <m:t>𝐶</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7</m:t>
                        </m:r>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 </m:t>
                        </m:r>
                        <m:r>
                          <a:rPr lang="en-US" sz="2000" i="1">
                            <a:solidFill>
                              <a:schemeClr val="tx1"/>
                            </a:solidFill>
                            <a:latin typeface="Cambria Math" panose="02040503050406030204" pitchFamily="18" charset="0"/>
                          </a:rPr>
                          <m:t>5</m:t>
                        </m:r>
                      </m:e>
                    </m:d>
                    <m:r>
                      <a:rPr lang="en-US" sz="2000" i="1">
                        <a:solidFill>
                          <a:schemeClr val="tx1"/>
                        </a:solidFill>
                        <a:latin typeface="Cambria Math" panose="02040503050406030204" pitchFamily="18" charset="0"/>
                      </a:rPr>
                      <m:t> </m:t>
                    </m:r>
                  </m:oMath>
                </a14:m>
                <a:r>
                  <a:rPr lang="en-US" sz="2000" dirty="0">
                    <a:solidFill>
                      <a:schemeClr val="tx1"/>
                    </a:solidFill>
                  </a:rPr>
                  <a:t>=21.   </a:t>
                </a:r>
              </a:p>
              <a:p>
                <a:r>
                  <a:rPr lang="en-US" sz="2000" dirty="0">
                    <a:solidFill>
                      <a:schemeClr val="tx1"/>
                    </a:solidFill>
                  </a:rPr>
                  <a:t>The number of solutions for constraint </a:t>
                </a:r>
                <a14:m>
                  <m:oMath xmlns:m="http://schemas.openxmlformats.org/officeDocument/2006/math">
                    <m:sSub>
                      <m:sSubPr>
                        <m:ctrlPr>
                          <a:rPr lang="en-US" sz="2000" i="1" dirty="0">
                            <a:solidFill>
                              <a:schemeClr val="tx1"/>
                            </a:solidFill>
                            <a:latin typeface="Cambria Math" panose="02040503050406030204" pitchFamily="18" charset="0"/>
                          </a:rPr>
                        </m:ctrlPr>
                      </m:sSubPr>
                      <m:e>
                        <m:r>
                          <a:rPr lang="en-US" sz="2000" i="1" dirty="0">
                            <a:solidFill>
                              <a:schemeClr val="tx1"/>
                            </a:solidFill>
                            <a:latin typeface="Cambria Math" panose="02040503050406030204" pitchFamily="18" charset="0"/>
                          </a:rPr>
                          <m:t>𝑥</m:t>
                        </m:r>
                      </m:e>
                      <m:sub>
                        <m:r>
                          <a:rPr lang="en-US" sz="2000" i="1" dirty="0">
                            <a:solidFill>
                              <a:schemeClr val="tx1"/>
                            </a:solidFill>
                            <a:latin typeface="Cambria Math" panose="02040503050406030204" pitchFamily="18" charset="0"/>
                          </a:rPr>
                          <m:t>3</m:t>
                        </m:r>
                      </m:sub>
                    </m:sSub>
                  </m:oMath>
                </a14:m>
                <a:r>
                  <a:rPr lang="en-US" sz="2000" dirty="0">
                    <a:solidFill>
                      <a:schemeClr val="tx1"/>
                    </a:solidFill>
                  </a:rPr>
                  <a:t>≥3 is</a:t>
                </a:r>
              </a:p>
              <a:p>
                <a14:m>
                  <m:oMath xmlns:m="http://schemas.openxmlformats.org/officeDocument/2006/math">
                    <m:r>
                      <a:rPr lang="en-US" sz="2000" i="1">
                        <a:solidFill>
                          <a:schemeClr val="tx1"/>
                        </a:solidFill>
                        <a:latin typeface="Cambria Math" panose="02040503050406030204" pitchFamily="18" charset="0"/>
                      </a:rPr>
                      <m:t>𝐶</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3+</m:t>
                        </m:r>
                        <m:r>
                          <a:rPr lang="en-US" sz="2000" b="0" i="1" smtClean="0">
                            <a:solidFill>
                              <a:schemeClr val="tx1"/>
                            </a:solidFill>
                            <a:latin typeface="Cambria Math" panose="02040503050406030204" pitchFamily="18" charset="0"/>
                          </a:rPr>
                          <m:t>2</m:t>
                        </m:r>
                        <m:r>
                          <a:rPr lang="en-US" sz="2000" i="1">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2</m:t>
                        </m:r>
                      </m:e>
                    </m:d>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𝐶</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4</m:t>
                        </m:r>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2</m:t>
                        </m:r>
                      </m:e>
                    </m:d>
                    <m:r>
                      <a:rPr lang="en-US" sz="2000" i="1">
                        <a:solidFill>
                          <a:schemeClr val="tx1"/>
                        </a:solidFill>
                        <a:latin typeface="Cambria Math" panose="02040503050406030204" pitchFamily="18" charset="0"/>
                      </a:rPr>
                      <m:t>=</m:t>
                    </m:r>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4</m:t>
                        </m:r>
                        <m:r>
                          <a:rPr lang="en-US" sz="2000" i="1">
                            <a:solidFill>
                              <a:schemeClr val="tx1"/>
                            </a:solidFill>
                            <a:latin typeface="Cambria Math" panose="02040503050406030204" pitchFamily="18" charset="0"/>
                          </a:rPr>
                          <m:t>!</m:t>
                        </m:r>
                      </m:num>
                      <m:den>
                        <m:r>
                          <a:rPr lang="en-US" sz="2000" b="0" i="1" smtClean="0">
                            <a:solidFill>
                              <a:schemeClr val="tx1"/>
                            </a:solidFill>
                            <a:latin typeface="Cambria Math" panose="02040503050406030204" pitchFamily="18" charset="0"/>
                          </a:rPr>
                          <m:t>2</m:t>
                        </m:r>
                        <m:r>
                          <a:rPr lang="en-US" sz="2000" i="1">
                            <a:solidFill>
                              <a:schemeClr val="tx1"/>
                            </a:solidFill>
                            <a:latin typeface="Cambria Math" panose="02040503050406030204" pitchFamily="18" charset="0"/>
                          </a:rPr>
                          <m:t>!2!</m:t>
                        </m:r>
                      </m:den>
                    </m:f>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6</m:t>
                    </m:r>
                  </m:oMath>
                </a14:m>
                <a:endParaRPr lang="en-US" sz="2000" dirty="0">
                  <a:solidFill>
                    <a:schemeClr val="tx1"/>
                  </a:solidFill>
                </a:endParaRPr>
              </a:p>
              <a:p>
                <a:r>
                  <a:rPr lang="en-US" sz="2000" dirty="0">
                    <a:solidFill>
                      <a:schemeClr val="tx1"/>
                    </a:solidFill>
                  </a:rPr>
                  <a:t>Thus, the number of solutions when </a:t>
                </a:r>
                <a14:m>
                  <m:oMath xmlns:m="http://schemas.openxmlformats.org/officeDocument/2006/math">
                    <m:sSub>
                      <m:sSubPr>
                        <m:ctrlPr>
                          <a:rPr lang="en-US" sz="2000" i="1" dirty="0">
                            <a:solidFill>
                              <a:schemeClr val="tx1"/>
                            </a:solidFill>
                            <a:latin typeface="Cambria Math" panose="02040503050406030204" pitchFamily="18" charset="0"/>
                          </a:rPr>
                        </m:ctrlPr>
                      </m:sSubPr>
                      <m:e>
                        <m:r>
                          <a:rPr lang="en-US" sz="2000" i="1" dirty="0">
                            <a:solidFill>
                              <a:schemeClr val="tx1"/>
                            </a:solidFill>
                            <a:latin typeface="Cambria Math" panose="02040503050406030204" pitchFamily="18" charset="0"/>
                          </a:rPr>
                          <m:t>𝑥</m:t>
                        </m:r>
                      </m:e>
                      <m:sub>
                        <m:r>
                          <a:rPr lang="en-US" sz="2000" b="0" i="1" dirty="0" smtClean="0">
                            <a:solidFill>
                              <a:schemeClr val="tx1"/>
                            </a:solidFill>
                            <a:latin typeface="Cambria Math" panose="02040503050406030204" pitchFamily="18" charset="0"/>
                          </a:rPr>
                          <m:t>3</m:t>
                        </m:r>
                      </m:sub>
                    </m:sSub>
                  </m:oMath>
                </a14:m>
                <a:r>
                  <a:rPr lang="en-US" sz="2000" dirty="0">
                    <a:solidFill>
                      <a:schemeClr val="tx1"/>
                    </a:solidFill>
                  </a:rPr>
                  <a:t> &lt; 3 is </a:t>
                </a:r>
                <a14:m>
                  <m:oMath xmlns:m="http://schemas.openxmlformats.org/officeDocument/2006/math">
                    <m:r>
                      <a:rPr lang="en-US" sz="2000" i="1">
                        <a:solidFill>
                          <a:schemeClr val="tx1"/>
                        </a:solidFill>
                        <a:latin typeface="Cambria Math" panose="02040503050406030204" pitchFamily="18" charset="0"/>
                      </a:rPr>
                      <m:t>𝐶</m:t>
                    </m:r>
                    <m:d>
                      <m:dPr>
                        <m:ctrlPr>
                          <a:rPr lang="en-US" sz="2000" i="1" smtClean="0">
                            <a:solidFill>
                              <a:schemeClr val="tx1"/>
                            </a:solidFill>
                            <a:latin typeface="Cambria Math" panose="02040503050406030204" pitchFamily="18" charset="0"/>
                          </a:rPr>
                        </m:ctrlPr>
                      </m:dPr>
                      <m:e>
                        <m:r>
                          <a:rPr lang="en-US" sz="2000" i="1" smtClean="0">
                            <a:solidFill>
                              <a:schemeClr val="tx1"/>
                            </a:solidFill>
                            <a:latin typeface="Cambria Math" panose="02040503050406030204" pitchFamily="18" charset="0"/>
                          </a:rPr>
                          <m:t>7,</m:t>
                        </m:r>
                        <m:r>
                          <a:rPr lang="en-US" sz="2000" b="0" i="1" smtClean="0">
                            <a:solidFill>
                              <a:schemeClr val="tx1"/>
                            </a:solidFill>
                            <a:latin typeface="Cambria Math" panose="02040503050406030204" pitchFamily="18" charset="0"/>
                          </a:rPr>
                          <m:t> </m:t>
                        </m:r>
                        <m:r>
                          <a:rPr lang="en-US" sz="2000" i="1" smtClean="0">
                            <a:solidFill>
                              <a:schemeClr val="tx1"/>
                            </a:solidFill>
                            <a:latin typeface="Cambria Math" panose="02040503050406030204" pitchFamily="18" charset="0"/>
                          </a:rPr>
                          <m:t>5</m:t>
                        </m:r>
                      </m:e>
                    </m:d>
                    <m:r>
                      <a:rPr lang="en-US" sz="2000" i="1">
                        <a:solidFill>
                          <a:schemeClr val="tx1"/>
                        </a:solidFill>
                        <a:latin typeface="Cambria Math" panose="02040503050406030204" pitchFamily="18" charset="0"/>
                      </a:rPr>
                      <m:t> </m:t>
                    </m:r>
                  </m:oMath>
                </a14:m>
                <a:r>
                  <a:rPr lang="en-US" sz="2000" dirty="0">
                    <a:solidFill>
                      <a:schemeClr val="tx1"/>
                    </a:solidFill>
                  </a:rPr>
                  <a:t>- </a:t>
                </a:r>
                <a14:m>
                  <m:oMath xmlns:m="http://schemas.openxmlformats.org/officeDocument/2006/math">
                    <m:r>
                      <a:rPr lang="en-US" sz="2000" i="1">
                        <a:solidFill>
                          <a:schemeClr val="tx1"/>
                        </a:solidFill>
                        <a:latin typeface="Cambria Math" panose="02040503050406030204" pitchFamily="18" charset="0"/>
                      </a:rPr>
                      <m:t>𝐶</m:t>
                    </m:r>
                    <m:d>
                      <m:dPr>
                        <m:ctrlPr>
                          <a:rPr lang="en-US" sz="2000" i="1" smtClean="0">
                            <a:solidFill>
                              <a:schemeClr val="tx1"/>
                            </a:solidFill>
                            <a:latin typeface="Cambria Math" panose="02040503050406030204" pitchFamily="18" charset="0"/>
                          </a:rPr>
                        </m:ctrlPr>
                      </m:dPr>
                      <m:e>
                        <m:r>
                          <a:rPr lang="en-US" sz="2000" i="1" smtClean="0">
                            <a:solidFill>
                              <a:schemeClr val="tx1"/>
                            </a:solidFill>
                            <a:latin typeface="Cambria Math" panose="02040503050406030204" pitchFamily="18" charset="0"/>
                          </a:rPr>
                          <m:t>4,</m:t>
                        </m:r>
                        <m:r>
                          <a:rPr lang="en-US" sz="2000" b="0" i="1" smtClean="0">
                            <a:solidFill>
                              <a:schemeClr val="tx1"/>
                            </a:solidFill>
                            <a:latin typeface="Cambria Math" panose="02040503050406030204" pitchFamily="18" charset="0"/>
                          </a:rPr>
                          <m:t> </m:t>
                        </m:r>
                        <m:r>
                          <a:rPr lang="en-US" sz="2000" i="1" smtClean="0">
                            <a:solidFill>
                              <a:schemeClr val="tx1"/>
                            </a:solidFill>
                            <a:latin typeface="Cambria Math" panose="02040503050406030204" pitchFamily="18" charset="0"/>
                          </a:rPr>
                          <m:t>2</m:t>
                        </m:r>
                      </m:e>
                    </m:d>
                  </m:oMath>
                </a14:m>
                <a:r>
                  <a:rPr lang="en-US" sz="2000" dirty="0">
                    <a:solidFill>
                      <a:schemeClr val="tx1"/>
                    </a:solidFill>
                  </a:rPr>
                  <a:t> = 21-6 = 15.</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6200" y="1295400"/>
                <a:ext cx="8839200" cy="4953000"/>
              </a:xfrm>
              <a:blipFill>
                <a:blip r:embed="rId2"/>
                <a:stretch>
                  <a:fillRect l="-717" t="-767" r="-8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C735E3-5B29-4F54-8FB9-022B0DB6C884}" type="slidenum">
              <a:rPr lang="en-US" smtClean="0"/>
              <a:pPr/>
              <a:t>48</a:t>
            </a:fld>
            <a:endParaRPr lang="en-US"/>
          </a:p>
        </p:txBody>
      </p:sp>
    </p:spTree>
    <p:extLst>
      <p:ext uri="{BB962C8B-B14F-4D97-AF65-F5344CB8AC3E}">
        <p14:creationId xmlns:p14="http://schemas.microsoft.com/office/powerpoint/2010/main" val="4179403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BB70E-C58A-0C47-8188-40C908C65CF5}"/>
              </a:ext>
            </a:extLst>
          </p:cNvPr>
          <p:cNvSpPr>
            <a:spLocks noGrp="1"/>
          </p:cNvSpPr>
          <p:nvPr>
            <p:ph type="title"/>
          </p:nvPr>
        </p:nvSpPr>
        <p:spPr/>
        <p:txBody>
          <a:bodyPr/>
          <a:lstStyle/>
          <a:p>
            <a:r>
              <a:rPr lang="en-US" dirty="0"/>
              <a:t>Summary</a:t>
            </a:r>
          </a:p>
        </p:txBody>
      </p:sp>
      <p:sp>
        <p:nvSpPr>
          <p:cNvPr id="4" name="Slide Number Placeholder 3">
            <a:extLst>
              <a:ext uri="{FF2B5EF4-FFF2-40B4-BE49-F238E27FC236}">
                <a16:creationId xmlns:a16="http://schemas.microsoft.com/office/drawing/2014/main" id="{37C60BE0-C52B-EB4C-8F7F-272029496369}"/>
              </a:ext>
            </a:extLst>
          </p:cNvPr>
          <p:cNvSpPr>
            <a:spLocks noGrp="1"/>
          </p:cNvSpPr>
          <p:nvPr>
            <p:ph type="sldNum" sz="quarter" idx="12"/>
          </p:nvPr>
        </p:nvSpPr>
        <p:spPr/>
        <p:txBody>
          <a:bodyPr/>
          <a:lstStyle/>
          <a:p>
            <a:fld id="{5EC735E3-5B29-4F54-8FB9-022B0DB6C884}" type="slidenum">
              <a:rPr lang="en-US" smtClean="0"/>
              <a:pPr/>
              <a:t>49</a:t>
            </a:fld>
            <a:endParaRPr lang="en-US"/>
          </a:p>
        </p:txBody>
      </p:sp>
      <p:pic>
        <p:nvPicPr>
          <p:cNvPr id="6" name="Picture 5">
            <a:extLst>
              <a:ext uri="{FF2B5EF4-FFF2-40B4-BE49-F238E27FC236}">
                <a16:creationId xmlns:a16="http://schemas.microsoft.com/office/drawing/2014/main" id="{6CC21A07-2DD8-374B-9225-3126967F689C}"/>
              </a:ext>
            </a:extLst>
          </p:cNvPr>
          <p:cNvPicPr>
            <a:picLocks noChangeAspect="1"/>
          </p:cNvPicPr>
          <p:nvPr/>
        </p:nvPicPr>
        <p:blipFill>
          <a:blip r:embed="rId2"/>
          <a:stretch>
            <a:fillRect/>
          </a:stretch>
        </p:blipFill>
        <p:spPr>
          <a:xfrm>
            <a:off x="457200" y="1206500"/>
            <a:ext cx="8102600" cy="5194300"/>
          </a:xfrm>
          <a:prstGeom prst="rect">
            <a:avLst/>
          </a:prstGeom>
        </p:spPr>
      </p:pic>
    </p:spTree>
    <p:extLst>
      <p:ext uri="{BB962C8B-B14F-4D97-AF65-F5344CB8AC3E}">
        <p14:creationId xmlns:p14="http://schemas.microsoft.com/office/powerpoint/2010/main" val="24578007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399C0-1B4E-406E-B4BE-FE0205A43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4C6F1-39D6-3ACD-1ADB-628F2558C8F7}"/>
              </a:ext>
            </a:extLst>
          </p:cNvPr>
          <p:cNvSpPr>
            <a:spLocks noGrp="1"/>
          </p:cNvSpPr>
          <p:nvPr>
            <p:ph type="title"/>
          </p:nvPr>
        </p:nvSpPr>
        <p:spPr/>
        <p:txBody>
          <a:bodyPr/>
          <a:lstStyle/>
          <a:p>
            <a:r>
              <a:rPr lang="en-US" sz="3200" dirty="0">
                <a:solidFill>
                  <a:srgbClr val="0000FF"/>
                </a:solidFill>
              </a:rPr>
              <a:t>Exercise </a:t>
            </a:r>
            <a:r>
              <a:rPr lang="en-US" sz="3200" dirty="0"/>
              <a:t>on Paths 1</a:t>
            </a:r>
          </a:p>
        </p:txBody>
      </p:sp>
      <p:sp>
        <p:nvSpPr>
          <p:cNvPr id="3" name="Content Placeholder 2">
            <a:extLst>
              <a:ext uri="{FF2B5EF4-FFF2-40B4-BE49-F238E27FC236}">
                <a16:creationId xmlns:a16="http://schemas.microsoft.com/office/drawing/2014/main" id="{556B7861-A14F-D4C3-9B05-5BBF9AF13E66}"/>
              </a:ext>
            </a:extLst>
          </p:cNvPr>
          <p:cNvSpPr>
            <a:spLocks noGrp="1"/>
          </p:cNvSpPr>
          <p:nvPr>
            <p:ph idx="1"/>
          </p:nvPr>
        </p:nvSpPr>
        <p:spPr>
          <a:xfrm>
            <a:off x="-1" y="990600"/>
            <a:ext cx="5791201" cy="2133600"/>
          </a:xfrm>
        </p:spPr>
        <p:txBody>
          <a:bodyPr/>
          <a:lstStyle/>
          <a:p>
            <a:pPr lvl="0"/>
            <a:r>
              <a:rPr lang="en-US" sz="2000" dirty="0"/>
              <a:t>In the following picture, starting from A we wish to reach B, by taking edges Up or Right. How many different paths (two paths are different if they differ in at least one edge) exist from A to B such that. </a:t>
            </a:r>
          </a:p>
        </p:txBody>
      </p:sp>
      <p:sp>
        <p:nvSpPr>
          <p:cNvPr id="4" name="Slide Number Placeholder 3">
            <a:extLst>
              <a:ext uri="{FF2B5EF4-FFF2-40B4-BE49-F238E27FC236}">
                <a16:creationId xmlns:a16="http://schemas.microsoft.com/office/drawing/2014/main" id="{BE3BB5F0-4C2D-A30A-0EE3-22ABE3E0F869}"/>
              </a:ext>
            </a:extLst>
          </p:cNvPr>
          <p:cNvSpPr>
            <a:spLocks noGrp="1"/>
          </p:cNvSpPr>
          <p:nvPr>
            <p:ph type="sldNum" sz="quarter" idx="12"/>
          </p:nvPr>
        </p:nvSpPr>
        <p:spPr/>
        <p:txBody>
          <a:bodyPr/>
          <a:lstStyle/>
          <a:p>
            <a:fld id="{5EC735E3-5B29-4F54-8FB9-022B0DB6C884}" type="slidenum">
              <a:rPr lang="en-US" smtClean="0"/>
              <a:pPr/>
              <a:t>50</a:t>
            </a:fld>
            <a:endParaRPr lang="en-US"/>
          </a:p>
        </p:txBody>
      </p:sp>
      <p:pic>
        <p:nvPicPr>
          <p:cNvPr id="6" name="Picture 5">
            <a:extLst>
              <a:ext uri="{FF2B5EF4-FFF2-40B4-BE49-F238E27FC236}">
                <a16:creationId xmlns:a16="http://schemas.microsoft.com/office/drawing/2014/main" id="{E7CEA204-B8B2-FBE2-7E65-0FA1A1CE1556}"/>
              </a:ext>
            </a:extLst>
          </p:cNvPr>
          <p:cNvPicPr>
            <a:picLocks noChangeAspect="1"/>
          </p:cNvPicPr>
          <p:nvPr/>
        </p:nvPicPr>
        <p:blipFill>
          <a:blip r:embed="rId2"/>
          <a:stretch>
            <a:fillRect/>
          </a:stretch>
        </p:blipFill>
        <p:spPr>
          <a:xfrm>
            <a:off x="5791200" y="952500"/>
            <a:ext cx="3343275" cy="2324100"/>
          </a:xfrm>
          <a:prstGeom prst="rect">
            <a:avLst/>
          </a:prstGeom>
        </p:spPr>
      </p:pic>
      <p:sp>
        <p:nvSpPr>
          <p:cNvPr id="8" name="Content Placeholder 2">
            <a:extLst>
              <a:ext uri="{FF2B5EF4-FFF2-40B4-BE49-F238E27FC236}">
                <a16:creationId xmlns:a16="http://schemas.microsoft.com/office/drawing/2014/main" id="{9CF1D667-BF80-17DA-65F4-E79FF058480F}"/>
              </a:ext>
            </a:extLst>
          </p:cNvPr>
          <p:cNvSpPr txBox="1">
            <a:spLocks/>
          </p:cNvSpPr>
          <p:nvPr/>
        </p:nvSpPr>
        <p:spPr bwMode="auto">
          <a:xfrm>
            <a:off x="76200" y="3124200"/>
            <a:ext cx="8991600" cy="2650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r>
              <a:rPr lang="en-US" sz="1800" dirty="0"/>
              <a:t>(</a:t>
            </a:r>
            <a:r>
              <a:rPr lang="en-US" sz="1800" dirty="0" err="1"/>
              <a:t>i</a:t>
            </a:r>
            <a:r>
              <a:rPr lang="en-US" sz="1800" dirty="0"/>
              <a:t>)</a:t>
            </a:r>
            <a:r>
              <a:rPr lang="en-US" sz="1800" b="0" dirty="0"/>
              <a:t>There are no restrictions. </a:t>
            </a:r>
            <a:r>
              <a:rPr lang="en-US" sz="1800" b="0" u="sng" dirty="0"/>
              <a:t>Hint</a:t>
            </a:r>
            <a:r>
              <a:rPr lang="en-US" sz="1800" b="0" dirty="0"/>
              <a:t>: Any path from A to B is a combination of Up and Right moves for a total of 10.</a:t>
            </a:r>
          </a:p>
          <a:p>
            <a:pPr marL="400050" lvl="1" indent="0">
              <a:buNone/>
            </a:pPr>
            <a:r>
              <a:rPr lang="en-US" sz="1800" b="0" dirty="0">
                <a:solidFill>
                  <a:srgbClr val="0000FF"/>
                </a:solidFill>
              </a:rPr>
              <a:t>Each path from A to B contains 10 edges, 4 of which must go up. Finding a specific path is just a matter of deciding when to take the up moves out of the 10 total available moves: C(10, 4) ways. The rest must go right. </a:t>
            </a:r>
          </a:p>
          <a:p>
            <a:pPr marL="285750"/>
            <a:r>
              <a:rPr lang="en-US" sz="1800" dirty="0"/>
              <a:t>(ii) </a:t>
            </a:r>
            <a:r>
              <a:rPr lang="en-US" sz="1800" b="0" dirty="0"/>
              <a:t>You have to pass from CD edge. </a:t>
            </a:r>
          </a:p>
          <a:p>
            <a:pPr marL="400050" lvl="1" indent="0">
              <a:buNone/>
            </a:pPr>
            <a:r>
              <a:rPr lang="en-US" sz="1800" b="0" kern="0" dirty="0">
                <a:solidFill>
                  <a:srgbClr val="0000FF"/>
                </a:solidFill>
              </a:rPr>
              <a:t>6 (ways from A to C) x 3 (ways from D to B) = 18  </a:t>
            </a:r>
          </a:p>
          <a:p>
            <a:pPr marL="285750"/>
            <a:r>
              <a:rPr lang="en-US" sz="1800" dirty="0"/>
              <a:t>(iii) </a:t>
            </a:r>
            <a:r>
              <a:rPr lang="en-US" sz="1800" b="0" dirty="0"/>
              <a:t>You can not pass from CD edge. </a:t>
            </a:r>
          </a:p>
          <a:p>
            <a:pPr marL="400050" lvl="1" indent="0">
              <a:buNone/>
            </a:pPr>
            <a:r>
              <a:rPr lang="en-US" sz="1800" b="0" dirty="0">
                <a:solidFill>
                  <a:srgbClr val="0000FF"/>
                </a:solidFill>
              </a:rPr>
              <a:t>C(10, 4) -</a:t>
            </a:r>
            <a:r>
              <a:rPr lang="en-US" sz="1800" b="0" kern="0" dirty="0">
                <a:solidFill>
                  <a:srgbClr val="0000FF"/>
                </a:solidFill>
              </a:rPr>
              <a:t> 18  </a:t>
            </a:r>
          </a:p>
          <a:p>
            <a:pPr marL="400050" lvl="1" indent="0">
              <a:buNone/>
            </a:pPr>
            <a:endParaRPr lang="en-US" sz="1800" b="0" kern="0" dirty="0">
              <a:solidFill>
                <a:srgbClr val="0000FF"/>
              </a:solidFill>
            </a:endParaRPr>
          </a:p>
          <a:p>
            <a:pPr marL="400050" lvl="1" indent="0">
              <a:buNone/>
            </a:pPr>
            <a:endParaRPr lang="en-US" sz="1800" b="0" kern="0" dirty="0">
              <a:solidFill>
                <a:srgbClr val="0000FF"/>
              </a:solidFill>
            </a:endParaRPr>
          </a:p>
        </p:txBody>
      </p:sp>
    </p:spTree>
    <p:extLst>
      <p:ext uri="{BB962C8B-B14F-4D97-AF65-F5344CB8AC3E}">
        <p14:creationId xmlns:p14="http://schemas.microsoft.com/office/powerpoint/2010/main" val="12268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4FB29-67CC-1CD8-43CB-FD8D3B16E0A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3090A-E098-2489-3599-75D236FD72DC}"/>
              </a:ext>
            </a:extLst>
          </p:cNvPr>
          <p:cNvSpPr>
            <a:spLocks noGrp="1"/>
          </p:cNvSpPr>
          <p:nvPr>
            <p:ph idx="1"/>
          </p:nvPr>
        </p:nvSpPr>
        <p:spPr>
          <a:xfrm>
            <a:off x="0" y="990600"/>
            <a:ext cx="5257800" cy="1676400"/>
          </a:xfrm>
        </p:spPr>
        <p:txBody>
          <a:bodyPr/>
          <a:lstStyle/>
          <a:p>
            <a:pPr lvl="0"/>
            <a:r>
              <a:rPr lang="en-US" sz="1800" dirty="0"/>
              <a:t>Consider the following picture. You are only allowed to move ↗ (one to the right and up) and ↘ (one to the right and down) only. In how many ways you can get from A to B such that: </a:t>
            </a:r>
          </a:p>
        </p:txBody>
      </p:sp>
      <p:sp>
        <p:nvSpPr>
          <p:cNvPr id="4" name="Slide Number Placeholder 3">
            <a:extLst>
              <a:ext uri="{FF2B5EF4-FFF2-40B4-BE49-F238E27FC236}">
                <a16:creationId xmlns:a16="http://schemas.microsoft.com/office/drawing/2014/main" id="{960D2554-609A-1B49-6E82-0A88528B0789}"/>
              </a:ext>
            </a:extLst>
          </p:cNvPr>
          <p:cNvSpPr>
            <a:spLocks noGrp="1"/>
          </p:cNvSpPr>
          <p:nvPr>
            <p:ph type="sldNum" sz="quarter" idx="12"/>
          </p:nvPr>
        </p:nvSpPr>
        <p:spPr/>
        <p:txBody>
          <a:bodyPr/>
          <a:lstStyle/>
          <a:p>
            <a:fld id="{5EC735E3-5B29-4F54-8FB9-022B0DB6C884}" type="slidenum">
              <a:rPr lang="en-US" smtClean="0"/>
              <a:pPr/>
              <a:t>51</a:t>
            </a:fld>
            <a:endParaRPr lang="en-US"/>
          </a:p>
        </p:txBody>
      </p:sp>
      <p:sp>
        <p:nvSpPr>
          <p:cNvPr id="8" name="Content Placeholder 2">
            <a:extLst>
              <a:ext uri="{FF2B5EF4-FFF2-40B4-BE49-F238E27FC236}">
                <a16:creationId xmlns:a16="http://schemas.microsoft.com/office/drawing/2014/main" id="{A104B784-0AA4-64D2-4167-701399AC0DE3}"/>
              </a:ext>
            </a:extLst>
          </p:cNvPr>
          <p:cNvSpPr txBox="1">
            <a:spLocks/>
          </p:cNvSpPr>
          <p:nvPr/>
        </p:nvSpPr>
        <p:spPr bwMode="auto">
          <a:xfrm>
            <a:off x="0" y="2588172"/>
            <a:ext cx="8991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r>
              <a:rPr lang="en-US" sz="1800" dirty="0"/>
              <a:t>(</a:t>
            </a:r>
            <a:r>
              <a:rPr lang="en-US" sz="1800" dirty="0" err="1"/>
              <a:t>i</a:t>
            </a:r>
            <a:r>
              <a:rPr lang="en-US" sz="1800" dirty="0"/>
              <a:t>) </a:t>
            </a:r>
            <a:r>
              <a:rPr lang="en-US" sz="1800" b="0" dirty="0"/>
              <a:t>There are no restrictions. </a:t>
            </a:r>
            <a:r>
              <a:rPr lang="en-US" sz="1800" dirty="0"/>
              <a:t>Hint</a:t>
            </a:r>
            <a:r>
              <a:rPr lang="en-US" sz="1800" b="0" dirty="0"/>
              <a:t>: Note that in order to get from A to B you have to pass from some certain points like X.</a:t>
            </a:r>
            <a:r>
              <a:rPr lang="en-US" sz="1800" dirty="0"/>
              <a:t> </a:t>
            </a:r>
          </a:p>
          <a:p>
            <a:r>
              <a:rPr lang="en-US" sz="1800" b="0" dirty="0">
                <a:solidFill>
                  <a:srgbClr val="0000FF"/>
                </a:solidFill>
              </a:rPr>
              <a:t>The path has to pass from the middle point (e.g., X) of every other column. There are 4 such points (in red). The path between any two successive red points has only two options (top or bottom row). Total number of paths 2</a:t>
            </a:r>
            <a:r>
              <a:rPr lang="en-US" sz="1800" b="0" baseline="30000" dirty="0">
                <a:solidFill>
                  <a:srgbClr val="0000FF"/>
                </a:solidFill>
              </a:rPr>
              <a:t>3</a:t>
            </a:r>
            <a:r>
              <a:rPr lang="en-US" sz="1800" b="0" dirty="0">
                <a:solidFill>
                  <a:srgbClr val="0000FF"/>
                </a:solidFill>
              </a:rPr>
              <a:t>.</a:t>
            </a:r>
          </a:p>
          <a:p>
            <a:pPr marL="285750"/>
            <a:r>
              <a:rPr lang="en-US" sz="1800" dirty="0"/>
              <a:t>(ii) </a:t>
            </a:r>
            <a:r>
              <a:rPr lang="en-US" sz="1800" b="0" dirty="0"/>
              <a:t>You want to pass from C</a:t>
            </a:r>
            <a:r>
              <a:rPr lang="en-US" sz="1800" b="0"/>
              <a:t>. </a:t>
            </a:r>
            <a:endParaRPr lang="en-US" sz="1800" b="0" dirty="0"/>
          </a:p>
          <a:p>
            <a:pPr marL="285750"/>
            <a:r>
              <a:rPr lang="en-US" sz="1800" b="0" kern="0" dirty="0">
                <a:solidFill>
                  <a:srgbClr val="0000FF"/>
                </a:solidFill>
              </a:rPr>
              <a:t>2 (ways from A to C) x 2 (ways from C to B) = 4  </a:t>
            </a:r>
          </a:p>
        </p:txBody>
      </p:sp>
      <p:pic>
        <p:nvPicPr>
          <p:cNvPr id="7" name="Picture 6">
            <a:extLst>
              <a:ext uri="{FF2B5EF4-FFF2-40B4-BE49-F238E27FC236}">
                <a16:creationId xmlns:a16="http://schemas.microsoft.com/office/drawing/2014/main" id="{E982103C-CC2C-E7D7-D8AA-DC081D531565}"/>
              </a:ext>
            </a:extLst>
          </p:cNvPr>
          <p:cNvPicPr>
            <a:picLocks noChangeAspect="1"/>
          </p:cNvPicPr>
          <p:nvPr/>
        </p:nvPicPr>
        <p:blipFill>
          <a:blip r:embed="rId2"/>
          <a:stretch>
            <a:fillRect/>
          </a:stretch>
        </p:blipFill>
        <p:spPr>
          <a:xfrm>
            <a:off x="5465445" y="1118334"/>
            <a:ext cx="3105150" cy="1133475"/>
          </a:xfrm>
          <a:prstGeom prst="rect">
            <a:avLst/>
          </a:prstGeom>
        </p:spPr>
      </p:pic>
      <p:sp>
        <p:nvSpPr>
          <p:cNvPr id="9" name="Oval 8">
            <a:extLst>
              <a:ext uri="{FF2B5EF4-FFF2-40B4-BE49-F238E27FC236}">
                <a16:creationId xmlns:a16="http://schemas.microsoft.com/office/drawing/2014/main" id="{0931BC92-E55B-1457-363E-D62A5E2E95AF}"/>
              </a:ext>
            </a:extLst>
          </p:cNvPr>
          <p:cNvSpPr/>
          <p:nvPr/>
        </p:nvSpPr>
        <p:spPr bwMode="auto">
          <a:xfrm>
            <a:off x="5943600" y="1447800"/>
            <a:ext cx="152400" cy="30480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HK" sz="1800" b="1" i="0" u="none" strike="noStrike" cap="none" normalizeH="0" baseline="0">
              <a:ln>
                <a:noFill/>
              </a:ln>
              <a:solidFill>
                <a:schemeClr val="tx1"/>
              </a:solidFill>
              <a:effectLst/>
              <a:latin typeface="Arial" charset="0"/>
            </a:endParaRPr>
          </a:p>
        </p:txBody>
      </p:sp>
      <p:sp>
        <p:nvSpPr>
          <p:cNvPr id="10" name="Oval 9">
            <a:extLst>
              <a:ext uri="{FF2B5EF4-FFF2-40B4-BE49-F238E27FC236}">
                <a16:creationId xmlns:a16="http://schemas.microsoft.com/office/drawing/2014/main" id="{8975223D-4AEF-9280-8B7D-9F7B8D3F8745}"/>
              </a:ext>
            </a:extLst>
          </p:cNvPr>
          <p:cNvSpPr/>
          <p:nvPr/>
        </p:nvSpPr>
        <p:spPr bwMode="auto">
          <a:xfrm>
            <a:off x="6574155" y="1460906"/>
            <a:ext cx="152400" cy="30480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HK" sz="1800" b="1" i="0" u="none" strike="noStrike" cap="none" normalizeH="0" baseline="0">
              <a:ln>
                <a:noFill/>
              </a:ln>
              <a:solidFill>
                <a:schemeClr val="tx1"/>
              </a:solidFill>
              <a:effectLst/>
              <a:latin typeface="Arial" charset="0"/>
            </a:endParaRPr>
          </a:p>
        </p:txBody>
      </p:sp>
      <p:sp>
        <p:nvSpPr>
          <p:cNvPr id="11" name="Oval 10">
            <a:extLst>
              <a:ext uri="{FF2B5EF4-FFF2-40B4-BE49-F238E27FC236}">
                <a16:creationId xmlns:a16="http://schemas.microsoft.com/office/drawing/2014/main" id="{CB095F20-D0AE-47C6-D609-7743AD3B91E0}"/>
              </a:ext>
            </a:extLst>
          </p:cNvPr>
          <p:cNvSpPr/>
          <p:nvPr/>
        </p:nvSpPr>
        <p:spPr bwMode="auto">
          <a:xfrm>
            <a:off x="7204710" y="1460906"/>
            <a:ext cx="152400" cy="30480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HK" sz="1800" b="1" i="0" u="none" strike="noStrike" cap="none" normalizeH="0" baseline="0">
              <a:ln>
                <a:noFill/>
              </a:ln>
              <a:solidFill>
                <a:schemeClr val="tx1"/>
              </a:solidFill>
              <a:effectLst/>
              <a:latin typeface="Arial" charset="0"/>
            </a:endParaRPr>
          </a:p>
        </p:txBody>
      </p:sp>
      <p:sp>
        <p:nvSpPr>
          <p:cNvPr id="12" name="Oval 11">
            <a:extLst>
              <a:ext uri="{FF2B5EF4-FFF2-40B4-BE49-F238E27FC236}">
                <a16:creationId xmlns:a16="http://schemas.microsoft.com/office/drawing/2014/main" id="{3E18745C-2B11-60AF-8F1A-A8DD52C8C447}"/>
              </a:ext>
            </a:extLst>
          </p:cNvPr>
          <p:cNvSpPr/>
          <p:nvPr/>
        </p:nvSpPr>
        <p:spPr bwMode="auto">
          <a:xfrm>
            <a:off x="7810566" y="1484586"/>
            <a:ext cx="152400" cy="30480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HK" sz="1800" b="1" i="0" u="none" strike="noStrike" cap="none" normalizeH="0" baseline="0">
              <a:ln>
                <a:noFill/>
              </a:ln>
              <a:solidFill>
                <a:schemeClr val="tx1"/>
              </a:solidFill>
              <a:effectLst/>
              <a:latin typeface="Arial" charset="0"/>
            </a:endParaRPr>
          </a:p>
        </p:txBody>
      </p:sp>
      <p:sp>
        <p:nvSpPr>
          <p:cNvPr id="14" name="Title 1">
            <a:extLst>
              <a:ext uri="{FF2B5EF4-FFF2-40B4-BE49-F238E27FC236}">
                <a16:creationId xmlns:a16="http://schemas.microsoft.com/office/drawing/2014/main" id="{EEC5E773-A8FD-F55F-4EBB-41A415116C54}"/>
              </a:ext>
            </a:extLst>
          </p:cNvPr>
          <p:cNvSpPr>
            <a:spLocks noGrp="1"/>
          </p:cNvSpPr>
          <p:nvPr>
            <p:ph type="title"/>
          </p:nvPr>
        </p:nvSpPr>
        <p:spPr>
          <a:xfrm>
            <a:off x="457200" y="274638"/>
            <a:ext cx="8382000" cy="715962"/>
          </a:xfrm>
        </p:spPr>
        <p:txBody>
          <a:bodyPr/>
          <a:lstStyle/>
          <a:p>
            <a:r>
              <a:rPr lang="en-US" sz="3200" dirty="0">
                <a:solidFill>
                  <a:srgbClr val="0000FF"/>
                </a:solidFill>
              </a:rPr>
              <a:t>Exercise </a:t>
            </a:r>
            <a:r>
              <a:rPr lang="en-US" sz="3200" dirty="0"/>
              <a:t>on Paths 2 </a:t>
            </a:r>
          </a:p>
        </p:txBody>
      </p:sp>
    </p:spTree>
    <p:extLst>
      <p:ext uri="{BB962C8B-B14F-4D97-AF65-F5344CB8AC3E}">
        <p14:creationId xmlns:p14="http://schemas.microsoft.com/office/powerpoint/2010/main" val="6602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15719</TotalTime>
  <Words>6436</Words>
  <Application>Microsoft Macintosh PowerPoint</Application>
  <PresentationFormat>On-screen Show (4:3)</PresentationFormat>
  <Paragraphs>395</Paragraphs>
  <Slides>51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Cambria</vt:lpstr>
      <vt:lpstr>Cambria Math</vt:lpstr>
      <vt:lpstr>Lucida Sans</vt:lpstr>
      <vt:lpstr>Symbol</vt:lpstr>
      <vt:lpstr>Wingdings</vt:lpstr>
      <vt:lpstr>Default Design</vt:lpstr>
      <vt:lpstr>Permutations and Combinations</vt:lpstr>
      <vt:lpstr>Permutations</vt:lpstr>
      <vt:lpstr>Example</vt:lpstr>
      <vt:lpstr>Permutation</vt:lpstr>
      <vt:lpstr>k-Permutation</vt:lpstr>
      <vt:lpstr>Number of k-Permutations</vt:lpstr>
      <vt:lpstr>Example</vt:lpstr>
      <vt:lpstr>Example</vt:lpstr>
      <vt:lpstr>Exercise on Strings</vt:lpstr>
      <vt:lpstr>Exercise on Seating Arrangement</vt:lpstr>
      <vt:lpstr>Exercise on Seating Arrangement</vt:lpstr>
      <vt:lpstr>Exercise on Parking Lots</vt:lpstr>
      <vt:lpstr>k-Combinations</vt:lpstr>
      <vt:lpstr>k-Combinations</vt:lpstr>
      <vt:lpstr>Number of k-Combinations</vt:lpstr>
      <vt:lpstr>Proof</vt:lpstr>
      <vt:lpstr>Example</vt:lpstr>
      <vt:lpstr>Corollary</vt:lpstr>
      <vt:lpstr>Exercise on Committee Selection</vt:lpstr>
      <vt:lpstr>Exercise on Group Selection</vt:lpstr>
      <vt:lpstr>Exercise on Ball Selection</vt:lpstr>
      <vt:lpstr>Exercise on Earring Selection</vt:lpstr>
      <vt:lpstr>PowerPoint Presentation</vt:lpstr>
      <vt:lpstr>Exercise on Seating Arrangements</vt:lpstr>
      <vt:lpstr>Poker Exercises 1</vt:lpstr>
      <vt:lpstr>Poker Exercises 2</vt:lpstr>
      <vt:lpstr>Poker Exercises 3</vt:lpstr>
      <vt:lpstr>Poker Exercises 4</vt:lpstr>
      <vt:lpstr>Combinatorial Proof and Bijection Principle</vt:lpstr>
      <vt:lpstr>Proof of C(n, k) = C(n, n-k) by Bijection Principle</vt:lpstr>
      <vt:lpstr>Example by Bijection Principle</vt:lpstr>
      <vt:lpstr>The Playoff Example (solved using tree diagrams in previous lecture)</vt:lpstr>
      <vt:lpstr>Exercise on Coin Flipping</vt:lpstr>
      <vt:lpstr>Permutations with Indistinguishable Objects</vt:lpstr>
      <vt:lpstr>Permutations with Indistinguishable Objects</vt:lpstr>
      <vt:lpstr>Proof of Theorem</vt:lpstr>
      <vt:lpstr>Distributing Objects into Boxes</vt:lpstr>
      <vt:lpstr>Distributing Objects into Boxes</vt:lpstr>
      <vt:lpstr>Distributing Objects into Boxes</vt:lpstr>
      <vt:lpstr>Combinations with Repetition</vt:lpstr>
      <vt:lpstr>Solution</vt:lpstr>
      <vt:lpstr>Comments on the Bill Example</vt:lpstr>
      <vt:lpstr>Combinations with Repetition (bars and stars)</vt:lpstr>
      <vt:lpstr>Combinations with Repetition - Cookies</vt:lpstr>
      <vt:lpstr>Example of Combinations with Repetition</vt:lpstr>
      <vt:lpstr>Exercise on Equation Solutions</vt:lpstr>
      <vt:lpstr>Exercise on Equation Solutions with minimum constraint</vt:lpstr>
      <vt:lpstr>Exercise on Equation Solutions with maximum constraint</vt:lpstr>
      <vt:lpstr>Summary</vt:lpstr>
      <vt:lpstr>Exercise on Paths 1</vt:lpstr>
      <vt:lpstr>Exercise on Paths 2 </vt:lpstr>
    </vt:vector>
  </TitlesOfParts>
  <Company>HKUST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taicl</dc:creator>
  <cp:lastModifiedBy>Lionel Parreaux</cp:lastModifiedBy>
  <cp:revision>964</cp:revision>
  <cp:lastPrinted>2026-09-29T02:33:58Z</cp:lastPrinted>
  <dcterms:created xsi:type="dcterms:W3CDTF">2012-01-21T22:53:48Z</dcterms:created>
  <dcterms:modified xsi:type="dcterms:W3CDTF">2026-09-30T01:31:42Z</dcterms:modified>
</cp:coreProperties>
</file>