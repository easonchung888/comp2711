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3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76" r:id="rId4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55" Type="http://schemas.openxmlformats.org/officeDocument/2006/relationships/presProps" Target="presProps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4" Type="http://schemas.openxmlformats.org/officeDocument/2006/relationships/slide" Target="slides/slide3.xml" /><Relationship Id="rId56" Type="http://schemas.openxmlformats.org/officeDocument/2006/relationships/viewProps" Target="viewProps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57" Type="http://schemas.openxmlformats.org/officeDocument/2006/relationships/theme" Target="theme/theme1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0000FF"/>
                </a:solidFill>
              </a:rPr>
              <a:t>Example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763000" cy="5181600"/>
          </a:xfrm>
        </p:spPr>
        <p:txBody>
          <a:bodyPr/>
          <a:lstStyle/>
          <a:p>
            <a:r>
              <a:rPr lang="en-US" altLang="zh-CN" sz="2400" dirty="0"/>
              <a:t>In how many ways can we arrange </a:t>
            </a:r>
            <a:r>
              <a:rPr lang="en-US" altLang="zh-CN" sz="2400" i="1" dirty="0"/>
              <a:t>n</a:t>
            </a:r>
            <a:r>
              <a:rPr lang="en-US" altLang="zh-CN" sz="2400" dirty="0"/>
              <a:t> students in a line for a photo?</a:t>
            </a:r>
          </a:p>
          <a:p>
            <a:pPr marL="0" indent="0">
              <a:buNone/>
            </a:pPr>
            <a:endParaRPr lang="en-US" altLang="zh-CN" sz="2400" dirty="0"/>
          </a:p>
          <a:p>
            <a:r>
              <a:rPr lang="en-US" altLang="zh-CN" sz="2400" b="1" dirty="0">
                <a:solidFill>
                  <a:srgbClr val="0000FF"/>
                </a:solidFill>
              </a:rPr>
              <a:t>Solution:</a:t>
            </a:r>
            <a:br>
              <a:rPr lang="en-US" altLang="zh-CN" sz="2400" b="1" dirty="0">
                <a:solidFill>
                  <a:srgbClr val="0000FF"/>
                </a:solidFill>
              </a:rPr>
            </a:br>
            <a:r>
              <a:rPr lang="en-US" sz="2400" dirty="0"/>
              <a:t>This example is similar to the previous one, except that we are now selecting all </a:t>
            </a:r>
            <a:r>
              <a:rPr lang="en-US" sz="2400" i="1" dirty="0"/>
              <a:t>n</a:t>
            </a:r>
            <a:r>
              <a:rPr lang="en-US" sz="2400" dirty="0"/>
              <a:t> students. Using the same rationale as the previous question, there are </a:t>
            </a:r>
            <a:r>
              <a:rPr lang="en-US" i="1" dirty="0"/>
              <a:t>n</a:t>
            </a:r>
            <a:r>
              <a:rPr lang="en-US" dirty="0">
                <a:sym typeface="Symbol" panose="05050102010706020507" pitchFamily="18" charset="2"/>
              </a:rPr>
              <a:t>(</a:t>
            </a:r>
            <a:r>
              <a:rPr lang="en-US" i="1" dirty="0"/>
              <a:t>n</a:t>
            </a:r>
            <a:r>
              <a:rPr lang="en-US" dirty="0">
                <a:sym typeface="Symbol" panose="05050102010706020507" pitchFamily="18" charset="2"/>
              </a:rPr>
              <a:t>-1) ..2 1=</a:t>
            </a:r>
            <a:r>
              <a:rPr lang="en-US" i="1" dirty="0"/>
              <a:t> n</a:t>
            </a:r>
            <a:r>
              <a:rPr lang="en-US" dirty="0">
                <a:sym typeface="Symbol" panose="05050102010706020507" pitchFamily="18" charset="2"/>
              </a:rPr>
              <a:t>! </a:t>
            </a:r>
            <a:r>
              <a:rPr lang="en-US" sz="2400" dirty="0"/>
              <a:t>ways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20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