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0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95" r:id="rId1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11" Type="http://schemas.openxmlformats.org/officeDocument/2006/relationships/slide" Target="slides/slide10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Seating Arrangement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763000" cy="5334000"/>
          </a:xfrm>
        </p:spPr>
        <p:txBody>
          <a:bodyPr/>
          <a:lstStyle/>
          <a:p>
            <a:r>
              <a:rPr lang="en-US" altLang="zh-CN" i="1" dirty="0">
                <a:solidFill>
                  <a:srgbClr val="FF3300"/>
                </a:solidFill>
              </a:rPr>
              <a:t>n</a:t>
            </a:r>
            <a:r>
              <a:rPr lang="en-US" altLang="zh-CN" i="1" dirty="0"/>
              <a:t> </a:t>
            </a:r>
            <a:r>
              <a:rPr lang="en-US" altLang="zh-CN" dirty="0"/>
              <a:t>people sit down at a round table with </a:t>
            </a:r>
            <a:r>
              <a:rPr lang="en-US" altLang="zh-CN" i="1" dirty="0">
                <a:solidFill>
                  <a:srgbClr val="FF3300"/>
                </a:solidFill>
              </a:rPr>
              <a:t>n</a:t>
            </a:r>
            <a:r>
              <a:rPr lang="en-US" altLang="zh-CN" dirty="0"/>
              <a:t> chairs. We consider two seating arrangements </a:t>
            </a:r>
            <a:r>
              <a:rPr lang="en-US" altLang="zh-CN" dirty="0">
                <a:solidFill>
                  <a:srgbClr val="0000FF"/>
                </a:solidFill>
              </a:rPr>
              <a:t>equivalent, if each person has the same neighbor to the right in both arrangements</a:t>
            </a:r>
            <a:r>
              <a:rPr lang="en-US" altLang="zh-CN" dirty="0"/>
              <a:t>. How many different arrangements are equivalent to a given arrangement of </a:t>
            </a:r>
            <a:r>
              <a:rPr lang="en-US" altLang="zh-CN" i="1" dirty="0"/>
              <a:t>n</a:t>
            </a:r>
            <a:r>
              <a:rPr lang="en-US" altLang="zh-CN" dirty="0"/>
              <a:t> people?</a:t>
            </a:r>
          </a:p>
          <a:p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en-US" altLang="zh-CN" dirty="0">
                <a:solidFill>
                  <a:srgbClr val="0000FF"/>
                </a:solidFill>
              </a:rPr>
              <a:t>-1</a:t>
            </a:r>
            <a:endParaRPr lang="en-US" altLang="zh-CN" sz="2400" dirty="0"/>
          </a:p>
          <a:p>
            <a:pPr marL="0" indent="0">
              <a:buNone/>
            </a:pPr>
            <a:br>
              <a:rPr lang="en-US" altLang="zh-CN" b="1" dirty="0"/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3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