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7" saveSubsetFonts="1" autoCompressPictures="0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308" r:id="rId18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72" autoAdjust="0"/>
    <p:restoredTop sz="94279" autoAdjust="0"/>
  </p:normalViewPr>
  <p:slideViewPr>
    <p:cSldViewPr>
      <p:cViewPr varScale="1">
        <p:scale>
          <a:sx n="150" d="100"/>
          <a:sy n="150" d="100"/>
        </p:scale>
        <p:origin x="176" y="6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2568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18" Type="http://schemas.openxmlformats.org/officeDocument/2006/relationships/slide" Target="slides/slide17.xml" /><Relationship Id="rId55" Type="http://schemas.openxmlformats.org/officeDocument/2006/relationships/presProps" Target="presProps.xml" /><Relationship Id="rId53" Type="http://schemas.openxmlformats.org/officeDocument/2006/relationships/notesMaster" Target="notesMasters/notesMaster1.xml" /><Relationship Id="rId58" Type="http://schemas.openxmlformats.org/officeDocument/2006/relationships/tableStyles" Target="tableStyles.xml" /><Relationship Id="rId56" Type="http://schemas.openxmlformats.org/officeDocument/2006/relationships/viewProps" Target="viewProps.xml" /><Relationship Id="rId54" Type="http://schemas.openxmlformats.org/officeDocument/2006/relationships/handoutMaster" Target="handoutMasters/handoutMaster1.xml" /><Relationship Id="rId1" Type="http://schemas.openxmlformats.org/officeDocument/2006/relationships/slideMaster" Target="slideMasters/slideMaster1.xml" /><Relationship Id="rId57" Type="http://schemas.openxmlformats.org/officeDocument/2006/relationships/theme" Target="theme/theme1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8213" y="752475"/>
            <a:ext cx="5008562" cy="37576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1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7.xml.rels><?xml version='1.0' encoding='utf-8'?>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2.xml" /></Relationships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Example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143000"/>
                <a:ext cx="8686800" cy="5334000"/>
              </a:xfrm>
            </p:spPr>
            <p:txBody>
              <a:bodyPr/>
              <a:lstStyle/>
              <a:p>
                <a:r>
                  <a:rPr lang="en-US" altLang="zh-CN" sz="2200" dirty="0"/>
                  <a:t>How many poker hands of </a:t>
                </a:r>
                <a:r>
                  <a:rPr lang="en-US" altLang="zh-CN" sz="2200" dirty="0">
                    <a:solidFill>
                      <a:srgbClr val="0000FF"/>
                    </a:solidFill>
                  </a:rPr>
                  <a:t>5</a:t>
                </a:r>
                <a:r>
                  <a:rPr lang="en-US" altLang="zh-CN" sz="2200" dirty="0"/>
                  <a:t> cards can be dealt from a standard deck of 52 cards? </a:t>
                </a:r>
                <a:r>
                  <a:rPr lang="en-US" altLang="zh-CN" sz="2200" dirty="0">
                    <a:solidFill>
                      <a:srgbClr val="0000FF"/>
                    </a:solidFill>
                  </a:rPr>
                  <a:t>Equivalently</a:t>
                </a:r>
                <a:r>
                  <a:rPr lang="en-US" altLang="zh-CN" sz="2200" dirty="0"/>
                  <a:t>: how many ways to select 5 out of 52 hands? </a:t>
                </a:r>
              </a:p>
              <a:p>
                <a:r>
                  <a:rPr lang="en-US" altLang="zh-CN" sz="2200" b="1" dirty="0">
                    <a:solidFill>
                      <a:srgbClr val="0000FF"/>
                    </a:solidFill>
                  </a:rPr>
                  <a:t>Solution: </a:t>
                </a:r>
                <a:r>
                  <a:rPr lang="en-US" altLang="zh-CN" sz="2200" dirty="0"/>
                  <a:t>The order does not matter as we are only interested in the set of cards selected. Therefore, there are </a:t>
                </a:r>
                <a14:m>
                  <m:oMath xmlns:m="http://schemas.openxmlformats.org/officeDocument/2006/math">
                    <m:r>
                      <a:rPr lang="en-US" altLang="zh-CN" sz="22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200" i="1" dirty="0" smtClean="0">
                        <a:latin typeface="Cambria Math" panose="02040503050406030204" pitchFamily="18" charset="0"/>
                      </a:rPr>
                      <m:t>(52,5)=</m:t>
                    </m:r>
                    <m:f>
                      <m:f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52!</m:t>
                        </m:r>
                      </m:num>
                      <m:den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5!47!</m:t>
                        </m:r>
                      </m:den>
                    </m:f>
                  </m:oMath>
                </a14:m>
                <a:r>
                  <a:rPr lang="en-US" altLang="zh-CN" sz="2200" dirty="0"/>
                  <a:t> ways. </a:t>
                </a:r>
              </a:p>
              <a:p>
                <a:r>
                  <a:rPr lang="en-US" altLang="zh-CN" sz="2200" dirty="0"/>
                  <a:t>How many ways are there to select </a:t>
                </a:r>
                <a:r>
                  <a:rPr lang="en-US" altLang="zh-CN" sz="2200" dirty="0">
                    <a:solidFill>
                      <a:srgbClr val="0000FF"/>
                    </a:solidFill>
                  </a:rPr>
                  <a:t>47</a:t>
                </a:r>
                <a:r>
                  <a:rPr lang="en-US" altLang="zh-CN" sz="2200" dirty="0"/>
                  <a:t> cards from a standard deck of 52 cards?</a:t>
                </a:r>
              </a:p>
              <a:p>
                <a:r>
                  <a:rPr lang="en-US" altLang="zh-CN" sz="2200" b="1" dirty="0">
                    <a:solidFill>
                      <a:srgbClr val="0000FF"/>
                    </a:solidFill>
                  </a:rPr>
                  <a:t>Solution: </a:t>
                </a:r>
                <a:r>
                  <a:rPr lang="en-US" altLang="zh-CN" sz="2200" dirty="0"/>
                  <a:t>When 5 cards are selected, there are 47 remaining cards. That is, there is a </a:t>
                </a:r>
                <a:r>
                  <a:rPr lang="en-US" altLang="zh-CN" sz="2200" dirty="0">
                    <a:solidFill>
                      <a:srgbClr val="FF0000"/>
                    </a:solidFill>
                  </a:rPr>
                  <a:t>1:1 correspondence</a:t>
                </a:r>
                <a:r>
                  <a:rPr lang="en-US" altLang="zh-CN" sz="2200" dirty="0"/>
                  <a:t> between sets of 5 cards and sets of 47 cards. Therefore, there are </a:t>
                </a:r>
                <a14:m>
                  <m:oMath xmlns:m="http://schemas.openxmlformats.org/officeDocument/2006/math">
                    <m:r>
                      <a:rPr lang="en-US" altLang="zh-CN" sz="22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200" i="1" dirty="0" smtClean="0">
                        <a:latin typeface="Cambria Math" panose="02040503050406030204" pitchFamily="18" charset="0"/>
                      </a:rPr>
                      <m:t>(52,47)=</m:t>
                    </m:r>
                    <m:r>
                      <a:rPr lang="en-US" altLang="zh-CN" sz="22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200" i="1" dirty="0" smtClean="0">
                        <a:latin typeface="Cambria Math" panose="02040503050406030204" pitchFamily="18" charset="0"/>
                      </a:rPr>
                      <m:t>(52,5)=</m:t>
                    </m:r>
                    <m:f>
                      <m:f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52!</m:t>
                        </m:r>
                      </m:num>
                      <m:den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5!47!</m:t>
                        </m:r>
                      </m:den>
                    </m:f>
                  </m:oMath>
                </a14:m>
                <a:r>
                  <a:rPr lang="en-US" altLang="zh-CN" sz="2200" dirty="0">
                    <a:solidFill>
                      <a:srgbClr val="0000FF"/>
                    </a:solidFill>
                  </a:rPr>
                  <a:t> </a:t>
                </a:r>
                <a:r>
                  <a:rPr lang="en-US" altLang="zh-CN" sz="2200" dirty="0"/>
                  <a:t>ways</a:t>
                </a:r>
                <a:r>
                  <a:rPr lang="en-US" altLang="zh-CN" sz="2200" dirty="0">
                    <a:solidFill>
                      <a:srgbClr val="0000FF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143000"/>
                <a:ext cx="8686800" cy="5334000"/>
              </a:xfrm>
              <a:blipFill>
                <a:blip r:embed="rId2"/>
                <a:stretch>
                  <a:fillRect l="-772" t="-800" r="-561"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17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15719</TotalTime>
  <Words>6436</Words>
  <Application>Microsoft Macintosh PowerPoint</Application>
  <PresentationFormat>On-screen Show (4:3)</PresentationFormat>
  <Paragraphs>395</Paragraphs>
  <Slides>51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Cambria</vt:lpstr>
      <vt:lpstr>Cambria Math</vt:lpstr>
      <vt:lpstr>Lucida Sans</vt:lpstr>
      <vt:lpstr>Symbol</vt:lpstr>
      <vt:lpstr>Wingdings</vt:lpstr>
      <vt:lpstr>Default Design</vt:lpstr>
      <vt:lpstr>Permutations and Combinations</vt:lpstr>
      <vt:lpstr>Permutations</vt:lpstr>
      <vt:lpstr>Example</vt:lpstr>
      <vt:lpstr>Permutation</vt:lpstr>
      <vt:lpstr>k-Permutation</vt:lpstr>
      <vt:lpstr>Number of k-Permutations</vt:lpstr>
      <vt:lpstr>Example</vt:lpstr>
      <vt:lpstr>Example</vt:lpstr>
      <vt:lpstr>Exercise on Strings</vt:lpstr>
      <vt:lpstr>Exercise on Seating Arrangement</vt:lpstr>
      <vt:lpstr>Exercise on Seating Arrangement</vt:lpstr>
      <vt:lpstr>Exercise on Parking Lots</vt:lpstr>
      <vt:lpstr>k-Combinations</vt:lpstr>
      <vt:lpstr>k-Combinations</vt:lpstr>
      <vt:lpstr>Number of k-Combinations</vt:lpstr>
      <vt:lpstr>Proof</vt:lpstr>
      <vt:lpstr>Example</vt:lpstr>
      <vt:lpstr>Corollary</vt:lpstr>
      <vt:lpstr>Exercise on Committee Selection</vt:lpstr>
      <vt:lpstr>Exercise on Group Selection</vt:lpstr>
      <vt:lpstr>Exercise on Ball Selection</vt:lpstr>
      <vt:lpstr>Exercise on Earring Selection</vt:lpstr>
      <vt:lpstr>PowerPoint Presentation</vt:lpstr>
      <vt:lpstr>Exercise on Seating Arrangements</vt:lpstr>
      <vt:lpstr>Poker Exercises 1</vt:lpstr>
      <vt:lpstr>Poker Exercises 2</vt:lpstr>
      <vt:lpstr>Poker Exercises 3</vt:lpstr>
      <vt:lpstr>Poker Exercises 4</vt:lpstr>
      <vt:lpstr>Combinatorial Proof and Bijection Principle</vt:lpstr>
      <vt:lpstr>Proof of C(n, k) = C(n, n-k) by Bijection Principle</vt:lpstr>
      <vt:lpstr>Example by Bijection Principle</vt:lpstr>
      <vt:lpstr>The Playoff Example (solved using tree diagrams in previous lecture)</vt:lpstr>
      <vt:lpstr>Exercise on Coin Flipping</vt:lpstr>
      <vt:lpstr>Permutations with Indistinguishable Objects</vt:lpstr>
      <vt:lpstr>Permutations with Indistinguishable Objects</vt:lpstr>
      <vt:lpstr>Proof of Theorem</vt:lpstr>
      <vt:lpstr>Distributing Objects into Boxes</vt:lpstr>
      <vt:lpstr>Distributing Objects into Boxes</vt:lpstr>
      <vt:lpstr>Distributing Objects into Boxes</vt:lpstr>
      <vt:lpstr>Combinations with Repetition</vt:lpstr>
      <vt:lpstr>Solution</vt:lpstr>
      <vt:lpstr>Comments on the Bill Example</vt:lpstr>
      <vt:lpstr>Combinations with Repetition (bars and stars)</vt:lpstr>
      <vt:lpstr>Combinations with Repetition - Cookies</vt:lpstr>
      <vt:lpstr>Example of Combinations with Repetition</vt:lpstr>
      <vt:lpstr>Exercise on Equation Solutions</vt:lpstr>
      <vt:lpstr>Exercise on Equation Solutions with minimum constraint</vt:lpstr>
      <vt:lpstr>Exercise on Equation Solutions with maximum constraint</vt:lpstr>
      <vt:lpstr>Summary</vt:lpstr>
      <vt:lpstr>Exercise on Paths 1</vt:lpstr>
      <vt:lpstr>Exercise on Paths 2 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964</cp:revision>
  <cp:lastPrinted>2026-09-29T02:33:58Z</cp:lastPrinted>
  <dcterms:created xsi:type="dcterms:W3CDTF">2012-01-21T22:53:48Z</dcterms:created>
  <dcterms:modified xsi:type="dcterms:W3CDTF">2026-09-30T01:31:42Z</dcterms:modified>
</cp:coreProperties>
</file>