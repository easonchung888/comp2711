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1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38" r:id="rId2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22" Type="http://schemas.openxmlformats.org/officeDocument/2006/relationships/slide" Target="slides/slide21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Ball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763000" cy="5181600"/>
          </a:xfrm>
        </p:spPr>
        <p:txBody>
          <a:bodyPr/>
          <a:lstStyle/>
          <a:p>
            <a:pPr lvl="0"/>
            <a:r>
              <a:rPr lang="en-US" b="1" dirty="0"/>
              <a:t>3</a:t>
            </a:r>
            <a:r>
              <a:rPr lang="en-US" dirty="0"/>
              <a:t> balls are selected randomly from a bag with </a:t>
            </a:r>
            <a:r>
              <a:rPr lang="en-US" b="1" dirty="0"/>
              <a:t>36</a:t>
            </a:r>
            <a:r>
              <a:rPr lang="en-US" dirty="0"/>
              <a:t> balls. If the bag contains </a:t>
            </a:r>
            <a:r>
              <a:rPr lang="en-US" dirty="0">
                <a:solidFill>
                  <a:srgbClr val="FFC000"/>
                </a:solidFill>
              </a:rPr>
              <a:t>8 yellow</a:t>
            </a:r>
            <a:r>
              <a:rPr lang="en-US" dirty="0"/>
              <a:t> balls, </a:t>
            </a:r>
            <a:r>
              <a:rPr lang="en-US" dirty="0">
                <a:solidFill>
                  <a:srgbClr val="00B050"/>
                </a:solidFill>
              </a:rPr>
              <a:t>7 green</a:t>
            </a:r>
            <a:r>
              <a:rPr lang="en-US" dirty="0"/>
              <a:t> balls, </a:t>
            </a:r>
            <a:r>
              <a:rPr lang="en-US" dirty="0">
                <a:solidFill>
                  <a:srgbClr val="0000FF"/>
                </a:solidFill>
              </a:rPr>
              <a:t>6 blue</a:t>
            </a:r>
            <a:r>
              <a:rPr lang="en-US" dirty="0"/>
              <a:t> balls, </a:t>
            </a:r>
            <a:r>
              <a:rPr lang="en-US" dirty="0">
                <a:solidFill>
                  <a:srgbClr val="FF3300"/>
                </a:solidFill>
              </a:rPr>
              <a:t>5 red</a:t>
            </a:r>
            <a:r>
              <a:rPr lang="en-US" dirty="0"/>
              <a:t> balls, and 10 black balls. How many ways are there such that at least </a:t>
            </a:r>
            <a:r>
              <a:rPr lang="en-US" dirty="0">
                <a:solidFill>
                  <a:srgbClr val="0000FF"/>
                </a:solidFill>
              </a:rPr>
              <a:t>1 blue ball</a:t>
            </a:r>
            <a:r>
              <a:rPr lang="en-US" dirty="0"/>
              <a:t> is selected? </a:t>
            </a:r>
          </a:p>
          <a:p>
            <a:r>
              <a:rPr lang="en-US" dirty="0">
                <a:solidFill>
                  <a:srgbClr val="0000FF"/>
                </a:solidFill>
              </a:rPr>
              <a:t>Solution</a:t>
            </a:r>
          </a:p>
          <a:p>
            <a:r>
              <a:rPr lang="en-US" dirty="0"/>
              <a:t>There are C(36,3) to select 3 balls with no constraints. </a:t>
            </a:r>
          </a:p>
          <a:p>
            <a:r>
              <a:rPr lang="en-US" dirty="0"/>
              <a:t>There are C(30,3) ways to select 3 balls that are not blue. </a:t>
            </a:r>
          </a:p>
          <a:p>
            <a:r>
              <a:rPr lang="en-US" dirty="0"/>
              <a:t>Thus, the number of ways to select 3 balls with at least one blue is: C(36,3)-C(30,3)=3080.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5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