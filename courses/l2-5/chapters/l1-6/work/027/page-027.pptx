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7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15" r:id="rId28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28" Type="http://schemas.openxmlformats.org/officeDocument/2006/relationships/slide" Target="slides/slide27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Poker</a:t>
            </a:r>
            <a:r>
              <a:rPr lang="en-US" b="1" dirty="0">
                <a:solidFill>
                  <a:srgbClr val="0000FF"/>
                </a:solidFill>
              </a:rPr>
              <a:t> Exercises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839200" cy="5257800"/>
          </a:xfrm>
        </p:spPr>
        <p:txBody>
          <a:bodyPr/>
          <a:lstStyle/>
          <a:p>
            <a:r>
              <a:rPr lang="en-US" sz="1600" dirty="0"/>
              <a:t>A poker hand contains 5 out of 52 cards. The cards are 13 </a:t>
            </a:r>
            <a:r>
              <a:rPr lang="en-US" sz="1600" dirty="0">
                <a:solidFill>
                  <a:srgbClr val="0000FF"/>
                </a:solidFill>
              </a:rPr>
              <a:t>kinds</a:t>
            </a:r>
            <a:r>
              <a:rPr lang="en-US" sz="1600" dirty="0"/>
              <a:t> (1-Ace, 2,..,10,J,Q,K) and 4 </a:t>
            </a:r>
            <a:r>
              <a:rPr lang="en-US" sz="1600" dirty="0">
                <a:solidFill>
                  <a:srgbClr val="0000FF"/>
                </a:solidFill>
              </a:rPr>
              <a:t>suites</a:t>
            </a:r>
            <a:r>
              <a:rPr lang="en-US" sz="1600" dirty="0"/>
              <a:t> (spades, hearts, clubs, diamonds)</a:t>
            </a:r>
          </a:p>
          <a:p>
            <a:r>
              <a:rPr lang="en-US" sz="1600" dirty="0"/>
              <a:t>How many hands are </a:t>
            </a:r>
            <a:r>
              <a:rPr lang="en-US" sz="1600" dirty="0">
                <a:solidFill>
                  <a:srgbClr val="FF0000"/>
                </a:solidFill>
              </a:rPr>
              <a:t>flush</a:t>
            </a:r>
            <a:r>
              <a:rPr lang="en-US" sz="1600" dirty="0"/>
              <a:t>, i.e., a flush consists of 5 card of the same suit, excluding the cases of royal and straight flush. </a:t>
            </a:r>
          </a:p>
          <a:p>
            <a:r>
              <a:rPr lang="en-US" sz="1600" dirty="0"/>
              <a:t>The flush is a combination of 5 out of 13 cards of the same suit. Thus, there are 4</a:t>
            </a:r>
            <a:r>
              <a:rPr lang="en-US" sz="1600" dirty="0">
                <a:sym typeface="Symbol" panose="05050102010706020507" pitchFamily="18" charset="2"/>
              </a:rPr>
              <a:t></a:t>
            </a:r>
            <a:r>
              <a:rPr lang="en-US" sz="1600" dirty="0"/>
              <a:t>C(13,5) flushes. After excluding the straight and the royal flashes the number is 4</a:t>
            </a:r>
            <a:r>
              <a:rPr lang="en-US" sz="1600" dirty="0">
                <a:sym typeface="Symbol" panose="05050102010706020507" pitchFamily="18" charset="2"/>
              </a:rPr>
              <a:t></a:t>
            </a:r>
            <a:r>
              <a:rPr lang="en-US" sz="1600" dirty="0"/>
              <a:t>C(13,5)-40</a:t>
            </a:r>
          </a:p>
          <a:p>
            <a:r>
              <a:rPr lang="en-US" sz="1600" dirty="0"/>
              <a:t>How many hands contain </a:t>
            </a:r>
            <a:r>
              <a:rPr lang="en-US" sz="1600" dirty="0">
                <a:solidFill>
                  <a:srgbClr val="FF0000"/>
                </a:solidFill>
              </a:rPr>
              <a:t>3-of a kind</a:t>
            </a:r>
            <a:r>
              <a:rPr lang="en-US" sz="1600" dirty="0"/>
              <a:t> (e.g., 3 aces - the 4</a:t>
            </a:r>
            <a:r>
              <a:rPr lang="en-US" sz="1600" baseline="30000" dirty="0"/>
              <a:t>th</a:t>
            </a:r>
            <a:r>
              <a:rPr lang="en-US" sz="1600" dirty="0"/>
              <a:t> and 5</a:t>
            </a:r>
            <a:r>
              <a:rPr lang="en-US" sz="1600" baseline="30000" dirty="0"/>
              <a:t>th</a:t>
            </a:r>
            <a:r>
              <a:rPr lang="en-US" sz="1600" dirty="0"/>
              <a:t> card must be different because otherwise we would have stronger hands, to be discussed later):</a:t>
            </a:r>
          </a:p>
          <a:p>
            <a:r>
              <a:rPr lang="en-US" sz="1600" dirty="0"/>
              <a:t>Number of ways to select the kind of the 3-of a kind C(13,1).</a:t>
            </a:r>
          </a:p>
          <a:p>
            <a:r>
              <a:rPr lang="en-US" sz="1600" dirty="0"/>
              <a:t>Number of ways to select the suites of the 3-of a kind C(4,3).</a:t>
            </a:r>
          </a:p>
          <a:p>
            <a:r>
              <a:rPr lang="en-US" sz="1600" dirty="0"/>
              <a:t>Number of ways to select the kind of the 4</a:t>
            </a:r>
            <a:r>
              <a:rPr lang="en-US" sz="1600" baseline="30000" dirty="0"/>
              <a:t>th</a:t>
            </a:r>
            <a:r>
              <a:rPr lang="en-US" sz="1600" dirty="0"/>
              <a:t> and 5</a:t>
            </a:r>
            <a:r>
              <a:rPr lang="en-US" sz="1600" baseline="30000" dirty="0"/>
              <a:t>th</a:t>
            </a:r>
            <a:r>
              <a:rPr lang="en-US" sz="1600" dirty="0"/>
              <a:t> card: C(12,2).</a:t>
            </a:r>
          </a:p>
          <a:p>
            <a:r>
              <a:rPr lang="en-US" sz="1600" dirty="0"/>
              <a:t>Number of ways to select the suit of the 4</a:t>
            </a:r>
            <a:r>
              <a:rPr lang="en-US" sz="1600" baseline="30000" dirty="0"/>
              <a:t>th</a:t>
            </a:r>
            <a:r>
              <a:rPr lang="en-US" sz="1600" dirty="0"/>
              <a:t> and 5</a:t>
            </a:r>
            <a:r>
              <a:rPr lang="en-US" sz="1600" baseline="30000" dirty="0"/>
              <a:t>th</a:t>
            </a:r>
            <a:r>
              <a:rPr lang="en-US" sz="1600" dirty="0"/>
              <a:t> card: C(4,1)</a:t>
            </a:r>
            <a:r>
              <a:rPr lang="en-US" sz="1600" dirty="0">
                <a:sym typeface="Symbol" panose="05050102010706020507" pitchFamily="18" charset="2"/>
              </a:rPr>
              <a:t></a:t>
            </a:r>
            <a:r>
              <a:rPr lang="en-US" sz="1600" dirty="0"/>
              <a:t>C(4,1)</a:t>
            </a:r>
          </a:p>
          <a:p>
            <a:r>
              <a:rPr lang="en-US" sz="1600" dirty="0"/>
              <a:t>Total number: C(13,1)</a:t>
            </a:r>
            <a:r>
              <a:rPr lang="en-US" sz="1600" dirty="0">
                <a:sym typeface="Symbol" panose="05050102010706020507" pitchFamily="18" charset="2"/>
              </a:rPr>
              <a:t></a:t>
            </a:r>
            <a:r>
              <a:rPr lang="en-US" sz="1600" dirty="0"/>
              <a:t>C(4,3)</a:t>
            </a:r>
            <a:r>
              <a:rPr lang="en-US" sz="1600" dirty="0">
                <a:sym typeface="Symbol" panose="05050102010706020507" pitchFamily="18" charset="2"/>
              </a:rPr>
              <a:t></a:t>
            </a:r>
            <a:r>
              <a:rPr lang="en-US" sz="1600" dirty="0"/>
              <a:t>C(12,2)</a:t>
            </a:r>
            <a:r>
              <a:rPr lang="en-US" sz="1600" dirty="0">
                <a:sym typeface="Symbol" panose="05050102010706020507" pitchFamily="18" charset="2"/>
              </a:rPr>
              <a:t></a:t>
            </a:r>
            <a:r>
              <a:rPr lang="en-US" sz="1600" dirty="0"/>
              <a:t> C(4,1)</a:t>
            </a:r>
            <a:r>
              <a:rPr lang="en-US" sz="1600" dirty="0">
                <a:sym typeface="Symbol" panose="05050102010706020507" pitchFamily="18" charset="2"/>
              </a:rPr>
              <a:t></a:t>
            </a:r>
            <a:r>
              <a:rPr lang="en-US" sz="1600" dirty="0"/>
              <a:t>C(4,1)</a:t>
            </a:r>
          </a:p>
          <a:p>
            <a:r>
              <a:rPr lang="en-US" sz="1600" dirty="0"/>
              <a:t>How many hands contain </a:t>
            </a:r>
            <a:r>
              <a:rPr lang="en-US" sz="1600" dirty="0">
                <a:solidFill>
                  <a:srgbClr val="FF0000"/>
                </a:solidFill>
              </a:rPr>
              <a:t>2 pairs</a:t>
            </a:r>
            <a:r>
              <a:rPr lang="en-US" sz="1600" dirty="0"/>
              <a:t> (e.g., 2 aces and 2 kings - the 5</a:t>
            </a:r>
            <a:r>
              <a:rPr lang="en-US" sz="1600" baseline="30000" dirty="0"/>
              <a:t>th</a:t>
            </a:r>
            <a:r>
              <a:rPr lang="en-US" sz="1600" dirty="0"/>
              <a:t> card cannot be ace or king):</a:t>
            </a:r>
          </a:p>
          <a:p>
            <a:r>
              <a:rPr lang="en-US" sz="1600" dirty="0"/>
              <a:t>Number of ways to select 2 pairs is C(13,2).</a:t>
            </a:r>
          </a:p>
          <a:p>
            <a:r>
              <a:rPr lang="en-US" sz="1600" dirty="0"/>
              <a:t>Number of ways to select suites of the 2 pairs C(4,2)</a:t>
            </a:r>
            <a:r>
              <a:rPr lang="en-US" sz="1600" dirty="0">
                <a:sym typeface="Symbol" panose="05050102010706020507" pitchFamily="18" charset="2"/>
              </a:rPr>
              <a:t></a:t>
            </a:r>
            <a:r>
              <a:rPr lang="en-US" sz="1600" dirty="0"/>
              <a:t>C(4,2).</a:t>
            </a:r>
          </a:p>
          <a:p>
            <a:r>
              <a:rPr lang="en-US" sz="1600" dirty="0"/>
              <a:t>Number of ways to select fifth card: 52-</a:t>
            </a:r>
            <a:r>
              <a:rPr lang="en-US" sz="1600" dirty="0">
                <a:solidFill>
                  <a:srgbClr val="0000FF"/>
                </a:solidFill>
              </a:rPr>
              <a:t>8</a:t>
            </a:r>
            <a:r>
              <a:rPr lang="en-US" sz="1600" dirty="0"/>
              <a:t>=</a:t>
            </a:r>
            <a:r>
              <a:rPr lang="en-US" sz="1600" dirty="0">
                <a:solidFill>
                  <a:srgbClr val="0000FF"/>
                </a:solidFill>
              </a:rPr>
              <a:t>44</a:t>
            </a:r>
            <a:r>
              <a:rPr lang="en-US" sz="1600" dirty="0"/>
              <a:t> (e.g., 5</a:t>
            </a:r>
            <a:r>
              <a:rPr lang="en-US" sz="1600" baseline="30000" dirty="0"/>
              <a:t>th</a:t>
            </a:r>
            <a:r>
              <a:rPr lang="en-US" sz="1600" dirty="0"/>
              <a:t> card different from 2 pairs). </a:t>
            </a:r>
          </a:p>
          <a:p>
            <a:r>
              <a:rPr lang="en-US" sz="1600" dirty="0"/>
              <a:t>Total number: C(13,2)</a:t>
            </a:r>
            <a:r>
              <a:rPr lang="en-US" sz="1600" dirty="0">
                <a:sym typeface="Symbol" panose="05050102010706020507" pitchFamily="18" charset="2"/>
              </a:rPr>
              <a:t></a:t>
            </a:r>
            <a:r>
              <a:rPr lang="en-US" sz="1600" dirty="0"/>
              <a:t>C(4,2)</a:t>
            </a:r>
            <a:r>
              <a:rPr lang="en-US" sz="1600" dirty="0">
                <a:sym typeface="Symbol" panose="05050102010706020507" pitchFamily="18" charset="2"/>
              </a:rPr>
              <a:t></a:t>
            </a:r>
            <a:r>
              <a:rPr lang="en-US" sz="1600" dirty="0"/>
              <a:t>C(4,2)</a:t>
            </a:r>
            <a:r>
              <a:rPr lang="en-US" sz="1600" dirty="0">
                <a:sym typeface="Symbol" panose="05050102010706020507" pitchFamily="18" charset="2"/>
              </a:rPr>
              <a:t></a:t>
            </a:r>
            <a:r>
              <a:rPr lang="en-US" sz="1600" dirty="0">
                <a:solidFill>
                  <a:srgbClr val="0000FF"/>
                </a:solidFill>
              </a:rPr>
              <a:t>44</a:t>
            </a:r>
            <a:r>
              <a:rPr lang="en-US" sz="1600" dirty="0"/>
              <a:t>=C(13,2)</a:t>
            </a:r>
            <a:r>
              <a:rPr lang="en-US" sz="1600" dirty="0">
                <a:sym typeface="Symbol" panose="05050102010706020507" pitchFamily="18" charset="2"/>
              </a:rPr>
              <a:t></a:t>
            </a:r>
            <a:r>
              <a:rPr lang="en-US" sz="1600" dirty="0"/>
              <a:t>C(4,2)</a:t>
            </a:r>
            <a:r>
              <a:rPr lang="en-US" sz="1600" dirty="0">
                <a:sym typeface="Symbol" panose="05050102010706020507" pitchFamily="18" charset="2"/>
              </a:rPr>
              <a:t></a:t>
            </a:r>
            <a:r>
              <a:rPr lang="en-US" sz="1600" dirty="0"/>
              <a:t>C(4,2)</a:t>
            </a:r>
            <a:r>
              <a:rPr lang="en-US" sz="1600" dirty="0">
                <a:sym typeface="Symbol" panose="05050102010706020507" pitchFamily="18" charset="2"/>
              </a:rPr>
              <a:t></a:t>
            </a:r>
            <a:r>
              <a:rPr lang="en-US" sz="1600" dirty="0">
                <a:solidFill>
                  <a:srgbClr val="0000FF"/>
                </a:solidFill>
                <a:sym typeface="Symbol" panose="05050102010706020507" pitchFamily="18" charset="2"/>
              </a:rPr>
              <a:t>C(11,1)</a:t>
            </a:r>
            <a:r>
              <a:rPr lang="en-US" sz="1600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6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