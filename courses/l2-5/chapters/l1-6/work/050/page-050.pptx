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50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50" r:id="rId51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1" Type="http://schemas.openxmlformats.org/officeDocument/2006/relationships/slide" Target="slides/slide50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0.xml.rels><?xml version='1.0' encoding='utf-8'?>
<Relationships xmlns="http://schemas.openxmlformats.org/package/2006/relationships"><Relationship Id="rId2" Type="http://schemas.openxmlformats.org/officeDocument/2006/relationships/image" Target="../media/image33.png" /><Relationship Id="rId1" Type="http://schemas.openxmlformats.org/officeDocument/2006/relationships/slideLayout" Target="../slideLayouts/slideLayout2.xml" /></Relationships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399C0-1B4E-406E-B4BE-FE0205A43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4C6F1-39D6-3ACD-1ADB-628F2558C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00FF"/>
                </a:solidFill>
              </a:rPr>
              <a:t>Exercise </a:t>
            </a:r>
            <a:r>
              <a:rPr lang="en-US" sz="3200" dirty="0"/>
              <a:t>on Paths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B7861-A14F-D4C3-9B05-5BBF9AF13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90600"/>
            <a:ext cx="5791201" cy="2133600"/>
          </a:xfrm>
        </p:spPr>
        <p:txBody>
          <a:bodyPr/>
          <a:lstStyle/>
          <a:p>
            <a:pPr lvl="0"/>
            <a:r>
              <a:rPr lang="en-US" sz="2000" dirty="0"/>
              <a:t>In the following picture, starting from A we wish to reach B, by taking edges Up or Right. How many different paths (two paths are different if they differ in at least one edge) exist from A to B such that.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BB5F0-4C2D-A30A-0EE3-22ABE3E0F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50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CEA204-B8B2-FBE2-7E65-0FA1A1CE1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952500"/>
            <a:ext cx="3343275" cy="23241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CF1D667-BF80-17DA-65F4-E79FF058480F}"/>
              </a:ext>
            </a:extLst>
          </p:cNvPr>
          <p:cNvSpPr txBox="1">
            <a:spLocks/>
          </p:cNvSpPr>
          <p:nvPr/>
        </p:nvSpPr>
        <p:spPr bwMode="auto">
          <a:xfrm>
            <a:off x="76200" y="3124200"/>
            <a:ext cx="8991600" cy="2650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sz="1800" dirty="0"/>
              <a:t>(</a:t>
            </a:r>
            <a:r>
              <a:rPr lang="en-US" sz="1800" dirty="0" err="1"/>
              <a:t>i</a:t>
            </a:r>
            <a:r>
              <a:rPr lang="en-US" sz="1800" dirty="0"/>
              <a:t>)</a:t>
            </a:r>
            <a:r>
              <a:rPr lang="en-US" sz="1800" b="0" dirty="0"/>
              <a:t>There are no restrictions. </a:t>
            </a:r>
            <a:r>
              <a:rPr lang="en-US" sz="1800" b="0" u="sng" dirty="0"/>
              <a:t>Hint</a:t>
            </a:r>
            <a:r>
              <a:rPr lang="en-US" sz="1800" b="0" dirty="0"/>
              <a:t>: Any path from A to B is a combination of Up and Right moves for a total of 10.</a:t>
            </a:r>
          </a:p>
          <a:p>
            <a:pPr marL="400050" lvl="1" indent="0">
              <a:buNone/>
            </a:pPr>
            <a:r>
              <a:rPr lang="en-US" sz="1800" b="0" dirty="0">
                <a:solidFill>
                  <a:srgbClr val="0000FF"/>
                </a:solidFill>
              </a:rPr>
              <a:t>Each path from A to B contains 10 edges, 4 of which must go up. Finding a specific path is just a matter of deciding when to take the up moves out of the 10 total available moves: C(10, 4) ways. The rest must go right. </a:t>
            </a:r>
          </a:p>
          <a:p>
            <a:pPr marL="285750"/>
            <a:r>
              <a:rPr lang="en-US" sz="1800" dirty="0"/>
              <a:t>(ii) </a:t>
            </a:r>
            <a:r>
              <a:rPr lang="en-US" sz="1800" b="0" dirty="0"/>
              <a:t>You have to pass from CD edge. </a:t>
            </a:r>
          </a:p>
          <a:p>
            <a:pPr marL="400050" lvl="1" indent="0">
              <a:buNone/>
            </a:pPr>
            <a:r>
              <a:rPr lang="en-US" sz="1800" b="0" kern="0" dirty="0">
                <a:solidFill>
                  <a:srgbClr val="0000FF"/>
                </a:solidFill>
              </a:rPr>
              <a:t>6 (ways from A to C) x 3 (ways from D to B) = 18  </a:t>
            </a:r>
          </a:p>
          <a:p>
            <a:pPr marL="285750"/>
            <a:r>
              <a:rPr lang="en-US" sz="1800" dirty="0"/>
              <a:t>(iii) </a:t>
            </a:r>
            <a:r>
              <a:rPr lang="en-US" sz="1800" b="0" dirty="0"/>
              <a:t>You can not pass from CD edge. </a:t>
            </a:r>
          </a:p>
          <a:p>
            <a:pPr marL="400050" lvl="1" indent="0">
              <a:buNone/>
            </a:pPr>
            <a:r>
              <a:rPr lang="en-US" sz="1800" b="0" dirty="0">
                <a:solidFill>
                  <a:srgbClr val="0000FF"/>
                </a:solidFill>
              </a:rPr>
              <a:t>C(10, 4) -</a:t>
            </a:r>
            <a:r>
              <a:rPr lang="en-US" sz="1800" b="0" kern="0" dirty="0">
                <a:solidFill>
                  <a:srgbClr val="0000FF"/>
                </a:solidFill>
              </a:rPr>
              <a:t> 18  </a:t>
            </a:r>
          </a:p>
          <a:p>
            <a:pPr marL="400050" lvl="1" indent="0">
              <a:buNone/>
            </a:pPr>
            <a:endParaRPr lang="en-US" sz="1800" b="0" kern="0" dirty="0">
              <a:solidFill>
                <a:srgbClr val="0000FF"/>
              </a:solidFill>
            </a:endParaRPr>
          </a:p>
          <a:p>
            <a:pPr marL="400050" lvl="1" indent="0">
              <a:buNone/>
            </a:pPr>
            <a:endParaRPr lang="en-US" sz="1800" b="0" kern="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8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