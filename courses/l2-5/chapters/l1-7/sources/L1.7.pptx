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58" r:id="rId2"/>
    <p:sldId id="375" r:id="rId3"/>
    <p:sldId id="395" r:id="rId4"/>
    <p:sldId id="396" r:id="rId5"/>
    <p:sldId id="397" r:id="rId6"/>
    <p:sldId id="398" r:id="rId7"/>
    <p:sldId id="306" r:id="rId8"/>
    <p:sldId id="354" r:id="rId9"/>
    <p:sldId id="357" r:id="rId10"/>
    <p:sldId id="372" r:id="rId11"/>
    <p:sldId id="355" r:id="rId12"/>
    <p:sldId id="356" r:id="rId13"/>
    <p:sldId id="358" r:id="rId14"/>
    <p:sldId id="359" r:id="rId15"/>
    <p:sldId id="360" r:id="rId16"/>
    <p:sldId id="361" r:id="rId17"/>
    <p:sldId id="307" r:id="rId18"/>
    <p:sldId id="377" r:id="rId19"/>
    <p:sldId id="376" r:id="rId20"/>
    <p:sldId id="363" r:id="rId21"/>
    <p:sldId id="364" r:id="rId22"/>
    <p:sldId id="379" r:id="rId23"/>
    <p:sldId id="380" r:id="rId24"/>
    <p:sldId id="381" r:id="rId25"/>
    <p:sldId id="382" r:id="rId26"/>
    <p:sldId id="383" r:id="rId27"/>
    <p:sldId id="378" r:id="rId28"/>
    <p:sldId id="365" r:id="rId29"/>
    <p:sldId id="384" r:id="rId30"/>
    <p:sldId id="385" r:id="rId31"/>
    <p:sldId id="386" r:id="rId32"/>
    <p:sldId id="387" r:id="rId33"/>
    <p:sldId id="388" r:id="rId34"/>
    <p:sldId id="389" r:id="rId35"/>
    <p:sldId id="309" r:id="rId36"/>
    <p:sldId id="369" r:id="rId37"/>
    <p:sldId id="345" r:id="rId38"/>
    <p:sldId id="370" r:id="rId39"/>
    <p:sldId id="393" r:id="rId40"/>
    <p:sldId id="409" r:id="rId41"/>
    <p:sldId id="410" r:id="rId42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9DCBA1-42CF-8145-B13F-3E8BBD967398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5794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8340DC-DDD3-4383-9614-668A8EE0901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27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8340DC-DDD3-4383-9614-668A8EE0901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241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8340DC-DDD3-4383-9614-668A8EE0901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6630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8340DC-DDD3-4383-9614-668A8EE0901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568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8340DC-DDD3-4383-9614-668A8EE0901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350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2.png"/><Relationship Id="rId4" Type="http://schemas.openxmlformats.org/officeDocument/2006/relationships/image" Target="../media/image1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2.png"/><Relationship Id="rId4" Type="http://schemas.openxmlformats.org/officeDocument/2006/relationships/image" Target="../media/image17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2.png"/><Relationship Id="rId4" Type="http://schemas.openxmlformats.org/officeDocument/2006/relationships/image" Target="../media/image1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2.png"/><Relationship Id="rId4" Type="http://schemas.openxmlformats.org/officeDocument/2006/relationships/image" Target="../media/image1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2.png"/><Relationship Id="rId4" Type="http://schemas.openxmlformats.org/officeDocument/2006/relationships/image" Target="../media/image17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2.png"/><Relationship Id="rId4" Type="http://schemas.openxmlformats.org/officeDocument/2006/relationships/image" Target="../media/image17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2.png"/><Relationship Id="rId4" Type="http://schemas.openxmlformats.org/officeDocument/2006/relationships/image" Target="../media/image17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altLang="zh-CN"/>
              <a:t>Page </a:t>
            </a:r>
            <a:fld id="{94E1B278-B6FF-9446-9FCC-AABC906E93F1}" type="slidenum">
              <a:rPr lang="en-US" altLang="zh-CN" smtClean="0"/>
              <a:pPr/>
              <a:t>1</a:t>
            </a:fld>
            <a:endParaRPr lang="zh-CN" altLang="en-US"/>
          </a:p>
        </p:txBody>
      </p:sp>
      <p:sp>
        <p:nvSpPr>
          <p:cNvPr id="16387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Binomial Coefficients</a:t>
            </a:r>
          </a:p>
        </p:txBody>
      </p:sp>
      <p:sp>
        <p:nvSpPr>
          <p:cNvPr id="72704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6096000" cy="3657600"/>
          </a:xfrm>
          <a:noFill/>
        </p:spPr>
        <p:txBody>
          <a:bodyPr/>
          <a:lstStyle/>
          <a:p>
            <a:r>
              <a:rPr lang="en-US" altLang="zh-CN" dirty="0"/>
              <a:t>Binomial Theorem</a:t>
            </a:r>
          </a:p>
          <a:p>
            <a:r>
              <a:rPr lang="en-US" altLang="zh-CN" dirty="0"/>
              <a:t>Pascal’s Identity and Triangle</a:t>
            </a:r>
          </a:p>
          <a:p>
            <a:r>
              <a:rPr lang="en-US" altLang="zh-CN" dirty="0"/>
              <a:t>Some Other Identities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Reading: Rosen 6.4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4391660"/>
            <a:ext cx="8458200" cy="1752600"/>
          </a:xfrm>
        </p:spPr>
        <p:txBody>
          <a:bodyPr/>
          <a:lstStyle/>
          <a:p>
            <a:r>
              <a:rPr lang="en-US" sz="2000" dirty="0"/>
              <a:t>Coefficient  of</a:t>
            </a:r>
          </a:p>
          <a:p>
            <a:pPr lvl="1">
              <a:buNone/>
            </a:pPr>
            <a:r>
              <a:rPr lang="en-US" sz="1800" dirty="0"/>
              <a:t> = </a:t>
            </a:r>
            <a:r>
              <a:rPr lang="en-US" sz="2000" dirty="0"/>
              <a:t>number of length-3 lists having y in </a:t>
            </a:r>
            <a:r>
              <a:rPr lang="en-US" sz="2000" b="1" dirty="0"/>
              <a:t>2</a:t>
            </a:r>
            <a:r>
              <a:rPr lang="en-US" sz="2000" dirty="0"/>
              <a:t> places.</a:t>
            </a:r>
            <a:endParaRPr lang="en-US" sz="1800" dirty="0"/>
          </a:p>
        </p:txBody>
      </p:sp>
      <p:pic>
        <p:nvPicPr>
          <p:cNvPr id="68915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00400" y="4343400"/>
            <a:ext cx="457200" cy="467360"/>
          </a:xfrm>
          <a:prstGeom prst="rect">
            <a:avLst/>
          </a:prstGeom>
          <a:noFill/>
        </p:spPr>
      </p:pic>
      <p:pic>
        <p:nvPicPr>
          <p:cNvPr id="689158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94813" y="4391660"/>
            <a:ext cx="533400" cy="838200"/>
          </a:xfrm>
          <a:prstGeom prst="rect">
            <a:avLst/>
          </a:prstGeom>
          <a:noFill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29" y="1809115"/>
            <a:ext cx="81248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505"/>
          <a:stretch/>
        </p:blipFill>
        <p:spPr bwMode="auto">
          <a:xfrm>
            <a:off x="609600" y="2890202"/>
            <a:ext cx="344805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09" y="3552825"/>
            <a:ext cx="80676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926DB-4DC2-4E3A-B2C0-BB9A6A9391A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53D430-F4FD-2043-84F3-BAF033D04898}"/>
              </a:ext>
            </a:extLst>
          </p:cNvPr>
          <p:cNvSpPr/>
          <p:nvPr/>
        </p:nvSpPr>
        <p:spPr bwMode="auto">
          <a:xfrm>
            <a:off x="3581400" y="1600200"/>
            <a:ext cx="5105400" cy="990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0BFCF5-C415-3042-AF33-C4D9F86E1061}"/>
              </a:ext>
            </a:extLst>
          </p:cNvPr>
          <p:cNvSpPr/>
          <p:nvPr/>
        </p:nvSpPr>
        <p:spPr bwMode="auto">
          <a:xfrm>
            <a:off x="152400" y="2786494"/>
            <a:ext cx="8382000" cy="292850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14728340-0787-A9F9-3D33-6571B2275D6A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382000" cy="715962"/>
          </a:xfrm>
          <a:prstGeom prst="rect">
            <a:avLst/>
          </a:prstGeom>
        </p:spPr>
        <p:txBody>
          <a:bodyPr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9pPr>
          </a:lstStyle>
          <a:p>
            <a:pPr algn="l"/>
            <a:r>
              <a:rPr lang="en-US" altLang="zh-CN" b="0" kern="0" dirty="0">
                <a:solidFill>
                  <a:schemeClr val="tx1"/>
                </a:solidFill>
              </a:rPr>
              <a:t>Binomial Expression</a:t>
            </a:r>
            <a:endParaRPr lang="zh-CN" altLang="en-US" b="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4885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4391660"/>
            <a:ext cx="8458200" cy="1752600"/>
          </a:xfrm>
        </p:spPr>
        <p:txBody>
          <a:bodyPr/>
          <a:lstStyle/>
          <a:p>
            <a:r>
              <a:rPr lang="en-US" sz="2000" dirty="0"/>
              <a:t>Coefficient  of</a:t>
            </a:r>
          </a:p>
          <a:p>
            <a:pPr lvl="1">
              <a:buNone/>
            </a:pPr>
            <a:r>
              <a:rPr lang="en-US" sz="1800" dirty="0"/>
              <a:t> = </a:t>
            </a:r>
            <a:r>
              <a:rPr lang="en-US" sz="2000" dirty="0"/>
              <a:t>number of length-3 lists having y in </a:t>
            </a:r>
            <a:r>
              <a:rPr lang="en-US" sz="2000" b="1" dirty="0"/>
              <a:t>2</a:t>
            </a:r>
            <a:r>
              <a:rPr lang="en-US" sz="2000" dirty="0"/>
              <a:t> places.</a:t>
            </a:r>
            <a:endParaRPr lang="en-US" sz="1800" dirty="0"/>
          </a:p>
        </p:txBody>
      </p:sp>
      <p:pic>
        <p:nvPicPr>
          <p:cNvPr id="68915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00400" y="4343400"/>
            <a:ext cx="457200" cy="467360"/>
          </a:xfrm>
          <a:prstGeom prst="rect">
            <a:avLst/>
          </a:prstGeom>
          <a:noFill/>
        </p:spPr>
      </p:pic>
      <p:pic>
        <p:nvPicPr>
          <p:cNvPr id="689158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94813" y="4391660"/>
            <a:ext cx="533400" cy="838200"/>
          </a:xfrm>
          <a:prstGeom prst="rect">
            <a:avLst/>
          </a:prstGeom>
          <a:noFill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29" y="1809115"/>
            <a:ext cx="81248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505"/>
          <a:stretch/>
        </p:blipFill>
        <p:spPr bwMode="auto">
          <a:xfrm>
            <a:off x="609600" y="2890202"/>
            <a:ext cx="344805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09" y="3552825"/>
            <a:ext cx="80676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926DB-4DC2-4E3A-B2C0-BB9A6A9391A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53D430-F4FD-2043-84F3-BAF033D04898}"/>
              </a:ext>
            </a:extLst>
          </p:cNvPr>
          <p:cNvSpPr/>
          <p:nvPr/>
        </p:nvSpPr>
        <p:spPr bwMode="auto">
          <a:xfrm>
            <a:off x="3581400" y="1600200"/>
            <a:ext cx="5105400" cy="990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0BFCF5-C415-3042-AF33-C4D9F86E1061}"/>
              </a:ext>
            </a:extLst>
          </p:cNvPr>
          <p:cNvSpPr/>
          <p:nvPr/>
        </p:nvSpPr>
        <p:spPr bwMode="auto">
          <a:xfrm>
            <a:off x="152400" y="3552825"/>
            <a:ext cx="8382000" cy="21621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ABCD7B62-F977-BDCA-9A61-DA2F7B855E6E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382000" cy="715962"/>
          </a:xfrm>
          <a:prstGeom prst="rect">
            <a:avLst/>
          </a:prstGeom>
        </p:spPr>
        <p:txBody>
          <a:bodyPr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9pPr>
          </a:lstStyle>
          <a:p>
            <a:pPr algn="l"/>
            <a:r>
              <a:rPr lang="en-US" altLang="zh-CN" b="0" kern="0" dirty="0">
                <a:solidFill>
                  <a:schemeClr val="tx1"/>
                </a:solidFill>
              </a:rPr>
              <a:t>Binomial Expression Expansion</a:t>
            </a:r>
            <a:endParaRPr lang="zh-CN" altLang="en-US" b="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046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4391660"/>
            <a:ext cx="8458200" cy="1752600"/>
          </a:xfrm>
        </p:spPr>
        <p:txBody>
          <a:bodyPr/>
          <a:lstStyle/>
          <a:p>
            <a:r>
              <a:rPr lang="en-US" sz="2000" dirty="0"/>
              <a:t>Coefficient  of</a:t>
            </a:r>
          </a:p>
          <a:p>
            <a:pPr lvl="1">
              <a:buNone/>
            </a:pPr>
            <a:r>
              <a:rPr lang="en-US" sz="1800" dirty="0"/>
              <a:t> = </a:t>
            </a:r>
            <a:r>
              <a:rPr lang="en-US" sz="2000" dirty="0"/>
              <a:t>number of length-3 lists having y in </a:t>
            </a:r>
            <a:r>
              <a:rPr lang="en-US" sz="2000" b="1" dirty="0"/>
              <a:t>2</a:t>
            </a:r>
            <a:r>
              <a:rPr lang="en-US" sz="2000" dirty="0"/>
              <a:t> places.</a:t>
            </a:r>
            <a:endParaRPr lang="en-US" sz="1800" dirty="0"/>
          </a:p>
        </p:txBody>
      </p:sp>
      <p:pic>
        <p:nvPicPr>
          <p:cNvPr id="68915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00400" y="4343400"/>
            <a:ext cx="457200" cy="467360"/>
          </a:xfrm>
          <a:prstGeom prst="rect">
            <a:avLst/>
          </a:prstGeom>
          <a:noFill/>
        </p:spPr>
      </p:pic>
      <p:pic>
        <p:nvPicPr>
          <p:cNvPr id="689158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94813" y="4391660"/>
            <a:ext cx="533400" cy="838200"/>
          </a:xfrm>
          <a:prstGeom prst="rect">
            <a:avLst/>
          </a:prstGeom>
          <a:noFill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29" y="1809115"/>
            <a:ext cx="81248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505"/>
          <a:stretch/>
        </p:blipFill>
        <p:spPr bwMode="auto">
          <a:xfrm>
            <a:off x="609600" y="2890202"/>
            <a:ext cx="344805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09" y="3552825"/>
            <a:ext cx="80676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926DB-4DC2-4E3A-B2C0-BB9A6A9391A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53D430-F4FD-2043-84F3-BAF033D04898}"/>
              </a:ext>
            </a:extLst>
          </p:cNvPr>
          <p:cNvSpPr/>
          <p:nvPr/>
        </p:nvSpPr>
        <p:spPr bwMode="auto">
          <a:xfrm>
            <a:off x="3581400" y="1600200"/>
            <a:ext cx="5105400" cy="990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0BFCF5-C415-3042-AF33-C4D9F86E1061}"/>
              </a:ext>
            </a:extLst>
          </p:cNvPr>
          <p:cNvSpPr/>
          <p:nvPr/>
        </p:nvSpPr>
        <p:spPr bwMode="auto">
          <a:xfrm>
            <a:off x="152400" y="4158297"/>
            <a:ext cx="8382000" cy="155670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D5F09BFC-485B-EA59-8D75-C7EBB2533C50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382000" cy="715962"/>
          </a:xfrm>
          <a:prstGeom prst="rect">
            <a:avLst/>
          </a:prstGeom>
        </p:spPr>
        <p:txBody>
          <a:bodyPr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9pPr>
          </a:lstStyle>
          <a:p>
            <a:pPr algn="l"/>
            <a:r>
              <a:rPr lang="en-US" altLang="zh-CN" b="0" kern="0" dirty="0">
                <a:solidFill>
                  <a:schemeClr val="tx1"/>
                </a:solidFill>
              </a:rPr>
              <a:t>Binomial Expression Expansion</a:t>
            </a:r>
            <a:endParaRPr lang="zh-CN" altLang="en-US" b="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082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42900" y="4329953"/>
            <a:ext cx="8458200" cy="1752600"/>
          </a:xfrm>
        </p:spPr>
        <p:txBody>
          <a:bodyPr/>
          <a:lstStyle/>
          <a:p>
            <a:r>
              <a:rPr lang="en-US" sz="2000" dirty="0"/>
              <a:t>Coefficient  of</a:t>
            </a:r>
          </a:p>
          <a:p>
            <a:pPr lvl="1">
              <a:buNone/>
            </a:pPr>
            <a:r>
              <a:rPr lang="en-US" sz="1800" dirty="0"/>
              <a:t> = </a:t>
            </a:r>
            <a:r>
              <a:rPr lang="en-US" sz="2000" dirty="0"/>
              <a:t>number of length-3 lists having y in </a:t>
            </a:r>
            <a:r>
              <a:rPr lang="en-US" sz="2000" b="1" dirty="0"/>
              <a:t>2</a:t>
            </a:r>
            <a:r>
              <a:rPr lang="en-US" sz="2000" dirty="0"/>
              <a:t> places.</a:t>
            </a:r>
            <a:endParaRPr lang="en-US" sz="1800" dirty="0"/>
          </a:p>
        </p:txBody>
      </p:sp>
      <p:pic>
        <p:nvPicPr>
          <p:cNvPr id="68915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67000" y="4267200"/>
            <a:ext cx="457200" cy="467360"/>
          </a:xfrm>
          <a:prstGeom prst="rect">
            <a:avLst/>
          </a:prstGeom>
          <a:noFill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29" y="1809115"/>
            <a:ext cx="81248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505"/>
          <a:stretch/>
        </p:blipFill>
        <p:spPr bwMode="auto">
          <a:xfrm>
            <a:off x="609600" y="2890202"/>
            <a:ext cx="344805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09" y="3552825"/>
            <a:ext cx="80676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926DB-4DC2-4E3A-B2C0-BB9A6A9391A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53D430-F4FD-2043-84F3-BAF033D04898}"/>
              </a:ext>
            </a:extLst>
          </p:cNvPr>
          <p:cNvSpPr/>
          <p:nvPr/>
        </p:nvSpPr>
        <p:spPr bwMode="auto">
          <a:xfrm>
            <a:off x="3581400" y="1600200"/>
            <a:ext cx="5105400" cy="990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2F15BF56-1D49-9571-D5CE-FC33AF20C713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382000" cy="715962"/>
          </a:xfrm>
          <a:prstGeom prst="rect">
            <a:avLst/>
          </a:prstGeom>
        </p:spPr>
        <p:txBody>
          <a:bodyPr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9pPr>
          </a:lstStyle>
          <a:p>
            <a:pPr algn="l"/>
            <a:r>
              <a:rPr lang="en-US" altLang="zh-CN" b="0" kern="0" dirty="0">
                <a:solidFill>
                  <a:schemeClr val="tx1"/>
                </a:solidFill>
              </a:rPr>
              <a:t>Binomial Expression Expansion</a:t>
            </a:r>
            <a:endParaRPr lang="zh-CN" altLang="en-US" b="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958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694" y="4391660"/>
            <a:ext cx="8458200" cy="1752600"/>
          </a:xfrm>
        </p:spPr>
        <p:txBody>
          <a:bodyPr/>
          <a:lstStyle/>
          <a:p>
            <a:r>
              <a:rPr lang="en-US" sz="2000" dirty="0"/>
              <a:t>Coefficient  of</a:t>
            </a:r>
          </a:p>
          <a:p>
            <a:pPr lvl="1">
              <a:buNone/>
            </a:pPr>
            <a:r>
              <a:rPr lang="en-US" sz="1800" dirty="0"/>
              <a:t> = </a:t>
            </a:r>
            <a:r>
              <a:rPr lang="en-US" sz="2000" dirty="0"/>
              <a:t>number of length-3 lists having y in </a:t>
            </a:r>
            <a:r>
              <a:rPr lang="en-US" sz="2000" b="1" dirty="0"/>
              <a:t>2</a:t>
            </a:r>
            <a:r>
              <a:rPr lang="en-US" sz="2000" dirty="0"/>
              <a:t> places.</a:t>
            </a:r>
          </a:p>
          <a:p>
            <a:r>
              <a:rPr lang="en-US" sz="2000" dirty="0"/>
              <a:t>You can think of x as 0 and y as 1 in a bitstring</a:t>
            </a:r>
          </a:p>
          <a:p>
            <a:pPr lvl="1"/>
            <a:r>
              <a:rPr lang="en-US" sz="1600" dirty="0"/>
              <a:t>The equivalent question is how many bit strings have exactly 2 1's: </a:t>
            </a:r>
            <a:r>
              <a:rPr lang="en-US" sz="1600" dirty="0">
                <a:solidFill>
                  <a:srgbClr val="0000FF"/>
                </a:solidFill>
              </a:rPr>
              <a:t>C(3,2)</a:t>
            </a:r>
            <a:r>
              <a:rPr lang="en-US" sz="1600" dirty="0"/>
              <a:t>.</a:t>
            </a:r>
          </a:p>
          <a:p>
            <a:pPr lvl="1">
              <a:buNone/>
            </a:pPr>
            <a:r>
              <a:rPr lang="en-US" sz="2000" dirty="0"/>
              <a:t> </a:t>
            </a:r>
          </a:p>
          <a:p>
            <a:pPr>
              <a:buNone/>
            </a:pPr>
            <a:endParaRPr lang="en-US" sz="2200" dirty="0"/>
          </a:p>
        </p:txBody>
      </p:sp>
      <p:pic>
        <p:nvPicPr>
          <p:cNvPr id="68915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90800" y="4343400"/>
            <a:ext cx="457200" cy="467360"/>
          </a:xfrm>
          <a:prstGeom prst="rect">
            <a:avLst/>
          </a:prstGeom>
          <a:noFill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29" y="1809115"/>
            <a:ext cx="81248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505"/>
          <a:stretch/>
        </p:blipFill>
        <p:spPr bwMode="auto">
          <a:xfrm>
            <a:off x="609600" y="2890202"/>
            <a:ext cx="344805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09" y="3552825"/>
            <a:ext cx="80676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926DB-4DC2-4E3A-B2C0-BB9A6A9391A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C10E0F25-D0AF-3B0F-66B7-A8837F762F0F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382000" cy="715962"/>
          </a:xfrm>
          <a:prstGeom prst="rect">
            <a:avLst/>
          </a:prstGeom>
        </p:spPr>
        <p:txBody>
          <a:bodyPr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9pPr>
          </a:lstStyle>
          <a:p>
            <a:pPr algn="l"/>
            <a:r>
              <a:rPr lang="en-US" altLang="zh-CN" b="0" kern="0" dirty="0">
                <a:solidFill>
                  <a:schemeClr val="tx1"/>
                </a:solidFill>
              </a:rPr>
              <a:t>Binomial Expression Expansion</a:t>
            </a:r>
            <a:endParaRPr lang="zh-CN" altLang="en-US" b="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9751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Binomial Theorem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371600"/>
                <a:ext cx="8686800" cy="5334000"/>
              </a:xfrm>
            </p:spPr>
            <p:txBody>
              <a:bodyPr/>
              <a:lstStyle/>
              <a:p>
                <a:r>
                  <a:rPr lang="en-US" altLang="zh-CN" sz="2400" b="1" dirty="0">
                    <a:solidFill>
                      <a:srgbClr val="0000FF"/>
                    </a:solidFill>
                  </a:rPr>
                  <a:t>Definition: </a:t>
                </a:r>
                <a:r>
                  <a:rPr lang="en-US" altLang="zh-CN" dirty="0"/>
                  <a:t>The number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/>
                  <a:t>-combinations of a set with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elements, denoted by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, is also called a </a:t>
                </a:r>
                <a:r>
                  <a:rPr lang="en-US" altLang="zh-CN" b="1" dirty="0"/>
                  <a:t>binomial coefficient</a:t>
                </a:r>
                <a:r>
                  <a:rPr lang="en-US" altLang="zh-CN" dirty="0"/>
                  <a:t> because it occurs as a coefficient in the expansion of the power of a binomial expression such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dirty="0"/>
                  <a:t>.</a:t>
                </a:r>
              </a:p>
              <a:p>
                <a:r>
                  <a:rPr lang="en-US" altLang="zh-CN" sz="2400" b="1" dirty="0">
                    <a:solidFill>
                      <a:srgbClr val="0000FF"/>
                    </a:solidFill>
                  </a:rPr>
                  <a:t>Theorem (Binomial theorem)</a:t>
                </a:r>
              </a:p>
              <a:p>
                <a:pPr marL="0" indent="0">
                  <a:buNone/>
                </a:pPr>
                <a:r>
                  <a:rPr lang="en-US" altLang="zh-CN" sz="2000" dirty="0"/>
                  <a:t>Let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0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sz="2000" i="1" dirty="0"/>
                  <a:t> </a:t>
                </a:r>
                <a:r>
                  <a:rPr lang="en-US" altLang="zh-CN" sz="2000" dirty="0"/>
                  <a:t>be variables and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000" dirty="0"/>
                  <a:t> be a nonnegative integer. Then</a:t>
                </a:r>
              </a:p>
              <a:p>
                <a:pPr marL="0" indent="0">
                  <a:buNone/>
                </a:pPr>
                <a:endParaRPr lang="en-US" altLang="zh-CN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371600"/>
                <a:ext cx="8686800" cy="5334000"/>
              </a:xfrm>
              <a:blipFill>
                <a:blip r:embed="rId2"/>
                <a:stretch>
                  <a:fillRect l="-982" t="-914" r="-1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950" y="4114800"/>
            <a:ext cx="8150790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Proof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686800" cy="4876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400" dirty="0"/>
                  <a:t>We give a combinatorial proof of the theorem. 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en-US" altLang="zh-CN" sz="2400" dirty="0"/>
                  <a:t>When we expand the product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2400" dirty="0"/>
                  <a:t>, the terms are of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zh-CN" sz="2400" dirty="0"/>
                  <a:t> for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=0, 1, …,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400" dirty="0"/>
                  <a:t>. </a:t>
                </a:r>
              </a:p>
              <a:p>
                <a:r>
                  <a:rPr lang="en-US" altLang="zh-CN" sz="2400" dirty="0"/>
                  <a:t>To</a:t>
                </a:r>
                <a:r>
                  <a:rPr lang="en-US" altLang="zh-CN" dirty="0"/>
                  <a:t> obtain a term</a:t>
                </a:r>
                <a:r>
                  <a:rPr lang="en-US" altLang="zh-CN" sz="2400" dirty="0"/>
                  <a:t> of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zh-CN" sz="2400" dirty="0"/>
                  <a:t>, it is necessary to choose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sz="2400" i="1" dirty="0"/>
                  <a:t>’</a:t>
                </a:r>
                <a:r>
                  <a:rPr lang="en-US" altLang="zh-CN" sz="2400" dirty="0"/>
                  <a:t>s from the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400" dirty="0"/>
                  <a:t> sums so that the other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400" dirty="0"/>
                  <a:t> terms in the product are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400" i="1" dirty="0"/>
                  <a:t>’</a:t>
                </a:r>
                <a:r>
                  <a:rPr lang="en-US" altLang="zh-CN" sz="2400" dirty="0"/>
                  <a:t>s. </a:t>
                </a:r>
              </a:p>
              <a:p>
                <a:r>
                  <a:rPr lang="en-US" altLang="zh-CN" sz="2400" dirty="0"/>
                  <a:t>Therefore, the coefficient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zh-CN" sz="2400" dirty="0"/>
                  <a:t>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2400" dirty="0"/>
                  <a:t> 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686800" cy="4876800"/>
              </a:xfrm>
              <a:blipFill>
                <a:blip r:embed="rId2"/>
                <a:stretch>
                  <a:fillRect l="-1123" t="-875" r="-1614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829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Example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686800" cy="4876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What is the coefficient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lang="en-US" altLang="zh-CN" dirty="0"/>
                  <a:t> in the expansion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</m:oMath>
                </a14:m>
                <a:r>
                  <a:rPr lang="en-US" altLang="zh-CN" dirty="0"/>
                  <a:t>?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1" dirty="0">
                    <a:solidFill>
                      <a:srgbClr val="0000FF"/>
                    </a:solidFill>
                  </a:rPr>
                  <a:t>Solution: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By the Binomial theorem the coefficient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25,13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25,1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25!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13!12!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=5200300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algn="just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686800" cy="4876800"/>
              </a:xfrm>
              <a:blipFill>
                <a:blip r:embed="rId2"/>
                <a:stretch>
                  <a:fillRect l="-1123" t="-875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669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Example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What is the coefficient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lang="en-US" altLang="zh-CN" dirty="0"/>
                  <a:t> in the expansion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</m:oMath>
                </a14:m>
                <a:r>
                  <a:rPr lang="en-US" altLang="zh-CN" dirty="0"/>
                  <a:t>?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1" dirty="0">
                    <a:solidFill>
                      <a:srgbClr val="0000FF"/>
                    </a:solidFill>
                  </a:rPr>
                  <a:t>Solution: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By the Binomial theorem the term involving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lang="en-US" altLang="zh-CN" dirty="0"/>
                  <a:t>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25</m:t>
                            </m:r>
                          </m: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eqArr>
                      </m:e>
                    </m:d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(−3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lang="en-US" altLang="zh-CN" dirty="0"/>
                  <a:t>. Therefore, the coefficient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lang="en-US" altLang="zh-CN" dirty="0"/>
                  <a:t>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eqArr>
                        </m:e>
                      </m:d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</m:sSup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13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23" t="-919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27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Example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686800" cy="4876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400" dirty="0"/>
                  <a:t>What is the </a:t>
                </a:r>
                <a:r>
                  <a:rPr lang="en-US" altLang="zh-CN" sz="2400" dirty="0">
                    <a:solidFill>
                      <a:srgbClr val="0000FF"/>
                    </a:solidFill>
                  </a:rPr>
                  <a:t>constant</a:t>
                </a:r>
                <a:r>
                  <a:rPr lang="en-US" altLang="zh-CN" sz="2400" dirty="0"/>
                  <a:t> term in the expansion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lang="en-US" altLang="zh-CN" sz="2400" dirty="0"/>
                  <a:t>?</a:t>
                </a:r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pPr marL="0" algn="just">
                  <a:buNone/>
                </a:pPr>
                <a:r>
                  <a:rPr lang="en-US" altLang="zh-CN" sz="2400" b="1" dirty="0">
                    <a:solidFill>
                      <a:srgbClr val="0000FF"/>
                    </a:solidFill>
                  </a:rPr>
                  <a:t>Solution:</a:t>
                </a:r>
              </a:p>
              <a:p>
                <a:pPr marL="0">
                  <a:buNone/>
                </a:pPr>
                <a:r>
                  <a:rPr lang="en-US" altLang="zh-CN" sz="2400" dirty="0"/>
                  <a:t>We need the Binomial expansion term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pt-BR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pt-BR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lang="en-US" altLang="zh-CN" sz="2400" dirty="0"/>
                  <a:t> to produce a constant. We rewrite as: </a:t>
                </a:r>
              </a:p>
              <a:p>
                <a:pPr marL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pt-BR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pt-BR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pt-BR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−3(12</m:t>
                        </m:r>
                        <m:r>
                          <a:rPr lang="pt-BR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pt-BR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−3(12−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altLang="zh-CN" sz="2400" dirty="0"/>
              </a:p>
              <a:p>
                <a:pPr marL="0">
                  <a:buNone/>
                </a:pPr>
                <a:r>
                  <a:rPr lang="en-US" altLang="zh-CN" sz="2400" dirty="0"/>
                  <a:t>For the power of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400" dirty="0"/>
                  <a:t> to be 0 in the constant term it must: </a:t>
                </a:r>
                <a:br>
                  <a:rPr lang="en-US" altLang="zh-CN" sz="240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−3</m:t>
                      </m:r>
                      <m:d>
                        <m:d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  <m:t>12−</m:t>
                          </m:r>
                          <m: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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4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𝑎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=36 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𝑎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=9</m:t>
                      </m:r>
                    </m:oMath>
                  </m:oMathPara>
                </a14:m>
                <a:br>
                  <a:rPr lang="en-US" altLang="zh-CN" sz="2400" i="1" dirty="0">
                    <a:latin typeface="Cambria Math" panose="02040503050406030204" pitchFamily="18" charset="0"/>
                  </a:rPr>
                </a:br>
                <a:r>
                  <a:rPr lang="en-US" altLang="zh-CN" sz="2400" dirty="0"/>
                  <a:t>Therefore, the constant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220</m:t>
                    </m:r>
                  </m:oMath>
                </a14:m>
                <a:r>
                  <a:rPr lang="en-US" altLang="zh-CN" sz="2400" dirty="0"/>
                  <a:t>.</a:t>
                </a:r>
              </a:p>
              <a:p>
                <a:pPr algn="just">
                  <a:buNone/>
                </a:pPr>
                <a:endParaRPr lang="en-US" altLang="zh-CN" sz="2400" dirty="0">
                  <a:solidFill>
                    <a:srgbClr val="0000FF"/>
                  </a:solidFill>
                </a:endParaRPr>
              </a:p>
              <a:p>
                <a:pPr algn="just">
                  <a:buNone/>
                </a:pPr>
                <a:r>
                  <a:rPr lang="en-US" altLang="zh-CN" sz="2400" dirty="0"/>
                  <a:t>    </a:t>
                </a: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686800" cy="4876800"/>
              </a:xfrm>
              <a:blipFill>
                <a:blip r:embed="rId2"/>
                <a:stretch>
                  <a:fillRect l="-1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34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Corollary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219200"/>
                <a:ext cx="8686800" cy="5257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Let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be a nonnegative integer. 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r>
                  <a:rPr lang="en-US" altLang="zh-CN" b="1" dirty="0">
                    <a:solidFill>
                      <a:srgbClr val="0000FF"/>
                    </a:solidFill>
                  </a:rPr>
                  <a:t>Proof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Using the binomial theorem with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, we can get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algn="just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219200"/>
                <a:ext cx="8686800" cy="5257800"/>
              </a:xfrm>
              <a:blipFill>
                <a:blip r:embed="rId2"/>
                <a:stretch>
                  <a:fillRect l="-1123" t="-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54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Alternative: Combinatorial Proof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066800"/>
                <a:ext cx="8686800" cy="4876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We have already seen that set with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elements has a total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dirty="0"/>
                  <a:t> different subsets (</a:t>
                </a:r>
                <a:r>
                  <a:rPr lang="en-US" altLang="zh-CN" i="1" dirty="0">
                    <a:solidFill>
                      <a:srgbClr val="FF0000"/>
                    </a:solidFill>
                  </a:rPr>
                  <a:t>powerset</a:t>
                </a:r>
                <a:r>
                  <a:rPr lang="en-US" altLang="zh-CN" dirty="0"/>
                  <a:t>). Each subset has either zero elements, or one element, or two elements, …, or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elements in it. 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There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 subsets with zero elements,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 subsets with one element,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 subsets with two elements, …,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 subsets with </a:t>
                </a:r>
                <a:r>
                  <a:rPr lang="en-US" altLang="zh-CN" i="1" dirty="0"/>
                  <a:t>n</a:t>
                </a:r>
                <a:r>
                  <a:rPr lang="en-US" altLang="zh-CN" dirty="0"/>
                  <a:t> elements.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Therefore,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2400" dirty="0"/>
              </a:p>
              <a:p>
                <a:pPr marL="0" indent="0">
                  <a:buNone/>
                </a:pPr>
                <a:r>
                  <a:rPr lang="en-US" altLang="zh-CN" dirty="0"/>
                  <a:t>counts the total number of subsets of a set with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elements, which is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066800"/>
                <a:ext cx="8686800" cy="4876800"/>
              </a:xfrm>
              <a:blipFill>
                <a:blip r:embed="rId2"/>
                <a:stretch>
                  <a:fillRect l="-1123" t="-875" r="-1754" b="-18125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471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Corollary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686800" cy="5257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Let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be a positive integer. 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(−1)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r>
                  <a:rPr lang="en-US" altLang="zh-CN" b="1" dirty="0">
                    <a:solidFill>
                      <a:srgbClr val="0000FF"/>
                    </a:solidFill>
                  </a:rPr>
                  <a:t>Proof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Using the binomial theorem with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altLang="zh-CN" dirty="0"/>
                  <a:t>, we can get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(1+(−1))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(−1)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(−1)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This proves the corollary.</a:t>
                </a:r>
              </a:p>
              <a:p>
                <a:pPr algn="just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686800" cy="5257800"/>
              </a:xfrm>
              <a:blipFill>
                <a:blip r:embed="rId2"/>
                <a:stretch>
                  <a:fillRect l="-1123" t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706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FF"/>
                </a:solidFill>
              </a:rPr>
              <a:t>Exercise</a:t>
            </a:r>
            <a:r>
              <a:rPr lang="en-US" altLang="zh-CN" dirty="0">
                <a:solidFill>
                  <a:schemeClr val="tx1"/>
                </a:solidFill>
              </a:rPr>
              <a:t> on Number of Subsets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219200"/>
                <a:ext cx="8686800" cy="5638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000" dirty="0"/>
                  <a:t>Prove that for each set </a:t>
                </a:r>
                <a:r>
                  <a:rPr lang="en-US" altLang="zh-CN" sz="2000" i="1" dirty="0"/>
                  <a:t>S</a:t>
                </a:r>
                <a:r>
                  <a:rPr lang="en-US" altLang="zh-CN" sz="2000" dirty="0"/>
                  <a:t> of </a:t>
                </a:r>
                <a:r>
                  <a:rPr lang="en-US" altLang="zh-CN" sz="2000" i="1" dirty="0"/>
                  <a:t>n</a:t>
                </a:r>
                <a:r>
                  <a:rPr lang="en-US" altLang="zh-CN" sz="2000" dirty="0"/>
                  <a:t> elements, the number of subsets that have even cardinality equals the number of subsets that have odd cardinality</a:t>
                </a:r>
              </a:p>
              <a:p>
                <a:pPr marL="0" indent="0">
                  <a:buNone/>
                </a:pP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/>
                  <a:t>From previous slide: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(−1)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+…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sz="2000" dirty="0"/>
                  <a:t>Therefore,</a:t>
                </a: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+…=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The left side of the equation is the number of subsets with even cardinality.</a:t>
                </a:r>
              </a:p>
              <a:p>
                <a:pPr marL="0" indent="0">
                  <a:buNone/>
                </a:pPr>
                <a:r>
                  <a:rPr lang="en-US" altLang="zh-CN" sz="2000" dirty="0"/>
                  <a:t>The right side of the equation is the number of subsets with odd cardinality.</a:t>
                </a:r>
              </a:p>
              <a:p>
                <a:pPr marL="0" indent="0">
                  <a:buNone/>
                </a:pPr>
                <a:r>
                  <a:rPr lang="en-US" altLang="zh-CN" sz="2000" dirty="0"/>
                  <a:t>Out of the 2</a:t>
                </a:r>
                <a:r>
                  <a:rPr lang="en-US" altLang="zh-CN" sz="2000" i="1" baseline="30000" dirty="0"/>
                  <a:t>n</a:t>
                </a:r>
                <a:r>
                  <a:rPr lang="en-US" altLang="zh-CN" sz="2000" dirty="0"/>
                  <a:t> possible subsets: 2</a:t>
                </a:r>
                <a:r>
                  <a:rPr lang="en-US" altLang="zh-CN" sz="2000" i="1" baseline="30000" dirty="0"/>
                  <a:t>n</a:t>
                </a:r>
                <a:r>
                  <a:rPr lang="en-US" altLang="zh-CN" sz="2000" dirty="0"/>
                  <a:t>/2=2</a:t>
                </a:r>
                <a:r>
                  <a:rPr lang="en-US" altLang="zh-CN" sz="2000" i="1" baseline="30000" dirty="0"/>
                  <a:t>n</a:t>
                </a:r>
                <a:r>
                  <a:rPr lang="en-US" altLang="zh-CN" sz="2000" baseline="30000" dirty="0"/>
                  <a:t>-1</a:t>
                </a:r>
                <a:r>
                  <a:rPr lang="en-US" altLang="zh-CN" sz="2000" dirty="0"/>
                  <a:t> have even, and 2</a:t>
                </a:r>
                <a:r>
                  <a:rPr lang="en-US" altLang="zh-CN" sz="2000" i="1" baseline="30000" dirty="0"/>
                  <a:t>n</a:t>
                </a:r>
                <a:r>
                  <a:rPr lang="en-US" altLang="zh-CN" sz="2000" baseline="30000" dirty="0"/>
                  <a:t>-1</a:t>
                </a:r>
                <a:r>
                  <a:rPr lang="en-US" altLang="zh-CN" sz="2000" dirty="0"/>
                  <a:t> have odd cardinality.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219200"/>
                <a:ext cx="8686800" cy="5638800"/>
              </a:xfrm>
              <a:blipFill>
                <a:blip r:embed="rId2"/>
                <a:stretch>
                  <a:fillRect l="-772" t="-541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140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Corollary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686800" cy="5257800"/>
              </a:xfrm>
            </p:spPr>
            <p:txBody>
              <a:bodyPr/>
              <a:lstStyle/>
              <a:p>
                <a:r>
                  <a:rPr lang="en-US" altLang="zh-CN" b="1" dirty="0">
                    <a:solidFill>
                      <a:srgbClr val="0000FF"/>
                    </a:solidFill>
                  </a:rPr>
                  <a:t>Corollary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Let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be a positive integer. 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r>
                  <a:rPr lang="en-US" altLang="zh-CN" b="1" dirty="0">
                    <a:solidFill>
                      <a:srgbClr val="0000FF"/>
                    </a:solidFill>
                  </a:rPr>
                  <a:t>Proof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Using the binomial theorem with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CN" dirty="0"/>
                  <a:t>, we can get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(1+2)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This proves the corollary.</a:t>
                </a:r>
              </a:p>
              <a:p>
                <a:pPr algn="just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686800" cy="5257800"/>
              </a:xfrm>
              <a:blipFill>
                <a:blip r:embed="rId2"/>
                <a:stretch>
                  <a:fillRect l="-1123" t="-928" r="-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361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Pascal's Identity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686800" cy="4876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400" dirty="0"/>
                  <a:t>The binomial coefficients satisfy many different identities. One of the most important identities is discussed below.</a:t>
                </a:r>
              </a:p>
              <a:p>
                <a:pPr marL="0" indent="0">
                  <a:buNone/>
                </a:pPr>
                <a:endParaRPr lang="en-US" altLang="zh-CN" sz="2400" b="1" dirty="0">
                  <a:solidFill>
                    <a:srgbClr val="0000FF"/>
                  </a:solidFill>
                </a:endParaRPr>
              </a:p>
              <a:p>
                <a:r>
                  <a:rPr lang="en-US" altLang="zh-CN" sz="2400" b="1" dirty="0">
                    <a:solidFill>
                      <a:srgbClr val="0000FF"/>
                    </a:solidFill>
                  </a:rPr>
                  <a:t>Theorem (Pascal's identity)</a:t>
                </a:r>
              </a:p>
              <a:p>
                <a:pPr marL="0" indent="0">
                  <a:buNone/>
                </a:pPr>
                <a:r>
                  <a:rPr lang="en-US" altLang="zh-CN" sz="2400" dirty="0"/>
                  <a:t>Let </a:t>
                </a:r>
                <a:r>
                  <a:rPr lang="en-US" altLang="zh-CN" sz="2400" i="1" dirty="0"/>
                  <a:t>n</a:t>
                </a:r>
                <a:r>
                  <a:rPr lang="en-US" altLang="zh-CN" sz="2400" dirty="0"/>
                  <a:t> and </a:t>
                </a:r>
                <a:r>
                  <a:rPr lang="en-US" altLang="zh-CN" sz="2400" i="1" dirty="0"/>
                  <a:t>k</a:t>
                </a:r>
                <a:r>
                  <a:rPr lang="en-US" altLang="zh-CN" sz="2400" dirty="0"/>
                  <a:t> be integers with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400" dirty="0"/>
                  <a:t>. Then,</a:t>
                </a:r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686800" cy="4876800"/>
              </a:xfrm>
              <a:blipFill>
                <a:blip r:embed="rId2"/>
                <a:stretch>
                  <a:fillRect l="-1123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9600" y="914400"/>
            <a:ext cx="6848350" cy="52014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b="0" dirty="0"/>
          </a:p>
          <a:p>
            <a:endParaRPr lang="en-US" sz="2400" b="0" dirty="0"/>
          </a:p>
          <a:p>
            <a:r>
              <a:rPr lang="en-US" sz="2400" b="0" dirty="0"/>
              <a:t>Let X = {A, B, C, D, </a:t>
            </a:r>
            <a:r>
              <a:rPr lang="en-US" sz="2400" b="0" dirty="0">
                <a:solidFill>
                  <a:srgbClr val="FF0000"/>
                </a:solidFill>
              </a:rPr>
              <a:t>E</a:t>
            </a:r>
            <a:r>
              <a:rPr lang="en-US" sz="2400" b="0" dirty="0"/>
              <a:t>}</a:t>
            </a:r>
          </a:p>
          <a:p>
            <a:r>
              <a:rPr lang="en-US" sz="2400" b="0" dirty="0"/>
              <a:t>S = 2-combinations of X</a:t>
            </a:r>
          </a:p>
          <a:p>
            <a:pPr>
              <a:buFont typeface="Monotype Sorts" pitchFamily="2" charset="2"/>
              <a:buNone/>
            </a:pPr>
            <a:r>
              <a:rPr lang="en-US" sz="2400" b="0" dirty="0"/>
              <a:t>   =</a:t>
            </a:r>
            <a:r>
              <a:rPr lang="en-US" altLang="zh-CN" sz="2400" b="0" dirty="0"/>
              <a:t> {those containing </a:t>
            </a:r>
            <a:r>
              <a:rPr lang="en-US" altLang="zh-CN" sz="2400" b="0" dirty="0">
                <a:solidFill>
                  <a:srgbClr val="0000FF"/>
                </a:solidFill>
              </a:rPr>
              <a:t>E</a:t>
            </a:r>
            <a:r>
              <a:rPr lang="en-US" altLang="zh-CN" sz="2400" b="0" dirty="0"/>
              <a:t>}  U  {those without </a:t>
            </a:r>
            <a:r>
              <a:rPr lang="en-US" altLang="zh-CN" sz="2400" b="0" dirty="0">
                <a:solidFill>
                  <a:srgbClr val="FF0000"/>
                </a:solidFill>
              </a:rPr>
              <a:t>E</a:t>
            </a:r>
            <a:r>
              <a:rPr lang="en-US" altLang="zh-CN" sz="2400" b="0" dirty="0"/>
              <a:t>}</a:t>
            </a:r>
          </a:p>
          <a:p>
            <a:pPr>
              <a:buFont typeface="Monotype Sorts" pitchFamily="2" charset="2"/>
              <a:buNone/>
            </a:pPr>
            <a:r>
              <a:rPr lang="en-US" altLang="zh-CN" sz="2400" b="0" dirty="0"/>
              <a:t>   = S</a:t>
            </a:r>
            <a:r>
              <a:rPr lang="en-US" altLang="zh-CN" sz="2400" b="0" baseline="-25000" dirty="0"/>
              <a:t>1</a:t>
            </a:r>
            <a:r>
              <a:rPr lang="en-US" altLang="zh-CN" sz="2400" b="0" dirty="0"/>
              <a:t> U S</a:t>
            </a:r>
            <a:r>
              <a:rPr lang="en-US" altLang="zh-CN" sz="2400" b="0" baseline="-25000" dirty="0"/>
              <a:t>2</a:t>
            </a:r>
            <a:r>
              <a:rPr lang="en-US" altLang="zh-CN" sz="2400" b="0" dirty="0"/>
              <a:t> </a:t>
            </a:r>
            <a:r>
              <a:rPr lang="zh-CN" altLang="en-US" sz="2400" b="0" dirty="0"/>
              <a:t> </a:t>
            </a:r>
            <a:endParaRPr lang="en-US" sz="2400" b="0" dirty="0"/>
          </a:p>
          <a:p>
            <a:pPr>
              <a:buFont typeface="Monotype Sorts" pitchFamily="2" charset="2"/>
              <a:buNone/>
            </a:pPr>
            <a:r>
              <a:rPr lang="en-US" altLang="zh-CN" sz="2400" b="0" dirty="0"/>
              <a:t>S</a:t>
            </a:r>
            <a:r>
              <a:rPr lang="en-US" altLang="zh-CN" sz="2400" b="0" baseline="-25000" dirty="0"/>
              <a:t>1</a:t>
            </a:r>
            <a:r>
              <a:rPr lang="en-US" altLang="zh-CN" sz="2400" b="0" dirty="0"/>
              <a:t> = { {A,</a:t>
            </a:r>
            <a:r>
              <a:rPr lang="en-US" altLang="zh-CN" sz="2400" b="0" dirty="0">
                <a:solidFill>
                  <a:srgbClr val="0000FF"/>
                </a:solidFill>
              </a:rPr>
              <a:t>E</a:t>
            </a:r>
            <a:r>
              <a:rPr lang="en-US" altLang="zh-CN" sz="2400" b="0" dirty="0"/>
              <a:t>}, </a:t>
            </a:r>
            <a:r>
              <a:rPr lang="en-US" altLang="zh-CN" sz="2400" b="0" dirty="0">
                <a:solidFill>
                  <a:srgbClr val="000000"/>
                </a:solidFill>
              </a:rPr>
              <a:t>{B,</a:t>
            </a:r>
            <a:r>
              <a:rPr lang="en-US" altLang="zh-CN" sz="2400" b="0" dirty="0">
                <a:solidFill>
                  <a:srgbClr val="0000FF"/>
                </a:solidFill>
              </a:rPr>
              <a:t>E</a:t>
            </a:r>
            <a:r>
              <a:rPr lang="en-US" altLang="zh-CN" sz="2400" b="0" dirty="0">
                <a:solidFill>
                  <a:srgbClr val="000000"/>
                </a:solidFill>
              </a:rPr>
              <a:t>}, {C,</a:t>
            </a:r>
            <a:r>
              <a:rPr lang="en-US" altLang="zh-CN" sz="2400" b="0" dirty="0">
                <a:solidFill>
                  <a:srgbClr val="0000FF"/>
                </a:solidFill>
              </a:rPr>
              <a:t>E</a:t>
            </a:r>
            <a:r>
              <a:rPr lang="en-US" altLang="zh-CN" sz="2400" b="0" dirty="0">
                <a:solidFill>
                  <a:srgbClr val="000000"/>
                </a:solidFill>
              </a:rPr>
              <a:t>}, {D,</a:t>
            </a:r>
            <a:r>
              <a:rPr lang="en-US" altLang="zh-CN" sz="2400" b="0" dirty="0">
                <a:solidFill>
                  <a:srgbClr val="0000FF"/>
                </a:solidFill>
              </a:rPr>
              <a:t>E</a:t>
            </a:r>
            <a:r>
              <a:rPr lang="en-US" altLang="zh-CN" sz="2400" b="0" dirty="0">
                <a:solidFill>
                  <a:srgbClr val="000000"/>
                </a:solidFill>
              </a:rPr>
              <a:t>}</a:t>
            </a:r>
            <a:r>
              <a:rPr lang="en-US" altLang="zh-CN" sz="2400" b="0" dirty="0"/>
              <a:t> }</a:t>
            </a:r>
          </a:p>
          <a:p>
            <a:pPr>
              <a:buFont typeface="Monotype Sorts" pitchFamily="2" charset="2"/>
              <a:buNone/>
            </a:pPr>
            <a:r>
              <a:rPr lang="en-US" altLang="zh-CN" sz="2400" b="0" dirty="0"/>
              <a:t>        i.e., 1-combinations from {A,B,C,D}</a:t>
            </a:r>
          </a:p>
          <a:p>
            <a:pPr>
              <a:buFont typeface="Monotype Sorts" pitchFamily="2" charset="2"/>
              <a:buNone/>
            </a:pPr>
            <a:r>
              <a:rPr lang="en-US" altLang="zh-CN" sz="2400" b="0" dirty="0"/>
              <a:t>          |S</a:t>
            </a:r>
            <a:r>
              <a:rPr lang="en-US" altLang="zh-CN" sz="2400" b="0" baseline="-25000" dirty="0"/>
              <a:t>1</a:t>
            </a:r>
            <a:r>
              <a:rPr lang="en-US" altLang="zh-CN" sz="2400" b="0" dirty="0"/>
              <a:t>| = </a:t>
            </a:r>
            <a:endParaRPr lang="en-US" altLang="zh-CN" sz="3200" b="0" dirty="0"/>
          </a:p>
          <a:p>
            <a:pPr>
              <a:buFont typeface="Monotype Sorts" pitchFamily="2" charset="2"/>
              <a:buNone/>
            </a:pPr>
            <a:endParaRPr lang="en-US" altLang="zh-CN" sz="1000" b="0" dirty="0"/>
          </a:p>
          <a:p>
            <a:pPr>
              <a:buFont typeface="Monotype Sorts" pitchFamily="2" charset="2"/>
              <a:buNone/>
            </a:pPr>
            <a:r>
              <a:rPr lang="en-US" altLang="zh-CN" sz="2400" b="0" dirty="0"/>
              <a:t>S</a:t>
            </a:r>
            <a:r>
              <a:rPr lang="en-US" altLang="zh-CN" sz="2400" b="0" baseline="-25000" dirty="0"/>
              <a:t>2 </a:t>
            </a:r>
            <a:r>
              <a:rPr lang="en-US" altLang="zh-CN" sz="2400" b="0" dirty="0"/>
              <a:t>= {{A,B}, {A,C}, {A,D}, {B,C}, {B,D}, {C,D}}  </a:t>
            </a:r>
          </a:p>
          <a:p>
            <a:pPr>
              <a:buFont typeface="Monotype Sorts" pitchFamily="2" charset="2"/>
              <a:buNone/>
            </a:pPr>
            <a:r>
              <a:rPr lang="en-US" altLang="zh-CN" sz="2400" b="0" dirty="0"/>
              <a:t>        i.e., 2-combinations from {A, B, C, D}</a:t>
            </a:r>
          </a:p>
          <a:p>
            <a:pPr>
              <a:buFont typeface="Monotype Sorts" pitchFamily="2" charset="2"/>
              <a:buNone/>
            </a:pPr>
            <a:r>
              <a:rPr lang="en-US" altLang="zh-CN" sz="1000" b="0" dirty="0"/>
              <a:t>          </a:t>
            </a:r>
          </a:p>
          <a:p>
            <a:pPr>
              <a:buFont typeface="Monotype Sorts" pitchFamily="2" charset="2"/>
              <a:buNone/>
            </a:pPr>
            <a:r>
              <a:rPr lang="en-US" altLang="zh-CN" sz="2400" b="0" dirty="0"/>
              <a:t>	|S</a:t>
            </a:r>
            <a:r>
              <a:rPr lang="en-US" altLang="zh-CN" sz="2400" b="0" baseline="-25000" dirty="0"/>
              <a:t>2</a:t>
            </a:r>
            <a:r>
              <a:rPr lang="en-US" altLang="zh-CN" sz="2400" b="0" dirty="0"/>
              <a:t>| = </a:t>
            </a:r>
          </a:p>
          <a:p>
            <a:pPr>
              <a:buFont typeface="Monotype Sorts" pitchFamily="2" charset="2"/>
              <a:buNone/>
            </a:pPr>
            <a:endParaRPr lang="en-US" sz="2400" b="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919" y="973873"/>
            <a:ext cx="2133600" cy="75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836" y="3848503"/>
            <a:ext cx="408791" cy="523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5195887"/>
            <a:ext cx="476250" cy="59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12" y="5881907"/>
            <a:ext cx="5114925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2800" dirty="0">
                <a:solidFill>
                  <a:schemeClr val="tx1"/>
                </a:solidFill>
              </a:rPr>
              <a:t>Example of Pascal's Identity for </a:t>
            </a:r>
            <a:r>
              <a:rPr lang="en-US" altLang="zh-CN" sz="2800" i="1" dirty="0">
                <a:solidFill>
                  <a:schemeClr val="tx1"/>
                </a:solidFill>
              </a:rPr>
              <a:t>n</a:t>
            </a:r>
            <a:r>
              <a:rPr lang="en-US" altLang="zh-CN" sz="2800" dirty="0">
                <a:solidFill>
                  <a:schemeClr val="tx1"/>
                </a:solidFill>
              </a:rPr>
              <a:t>=5, </a:t>
            </a:r>
            <a:r>
              <a:rPr lang="en-US" altLang="zh-CN" sz="2800" i="1" dirty="0">
                <a:solidFill>
                  <a:schemeClr val="tx1"/>
                </a:solidFill>
              </a:rPr>
              <a:t>k</a:t>
            </a:r>
            <a:r>
              <a:rPr lang="en-US" altLang="zh-CN" sz="2800" dirty="0">
                <a:solidFill>
                  <a:schemeClr val="tx1"/>
                </a:solidFill>
              </a:rPr>
              <a:t>=2</a:t>
            </a:r>
            <a:endParaRPr lang="en-US" sz="2800" b="1" dirty="0">
              <a:solidFill>
                <a:srgbClr val="0000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ABEF-E41E-4666-84C4-413527B4A9B4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219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Proof 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828800"/>
            <a:ext cx="3810000" cy="1345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266700" y="2819400"/>
            <a:ext cx="2781300" cy="1317485"/>
            <a:chOff x="266700" y="2819400"/>
            <a:chExt cx="2781300" cy="1317485"/>
          </a:xfrm>
        </p:grpSpPr>
        <p:cxnSp>
          <p:nvCxnSpPr>
            <p:cNvPr id="6" name="Straight Arrow Connector 5"/>
            <p:cNvCxnSpPr/>
            <p:nvPr/>
          </p:nvCxnSpPr>
          <p:spPr bwMode="auto">
            <a:xfrm flipH="1">
              <a:off x="1524000" y="2819400"/>
              <a:ext cx="685800" cy="35473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7" name="TextBox 6"/>
            <p:cNvSpPr txBox="1"/>
            <p:nvPr/>
          </p:nvSpPr>
          <p:spPr>
            <a:xfrm>
              <a:off x="266700" y="3428999"/>
              <a:ext cx="27813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/>
                <a:t>#</a:t>
              </a:r>
              <a:r>
                <a:rPr lang="en-US" sz="2000" b="0" i="1" dirty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2000" b="0" dirty="0"/>
                <a:t>-combinations of {1,2,3,…,</a:t>
              </a:r>
              <a:r>
                <a:rPr lang="en-US" sz="2000" b="0" i="1" dirty="0"/>
                <a:t>n</a:t>
              </a:r>
              <a:r>
                <a:rPr lang="en-US" sz="2000" b="0" dirty="0"/>
                <a:t>}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791200" y="2895600"/>
            <a:ext cx="2971799" cy="1845951"/>
            <a:chOff x="5791200" y="2895600"/>
            <a:chExt cx="2971799" cy="1845951"/>
          </a:xfrm>
        </p:grpSpPr>
        <p:sp>
          <p:nvSpPr>
            <p:cNvPr id="9" name="TextBox 8"/>
            <p:cNvSpPr txBox="1"/>
            <p:nvPr/>
          </p:nvSpPr>
          <p:spPr>
            <a:xfrm>
              <a:off x="6096000" y="3418112"/>
              <a:ext cx="2666999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/>
                <a:t>#</a:t>
              </a:r>
              <a:r>
                <a:rPr lang="en-US" sz="2000" b="0" i="1" dirty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2000" b="0" dirty="0"/>
                <a:t>-combinations of {1,2,3,…, </a:t>
              </a:r>
              <a:r>
                <a:rPr lang="en-US" sz="2000" b="0" i="1" dirty="0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b="0" dirty="0"/>
                <a:t>-1} </a:t>
              </a:r>
              <a:r>
                <a:rPr lang="en-US" sz="2000" b="0" dirty="0">
                  <a:solidFill>
                    <a:srgbClr val="FF0000"/>
                  </a:solidFill>
                </a:rPr>
                <a:t>not</a:t>
              </a:r>
              <a:r>
                <a:rPr lang="en-US" sz="2000" b="0" dirty="0"/>
                <a:t> containing last element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 bwMode="auto">
            <a:xfrm>
              <a:off x="5791200" y="2895600"/>
              <a:ext cx="914400" cy="53339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5" name="Group 4"/>
          <p:cNvGrpSpPr/>
          <p:nvPr/>
        </p:nvGrpSpPr>
        <p:grpSpPr>
          <a:xfrm>
            <a:off x="1990165" y="3014536"/>
            <a:ext cx="3801035" cy="2242066"/>
            <a:chOff x="2480984" y="2960741"/>
            <a:chExt cx="3801035" cy="2242066"/>
          </a:xfrm>
        </p:grpSpPr>
        <p:sp>
          <p:nvSpPr>
            <p:cNvPr id="8" name="TextBox 7"/>
            <p:cNvSpPr txBox="1"/>
            <p:nvPr/>
          </p:nvSpPr>
          <p:spPr>
            <a:xfrm>
              <a:off x="2480984" y="4187144"/>
              <a:ext cx="380103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/>
                <a:t>#(</a:t>
              </a:r>
              <a:r>
                <a:rPr lang="en-US" sz="2000" b="0" i="1" dirty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2000" b="0" dirty="0"/>
                <a:t>-1)-combinations of {1,2,3, …, </a:t>
              </a:r>
              <a:r>
                <a:rPr lang="en-US" sz="2000" b="0" i="1" dirty="0"/>
                <a:t>n</a:t>
              </a:r>
              <a:r>
                <a:rPr lang="en-US" sz="2000" b="0" dirty="0"/>
                <a:t>-1} containing last element</a:t>
              </a:r>
            </a:p>
          </p:txBody>
        </p:sp>
        <p:cxnSp>
          <p:nvCxnSpPr>
            <p:cNvPr id="13" name="Straight Arrow Connector 12"/>
            <p:cNvCxnSpPr>
              <a:cxnSpLocks/>
              <a:endCxn id="8" idx="0"/>
            </p:cNvCxnSpPr>
            <p:nvPr/>
          </p:nvCxnSpPr>
          <p:spPr bwMode="auto">
            <a:xfrm>
              <a:off x="3928783" y="2960741"/>
              <a:ext cx="452719" cy="122640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14" name="TextBox 13"/>
          <p:cNvSpPr txBox="1"/>
          <p:nvPr/>
        </p:nvSpPr>
        <p:spPr>
          <a:xfrm>
            <a:off x="395863" y="5715000"/>
            <a:ext cx="84433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/>
              <a:t>Use the </a:t>
            </a:r>
            <a:r>
              <a:rPr lang="en-US" sz="2400" b="0" dirty="0">
                <a:solidFill>
                  <a:srgbClr val="0000FF"/>
                </a:solidFill>
              </a:rPr>
              <a:t>Sum Rule</a:t>
            </a:r>
            <a:r>
              <a:rPr lang="en-US" sz="2400" b="0" dirty="0"/>
              <a:t> for the total number of combinations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ABEF-E41E-4666-84C4-413527B4A9B4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499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715962"/>
          </a:xfrm>
        </p:spPr>
        <p:txBody>
          <a:bodyPr/>
          <a:lstStyle/>
          <a:p>
            <a:r>
              <a:rPr lang="en-US" altLang="zh-CN" sz="3200" dirty="0">
                <a:solidFill>
                  <a:schemeClr val="tx1"/>
                </a:solidFill>
              </a:rPr>
              <a:t>Combinatorial proof of Pascal’s identity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066800"/>
                <a:ext cx="8686800" cy="5410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Suppose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dirty="0"/>
                  <a:t> is a set containing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elements. Let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dirty="0"/>
                  <a:t> be an element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−{</m:t>
                    </m:r>
                    <m:r>
                      <a:rPr lang="en-US" altLang="zh-CN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dirty="0"/>
                  <a:t>.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There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 subsets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dirty="0"/>
                  <a:t> containing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/>
                  <a:t> elements. However,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a subset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with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elements either contains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together with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elements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CN" dirty="0"/>
                  <a:t>, or </a:t>
                </a:r>
                <a:r>
                  <a:rPr lang="en-US" altLang="zh-CN" dirty="0">
                    <a:solidFill>
                      <a:srgbClr val="0000FF"/>
                    </a:solidFill>
                  </a:rPr>
                  <a:t>contains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>
                    <a:solidFill>
                      <a:srgbClr val="0000FF"/>
                    </a:solidFill>
                  </a:rPr>
                  <a:t> elements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CN" dirty="0">
                    <a:solidFill>
                      <a:srgbClr val="0000FF"/>
                    </a:solidFill>
                  </a:rPr>
                  <a:t> and does not contain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dirty="0"/>
                  <a:t>.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Because there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 subsets of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dirty="0"/>
                  <a:t> elements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CN" dirty="0"/>
                  <a:t>, </a:t>
                </a:r>
                <a:r>
                  <a:rPr lang="en-US" altLang="zh-CN" dirty="0">
                    <a:solidFill>
                      <a:srgbClr val="FF3300"/>
                    </a:solidFill>
                  </a:rPr>
                  <a:t>there are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b="0" i="1" smtClean="0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>
                    <a:solidFill>
                      <a:srgbClr val="FF3300"/>
                    </a:solidFill>
                  </a:rPr>
                  <a:t> subsets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 dirty="0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solidFill>
                      <a:srgbClr val="FF3300"/>
                    </a:solidFill>
                  </a:rPr>
                  <a:t>elements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dirty="0">
                    <a:solidFill>
                      <a:srgbClr val="FF3300"/>
                    </a:solidFill>
                  </a:rPr>
                  <a:t> that contain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dirty="0"/>
                  <a:t>. Because there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 subsets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/>
                  <a:t> elements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CN" i="1" dirty="0"/>
                  <a:t> , </a:t>
                </a:r>
                <a:r>
                  <a:rPr lang="en-US" altLang="zh-CN" dirty="0">
                    <a:solidFill>
                      <a:srgbClr val="0000FF"/>
                    </a:solidFill>
                  </a:rPr>
                  <a:t>there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>
                    <a:solidFill>
                      <a:srgbClr val="0000FF"/>
                    </a:solidFill>
                  </a:rPr>
                  <a:t> subsets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>
                    <a:solidFill>
                      <a:srgbClr val="0000FF"/>
                    </a:solidFill>
                  </a:rPr>
                  <a:t> elements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dirty="0">
                    <a:solidFill>
                      <a:srgbClr val="0000FF"/>
                    </a:solidFill>
                  </a:rPr>
                  <a:t> that don’t contain </a:t>
                </a:r>
                <a:r>
                  <a:rPr lang="en-US" altLang="zh-CN" i="1" dirty="0">
                    <a:solidFill>
                      <a:srgbClr val="0000FF"/>
                    </a:solidFill>
                  </a:rPr>
                  <a:t>a</a:t>
                </a:r>
                <a:r>
                  <a:rPr lang="en-US" altLang="zh-CN" dirty="0"/>
                  <a:t>.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Therefore: 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i="1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i="1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algn="just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066800"/>
                <a:ext cx="8686800" cy="5410200"/>
              </a:xfrm>
              <a:blipFill>
                <a:blip r:embed="rId2"/>
                <a:stretch>
                  <a:fillRect l="-1123" t="-788" r="-1965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302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 descr="05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914400" y="2618058"/>
            <a:ext cx="6551676" cy="408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Pascal’s Triangle (1641) 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43000"/>
                <a:ext cx="8686800" cy="5105400"/>
              </a:xfrm>
            </p:spPr>
            <p:txBody>
              <a:bodyPr/>
              <a:lstStyle/>
              <a:p>
                <a:r>
                  <a:rPr lang="en-US" altLang="zh-CN" sz="2000" b="1" dirty="0">
                    <a:solidFill>
                      <a:srgbClr val="0000FF"/>
                    </a:solidFill>
                  </a:rPr>
                  <a:t>Corollary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Pascal's identity, together with the initial conditions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000" dirty="0"/>
                  <a:t> for all integers </a:t>
                </a:r>
                <a:r>
                  <a:rPr lang="en-US" altLang="zh-CN" sz="2000" i="1" dirty="0"/>
                  <a:t>n</a:t>
                </a:r>
                <a:r>
                  <a:rPr lang="en-US" altLang="zh-CN" sz="2000" dirty="0"/>
                  <a:t>, can be used to give a geometric arrangement of the binomial coefficients in a triangle, called Pascal's triangle, as follows: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algn="just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43000"/>
                <a:ext cx="8686800" cy="5105400"/>
              </a:xfrm>
              <a:blipFill rotWithShape="0">
                <a:blip r:embed="rId3"/>
                <a:stretch>
                  <a:fillRect l="-702" t="-717" r="-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6" name="Picture 5" descr="051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440183" y="2895600"/>
            <a:ext cx="1184245" cy="1371600"/>
          </a:xfrm>
          <a:prstGeom prst="rect">
            <a:avLst/>
          </a:prstGeom>
        </p:spPr>
      </p:pic>
      <p:sp>
        <p:nvSpPr>
          <p:cNvPr id="4" name="Triangle 3">
            <a:extLst>
              <a:ext uri="{FF2B5EF4-FFF2-40B4-BE49-F238E27FC236}">
                <a16:creationId xmlns:a16="http://schemas.microsoft.com/office/drawing/2014/main" id="{B4E2BAD6-F630-144D-ADB9-5B1D403225BE}"/>
              </a:ext>
            </a:extLst>
          </p:cNvPr>
          <p:cNvSpPr/>
          <p:nvPr/>
        </p:nvSpPr>
        <p:spPr bwMode="auto">
          <a:xfrm>
            <a:off x="1219200" y="3124200"/>
            <a:ext cx="2667000" cy="2961904"/>
          </a:xfrm>
          <a:prstGeom prst="triangle">
            <a:avLst>
              <a:gd name="adj" fmla="val 51744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44C32D41-F35F-F44F-B641-A28BFEC44983}"/>
              </a:ext>
            </a:extLst>
          </p:cNvPr>
          <p:cNvSpPr/>
          <p:nvPr/>
        </p:nvSpPr>
        <p:spPr bwMode="auto">
          <a:xfrm>
            <a:off x="4495800" y="2743200"/>
            <a:ext cx="3124200" cy="3399581"/>
          </a:xfrm>
          <a:prstGeom prst="triangle">
            <a:avLst>
              <a:gd name="adj" fmla="val 51744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6DD25F-A2F4-BE43-8097-9BD322466DD4}"/>
              </a:ext>
            </a:extLst>
          </p:cNvPr>
          <p:cNvSpPr/>
          <p:nvPr/>
        </p:nvSpPr>
        <p:spPr bwMode="auto">
          <a:xfrm>
            <a:off x="3657600" y="3352800"/>
            <a:ext cx="1524000" cy="9144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BF9853-8274-134B-A52E-A356E233337A}"/>
              </a:ext>
            </a:extLst>
          </p:cNvPr>
          <p:cNvSpPr/>
          <p:nvPr/>
        </p:nvSpPr>
        <p:spPr bwMode="auto">
          <a:xfrm>
            <a:off x="1790700" y="6086103"/>
            <a:ext cx="4608576" cy="64460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4982555-4AED-4DD8-9AB0-E99E57F73E5A}"/>
                  </a:ext>
                </a:extLst>
              </p:cNvPr>
              <p:cNvSpPr/>
              <p:nvPr/>
            </p:nvSpPr>
            <p:spPr>
              <a:xfrm>
                <a:off x="5943600" y="310975"/>
                <a:ext cx="2810448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4982555-4AED-4DD8-9AB0-E99E57F73E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310975"/>
                <a:ext cx="2810448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35667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 descr="05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914400" y="2618058"/>
            <a:ext cx="6551676" cy="408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Pascal’s Triangle (1641) 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43000"/>
                <a:ext cx="8686800" cy="5105400"/>
              </a:xfrm>
            </p:spPr>
            <p:txBody>
              <a:bodyPr/>
              <a:lstStyle/>
              <a:p>
                <a:r>
                  <a:rPr lang="en-US" altLang="zh-CN" sz="2000" b="1" dirty="0">
                    <a:solidFill>
                      <a:srgbClr val="0000FF"/>
                    </a:solidFill>
                  </a:rPr>
                  <a:t>Corollary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Pascal's identity, together with the initial conditions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000" dirty="0"/>
                  <a:t> for all integers </a:t>
                </a:r>
                <a:r>
                  <a:rPr lang="en-US" altLang="zh-CN" sz="2000" i="1" dirty="0"/>
                  <a:t>n</a:t>
                </a:r>
                <a:r>
                  <a:rPr lang="en-US" altLang="zh-CN" sz="2000" dirty="0"/>
                  <a:t>, can be used to give a geometric arrangement of the binomial coefficients in a triangle, called Pascal's triangle, as follows: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algn="just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43000"/>
                <a:ext cx="8686800" cy="5105400"/>
              </a:xfrm>
              <a:blipFill rotWithShape="0">
                <a:blip r:embed="rId3"/>
                <a:stretch>
                  <a:fillRect l="-702" t="-717" r="-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6" name="Picture 5" descr="051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440183" y="2895600"/>
            <a:ext cx="1184245" cy="1371600"/>
          </a:xfrm>
          <a:prstGeom prst="rect">
            <a:avLst/>
          </a:prstGeom>
        </p:spPr>
      </p:pic>
      <p:sp>
        <p:nvSpPr>
          <p:cNvPr id="4" name="Triangle 3">
            <a:extLst>
              <a:ext uri="{FF2B5EF4-FFF2-40B4-BE49-F238E27FC236}">
                <a16:creationId xmlns:a16="http://schemas.microsoft.com/office/drawing/2014/main" id="{B4E2BAD6-F630-144D-ADB9-5B1D403225BE}"/>
              </a:ext>
            </a:extLst>
          </p:cNvPr>
          <p:cNvSpPr/>
          <p:nvPr/>
        </p:nvSpPr>
        <p:spPr bwMode="auto">
          <a:xfrm>
            <a:off x="1219200" y="3124200"/>
            <a:ext cx="2667000" cy="2961904"/>
          </a:xfrm>
          <a:prstGeom prst="triangle">
            <a:avLst>
              <a:gd name="adj" fmla="val 51744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44C32D41-F35F-F44F-B641-A28BFEC44983}"/>
              </a:ext>
            </a:extLst>
          </p:cNvPr>
          <p:cNvSpPr/>
          <p:nvPr/>
        </p:nvSpPr>
        <p:spPr bwMode="auto">
          <a:xfrm>
            <a:off x="4876800" y="3180877"/>
            <a:ext cx="2514600" cy="2961904"/>
          </a:xfrm>
          <a:prstGeom prst="triangle">
            <a:avLst>
              <a:gd name="adj" fmla="val 51744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AAFE3A-6947-0644-A2D5-CE753716C915}"/>
              </a:ext>
            </a:extLst>
          </p:cNvPr>
          <p:cNvSpPr/>
          <p:nvPr/>
        </p:nvSpPr>
        <p:spPr bwMode="auto">
          <a:xfrm>
            <a:off x="1790700" y="6086103"/>
            <a:ext cx="4608576" cy="31469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D91487-63E2-3F43-91D2-A6CED0791A8A}"/>
              </a:ext>
            </a:extLst>
          </p:cNvPr>
          <p:cNvSpPr/>
          <p:nvPr/>
        </p:nvSpPr>
        <p:spPr bwMode="auto">
          <a:xfrm>
            <a:off x="3657600" y="3352800"/>
            <a:ext cx="1524000" cy="9144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262E369-ABC0-48CE-9ADA-73BC9BF5267D}"/>
                  </a:ext>
                </a:extLst>
              </p:cNvPr>
              <p:cNvSpPr/>
              <p:nvPr/>
            </p:nvSpPr>
            <p:spPr>
              <a:xfrm>
                <a:off x="5943600" y="310975"/>
                <a:ext cx="2810448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262E369-ABC0-48CE-9ADA-73BC9BF526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310975"/>
                <a:ext cx="2810448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76975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 descr="05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914400" y="2618058"/>
            <a:ext cx="6551676" cy="408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Pascal’s Triangle (1641) 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43000"/>
                <a:ext cx="8686800" cy="5105400"/>
              </a:xfrm>
            </p:spPr>
            <p:txBody>
              <a:bodyPr/>
              <a:lstStyle/>
              <a:p>
                <a:r>
                  <a:rPr lang="en-US" altLang="zh-CN" sz="2000" b="1" dirty="0">
                    <a:solidFill>
                      <a:srgbClr val="0000FF"/>
                    </a:solidFill>
                  </a:rPr>
                  <a:t>Corollary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Pascal's identity, together with the initial conditions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000" dirty="0"/>
                  <a:t> for all integers </a:t>
                </a:r>
                <a:r>
                  <a:rPr lang="en-US" altLang="zh-CN" sz="2000" i="1" dirty="0"/>
                  <a:t>n</a:t>
                </a:r>
                <a:r>
                  <a:rPr lang="en-US" altLang="zh-CN" sz="2000" dirty="0"/>
                  <a:t>, can be used to give a geometric arrangement of the binomial coefficients in a triangle, called Pascal's triangle, as follows: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algn="just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43000"/>
                <a:ext cx="8686800" cy="5105400"/>
              </a:xfrm>
              <a:blipFill rotWithShape="0">
                <a:blip r:embed="rId3"/>
                <a:stretch>
                  <a:fillRect l="-702" t="-717" r="-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6" name="Picture 5" descr="051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440183" y="2895600"/>
            <a:ext cx="1184245" cy="13716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FAAFE3A-6947-0644-A2D5-CE753716C915}"/>
              </a:ext>
            </a:extLst>
          </p:cNvPr>
          <p:cNvSpPr/>
          <p:nvPr/>
        </p:nvSpPr>
        <p:spPr bwMode="auto">
          <a:xfrm>
            <a:off x="1790700" y="6086103"/>
            <a:ext cx="4608576" cy="31469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D91487-63E2-3F43-91D2-A6CED0791A8A}"/>
              </a:ext>
            </a:extLst>
          </p:cNvPr>
          <p:cNvSpPr/>
          <p:nvPr/>
        </p:nvSpPr>
        <p:spPr bwMode="auto">
          <a:xfrm>
            <a:off x="3657600" y="3352800"/>
            <a:ext cx="1524000" cy="9144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DF0E2E66-D075-C240-9B1B-7DD722BCC922}"/>
              </a:ext>
            </a:extLst>
          </p:cNvPr>
          <p:cNvSpPr/>
          <p:nvPr/>
        </p:nvSpPr>
        <p:spPr bwMode="auto">
          <a:xfrm>
            <a:off x="1219200" y="3505200"/>
            <a:ext cx="1676400" cy="2619004"/>
          </a:xfrm>
          <a:prstGeom prst="triangle">
            <a:avLst>
              <a:gd name="adj" fmla="val 7266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73D3C8A1-C85E-264B-B409-C075E15991CA}"/>
              </a:ext>
            </a:extLst>
          </p:cNvPr>
          <p:cNvSpPr/>
          <p:nvPr/>
        </p:nvSpPr>
        <p:spPr bwMode="auto">
          <a:xfrm>
            <a:off x="2209800" y="3467099"/>
            <a:ext cx="1676400" cy="2619004"/>
          </a:xfrm>
          <a:prstGeom prst="triangle">
            <a:avLst>
              <a:gd name="adj" fmla="val 31570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F6955B-3874-8645-9F38-7561643433D8}"/>
              </a:ext>
            </a:extLst>
          </p:cNvPr>
          <p:cNvSpPr/>
          <p:nvPr/>
        </p:nvSpPr>
        <p:spPr bwMode="auto">
          <a:xfrm>
            <a:off x="2284476" y="3768247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7E46EAB7-EB17-EF49-8522-5ACBDB34A5F9}"/>
              </a:ext>
            </a:extLst>
          </p:cNvPr>
          <p:cNvSpPr/>
          <p:nvPr/>
        </p:nvSpPr>
        <p:spPr bwMode="auto">
          <a:xfrm>
            <a:off x="4876800" y="3180877"/>
            <a:ext cx="2514600" cy="2961904"/>
          </a:xfrm>
          <a:prstGeom prst="triangle">
            <a:avLst>
              <a:gd name="adj" fmla="val 51744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E81E078-3DAB-45BF-BF42-485C51E297D9}"/>
                  </a:ext>
                </a:extLst>
              </p:cNvPr>
              <p:cNvSpPr/>
              <p:nvPr/>
            </p:nvSpPr>
            <p:spPr>
              <a:xfrm>
                <a:off x="5943600" y="310975"/>
                <a:ext cx="2810448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E81E078-3DAB-45BF-BF42-485C51E297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310975"/>
                <a:ext cx="2810448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0745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 descr="05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914400" y="2618058"/>
            <a:ext cx="6551676" cy="408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Pascal’s Triangle (1641) 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43000"/>
                <a:ext cx="8686800" cy="5105400"/>
              </a:xfrm>
            </p:spPr>
            <p:txBody>
              <a:bodyPr/>
              <a:lstStyle/>
              <a:p>
                <a:r>
                  <a:rPr lang="en-US" altLang="zh-CN" sz="2000" b="1" dirty="0">
                    <a:solidFill>
                      <a:srgbClr val="0000FF"/>
                    </a:solidFill>
                  </a:rPr>
                  <a:t>Corollary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Pascal's identity, together with the initial conditions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000" dirty="0"/>
                  <a:t> for all integers </a:t>
                </a:r>
                <a:r>
                  <a:rPr lang="en-US" altLang="zh-CN" sz="2000" i="1" dirty="0"/>
                  <a:t>n</a:t>
                </a:r>
                <a:r>
                  <a:rPr lang="en-US" altLang="zh-CN" sz="2000" dirty="0"/>
                  <a:t>, can be used to give a geometric arrangement of the binomial coefficients in a triangle, called Pascal's triangle, as follows: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algn="just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43000"/>
                <a:ext cx="8686800" cy="5105400"/>
              </a:xfrm>
              <a:blipFill rotWithShape="0">
                <a:blip r:embed="rId3"/>
                <a:stretch>
                  <a:fillRect l="-702" t="-717" r="-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6" name="Picture 5" descr="051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440183" y="2895600"/>
            <a:ext cx="1184245" cy="13716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FAAFE3A-6947-0644-A2D5-CE753716C915}"/>
              </a:ext>
            </a:extLst>
          </p:cNvPr>
          <p:cNvSpPr/>
          <p:nvPr/>
        </p:nvSpPr>
        <p:spPr bwMode="auto">
          <a:xfrm>
            <a:off x="1790700" y="6086103"/>
            <a:ext cx="4608576" cy="31469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D91487-63E2-3F43-91D2-A6CED0791A8A}"/>
              </a:ext>
            </a:extLst>
          </p:cNvPr>
          <p:cNvSpPr/>
          <p:nvPr/>
        </p:nvSpPr>
        <p:spPr bwMode="auto">
          <a:xfrm>
            <a:off x="3657600" y="3352800"/>
            <a:ext cx="1524000" cy="9144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DF0E2E66-D075-C240-9B1B-7DD722BCC922}"/>
              </a:ext>
            </a:extLst>
          </p:cNvPr>
          <p:cNvSpPr/>
          <p:nvPr/>
        </p:nvSpPr>
        <p:spPr bwMode="auto">
          <a:xfrm>
            <a:off x="1219200" y="3505200"/>
            <a:ext cx="1676400" cy="2619004"/>
          </a:xfrm>
          <a:prstGeom prst="triangle">
            <a:avLst>
              <a:gd name="adj" fmla="val 7266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73D3C8A1-C85E-264B-B409-C075E15991CA}"/>
              </a:ext>
            </a:extLst>
          </p:cNvPr>
          <p:cNvSpPr/>
          <p:nvPr/>
        </p:nvSpPr>
        <p:spPr bwMode="auto">
          <a:xfrm>
            <a:off x="2209800" y="3467099"/>
            <a:ext cx="1676400" cy="2619004"/>
          </a:xfrm>
          <a:prstGeom prst="triangle">
            <a:avLst>
              <a:gd name="adj" fmla="val 31570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F6955B-3874-8645-9F38-7561643433D8}"/>
              </a:ext>
            </a:extLst>
          </p:cNvPr>
          <p:cNvSpPr/>
          <p:nvPr/>
        </p:nvSpPr>
        <p:spPr bwMode="auto">
          <a:xfrm>
            <a:off x="2284476" y="3768247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818C687D-912A-FF40-A079-10541648415E}"/>
              </a:ext>
            </a:extLst>
          </p:cNvPr>
          <p:cNvSpPr/>
          <p:nvPr/>
        </p:nvSpPr>
        <p:spPr bwMode="auto">
          <a:xfrm>
            <a:off x="5105400" y="3609604"/>
            <a:ext cx="1127648" cy="2461884"/>
          </a:xfrm>
          <a:prstGeom prst="triangle">
            <a:avLst>
              <a:gd name="adj" fmla="val 83774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816B6A65-5C3D-B34F-A612-50DDC77C86A1}"/>
              </a:ext>
            </a:extLst>
          </p:cNvPr>
          <p:cNvSpPr/>
          <p:nvPr/>
        </p:nvSpPr>
        <p:spPr bwMode="auto">
          <a:xfrm>
            <a:off x="6111352" y="3609604"/>
            <a:ext cx="1127648" cy="2438400"/>
          </a:xfrm>
          <a:prstGeom prst="triangle">
            <a:avLst>
              <a:gd name="adj" fmla="val 888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350ECE-733C-AB4F-9FFA-98CCD31419D2}"/>
              </a:ext>
            </a:extLst>
          </p:cNvPr>
          <p:cNvSpPr/>
          <p:nvPr/>
        </p:nvSpPr>
        <p:spPr bwMode="auto">
          <a:xfrm>
            <a:off x="6019616" y="4118222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8E22A00-E95B-43CA-85DF-4516ADE4AAA9}"/>
                  </a:ext>
                </a:extLst>
              </p:cNvPr>
              <p:cNvSpPr/>
              <p:nvPr/>
            </p:nvSpPr>
            <p:spPr>
              <a:xfrm>
                <a:off x="5943600" y="310975"/>
                <a:ext cx="2810448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8E22A00-E95B-43CA-85DF-4516ADE4AA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310975"/>
                <a:ext cx="2810448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11339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 descr="05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914400" y="2618058"/>
            <a:ext cx="6551676" cy="408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Pascal’s Triangle (1641) 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43000"/>
                <a:ext cx="8686800" cy="5105400"/>
              </a:xfrm>
            </p:spPr>
            <p:txBody>
              <a:bodyPr/>
              <a:lstStyle/>
              <a:p>
                <a:r>
                  <a:rPr lang="en-US" altLang="zh-CN" sz="2000" b="1" dirty="0">
                    <a:solidFill>
                      <a:srgbClr val="0000FF"/>
                    </a:solidFill>
                  </a:rPr>
                  <a:t>Corollary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Pascal's identity, together with the initial conditions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000" dirty="0"/>
                  <a:t> for all integers </a:t>
                </a:r>
                <a:r>
                  <a:rPr lang="en-US" altLang="zh-CN" sz="2000" i="1" dirty="0"/>
                  <a:t>n</a:t>
                </a:r>
                <a:r>
                  <a:rPr lang="en-US" altLang="zh-CN" sz="2000" dirty="0"/>
                  <a:t>, can be used to give a geometric arrangement of the binomial coefficients in a triangle, called Pascal's triangle, as follows: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algn="just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43000"/>
                <a:ext cx="8686800" cy="5105400"/>
              </a:xfrm>
              <a:blipFill rotWithShape="0">
                <a:blip r:embed="rId3"/>
                <a:stretch>
                  <a:fillRect l="-702" t="-717" r="-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6" name="Picture 5" descr="051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440183" y="2895600"/>
            <a:ext cx="1184245" cy="13716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FAAFE3A-6947-0644-A2D5-CE753716C915}"/>
              </a:ext>
            </a:extLst>
          </p:cNvPr>
          <p:cNvSpPr/>
          <p:nvPr/>
        </p:nvSpPr>
        <p:spPr bwMode="auto">
          <a:xfrm>
            <a:off x="1790700" y="6086103"/>
            <a:ext cx="4608576" cy="31469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D91487-63E2-3F43-91D2-A6CED0791A8A}"/>
              </a:ext>
            </a:extLst>
          </p:cNvPr>
          <p:cNvSpPr/>
          <p:nvPr/>
        </p:nvSpPr>
        <p:spPr bwMode="auto">
          <a:xfrm>
            <a:off x="3657600" y="3352800"/>
            <a:ext cx="1524000" cy="9144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DF0E2E66-D075-C240-9B1B-7DD722BCC922}"/>
              </a:ext>
            </a:extLst>
          </p:cNvPr>
          <p:cNvSpPr/>
          <p:nvPr/>
        </p:nvSpPr>
        <p:spPr bwMode="auto">
          <a:xfrm>
            <a:off x="1219200" y="4118222"/>
            <a:ext cx="2360676" cy="2005982"/>
          </a:xfrm>
          <a:prstGeom prst="triangle">
            <a:avLst>
              <a:gd name="adj" fmla="val 39129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818C687D-912A-FF40-A079-10541648415E}"/>
              </a:ext>
            </a:extLst>
          </p:cNvPr>
          <p:cNvSpPr/>
          <p:nvPr/>
        </p:nvSpPr>
        <p:spPr bwMode="auto">
          <a:xfrm>
            <a:off x="5105400" y="3609604"/>
            <a:ext cx="1127648" cy="2461884"/>
          </a:xfrm>
          <a:prstGeom prst="triangle">
            <a:avLst>
              <a:gd name="adj" fmla="val 83774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816B6A65-5C3D-B34F-A612-50DDC77C86A1}"/>
              </a:ext>
            </a:extLst>
          </p:cNvPr>
          <p:cNvSpPr/>
          <p:nvPr/>
        </p:nvSpPr>
        <p:spPr bwMode="auto">
          <a:xfrm>
            <a:off x="6111352" y="3609604"/>
            <a:ext cx="1127648" cy="2438400"/>
          </a:xfrm>
          <a:prstGeom prst="triangle">
            <a:avLst>
              <a:gd name="adj" fmla="val 888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350ECE-733C-AB4F-9FFA-98CCD31419D2}"/>
              </a:ext>
            </a:extLst>
          </p:cNvPr>
          <p:cNvSpPr/>
          <p:nvPr/>
        </p:nvSpPr>
        <p:spPr bwMode="auto">
          <a:xfrm>
            <a:off x="6019616" y="4118222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113D3578-1FF2-C24E-B1A2-4DB587AC6FA6}"/>
              </a:ext>
            </a:extLst>
          </p:cNvPr>
          <p:cNvSpPr/>
          <p:nvPr/>
        </p:nvSpPr>
        <p:spPr bwMode="auto">
          <a:xfrm>
            <a:off x="1525524" y="4061072"/>
            <a:ext cx="2360676" cy="2005982"/>
          </a:xfrm>
          <a:prstGeom prst="triangle">
            <a:avLst>
              <a:gd name="adj" fmla="val 6247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7A09CD-43B0-F94F-A944-95AEFFE1B330}"/>
              </a:ext>
            </a:extLst>
          </p:cNvPr>
          <p:cNvSpPr/>
          <p:nvPr/>
        </p:nvSpPr>
        <p:spPr bwMode="auto">
          <a:xfrm>
            <a:off x="2208276" y="4102347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54F4853-1449-44DB-ADED-4A1794CF712D}"/>
                  </a:ext>
                </a:extLst>
              </p:cNvPr>
              <p:cNvSpPr/>
              <p:nvPr/>
            </p:nvSpPr>
            <p:spPr>
              <a:xfrm>
                <a:off x="5943600" y="310975"/>
                <a:ext cx="2810448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54F4853-1449-44DB-ADED-4A1794CF71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310975"/>
                <a:ext cx="2810448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00854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 descr="05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908340" y="2618058"/>
            <a:ext cx="6551676" cy="408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Pascal’s Triangle (1641) 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43000"/>
                <a:ext cx="8686800" cy="5105400"/>
              </a:xfrm>
            </p:spPr>
            <p:txBody>
              <a:bodyPr/>
              <a:lstStyle/>
              <a:p>
                <a:r>
                  <a:rPr lang="en-US" altLang="zh-CN" sz="2000" b="1" dirty="0">
                    <a:solidFill>
                      <a:srgbClr val="0000FF"/>
                    </a:solidFill>
                  </a:rPr>
                  <a:t>Corollary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Pascal's identity, together with the initial conditions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000" dirty="0"/>
                  <a:t> for all integers </a:t>
                </a:r>
                <a:r>
                  <a:rPr lang="en-US" altLang="zh-CN" sz="2000" i="1" dirty="0"/>
                  <a:t>n</a:t>
                </a:r>
                <a:r>
                  <a:rPr lang="en-US" altLang="zh-CN" sz="2000" dirty="0"/>
                  <a:t>, can be used to give a geometric arrangement of the binomial coefficients in a triangle, called Pascal's triangle, as follows: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algn="just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43000"/>
                <a:ext cx="8686800" cy="5105400"/>
              </a:xfrm>
              <a:blipFill rotWithShape="0">
                <a:blip r:embed="rId3"/>
                <a:stretch>
                  <a:fillRect l="-702" t="-717" r="-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6" name="Picture 5" descr="051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440183" y="2895600"/>
            <a:ext cx="1184245" cy="13716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FAAFE3A-6947-0644-A2D5-CE753716C915}"/>
              </a:ext>
            </a:extLst>
          </p:cNvPr>
          <p:cNvSpPr/>
          <p:nvPr/>
        </p:nvSpPr>
        <p:spPr bwMode="auto">
          <a:xfrm>
            <a:off x="1790700" y="6121811"/>
            <a:ext cx="4608576" cy="31469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D91487-63E2-3F43-91D2-A6CED0791A8A}"/>
              </a:ext>
            </a:extLst>
          </p:cNvPr>
          <p:cNvSpPr/>
          <p:nvPr/>
        </p:nvSpPr>
        <p:spPr bwMode="auto">
          <a:xfrm>
            <a:off x="3657600" y="3388508"/>
            <a:ext cx="1524000" cy="9144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DF0E2E66-D075-C240-9B1B-7DD722BCC922}"/>
              </a:ext>
            </a:extLst>
          </p:cNvPr>
          <p:cNvSpPr/>
          <p:nvPr/>
        </p:nvSpPr>
        <p:spPr bwMode="auto">
          <a:xfrm>
            <a:off x="1143000" y="4153930"/>
            <a:ext cx="2514600" cy="2005982"/>
          </a:xfrm>
          <a:prstGeom prst="triangle">
            <a:avLst>
              <a:gd name="adj" fmla="val 39129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818C687D-912A-FF40-A079-10541648415E}"/>
              </a:ext>
            </a:extLst>
          </p:cNvPr>
          <p:cNvSpPr/>
          <p:nvPr/>
        </p:nvSpPr>
        <p:spPr bwMode="auto">
          <a:xfrm>
            <a:off x="5105400" y="3921908"/>
            <a:ext cx="1127648" cy="2185288"/>
          </a:xfrm>
          <a:prstGeom prst="triangle">
            <a:avLst>
              <a:gd name="adj" fmla="val 69334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350ECE-733C-AB4F-9FFA-98CCD31419D2}"/>
              </a:ext>
            </a:extLst>
          </p:cNvPr>
          <p:cNvSpPr/>
          <p:nvPr/>
        </p:nvSpPr>
        <p:spPr bwMode="auto">
          <a:xfrm>
            <a:off x="6019616" y="4153930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113D3578-1FF2-C24E-B1A2-4DB587AC6FA6}"/>
              </a:ext>
            </a:extLst>
          </p:cNvPr>
          <p:cNvSpPr/>
          <p:nvPr/>
        </p:nvSpPr>
        <p:spPr bwMode="auto">
          <a:xfrm>
            <a:off x="1399017" y="4096780"/>
            <a:ext cx="2563383" cy="2005982"/>
          </a:xfrm>
          <a:prstGeom prst="triangle">
            <a:avLst>
              <a:gd name="adj" fmla="val 6247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7A09CD-43B0-F94F-A944-95AEFFE1B330}"/>
              </a:ext>
            </a:extLst>
          </p:cNvPr>
          <p:cNvSpPr/>
          <p:nvPr/>
        </p:nvSpPr>
        <p:spPr bwMode="auto">
          <a:xfrm>
            <a:off x="2208276" y="4138055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riangle 19">
            <a:extLst>
              <a:ext uri="{FF2B5EF4-FFF2-40B4-BE49-F238E27FC236}">
                <a16:creationId xmlns:a16="http://schemas.microsoft.com/office/drawing/2014/main" id="{7EFC7431-6697-644D-8459-193A7C565E32}"/>
              </a:ext>
            </a:extLst>
          </p:cNvPr>
          <p:cNvSpPr/>
          <p:nvPr/>
        </p:nvSpPr>
        <p:spPr bwMode="auto">
          <a:xfrm>
            <a:off x="6109828" y="3878067"/>
            <a:ext cx="1129172" cy="2185288"/>
          </a:xfrm>
          <a:prstGeom prst="triangle">
            <a:avLst>
              <a:gd name="adj" fmla="val 315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E6237B-1646-FC4E-AEA0-195DEA05452B}"/>
              </a:ext>
            </a:extLst>
          </p:cNvPr>
          <p:cNvSpPr/>
          <p:nvPr/>
        </p:nvSpPr>
        <p:spPr bwMode="auto">
          <a:xfrm>
            <a:off x="5924396" y="4607708"/>
            <a:ext cx="534924" cy="65222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1C03B20-EB6E-459B-B45B-396AB9B15C5D}"/>
                  </a:ext>
                </a:extLst>
              </p:cNvPr>
              <p:cNvSpPr/>
              <p:nvPr/>
            </p:nvSpPr>
            <p:spPr>
              <a:xfrm>
                <a:off x="5943600" y="310975"/>
                <a:ext cx="2810448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1C03B20-EB6E-459B-B45B-396AB9B15C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310975"/>
                <a:ext cx="2810448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56670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 descr="05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914400" y="2618058"/>
            <a:ext cx="6551676" cy="408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Pascal’s Triangle (1641) 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43000"/>
                <a:ext cx="8686800" cy="5105400"/>
              </a:xfrm>
            </p:spPr>
            <p:txBody>
              <a:bodyPr/>
              <a:lstStyle/>
              <a:p>
                <a:r>
                  <a:rPr lang="en-US" altLang="zh-CN" sz="2000" b="1" dirty="0">
                    <a:solidFill>
                      <a:srgbClr val="0000FF"/>
                    </a:solidFill>
                  </a:rPr>
                  <a:t>Corollary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Pascal's identity, together with the initial conditions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000" dirty="0"/>
                  <a:t> for all integers </a:t>
                </a:r>
                <a:r>
                  <a:rPr lang="en-US" altLang="zh-CN" sz="2000" i="1" dirty="0"/>
                  <a:t>n</a:t>
                </a:r>
                <a:r>
                  <a:rPr lang="en-US" altLang="zh-CN" sz="2000" dirty="0"/>
                  <a:t>, can be used to give a geometric arrangement of the binomial coefficients in a triangle, called Pascal's triangle, as follows: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algn="just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43000"/>
                <a:ext cx="8686800" cy="5105400"/>
              </a:xfrm>
              <a:blipFill rotWithShape="0">
                <a:blip r:embed="rId3"/>
                <a:stretch>
                  <a:fillRect l="-702" t="-717" r="-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6" name="Picture 5" descr="051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440183" y="2895600"/>
            <a:ext cx="1184245" cy="1371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C46AAA0-54C0-4B6A-8A36-7458F3D2B808}"/>
                  </a:ext>
                </a:extLst>
              </p:cNvPr>
              <p:cNvSpPr/>
              <p:nvPr/>
            </p:nvSpPr>
            <p:spPr>
              <a:xfrm>
                <a:off x="5943600" y="310975"/>
                <a:ext cx="2810448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C46AAA0-54C0-4B6A-8A36-7458F3D2B8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310975"/>
                <a:ext cx="2810448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60195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Pascal’s Triangle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1026" name="Picture 2" descr="File:Yanghui triangl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143000"/>
            <a:ext cx="2765394" cy="430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25497" y="5693157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Yang Hui triangle (12??)</a:t>
            </a:r>
          </a:p>
        </p:txBody>
      </p:sp>
      <p:pic>
        <p:nvPicPr>
          <p:cNvPr id="1028" name="Picture 4" descr="File:Pascal's triangle pathways.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026" y="1219200"/>
            <a:ext cx="3670347" cy="3670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457259" y="5118146"/>
            <a:ext cx="4305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The numbers of distinct paths to each square by a rook, when only rightward and downward movements are considered.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11D749-3E26-D445-9472-44C3D357CDE1}"/>
              </a:ext>
            </a:extLst>
          </p:cNvPr>
          <p:cNvSpPr/>
          <p:nvPr/>
        </p:nvSpPr>
        <p:spPr bwMode="auto">
          <a:xfrm>
            <a:off x="5867400" y="1447800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47FB4-1931-034B-9E28-6628C6770852}"/>
              </a:ext>
            </a:extLst>
          </p:cNvPr>
          <p:cNvSpPr/>
          <p:nvPr/>
        </p:nvSpPr>
        <p:spPr bwMode="auto">
          <a:xfrm>
            <a:off x="6797732" y="1371600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44D43A-55B5-8841-B79D-9953AEB7C015}"/>
              </a:ext>
            </a:extLst>
          </p:cNvPr>
          <p:cNvSpPr/>
          <p:nvPr/>
        </p:nvSpPr>
        <p:spPr bwMode="auto">
          <a:xfrm>
            <a:off x="7759764" y="1441421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E3B04A-3957-2D46-9A7D-A2BF37BCD259}"/>
              </a:ext>
            </a:extLst>
          </p:cNvPr>
          <p:cNvSpPr/>
          <p:nvPr/>
        </p:nvSpPr>
        <p:spPr bwMode="auto">
          <a:xfrm>
            <a:off x="7627307" y="2268712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02B030-F214-1F41-8F93-DD2D1F393A8A}"/>
              </a:ext>
            </a:extLst>
          </p:cNvPr>
          <p:cNvSpPr/>
          <p:nvPr/>
        </p:nvSpPr>
        <p:spPr bwMode="auto">
          <a:xfrm>
            <a:off x="6706562" y="2362200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65134E-04E9-B148-94B8-643712A74420}"/>
              </a:ext>
            </a:extLst>
          </p:cNvPr>
          <p:cNvSpPr/>
          <p:nvPr/>
        </p:nvSpPr>
        <p:spPr bwMode="auto">
          <a:xfrm>
            <a:off x="5785817" y="2354481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0146D4-E66A-1A4D-A44B-332A14948177}"/>
              </a:ext>
            </a:extLst>
          </p:cNvPr>
          <p:cNvSpPr/>
          <p:nvPr/>
        </p:nvSpPr>
        <p:spPr bwMode="auto">
          <a:xfrm>
            <a:off x="4984460" y="2364213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44B16C-27AB-B64F-B212-8DB10A5174A6}"/>
              </a:ext>
            </a:extLst>
          </p:cNvPr>
          <p:cNvSpPr/>
          <p:nvPr/>
        </p:nvSpPr>
        <p:spPr bwMode="auto">
          <a:xfrm>
            <a:off x="5785817" y="3296274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CFD260-0613-7A4C-B0EE-CB9D1E4EFDB6}"/>
              </a:ext>
            </a:extLst>
          </p:cNvPr>
          <p:cNvSpPr/>
          <p:nvPr/>
        </p:nvSpPr>
        <p:spPr bwMode="auto">
          <a:xfrm>
            <a:off x="4984460" y="3282504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43E10C-C7BC-204A-AA70-428C333D6A30}"/>
              </a:ext>
            </a:extLst>
          </p:cNvPr>
          <p:cNvSpPr/>
          <p:nvPr/>
        </p:nvSpPr>
        <p:spPr bwMode="auto">
          <a:xfrm>
            <a:off x="4984460" y="4145049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99403D-DDD4-A84D-A6B8-2319E92840AE}"/>
              </a:ext>
            </a:extLst>
          </p:cNvPr>
          <p:cNvSpPr/>
          <p:nvPr/>
        </p:nvSpPr>
        <p:spPr bwMode="auto">
          <a:xfrm>
            <a:off x="5867400" y="4145049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63E373-8AE7-DA4E-B3D2-2E26EFA0B3B4}"/>
              </a:ext>
            </a:extLst>
          </p:cNvPr>
          <p:cNvSpPr/>
          <p:nvPr/>
        </p:nvSpPr>
        <p:spPr bwMode="auto">
          <a:xfrm>
            <a:off x="6747849" y="3261806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6D67F1-D6AE-494E-AD2F-95C1C711568F}"/>
              </a:ext>
            </a:extLst>
          </p:cNvPr>
          <p:cNvSpPr/>
          <p:nvPr/>
        </p:nvSpPr>
        <p:spPr bwMode="auto">
          <a:xfrm>
            <a:off x="6705600" y="4136877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D708E9-D004-C848-AB6C-8BCAC9DC645A}"/>
              </a:ext>
            </a:extLst>
          </p:cNvPr>
          <p:cNvSpPr/>
          <p:nvPr/>
        </p:nvSpPr>
        <p:spPr bwMode="auto">
          <a:xfrm>
            <a:off x="7543800" y="3200400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D05AB8-1D11-BD4E-AAAD-189113D9F0E4}"/>
              </a:ext>
            </a:extLst>
          </p:cNvPr>
          <p:cNvSpPr/>
          <p:nvPr/>
        </p:nvSpPr>
        <p:spPr bwMode="auto">
          <a:xfrm>
            <a:off x="7599427" y="4114800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X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D6D649-80DB-254E-9D14-8490BE498676}"/>
              </a:ext>
            </a:extLst>
          </p:cNvPr>
          <p:cNvSpPr/>
          <p:nvPr/>
        </p:nvSpPr>
        <p:spPr bwMode="auto">
          <a:xfrm>
            <a:off x="7627307" y="3257492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308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Pascal’s Triangle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1026" name="Picture 2" descr="File:Yanghui triangl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143000"/>
            <a:ext cx="2765394" cy="430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25497" y="5693157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Yang Hui triangle (12??)</a:t>
            </a:r>
          </a:p>
        </p:txBody>
      </p:sp>
      <p:pic>
        <p:nvPicPr>
          <p:cNvPr id="1028" name="Picture 4" descr="File:Pascal's triangle pathways.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026" y="1219200"/>
            <a:ext cx="3670347" cy="3670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457259" y="5118146"/>
            <a:ext cx="4305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The numbers of distinct paths to each square by a rook, when only rightward and downward movements are considered.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47FB4-1931-034B-9E28-6628C6770852}"/>
              </a:ext>
            </a:extLst>
          </p:cNvPr>
          <p:cNvSpPr/>
          <p:nvPr/>
        </p:nvSpPr>
        <p:spPr bwMode="auto">
          <a:xfrm>
            <a:off x="6797732" y="1371600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44D43A-55B5-8841-B79D-9953AEB7C015}"/>
              </a:ext>
            </a:extLst>
          </p:cNvPr>
          <p:cNvSpPr/>
          <p:nvPr/>
        </p:nvSpPr>
        <p:spPr bwMode="auto">
          <a:xfrm>
            <a:off x="7759764" y="1441421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E3B04A-3957-2D46-9A7D-A2BF37BCD259}"/>
              </a:ext>
            </a:extLst>
          </p:cNvPr>
          <p:cNvSpPr/>
          <p:nvPr/>
        </p:nvSpPr>
        <p:spPr bwMode="auto">
          <a:xfrm>
            <a:off x="7627307" y="2268712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02B030-F214-1F41-8F93-DD2D1F393A8A}"/>
              </a:ext>
            </a:extLst>
          </p:cNvPr>
          <p:cNvSpPr/>
          <p:nvPr/>
        </p:nvSpPr>
        <p:spPr bwMode="auto">
          <a:xfrm>
            <a:off x="6706562" y="2362200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65134E-04E9-B148-94B8-643712A74420}"/>
              </a:ext>
            </a:extLst>
          </p:cNvPr>
          <p:cNvSpPr/>
          <p:nvPr/>
        </p:nvSpPr>
        <p:spPr bwMode="auto">
          <a:xfrm>
            <a:off x="5785817" y="2354481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44B16C-27AB-B64F-B212-8DB10A5174A6}"/>
              </a:ext>
            </a:extLst>
          </p:cNvPr>
          <p:cNvSpPr/>
          <p:nvPr/>
        </p:nvSpPr>
        <p:spPr bwMode="auto">
          <a:xfrm>
            <a:off x="5785817" y="3296274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CFD260-0613-7A4C-B0EE-CB9D1E4EFDB6}"/>
              </a:ext>
            </a:extLst>
          </p:cNvPr>
          <p:cNvSpPr/>
          <p:nvPr/>
        </p:nvSpPr>
        <p:spPr bwMode="auto">
          <a:xfrm>
            <a:off x="4984460" y="3282504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43E10C-C7BC-204A-AA70-428C333D6A30}"/>
              </a:ext>
            </a:extLst>
          </p:cNvPr>
          <p:cNvSpPr/>
          <p:nvPr/>
        </p:nvSpPr>
        <p:spPr bwMode="auto">
          <a:xfrm>
            <a:off x="4984460" y="4145049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99403D-DDD4-A84D-A6B8-2319E92840AE}"/>
              </a:ext>
            </a:extLst>
          </p:cNvPr>
          <p:cNvSpPr/>
          <p:nvPr/>
        </p:nvSpPr>
        <p:spPr bwMode="auto">
          <a:xfrm>
            <a:off x="5867400" y="4145049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63E373-8AE7-DA4E-B3D2-2E26EFA0B3B4}"/>
              </a:ext>
            </a:extLst>
          </p:cNvPr>
          <p:cNvSpPr/>
          <p:nvPr/>
        </p:nvSpPr>
        <p:spPr bwMode="auto">
          <a:xfrm>
            <a:off x="6747849" y="3261806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6D67F1-D6AE-494E-AD2F-95C1C711568F}"/>
              </a:ext>
            </a:extLst>
          </p:cNvPr>
          <p:cNvSpPr/>
          <p:nvPr/>
        </p:nvSpPr>
        <p:spPr bwMode="auto">
          <a:xfrm>
            <a:off x="6705600" y="4136877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D708E9-D004-C848-AB6C-8BCAC9DC645A}"/>
              </a:ext>
            </a:extLst>
          </p:cNvPr>
          <p:cNvSpPr/>
          <p:nvPr/>
        </p:nvSpPr>
        <p:spPr bwMode="auto">
          <a:xfrm>
            <a:off x="7543800" y="3200400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D05AB8-1D11-BD4E-AAAD-189113D9F0E4}"/>
              </a:ext>
            </a:extLst>
          </p:cNvPr>
          <p:cNvSpPr/>
          <p:nvPr/>
        </p:nvSpPr>
        <p:spPr bwMode="auto">
          <a:xfrm>
            <a:off x="7599427" y="4114800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X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D6D649-80DB-254E-9D14-8490BE498676}"/>
              </a:ext>
            </a:extLst>
          </p:cNvPr>
          <p:cNvSpPr/>
          <p:nvPr/>
        </p:nvSpPr>
        <p:spPr bwMode="auto">
          <a:xfrm>
            <a:off x="7627307" y="3257492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4908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Pascal’s Triangle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1026" name="Picture 2" descr="File:Yanghui triangl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143000"/>
            <a:ext cx="2765394" cy="430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25497" y="5693157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Yang Hui triangle (12??)</a:t>
            </a:r>
          </a:p>
        </p:txBody>
      </p:sp>
      <p:pic>
        <p:nvPicPr>
          <p:cNvPr id="1028" name="Picture 4" descr="File:Pascal's triangle pathways.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026" y="1219200"/>
            <a:ext cx="3670347" cy="3670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457259" y="5118146"/>
            <a:ext cx="4305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The numbers of distinct paths to each square by a rook, when only rightward and downward movements are considered.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44D43A-55B5-8841-B79D-9953AEB7C015}"/>
              </a:ext>
            </a:extLst>
          </p:cNvPr>
          <p:cNvSpPr/>
          <p:nvPr/>
        </p:nvSpPr>
        <p:spPr bwMode="auto">
          <a:xfrm>
            <a:off x="7759764" y="1441421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E3B04A-3957-2D46-9A7D-A2BF37BCD259}"/>
              </a:ext>
            </a:extLst>
          </p:cNvPr>
          <p:cNvSpPr/>
          <p:nvPr/>
        </p:nvSpPr>
        <p:spPr bwMode="auto">
          <a:xfrm>
            <a:off x="7627307" y="2268712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02B030-F214-1F41-8F93-DD2D1F393A8A}"/>
              </a:ext>
            </a:extLst>
          </p:cNvPr>
          <p:cNvSpPr/>
          <p:nvPr/>
        </p:nvSpPr>
        <p:spPr bwMode="auto">
          <a:xfrm>
            <a:off x="6706562" y="2362200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44B16C-27AB-B64F-B212-8DB10A5174A6}"/>
              </a:ext>
            </a:extLst>
          </p:cNvPr>
          <p:cNvSpPr/>
          <p:nvPr/>
        </p:nvSpPr>
        <p:spPr bwMode="auto">
          <a:xfrm>
            <a:off x="5785817" y="3296274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43E10C-C7BC-204A-AA70-428C333D6A30}"/>
              </a:ext>
            </a:extLst>
          </p:cNvPr>
          <p:cNvSpPr/>
          <p:nvPr/>
        </p:nvSpPr>
        <p:spPr bwMode="auto">
          <a:xfrm>
            <a:off x="4984460" y="4145049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99403D-DDD4-A84D-A6B8-2319E92840AE}"/>
              </a:ext>
            </a:extLst>
          </p:cNvPr>
          <p:cNvSpPr/>
          <p:nvPr/>
        </p:nvSpPr>
        <p:spPr bwMode="auto">
          <a:xfrm>
            <a:off x="5867400" y="4145049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63E373-8AE7-DA4E-B3D2-2E26EFA0B3B4}"/>
              </a:ext>
            </a:extLst>
          </p:cNvPr>
          <p:cNvSpPr/>
          <p:nvPr/>
        </p:nvSpPr>
        <p:spPr bwMode="auto">
          <a:xfrm>
            <a:off x="6747849" y="3261806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6D67F1-D6AE-494E-AD2F-95C1C711568F}"/>
              </a:ext>
            </a:extLst>
          </p:cNvPr>
          <p:cNvSpPr/>
          <p:nvPr/>
        </p:nvSpPr>
        <p:spPr bwMode="auto">
          <a:xfrm>
            <a:off x="6705600" y="4136877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D708E9-D004-C848-AB6C-8BCAC9DC645A}"/>
              </a:ext>
            </a:extLst>
          </p:cNvPr>
          <p:cNvSpPr/>
          <p:nvPr/>
        </p:nvSpPr>
        <p:spPr bwMode="auto">
          <a:xfrm>
            <a:off x="7543800" y="3200400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D05AB8-1D11-BD4E-AAAD-189113D9F0E4}"/>
              </a:ext>
            </a:extLst>
          </p:cNvPr>
          <p:cNvSpPr/>
          <p:nvPr/>
        </p:nvSpPr>
        <p:spPr bwMode="auto">
          <a:xfrm>
            <a:off x="7599427" y="4114800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X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D6D649-80DB-254E-9D14-8490BE498676}"/>
              </a:ext>
            </a:extLst>
          </p:cNvPr>
          <p:cNvSpPr/>
          <p:nvPr/>
        </p:nvSpPr>
        <p:spPr bwMode="auto">
          <a:xfrm>
            <a:off x="7627307" y="3257492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3075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Pascal’s Triangle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1026" name="Picture 2" descr="File:Yanghui triangl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143000"/>
            <a:ext cx="2765394" cy="430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25497" y="5693157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Yang Hui triangle (12??)</a:t>
            </a:r>
          </a:p>
        </p:txBody>
      </p:sp>
      <p:pic>
        <p:nvPicPr>
          <p:cNvPr id="1028" name="Picture 4" descr="File:Pascal's triangle pathways.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026" y="1219200"/>
            <a:ext cx="3670347" cy="3670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457259" y="5118146"/>
            <a:ext cx="4305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The numbers of distinct paths to each square by a rook, when only rightward and downward movements are considered.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E3B04A-3957-2D46-9A7D-A2BF37BCD259}"/>
              </a:ext>
            </a:extLst>
          </p:cNvPr>
          <p:cNvSpPr/>
          <p:nvPr/>
        </p:nvSpPr>
        <p:spPr bwMode="auto">
          <a:xfrm>
            <a:off x="7627307" y="2268712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99403D-DDD4-A84D-A6B8-2319E92840AE}"/>
              </a:ext>
            </a:extLst>
          </p:cNvPr>
          <p:cNvSpPr/>
          <p:nvPr/>
        </p:nvSpPr>
        <p:spPr bwMode="auto">
          <a:xfrm>
            <a:off x="5867400" y="4145049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63E373-8AE7-DA4E-B3D2-2E26EFA0B3B4}"/>
              </a:ext>
            </a:extLst>
          </p:cNvPr>
          <p:cNvSpPr/>
          <p:nvPr/>
        </p:nvSpPr>
        <p:spPr bwMode="auto">
          <a:xfrm>
            <a:off x="6747849" y="3261806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6D67F1-D6AE-494E-AD2F-95C1C711568F}"/>
              </a:ext>
            </a:extLst>
          </p:cNvPr>
          <p:cNvSpPr/>
          <p:nvPr/>
        </p:nvSpPr>
        <p:spPr bwMode="auto">
          <a:xfrm>
            <a:off x="6705600" y="4136877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D708E9-D004-C848-AB6C-8BCAC9DC645A}"/>
              </a:ext>
            </a:extLst>
          </p:cNvPr>
          <p:cNvSpPr/>
          <p:nvPr/>
        </p:nvSpPr>
        <p:spPr bwMode="auto">
          <a:xfrm>
            <a:off x="7543800" y="3200400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D05AB8-1D11-BD4E-AAAD-189113D9F0E4}"/>
              </a:ext>
            </a:extLst>
          </p:cNvPr>
          <p:cNvSpPr/>
          <p:nvPr/>
        </p:nvSpPr>
        <p:spPr bwMode="auto">
          <a:xfrm>
            <a:off x="7599427" y="4114800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X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D6D649-80DB-254E-9D14-8490BE498676}"/>
              </a:ext>
            </a:extLst>
          </p:cNvPr>
          <p:cNvSpPr/>
          <p:nvPr/>
        </p:nvSpPr>
        <p:spPr bwMode="auto">
          <a:xfrm>
            <a:off x="7627307" y="3257492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9120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Pascal’s Triangle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1026" name="Picture 2" descr="File:Yanghui triangl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143000"/>
            <a:ext cx="2765394" cy="430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25497" y="5693157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Yang Hui triangle (12??)</a:t>
            </a:r>
          </a:p>
        </p:txBody>
      </p:sp>
      <p:pic>
        <p:nvPicPr>
          <p:cNvPr id="1028" name="Picture 4" descr="File:Pascal's triangle pathways.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026" y="1219200"/>
            <a:ext cx="3670347" cy="3670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457259" y="5118146"/>
            <a:ext cx="4305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The numbers of distinct paths to each square by a rook, when only rightward and downward movements are considered.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6D67F1-D6AE-494E-AD2F-95C1C711568F}"/>
              </a:ext>
            </a:extLst>
          </p:cNvPr>
          <p:cNvSpPr/>
          <p:nvPr/>
        </p:nvSpPr>
        <p:spPr bwMode="auto">
          <a:xfrm>
            <a:off x="6705600" y="4136877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D708E9-D004-C848-AB6C-8BCAC9DC645A}"/>
              </a:ext>
            </a:extLst>
          </p:cNvPr>
          <p:cNvSpPr/>
          <p:nvPr/>
        </p:nvSpPr>
        <p:spPr bwMode="auto">
          <a:xfrm>
            <a:off x="7543800" y="3200400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D05AB8-1D11-BD4E-AAAD-189113D9F0E4}"/>
              </a:ext>
            </a:extLst>
          </p:cNvPr>
          <p:cNvSpPr/>
          <p:nvPr/>
        </p:nvSpPr>
        <p:spPr bwMode="auto">
          <a:xfrm>
            <a:off x="7599427" y="4114800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X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D6D649-80DB-254E-9D14-8490BE498676}"/>
              </a:ext>
            </a:extLst>
          </p:cNvPr>
          <p:cNvSpPr/>
          <p:nvPr/>
        </p:nvSpPr>
        <p:spPr bwMode="auto">
          <a:xfrm>
            <a:off x="7627307" y="3257492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0534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Pascal’s Triangle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1026" name="Picture 2" descr="File:Yanghui triangl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143000"/>
            <a:ext cx="2765394" cy="430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25497" y="5693157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Yang Hui triangle (12??)</a:t>
            </a:r>
          </a:p>
        </p:txBody>
      </p:sp>
      <p:pic>
        <p:nvPicPr>
          <p:cNvPr id="1028" name="Picture 4" descr="File:Pascal's triangle pathways.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026" y="1219200"/>
            <a:ext cx="3670347" cy="3670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457259" y="5118146"/>
            <a:ext cx="4305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The numbers of distinct paths to each square by a rook, when only rightward and downward movements are considered.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D05AB8-1D11-BD4E-AAAD-189113D9F0E4}"/>
              </a:ext>
            </a:extLst>
          </p:cNvPr>
          <p:cNvSpPr/>
          <p:nvPr/>
        </p:nvSpPr>
        <p:spPr bwMode="auto">
          <a:xfrm>
            <a:off x="7599427" y="4114800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0374647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Pascal’s Triangle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1026" name="Picture 2" descr="File:Yanghui triangl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143000"/>
            <a:ext cx="2765394" cy="430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25497" y="5693157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Yang Hui triangle (12??)</a:t>
            </a:r>
          </a:p>
        </p:txBody>
      </p:sp>
      <p:pic>
        <p:nvPicPr>
          <p:cNvPr id="1028" name="Picture 4" descr="File:Pascal's triangle pathways.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026" y="1219200"/>
            <a:ext cx="3670347" cy="3670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457259" y="5118146"/>
            <a:ext cx="4305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FF0000"/>
                </a:solidFill>
              </a:rPr>
              <a:t>20=C(6,3)</a:t>
            </a:r>
            <a:r>
              <a:rPr lang="en-US" b="0" dirty="0"/>
              <a:t> – There is a total of 6 moves down/right. If we select the 3 moves down (or right), we fix the entire path.</a:t>
            </a:r>
          </a:p>
        </p:txBody>
      </p:sp>
    </p:spTree>
    <p:extLst>
      <p:ext uri="{BB962C8B-B14F-4D97-AF65-F5344CB8AC3E}">
        <p14:creationId xmlns:p14="http://schemas.microsoft.com/office/powerpoint/2010/main" val="15099238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chemeClr val="tx1"/>
                </a:solidFill>
              </a:rPr>
              <a:t>Vandermonde's</a:t>
            </a:r>
            <a:r>
              <a:rPr lang="en-US" altLang="zh-CN" dirty="0">
                <a:solidFill>
                  <a:schemeClr val="tx1"/>
                </a:solidFill>
              </a:rPr>
              <a:t> Identity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686800" cy="5105400"/>
              </a:xfrm>
            </p:spPr>
            <p:txBody>
              <a:bodyPr/>
              <a:lstStyle/>
              <a:p>
                <a:r>
                  <a:rPr lang="en-US" altLang="zh-CN" b="1" dirty="0">
                    <a:solidFill>
                      <a:srgbClr val="0000FF"/>
                    </a:solidFill>
                  </a:rPr>
                  <a:t>Theorem (</a:t>
                </a:r>
                <a:r>
                  <a:rPr lang="en-US" altLang="zh-CN" b="1" dirty="0" err="1">
                    <a:solidFill>
                      <a:srgbClr val="0000FF"/>
                    </a:solidFill>
                  </a:rPr>
                  <a:t>Vandermonde's</a:t>
                </a:r>
                <a:r>
                  <a:rPr lang="en-US" altLang="zh-CN" b="1" dirty="0">
                    <a:solidFill>
                      <a:srgbClr val="0000FF"/>
                    </a:solidFill>
                  </a:rPr>
                  <a:t> identity)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Let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, and</a:t>
                </a:r>
                <a:r>
                  <a:rPr lang="en-US" altLang="zh-CN" i="1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i="1" dirty="0"/>
                  <a:t> </a:t>
                </a:r>
                <a:r>
                  <a:rPr lang="en-US" altLang="zh-CN" dirty="0"/>
                  <a:t>be integers with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. Then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en-US" altLang="zh-CN" dirty="0"/>
                  <a:t>Discovered by Zhu </a:t>
                </a:r>
                <a:r>
                  <a:rPr lang="en-US" altLang="zh-CN" dirty="0" err="1"/>
                  <a:t>Shijie</a:t>
                </a:r>
                <a:r>
                  <a:rPr lang="en-US" altLang="zh-CN" dirty="0"/>
                  <a:t> in 1303.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686800" cy="5105400"/>
              </a:xfrm>
              <a:blipFill>
                <a:blip r:embed="rId2"/>
                <a:stretch>
                  <a:fillRect l="-1123" t="-9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2819400"/>
            <a:ext cx="4876800" cy="122572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Combinatorial Proof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014438"/>
                <a:ext cx="8686800" cy="416716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Suppose that there are </a:t>
                </a:r>
                <a:r>
                  <a:rPr lang="en-US" altLang="zh-CN" i="1" dirty="0"/>
                  <a:t>m</a:t>
                </a:r>
                <a:r>
                  <a:rPr lang="en-US" altLang="zh-CN" dirty="0"/>
                  <a:t> elements in one set and</a:t>
                </a:r>
                <a:r>
                  <a:rPr lang="en-US" altLang="zh-CN" i="1" dirty="0"/>
                  <a:t> n </a:t>
                </a:r>
                <a:r>
                  <a:rPr lang="en-US" altLang="zh-CN" dirty="0"/>
                  <a:t>elements in a second set (the two sets are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disjoint</a:t>
                </a:r>
                <a:r>
                  <a:rPr lang="en-US" altLang="zh-CN" dirty="0"/>
                  <a:t>). Then the total number of ways to choose </a:t>
                </a:r>
                <a:r>
                  <a:rPr lang="en-US" altLang="zh-CN" i="1" dirty="0"/>
                  <a:t>r</a:t>
                </a:r>
                <a:r>
                  <a:rPr lang="en-US" altLang="zh-CN" dirty="0"/>
                  <a:t> elements from the union of the two sets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.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Another way to choose </a:t>
                </a:r>
                <a:r>
                  <a:rPr lang="en-US" altLang="zh-CN" i="1" dirty="0"/>
                  <a:t>r</a:t>
                </a:r>
                <a:r>
                  <a:rPr lang="en-US" altLang="zh-CN" dirty="0"/>
                  <a:t> elements from the union is to choose </a:t>
                </a:r>
                <a:r>
                  <a:rPr lang="en-US" altLang="zh-CN" i="1" dirty="0"/>
                  <a:t>r</a:t>
                </a:r>
                <a:r>
                  <a:rPr lang="en-US" altLang="zh-CN" dirty="0"/>
                  <a:t> – </a:t>
                </a:r>
                <a:r>
                  <a:rPr lang="en-US" altLang="zh-CN" i="1" dirty="0"/>
                  <a:t>k</a:t>
                </a:r>
                <a:r>
                  <a:rPr lang="en-US" altLang="zh-CN" dirty="0"/>
                  <a:t> elements from the first set and then </a:t>
                </a:r>
                <a:r>
                  <a:rPr lang="en-US" altLang="zh-CN" i="1" dirty="0"/>
                  <a:t>k</a:t>
                </a:r>
                <a:r>
                  <a:rPr lang="en-US" altLang="zh-CN" dirty="0"/>
                  <a:t> elements from the second set, where </a:t>
                </a:r>
                <a:r>
                  <a:rPr lang="en-US" altLang="zh-CN" i="1" dirty="0"/>
                  <a:t>k</a:t>
                </a:r>
                <a:r>
                  <a:rPr lang="en-US" altLang="zh-CN" dirty="0"/>
                  <a:t> is an integer with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.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By the product rule, this can be done 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 ways. Consequently,</a:t>
                </a:r>
              </a:p>
              <a:p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algn="just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014438"/>
                <a:ext cx="8686800" cy="4167162"/>
              </a:xfrm>
              <a:blipFill>
                <a:blip r:embed="rId2"/>
                <a:stretch>
                  <a:fillRect l="-1123" t="-1023" r="-1614" b="-439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4953000"/>
            <a:ext cx="4876800" cy="122572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5843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Corollary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686800" cy="5257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400" dirty="0"/>
                  <a:t>Let </a:t>
                </a:r>
                <a:r>
                  <a:rPr lang="en-US" altLang="zh-CN" sz="2400" i="1" dirty="0"/>
                  <a:t>n</a:t>
                </a:r>
                <a:r>
                  <a:rPr lang="en-US" altLang="zh-CN" sz="2400" dirty="0"/>
                  <a:t> be a nonnegative integer. Then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en-US" altLang="zh-CN" b="1" dirty="0">
                    <a:solidFill>
                      <a:srgbClr val="0000FF"/>
                    </a:solidFill>
                  </a:rPr>
                  <a:t>Proof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Using </a:t>
                </a:r>
                <a:r>
                  <a:rPr lang="en-US" altLang="zh-CN" dirty="0" err="1"/>
                  <a:t>Vandermonde's</a:t>
                </a:r>
                <a:r>
                  <a:rPr lang="en-US" altLang="zh-CN" dirty="0"/>
                  <a:t> identity with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dirty="0"/>
                  <a:t>, we can get</a:t>
                </a:r>
              </a:p>
              <a:p>
                <a:pPr marL="0" indent="0">
                  <a:buNone/>
                </a:pPr>
                <a:endParaRPr lang="en-US" altLang="zh-CN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686800" cy="5257800"/>
              </a:xfrm>
              <a:blipFill>
                <a:blip r:embed="rId2"/>
                <a:stretch>
                  <a:fillRect l="-1123" t="-812" r="-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2109982"/>
            <a:ext cx="3048000" cy="131901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4959948"/>
            <a:ext cx="6096000" cy="1299148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554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Counting bit strings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686800" cy="5257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b="1" dirty="0">
                    <a:solidFill>
                      <a:srgbClr val="0000FF"/>
                    </a:solidFill>
                  </a:rPr>
                  <a:t>Theorem</a:t>
                </a:r>
              </a:p>
              <a:p>
                <a:pPr marL="0" indent="0">
                  <a:buNone/>
                </a:pPr>
                <a:r>
                  <a:rPr lang="en-US" altLang="zh-CN" sz="2400" dirty="0"/>
                  <a:t>Let </a:t>
                </a:r>
                <a:r>
                  <a:rPr lang="en-US" altLang="zh-CN" sz="2400" i="1" dirty="0"/>
                  <a:t>n</a:t>
                </a:r>
                <a:r>
                  <a:rPr lang="en-US" altLang="zh-CN" sz="2400" dirty="0"/>
                  <a:t> and </a:t>
                </a:r>
                <a:r>
                  <a:rPr lang="en-US" altLang="zh-CN" sz="2400" i="1" dirty="0"/>
                  <a:t>r</a:t>
                </a:r>
                <a:r>
                  <a:rPr lang="en-US" altLang="zh-CN" sz="2400" dirty="0"/>
                  <a:t> be integers with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400" dirty="0"/>
                  <a:t>. Then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1" dirty="0">
                    <a:solidFill>
                      <a:srgbClr val="0000FF"/>
                    </a:solidFill>
                  </a:rPr>
                  <a:t>Recall:</a:t>
                </a:r>
                <a:r>
                  <a:rPr lang="en-US" altLang="zh-CN" dirty="0"/>
                  <a:t> We can prove combinatorial identities by counting bit strings with different properties!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LHS is the number of bitstrings of length (</a:t>
                </a:r>
                <a:r>
                  <a:rPr lang="en-US" altLang="zh-CN" i="1" dirty="0"/>
                  <a:t>n</a:t>
                </a:r>
                <a:r>
                  <a:rPr lang="en-US" altLang="zh-CN" dirty="0"/>
                  <a:t>+1) that contain exactly (</a:t>
                </a:r>
                <a:r>
                  <a:rPr lang="en-US" altLang="zh-CN" i="1" dirty="0"/>
                  <a:t>r</a:t>
                </a:r>
                <a:r>
                  <a:rPr lang="en-US" altLang="zh-CN" dirty="0"/>
                  <a:t>+1) ones. 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686800" cy="5257800"/>
              </a:xfrm>
              <a:blipFill>
                <a:blip r:embed="rId2"/>
                <a:stretch>
                  <a:fillRect l="-1123" t="-928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590800"/>
            <a:ext cx="4114802" cy="145186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99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5">
            <a:extLst>
              <a:ext uri="{FF2B5EF4-FFF2-40B4-BE49-F238E27FC236}">
                <a16:creationId xmlns:a16="http://schemas.microsoft.com/office/drawing/2014/main" id="{136C0F3B-7EC6-6347-91D5-7B744683C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4419600"/>
            <a:ext cx="3299712" cy="11642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3624" y="152400"/>
            <a:ext cx="8382000" cy="715962"/>
          </a:xfrm>
        </p:spPr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Proof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88524" y="1265808"/>
                <a:ext cx="8534400" cy="5105400"/>
              </a:xfrm>
            </p:spPr>
            <p:txBody>
              <a:bodyPr/>
              <a:lstStyle/>
              <a:p>
                <a:r>
                  <a:rPr lang="en-US" altLang="zh-CN" sz="2000" dirty="0"/>
                  <a:t>LHS is the number of bitstrings of length (</a:t>
                </a:r>
                <a:r>
                  <a:rPr lang="en-US" altLang="zh-CN" sz="2000" i="1" dirty="0"/>
                  <a:t>n</a:t>
                </a:r>
                <a:r>
                  <a:rPr lang="en-US" altLang="zh-CN" sz="2000" dirty="0"/>
                  <a:t>+1) that contain exactly (</a:t>
                </a:r>
                <a:r>
                  <a:rPr lang="en-US" altLang="zh-CN" sz="2000" i="1" dirty="0"/>
                  <a:t>r</a:t>
                </a:r>
                <a:r>
                  <a:rPr lang="en-US" altLang="zh-CN" sz="2000" dirty="0"/>
                  <a:t>+1) 1's. </a:t>
                </a:r>
              </a:p>
              <a:p>
                <a:r>
                  <a:rPr lang="en-US" altLang="zh-CN" sz="2000" dirty="0"/>
                  <a:t>RHS: Consider the possible locations of the final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000" dirty="0"/>
                  <a:t> in a string with </a:t>
                </a:r>
                <a14:m>
                  <m:oMath xmlns:m="http://schemas.openxmlformats.org/officeDocument/2006/math">
                    <m:r>
                      <a:rPr lang="en-US" altLang="zh-CN" sz="2000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altLang="zh-CN" sz="2000" dirty="0"/>
                  <a:t> 1’s. This final 1 must occur at location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+1, 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+2,</m:t>
                    </m:r>
                  </m:oMath>
                </a14:m>
                <a:r>
                  <a:rPr lang="en-US" altLang="zh-CN" sz="2000" dirty="0"/>
                  <a:t> . . . , or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CN" sz="2000" dirty="0"/>
                  <a:t>. Furthermore, when the last 1 is the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000" dirty="0"/>
                  <a:t>th bit (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+1≤</m:t>
                    </m:r>
                    <m:r>
                      <a:rPr lang="en-US" altLang="zh-CN" sz="20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 , </m:t>
                    </m:r>
                  </m:oMath>
                </a14:m>
                <a:r>
                  <a:rPr lang="en-US" altLang="zh-CN" sz="2000" dirty="0"/>
                  <a:t> there must be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dirty="0"/>
                  <a:t> 1s among the first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sz="2000" dirty="0"/>
                  <a:t> locations. Consequently, there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 </a:t>
                </a:r>
                <a:r>
                  <a:rPr lang="en-US" altLang="zh-CN" sz="2000" dirty="0"/>
                  <a:t>such bit strings. Summing over </a:t>
                </a:r>
                <a:r>
                  <a:rPr lang="en-US" altLang="zh-CN" sz="2000" i="1" dirty="0">
                    <a:solidFill>
                      <a:srgbClr val="0000FF"/>
                    </a:solidFill>
                  </a:rPr>
                  <a:t>k</a:t>
                </a:r>
                <a:r>
                  <a:rPr lang="en-US" altLang="zh-CN" sz="2000" dirty="0"/>
                  <a:t>, the number of bit strings of length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CN" sz="2000" dirty="0"/>
                  <a:t> containing exactly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CN" sz="2000" dirty="0"/>
                  <a:t> ones is: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algn="just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Because both sides of the identity count the same objects, they must be equal. This completes the proof.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8524" y="1265808"/>
                <a:ext cx="8534400" cy="5105400"/>
              </a:xfrm>
              <a:blipFill>
                <a:blip r:embed="rId3"/>
                <a:stretch>
                  <a:fillRect l="-714" t="-717" r="-1357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343400"/>
            <a:ext cx="3657600" cy="115156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3888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915400" cy="715962"/>
          </a:xfrm>
        </p:spPr>
        <p:txBody>
          <a:bodyPr/>
          <a:lstStyle/>
          <a:p>
            <a:r>
              <a:rPr lang="en-US" sz="3200" dirty="0">
                <a:solidFill>
                  <a:srgbClr val="0000FF"/>
                </a:solidFill>
              </a:rPr>
              <a:t>Exercise</a:t>
            </a:r>
            <a:r>
              <a:rPr lang="en-US" sz="3200" dirty="0">
                <a:solidFill>
                  <a:schemeClr val="tx1"/>
                </a:solidFill>
              </a:rPr>
              <a:t> on Combinatorial Proof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868362"/>
                <a:ext cx="8835624" cy="55324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000" dirty="0"/>
                  <a:t>Show by combinatorial proof that:</a:t>
                </a:r>
                <a:r>
                  <a:rPr lang="en-US" altLang="zh-CN" sz="2000" b="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altLang="zh-CN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altLang="zh-CN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2000" b="0" i="1" smtClean="0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000" b="0" i="1" smtClean="0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000" b="0" i="1" smtClean="0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sz="2000" dirty="0"/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In a combinatorial proof, you must prove that both sides count the same number in different ways. </a:t>
                </a:r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b="0" dirty="0"/>
                  <a:t>LHS:</a:t>
                </a:r>
                <a:r>
                  <a:rPr lang="en-US" altLang="zh-CN" sz="2000" b="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altLang="zh-CN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altLang="zh-CN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lang="en-US" altLang="zh-CN" sz="2000" dirty="0"/>
                  <a:t> could count the number of ways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000" dirty="0"/>
                  <a:t> to select a committee of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000" dirty="0"/>
                  <a:t> members 1≤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000" dirty="0"/>
                  <a:t> ≤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000" dirty="0"/>
                  <a:t>, and then choose one the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000" dirty="0"/>
                  <a:t> members to be the chairperson, i.e., the committee should contain at least a chairperson and any other number of members. </a:t>
                </a:r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RHS: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sz="2000" dirty="0"/>
                  <a:t> counts the same number because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 there are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 choices for the chairperson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 choices for the rest of the committee (the rest of the committee could be any subset, including the empty set, that does not contain the chairperson).  </a:t>
                </a:r>
              </a:p>
              <a:p>
                <a:pPr marL="0" indent="0">
                  <a:buNone/>
                </a:pP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endParaRPr lang="en-US" altLang="zh-CN" sz="20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868362"/>
                <a:ext cx="8835624" cy="5532438"/>
              </a:xfrm>
              <a:blipFill>
                <a:blip r:embed="rId2"/>
                <a:stretch>
                  <a:fillRect l="-690" t="-8480" r="-690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480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3624" y="152400"/>
            <a:ext cx="8382000" cy="715962"/>
          </a:xfrm>
        </p:spPr>
        <p:txBody>
          <a:bodyPr/>
          <a:lstStyle/>
          <a:p>
            <a:r>
              <a:rPr lang="en-US">
                <a:solidFill>
                  <a:srgbClr val="0000FF"/>
                </a:solidFill>
              </a:rPr>
              <a:t>Exercise 2</a:t>
            </a:r>
            <a:r>
              <a:rPr lang="en-US">
                <a:solidFill>
                  <a:schemeClr val="tx1"/>
                </a:solidFill>
              </a:rPr>
              <a:t> on Combinatorial Proof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868362"/>
                <a:ext cx="8835624" cy="55324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000" dirty="0"/>
                  <a:t>The following formula reduces to the one of the previous slide when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000" dirty="0"/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altLang="zh-CN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altLang="zh-CN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CN" sz="2000" i="1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altLang="zh-CN" sz="2000" i="1">
                                    <a:solidFill>
                                      <a:srgbClr val="FF33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i="1">
                                    <a:solidFill>
                                      <a:srgbClr val="FF33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altLang="zh-CN" sz="2000" i="1">
                                    <a:solidFill>
                                      <a:srgbClr val="FF33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den>
                            </m:f>
                          </m:e>
                        </m:d>
                        <m:sSup>
                          <m:sSupPr>
                            <m:ctrlPr>
                              <a:rPr lang="en-US" altLang="zh-CN" sz="2000" b="0" i="1" smtClean="0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000" b="0" i="1" smtClean="0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b="0" i="1" smtClean="0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sz="2000" dirty="0"/>
                  <a:t>, 1≤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zh-CN" sz="2000" dirty="0"/>
                  <a:t> ≤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000" dirty="0"/>
                  <a:t> ≤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CN" sz="2000" dirty="0"/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Show by combinatorial proof that both sides count the same number in different ways. Hint: You can use the same reasoning as previous slide, but now there are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zh-CN" sz="2000" dirty="0"/>
                  <a:t> chairpersons.</a:t>
                </a:r>
              </a:p>
              <a:p>
                <a:pPr marL="0" indent="0">
                  <a:buNone/>
                </a:pP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solidFill>
                      <a:schemeClr val="tx1"/>
                    </a:solidFill>
                  </a:rPr>
                  <a:t>LHS: counts the number of ways of selecting a subset with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) out of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 elements, and marking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 elements among the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 selected. Using the terminology of the previous slide, the committee has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 chairpersons and any other number of members between zero and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0" indent="0">
                  <a:buNone/>
                </a:pP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solidFill>
                      <a:schemeClr val="tx1"/>
                    </a:solidFill>
                  </a:rPr>
                  <a:t>RHS: counts the number of ways of marking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 elements out of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 (i.e., chairpersons) and choosing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 among the remaining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 elements (to form the rest of the committee).</a:t>
                </a:r>
              </a:p>
              <a:p>
                <a:pPr marL="0" indent="0">
                  <a:buNone/>
                </a:pP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endParaRPr lang="en-US" altLang="zh-CN" sz="20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868362"/>
                <a:ext cx="8835624" cy="5532438"/>
              </a:xfrm>
              <a:blipFill>
                <a:blip r:embed="rId2"/>
                <a:stretch>
                  <a:fillRect l="-690" t="-551" r="-1518" b="-1101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35E3-5B29-4F54-8FB9-022B0DB6C884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92779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