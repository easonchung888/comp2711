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?>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9" saveSubsetFonts="1" autoCompressPictures="0">
  <p:sldMasterIdLst>
    <p:sldMasterId id="2147483648" r:id="rId1"/>
  </p:sldMasterIdLst>
  <p:notesMasterIdLst>
    <p:notesMasterId r:id="rId43"/>
  </p:notesMasterIdLst>
  <p:handoutMasterIdLst>
    <p:handoutMasterId r:id="rId44"/>
  </p:handoutMasterIdLst>
  <p:sldIdLst>
    <p:sldId id="357" r:id="rId10"/>
  </p:sldIdLst>
  <p:sldSz cx="9144000" cy="6858000" type="screen4x3"/>
  <p:notesSz cx="6884988" cy="100187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71" autoAdjust="0"/>
    <p:restoredTop sz="94260" autoAdjust="0"/>
  </p:normalViewPr>
  <p:slideViewPr>
    <p:cSldViewPr>
      <p:cViewPr varScale="1">
        <p:scale>
          <a:sx n="151" d="100"/>
          <a:sy n="151" d="100"/>
        </p:scale>
        <p:origin x="216" y="56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14" y="1068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106"/>
    </p:cViewPr>
  </p:sorterViewPr>
  <p:gridSpacing cx="76200" cy="76200"/>
</p:viewPr>
</file>

<file path=ppt/_rels/presentation.xml.rels><?xml version='1.0' encoding='utf-8'?>
<Relationships xmlns="http://schemas.openxmlformats.org/package/2006/relationships"><Relationship Id="rId47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45" Type="http://schemas.openxmlformats.org/officeDocument/2006/relationships/presProps" Target="presProps.xml" /><Relationship Id="rId10" Type="http://schemas.openxmlformats.org/officeDocument/2006/relationships/slide" Target="slides/slide9.xml" /><Relationship Id="rId44" Type="http://schemas.openxmlformats.org/officeDocument/2006/relationships/handoutMaster" Target="handoutMasters/handoutMaster1.xml" /><Relationship Id="rId43" Type="http://schemas.openxmlformats.org/officeDocument/2006/relationships/notesMaster" Target="notesMasters/notesMaster1.xml" /><Relationship Id="rId48" Type="http://schemas.openxmlformats.org/officeDocument/2006/relationships/tableStyles" Target="tableStyles.xml" /><Relationship Id="rId46" Type="http://schemas.openxmlformats.org/officeDocument/2006/relationships/viewProps" Target="viewProps.xml" /></Relationships>
</file>

<file path=ppt/handoutMasters/_rels/handoutMaster1.xml.rels><?xml version='1.0' encoding='utf-8'?>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9349" y="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r">
              <a:defRPr sz="1200"/>
            </a:lvl1pPr>
          </a:lstStyle>
          <a:p>
            <a:fld id="{50BE4F2C-0EE3-4CC6-9A7F-FCEE2CED77EB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51617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9349" y="951617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r">
              <a:defRPr sz="1200"/>
            </a:lvl1pPr>
          </a:lstStyle>
          <a:p>
            <a:fld id="{A2AB639E-B2BE-4F41-B992-699629CBE3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53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?>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990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9800" y="752475"/>
            <a:ext cx="5005388" cy="37560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499" y="4758890"/>
            <a:ext cx="5507990" cy="4508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516040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9901" y="9516040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fld id="{878340DC-DDD3-4383-9614-668A8EE090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3636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D48EA5-2AB8-469C-9C8D-DDC17F3887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6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C735E3-5B29-4F54-8FB9-022B0DB6C88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91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5E6A3E-4888-4C12-8315-4FD2172AB79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75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4F64A1-F48A-4587-8460-697BC25700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6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4D11BB-E399-4356-A7BA-ED113D687B1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78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E0ABEF-E41E-4666-84C4-413527B4A9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08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9926DB-4DC2-4E3A-B2C0-BB9A6A9391A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50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1B4454-C8A7-4B1B-8E65-E82A92619F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95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DDABB2-A7EC-4A6A-8A4D-8C9E34B87E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76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4971A2-E15B-40AD-8D3B-C3853A18A93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47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973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973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32645C-7078-496B-800F-5B55B382AA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25351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3820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600200"/>
            <a:ext cx="86868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Arial" charset="0"/>
              </a:defRPr>
            </a:lvl1pPr>
          </a:lstStyle>
          <a:p>
            <a:fld id="{6724A02C-A69E-4EC1-BA44-1213A0435DC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1" name="Text Box 7"/>
          <p:cNvSpPr txBox="1">
            <a:spLocks noChangeArrowheads="1"/>
          </p:cNvSpPr>
          <p:nvPr userDrawn="1"/>
        </p:nvSpPr>
        <p:spPr bwMode="auto">
          <a:xfrm>
            <a:off x="457200" y="1066800"/>
            <a:ext cx="2286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/>
            <a:endParaRPr lang="en-US" sz="1800" b="0">
              <a:latin typeface="Arial" charset="0"/>
            </a:endParaRPr>
          </a:p>
        </p:txBody>
      </p:sp>
      <p:sp>
        <p:nvSpPr>
          <p:cNvPr id="1032" name="Text Box 8"/>
          <p:cNvSpPr txBox="1">
            <a:spLocks noChangeArrowheads="1"/>
          </p:cNvSpPr>
          <p:nvPr userDrawn="1"/>
        </p:nvSpPr>
        <p:spPr bwMode="auto">
          <a:xfrm>
            <a:off x="457200" y="1143000"/>
            <a:ext cx="2590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 b="0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4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0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9.xml.rels><?xml version='1.0' encoding='utf-8'?>
<Relationships xmlns="http://schemas.openxmlformats.org/package/2006/relationships"><Relationship Id="rId2" Type="http://schemas.openxmlformats.org/officeDocument/2006/relationships/image" Target="../media/image8.png" /><Relationship Id="rId1" Type="http://schemas.openxmlformats.org/officeDocument/2006/relationships/slideLayout" Target="../slideLayouts/slideLayout2.xml" /></Relationships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Example</a:t>
            </a:r>
            <a:endParaRPr lang="zh-CN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1600200"/>
                <a:ext cx="8686800" cy="48768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CN" dirty="0"/>
                  <a:t>What is the coefficient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</m:oMath>
                </a14:m>
                <a:r>
                  <a:rPr lang="en-US" altLang="zh-CN" dirty="0"/>
                  <a:t> in the expansion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25</m:t>
                        </m:r>
                      </m:sup>
                    </m:sSup>
                  </m:oMath>
                </a14:m>
                <a:r>
                  <a:rPr lang="en-US" altLang="zh-CN" dirty="0"/>
                  <a:t>?</a:t>
                </a:r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b="1" dirty="0">
                    <a:solidFill>
                      <a:srgbClr val="0000FF"/>
                    </a:solidFill>
                  </a:rPr>
                  <a:t>Solution: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By the Binomial theorem the coefficient is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25,13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25,1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25!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13!12!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=5200300</m:t>
                      </m:r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algn="just">
                  <a:buNone/>
                </a:pPr>
                <a:endParaRPr lang="en-US" altLang="zh-CN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1600200"/>
                <a:ext cx="8686800" cy="4876800"/>
              </a:xfrm>
              <a:blipFill>
                <a:blip r:embed="rId2"/>
                <a:stretch>
                  <a:fillRect l="-1123" t="-875"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pPr/>
              <a:t>9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669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Lucida Sans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7894</TotalTime>
  <Words>2436</Words>
  <Application>Microsoft Macintosh PowerPoint</Application>
  <PresentationFormat>On-screen Show (4:3)</PresentationFormat>
  <Paragraphs>288</Paragraphs>
  <Slides>41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Arial</vt:lpstr>
      <vt:lpstr>Cambria Math</vt:lpstr>
      <vt:lpstr>Lucida Sans</vt:lpstr>
      <vt:lpstr>Monotype Sorts</vt:lpstr>
      <vt:lpstr>Times New Roman</vt:lpstr>
      <vt:lpstr>Wingdings</vt:lpstr>
      <vt:lpstr>Default Design</vt:lpstr>
      <vt:lpstr>Binomial Coefficients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Binomial Theorem</vt:lpstr>
      <vt:lpstr>Proof</vt:lpstr>
      <vt:lpstr>Example</vt:lpstr>
      <vt:lpstr>Example</vt:lpstr>
      <vt:lpstr>Example</vt:lpstr>
      <vt:lpstr>Corollary</vt:lpstr>
      <vt:lpstr>Alternative: Combinatorial Proof</vt:lpstr>
      <vt:lpstr>Corollary</vt:lpstr>
      <vt:lpstr>Exercise on Number of Subsets</vt:lpstr>
      <vt:lpstr>Corollary</vt:lpstr>
      <vt:lpstr>Pascal's Identity</vt:lpstr>
      <vt:lpstr>Example of Pascal's Identity for n=5, k=2</vt:lpstr>
      <vt:lpstr>Proof </vt:lpstr>
      <vt:lpstr>Combinatorial proof of Pascal’s identity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</vt:lpstr>
      <vt:lpstr>Pascal’s Triangle </vt:lpstr>
      <vt:lpstr>Pascal’s Triangle </vt:lpstr>
      <vt:lpstr>Pascal’s Triangle </vt:lpstr>
      <vt:lpstr>Pascal’s Triangle </vt:lpstr>
      <vt:lpstr>Pascal’s Triangle </vt:lpstr>
      <vt:lpstr>Pascal’s Triangle </vt:lpstr>
      <vt:lpstr>Vandermonde's Identity</vt:lpstr>
      <vt:lpstr>Combinatorial Proof</vt:lpstr>
      <vt:lpstr>Corollary</vt:lpstr>
      <vt:lpstr>Counting bit strings</vt:lpstr>
      <vt:lpstr>Proof</vt:lpstr>
      <vt:lpstr>Exercise on Combinatorial Proof</vt:lpstr>
      <vt:lpstr>Exercise 2 on Combinatorial Proof</vt:lpstr>
    </vt:vector>
  </TitlesOfParts>
  <Company>HKUST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taicl</dc:creator>
  <cp:lastModifiedBy>Lionel Parreaux</cp:lastModifiedBy>
  <cp:revision>803</cp:revision>
  <cp:lastPrinted>2024-10-03T04:24:41Z</cp:lastPrinted>
  <dcterms:created xsi:type="dcterms:W3CDTF">2012-01-21T22:53:48Z</dcterms:created>
  <dcterms:modified xsi:type="dcterms:W3CDTF">2026-09-30T02:20:54Z</dcterms:modified>
</cp:coreProperties>
</file>