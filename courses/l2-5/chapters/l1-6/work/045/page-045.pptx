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5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92" r:id="rId46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46" Type="http://schemas.openxmlformats.org/officeDocument/2006/relationships/slide" Target="slides/slide45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5.xml.rels><?xml version='1.0' encoding='utf-8'?>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2.xml" /></Relationships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Example of Combinations with Repetition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143000"/>
                <a:ext cx="8839200" cy="4648200"/>
              </a:xfrm>
            </p:spPr>
            <p:txBody>
              <a:bodyPr/>
              <a:lstStyle/>
              <a:p>
                <a:r>
                  <a:rPr lang="en-US" sz="1800" dirty="0"/>
                  <a:t>Suppose that a cookie shop has </a:t>
                </a:r>
                <a:r>
                  <a:rPr lang="en-US" sz="1800" dirty="0">
                    <a:solidFill>
                      <a:srgbClr val="FF0000"/>
                    </a:solidFill>
                  </a:rPr>
                  <a:t>4 different kinds of cookies</a:t>
                </a:r>
                <a:r>
                  <a:rPr lang="en-US" sz="1800" dirty="0"/>
                  <a:t>. In how many different ways can </a:t>
                </a:r>
                <a:r>
                  <a:rPr lang="en-US" sz="1800" dirty="0">
                    <a:solidFill>
                      <a:srgbClr val="0000FF"/>
                    </a:solidFill>
                  </a:rPr>
                  <a:t>6</a:t>
                </a:r>
                <a:r>
                  <a:rPr lang="en-US" sz="1800" dirty="0"/>
                  <a:t> cookies be chosen? There are no constraints on how many cookies of each kind are chosen (e.g., all 6 may be of the same kind)</a:t>
                </a:r>
              </a:p>
              <a:p>
                <a:r>
                  <a:rPr lang="en-US" sz="1800" b="1" dirty="0"/>
                  <a:t>Solution</a:t>
                </a:r>
                <a:br>
                  <a:rPr lang="en-US" sz="1800" b="1" dirty="0"/>
                </a:br>
                <a:r>
                  <a:rPr lang="en-US" sz="1800" dirty="0"/>
                  <a:t>Equivalently, I wish to distribute </a:t>
                </a:r>
                <a:r>
                  <a:rPr lang="en-US" sz="1800" dirty="0">
                    <a:solidFill>
                      <a:srgbClr val="0000FF"/>
                    </a:solidFill>
                  </a:rPr>
                  <a:t>6 indistinguishable</a:t>
                </a:r>
                <a:r>
                  <a:rPr lang="en-US" sz="1800" dirty="0"/>
                  <a:t> cookies (</a:t>
                </a:r>
                <a:r>
                  <a:rPr lang="en-US" sz="1800" dirty="0">
                    <a:solidFill>
                      <a:srgbClr val="0000FF"/>
                    </a:solidFill>
                  </a:rPr>
                  <a:t>stars</a:t>
                </a:r>
                <a:r>
                  <a:rPr lang="en-US" sz="1800" dirty="0"/>
                  <a:t>) to </a:t>
                </a:r>
                <a:r>
                  <a:rPr lang="en-US" sz="1800" dirty="0">
                    <a:solidFill>
                      <a:srgbClr val="FF0000"/>
                    </a:solidFill>
                  </a:rPr>
                  <a:t>4</a:t>
                </a:r>
                <a:r>
                  <a:rPr lang="en-US" sz="1800" dirty="0"/>
                  <a:t> </a:t>
                </a:r>
                <a:r>
                  <a:rPr lang="en-US" sz="1800" dirty="0">
                    <a:solidFill>
                      <a:srgbClr val="FF0000"/>
                    </a:solidFill>
                  </a:rPr>
                  <a:t>distinguishable</a:t>
                </a:r>
                <a:r>
                  <a:rPr lang="en-US" sz="1800" dirty="0"/>
                  <a:t> cookie boxes (</a:t>
                </a:r>
                <a:r>
                  <a:rPr lang="en-US" sz="1800" dirty="0">
                    <a:solidFill>
                      <a:srgbClr val="FF0000"/>
                    </a:solidFill>
                  </a:rPr>
                  <a:t>bars</a:t>
                </a:r>
                <a:r>
                  <a:rPr lang="en-US" sz="1800" dirty="0"/>
                  <a:t>). </a:t>
                </a:r>
              </a:p>
              <a:p>
                <a:r>
                  <a:rPr lang="en-US" sz="1800" dirty="0"/>
                  <a:t>By previous theorem, the number of such combinations is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4+6−1,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9,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9,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=84</m:t>
                    </m:r>
                  </m:oMath>
                </a14:m>
                <a:endParaRPr lang="en-US" sz="1800" dirty="0">
                  <a:ea typeface="Cambria Math" pitchFamily="18" charset="0"/>
                </a:endParaRPr>
              </a:p>
              <a:p>
                <a:r>
                  <a:rPr lang="en-US" sz="1800" dirty="0">
                    <a:ea typeface="Cambria Math" pitchFamily="18" charset="0"/>
                  </a:rPr>
                  <a:t>Is the solution still correct if some cookie box contains fewer than 6 cookies? (Equivalently, the cookie shop does not have 6 cookies for some cookie kind(s)). </a:t>
                </a:r>
              </a:p>
              <a:p>
                <a:r>
                  <a:rPr lang="en-US" sz="1800" dirty="0">
                    <a:ea typeface="Cambria Math" pitchFamily="18" charset="0"/>
                  </a:rPr>
                  <a:t>No. We cannot place 6 stars in that box. </a:t>
                </a:r>
                <a:r>
                  <a:rPr lang="en-US" sz="1800" u="sng" dirty="0">
                    <a:solidFill>
                      <a:srgbClr val="FF3300"/>
                    </a:solidFill>
                    <a:ea typeface="Cambria Math" pitchFamily="18" charset="0"/>
                  </a:rPr>
                  <a:t>Solution later … </a:t>
                </a:r>
                <a:r>
                  <a:rPr lang="en-US" sz="1800" u="sng" dirty="0">
                    <a:solidFill>
                      <a:srgbClr val="FF3300"/>
                    </a:solidFill>
                    <a:latin typeface="Cambria Math" pitchFamily="18" charset="0"/>
                    <a:ea typeface="Cambria Math" pitchFamily="18" charset="0"/>
                  </a:rPr>
                  <a:t> </a:t>
                </a:r>
              </a:p>
              <a:p>
                <a:r>
                  <a:rPr lang="en-US" sz="1800" dirty="0">
                    <a:solidFill>
                      <a:srgbClr val="00B050"/>
                    </a:solidFill>
                    <a:ea typeface="Cambria Math" pitchFamily="18" charset="0"/>
                  </a:rPr>
                  <a:t>Equivalent problem: </a:t>
                </a:r>
                <a:r>
                  <a:rPr lang="en-US" sz="1800" dirty="0">
                    <a:ea typeface="Cambria Math" pitchFamily="18" charset="0"/>
                  </a:rPr>
                  <a:t>Find the number of (</a:t>
                </a:r>
                <a:r>
                  <a:rPr lang="en-US" sz="1800" dirty="0"/>
                  <a:t>nonnegative integer</a:t>
                </a:r>
                <a:r>
                  <a:rPr lang="en-US" sz="1800" dirty="0">
                    <a:ea typeface="Cambria Math" pitchFamily="18" charset="0"/>
                  </a:rPr>
                  <a:t>) solutions for equation: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smtClean="0">
                        <a:latin typeface="Cambria Math" panose="02040503050406030204" pitchFamily="18" charset="0"/>
                        <a:ea typeface="Cambria Math" pitchFamily="18" charset="0"/>
                      </a:rPr>
                      <m:t>4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itchFamily="18" charset="0"/>
                      </a:rPr>
                      <m:t>6</m:t>
                    </m:r>
                  </m:oMath>
                </a14:m>
                <a:r>
                  <a:rPr lang="en-US" sz="1800" dirty="0">
                    <a:latin typeface="Cambria Math" pitchFamily="18" charset="0"/>
                    <a:ea typeface="Cambria Math" pitchFamily="18" charset="0"/>
                  </a:rPr>
                  <a:t>, </a:t>
                </a:r>
                <a:r>
                  <a:rPr lang="en-US" sz="1800" dirty="0"/>
                  <a:t>where 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baseline="-25000" dirty="0" smtClean="0">
                        <a:latin typeface="Cambria Math" panose="02040503050406030204" pitchFamily="18" charset="0"/>
                        <a:ea typeface="Cambria Math" pitchFamily="18" charset="0"/>
                      </a:rPr>
                      <m:t>𝑖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800" dirty="0"/>
                  <a:t>  indicates the chosen number of cookies of type </a:t>
                </a:r>
                <a:r>
                  <a:rPr lang="en-US" sz="1800" i="1" dirty="0" err="1"/>
                  <a:t>i</a:t>
                </a:r>
                <a:r>
                  <a:rPr lang="en-US" sz="1800" dirty="0"/>
                  <a:t>. </a:t>
                </a:r>
              </a:p>
              <a:p>
                <a:r>
                  <a:rPr lang="en-US" sz="1800" dirty="0"/>
                  <a:t>The number of solutions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4+6−1,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9,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9,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=84</m:t>
                    </m:r>
                  </m:oMath>
                </a14:m>
                <a:endParaRPr lang="en-US" sz="1800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143000"/>
                <a:ext cx="8839200" cy="4648200"/>
              </a:xfrm>
              <a:blipFill>
                <a:blip r:embed="rId2"/>
                <a:stretch>
                  <a:fillRect l="-431" t="-817" r="-575" b="-5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5418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