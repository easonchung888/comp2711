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8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16" r:id="rId29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29" Type="http://schemas.openxmlformats.org/officeDocument/2006/relationships/slide" Target="slides/slide28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8.xml.rels><?xml version='1.0' encoding='utf-8'?>
<Relationships xmlns="http://schemas.openxmlformats.org/package/2006/relationships"><Relationship Id="rId2" Type="http://schemas.openxmlformats.org/officeDocument/2006/relationships/image" Target="../media/image1.tmp" /><Relationship Id="rId1" Type="http://schemas.openxmlformats.org/officeDocument/2006/relationships/slideLayout" Target="../slideLayouts/slideLayout2.xml" /></Relationships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676400" cy="2239962"/>
          </a:xfrm>
        </p:spPr>
        <p:txBody>
          <a:bodyPr/>
          <a:lstStyle/>
          <a:p>
            <a:r>
              <a:rPr lang="en-US" dirty="0"/>
              <a:t>Poker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sz="2000" b="1" dirty="0">
                <a:solidFill>
                  <a:srgbClr val="0000FF"/>
                </a:solidFill>
              </a:rPr>
              <a:t>Exercises 4</a:t>
            </a:r>
            <a:endParaRPr lang="en-US" dirty="0"/>
          </a:p>
        </p:txBody>
      </p:sp>
      <p:pic>
        <p:nvPicPr>
          <p:cNvPr id="5" name="Content Placeholder 4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841" y="427038"/>
            <a:ext cx="6449359" cy="2239962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28</a:t>
            </a:r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228600" y="2743200"/>
            <a:ext cx="8686800" cy="3505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sz="1600" b="0" dirty="0"/>
              <a:t>How many hands contain </a:t>
            </a:r>
            <a:r>
              <a:rPr lang="en-US" sz="1600" b="0" dirty="0">
                <a:solidFill>
                  <a:srgbClr val="FF0000"/>
                </a:solidFill>
              </a:rPr>
              <a:t>4-of a kind</a:t>
            </a:r>
            <a:r>
              <a:rPr lang="en-US" sz="1600" b="0" dirty="0"/>
              <a:t>?</a:t>
            </a:r>
          </a:p>
          <a:p>
            <a:r>
              <a:rPr lang="en-US" sz="1600" b="0" dirty="0"/>
              <a:t>Number of ways to select the kind of the 4-of a kind C(13,1).</a:t>
            </a:r>
          </a:p>
          <a:p>
            <a:r>
              <a:rPr lang="en-US" sz="1600" b="0" dirty="0"/>
              <a:t>Number of ways to select the 5</a:t>
            </a:r>
            <a:r>
              <a:rPr lang="en-US" sz="1600" b="0" baseline="30000" dirty="0"/>
              <a:t>th</a:t>
            </a:r>
            <a:r>
              <a:rPr lang="en-US" sz="1600" b="0" dirty="0"/>
              <a:t> card: 48 (12 for the rank times 4 for the suit).</a:t>
            </a:r>
          </a:p>
          <a:p>
            <a:r>
              <a:rPr lang="en-US" sz="1600" b="0" dirty="0"/>
              <a:t>Total number is: 13</a:t>
            </a:r>
            <a:r>
              <a:rPr lang="en-US" sz="1600" b="0" dirty="0">
                <a:sym typeface="Symbol" panose="05050102010706020507" pitchFamily="18" charset="2"/>
              </a:rPr>
              <a:t>48</a:t>
            </a:r>
            <a:endParaRPr lang="en-US" sz="1600" b="0" dirty="0"/>
          </a:p>
          <a:p>
            <a:r>
              <a:rPr lang="en-US" sz="1600" b="0" dirty="0"/>
              <a:t>How many hands contain a </a:t>
            </a:r>
            <a:r>
              <a:rPr lang="en-US" sz="1600" b="0" dirty="0">
                <a:solidFill>
                  <a:srgbClr val="FF0000"/>
                </a:solidFill>
              </a:rPr>
              <a:t>full house</a:t>
            </a:r>
            <a:r>
              <a:rPr lang="en-US" sz="1600" b="0" dirty="0"/>
              <a:t>?</a:t>
            </a:r>
          </a:p>
          <a:p>
            <a:r>
              <a:rPr lang="en-US" sz="1600" b="0" dirty="0"/>
              <a:t>Number of ways to select the 2 kinds C(13,2).</a:t>
            </a:r>
          </a:p>
          <a:p>
            <a:r>
              <a:rPr lang="en-US" sz="1600" b="0" dirty="0"/>
              <a:t>Number of ways to select the kind for the 3-of a kind C(2,1).</a:t>
            </a:r>
          </a:p>
          <a:p>
            <a:r>
              <a:rPr lang="en-US" sz="1600" b="0" dirty="0"/>
              <a:t>Number of ways to select the suits for the 3-of a kind C(4,3)</a:t>
            </a:r>
          </a:p>
          <a:p>
            <a:r>
              <a:rPr lang="en-US" sz="1600" b="0" dirty="0"/>
              <a:t>Number of ways to select the suits for the pair C(4,2).</a:t>
            </a:r>
          </a:p>
          <a:p>
            <a:r>
              <a:rPr lang="en-US" sz="1600" b="0" dirty="0"/>
              <a:t>Total number is: C(13,2)</a:t>
            </a:r>
            <a:r>
              <a:rPr lang="en-US" sz="1600" b="0" dirty="0">
                <a:sym typeface="Symbol" panose="05050102010706020507" pitchFamily="18" charset="2"/>
              </a:rPr>
              <a:t></a:t>
            </a:r>
            <a:r>
              <a:rPr lang="en-US" sz="1600" b="0" dirty="0"/>
              <a:t>C(2,1)</a:t>
            </a:r>
            <a:r>
              <a:rPr lang="en-US" sz="1600" b="0" dirty="0">
                <a:sym typeface="Symbol" panose="05050102010706020507" pitchFamily="18" charset="2"/>
              </a:rPr>
              <a:t></a:t>
            </a:r>
            <a:r>
              <a:rPr lang="en-US" sz="1600" b="0" dirty="0"/>
              <a:t>C(4,3)</a:t>
            </a:r>
            <a:r>
              <a:rPr lang="en-US" sz="1600" b="0" dirty="0">
                <a:sym typeface="Symbol" panose="05050102010706020507" pitchFamily="18" charset="2"/>
              </a:rPr>
              <a:t> </a:t>
            </a:r>
            <a:r>
              <a:rPr lang="en-US" sz="1600" b="0" dirty="0"/>
              <a:t>C(2,2) </a:t>
            </a:r>
          </a:p>
          <a:p>
            <a:r>
              <a:rPr lang="en-US" sz="1600" b="0" dirty="0">
                <a:solidFill>
                  <a:srgbClr val="0000FF"/>
                </a:solidFill>
              </a:rPr>
              <a:t>Poker Hands</a:t>
            </a:r>
            <a:r>
              <a:rPr lang="en-US" sz="1600" b="0" dirty="0"/>
              <a:t>: Royal Flush &gt; Straight Flush &gt; 4-of a kind &gt; Full house &gt; Flush &gt; Straight &gt; 3-of a kind &gt; 2 pairs &gt; 1 pair</a:t>
            </a:r>
          </a:p>
        </p:txBody>
      </p:sp>
    </p:spTree>
    <p:extLst>
      <p:ext uri="{BB962C8B-B14F-4D97-AF65-F5344CB8AC3E}">
        <p14:creationId xmlns:p14="http://schemas.microsoft.com/office/powerpoint/2010/main" val="1835357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