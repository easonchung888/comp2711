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6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65" r:id="rId17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17" Type="http://schemas.openxmlformats.org/officeDocument/2006/relationships/slide" Target="slides/slide16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?>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Proof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066800"/>
                <a:ext cx="8686800" cy="5334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/>
                  <a:t>The </a:t>
                </a:r>
                <a:r>
                  <a:rPr lang="en-US" altLang="zh-CN" sz="2400" i="1" dirty="0">
                    <a:solidFill>
                      <a:srgbClr val="0000FF"/>
                    </a:solidFill>
                  </a:rPr>
                  <a:t>k</a:t>
                </a:r>
                <a:r>
                  <a:rPr lang="en-US" altLang="zh-CN" sz="2400" dirty="0">
                    <a:solidFill>
                      <a:srgbClr val="0000FF"/>
                    </a:solidFill>
                  </a:rPr>
                  <a:t>-permutations</a:t>
                </a:r>
                <a:r>
                  <a:rPr lang="en-US" altLang="zh-CN" sz="2400" dirty="0"/>
                  <a:t> of the set can be obtained by 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forming the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i="1" dirty="0">
                    <a:solidFill>
                      <a:schemeClr val="tx1"/>
                    </a:solidFill>
                  </a:rPr>
                  <a:t> k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-combinations of the set</a:t>
                </a:r>
                <a:r>
                  <a:rPr lang="en-US" altLang="zh-CN" sz="2400" dirty="0"/>
                  <a:t>, and then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ordering the elements in each </a:t>
                </a:r>
                <a:r>
                  <a:rPr lang="en-US" altLang="zh-CN" sz="2400" i="1" dirty="0">
                    <a:solidFill>
                      <a:srgbClr val="FF0000"/>
                    </a:solidFill>
                  </a:rPr>
                  <a:t>k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-combination</a:t>
                </a:r>
                <a:r>
                  <a:rPr lang="en-US" altLang="zh-CN" sz="2400" dirty="0"/>
                  <a:t>, which can be done in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(i.e.,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altLang="zh-CN" sz="2400" dirty="0"/>
                  <a:t>) ways. Consequently,</a:t>
                </a:r>
              </a:p>
              <a:p>
                <a:pPr marL="0" indent="0">
                  <a:buNone/>
                </a:pPr>
                <a:endParaRPr lang="en-US" altLang="zh-C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400" dirty="0"/>
                  <a:t>This implies that</a:t>
                </a:r>
              </a:p>
              <a:p>
                <a:pPr marL="0" indent="0">
                  <a:buNone/>
                </a:pPr>
                <a:endParaRPr lang="en-US" altLang="zh-CN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!/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! 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066800"/>
                <a:ext cx="8686800" cy="5334000"/>
              </a:xfrm>
              <a:blipFill>
                <a:blip r:embed="rId2"/>
                <a:stretch>
                  <a:fillRect l="-1123" t="-800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1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