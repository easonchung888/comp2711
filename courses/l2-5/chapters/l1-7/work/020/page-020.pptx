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0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63" r:id="rId21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21" Type="http://schemas.openxmlformats.org/officeDocument/2006/relationships/slide" Target="slides/slide20.xml" /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?>
<Relationships xmlns="http://schemas.openxmlformats.org/package/2006/relationships"><Relationship Id="rId2" Type="http://schemas.openxmlformats.org/officeDocument/2006/relationships/image" Target="../media/image151.png" /><Relationship Id="rId1" Type="http://schemas.openxmlformats.org/officeDocument/2006/relationships/slideLayout" Target="../slideLayouts/slideLayout2.xml" 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15962"/>
          </a:xfrm>
        </p:spPr>
        <p:txBody>
          <a:bodyPr/>
          <a:lstStyle/>
          <a:p>
            <a:r>
              <a:rPr lang="en-US" altLang="zh-CN" sz="3200" dirty="0">
                <a:solidFill>
                  <a:schemeClr val="tx1"/>
                </a:solidFill>
              </a:rPr>
              <a:t>Combinatorial proof of Pascal’s identity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066800"/>
                <a:ext cx="86868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Suppose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 is a set containing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elements. Let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 be an element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−{</m:t>
                    </m:r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 containing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 elements. However,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a subset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elements either contains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together 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/>
                  <a:t>, or 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contains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rgbClr val="0000FF"/>
                    </a:solidFill>
                  </a:rPr>
                  <a:t> 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>
                    <a:solidFill>
                      <a:srgbClr val="0000FF"/>
                    </a:solidFill>
                  </a:rPr>
                  <a:t> and does not contain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.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Because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of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dirty="0"/>
                  <a:t> 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en-US" altLang="zh-CN" dirty="0">
                    <a:solidFill>
                      <a:srgbClr val="FF3300"/>
                    </a:solidFill>
                  </a:rPr>
                  <a:t>there are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>
                    <a:solidFill>
                      <a:srgbClr val="FF3300"/>
                    </a:solidFill>
                  </a:rPr>
                  <a:t> subsets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rgbClr val="FF3300"/>
                    </a:solidFill>
                  </a:rPr>
                  <a:t>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>
                    <a:solidFill>
                      <a:srgbClr val="FF3300"/>
                    </a:solidFill>
                  </a:rPr>
                  <a:t> that contain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/>
                  <a:t>. Because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subsets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 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i="1" dirty="0"/>
                  <a:t> , 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>
                    <a:solidFill>
                      <a:srgbClr val="0000FF"/>
                    </a:solidFill>
                  </a:rPr>
                  <a:t> subsets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rgbClr val="0000FF"/>
                    </a:solidFill>
                  </a:rPr>
                  <a:t> elements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>
                    <a:solidFill>
                      <a:srgbClr val="0000FF"/>
                    </a:solidFill>
                  </a:rPr>
                  <a:t> that don’t contain </a:t>
                </a:r>
                <a:r>
                  <a:rPr lang="en-US" altLang="zh-CN" i="1" dirty="0">
                    <a:solidFill>
                      <a:srgbClr val="0000FF"/>
                    </a:solidFill>
                  </a:rPr>
                  <a:t>a</a:t>
                </a:r>
                <a:r>
                  <a:rPr lang="en-US" altLang="zh-CN" dirty="0"/>
                  <a:t>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Therefore: 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066800"/>
                <a:ext cx="8686800" cy="5410200"/>
              </a:xfrm>
              <a:blipFill>
                <a:blip r:embed="rId2"/>
                <a:stretch>
                  <a:fillRect l="-1123" t="-788" r="-1965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0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