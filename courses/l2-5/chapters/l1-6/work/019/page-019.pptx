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9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85" r:id="rId20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20" Type="http://schemas.openxmlformats.org/officeDocument/2006/relationships/slide" Target="slides/slide19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9.xml.rels><?xml version='1.0' encoding='utf-8'?>
<Relationships xmlns="http://schemas.openxmlformats.org/package/2006/relationships"><Relationship Id="rId2" Type="http://schemas.openxmlformats.org/officeDocument/2006/relationships/image" Target="../media/image12.png" /><Relationship Id="rId1" Type="http://schemas.openxmlformats.org/officeDocument/2006/relationships/slideLayout" Target="../slideLayouts/slideLayout2.xml" /></Relationships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FF"/>
                </a:solidFill>
              </a:rPr>
              <a:t>Exercise</a:t>
            </a:r>
            <a:r>
              <a:rPr lang="en-US" altLang="zh-CN" dirty="0">
                <a:solidFill>
                  <a:schemeClr val="tx1"/>
                </a:solidFill>
              </a:rPr>
              <a:t> on Committee Selection</a:t>
            </a:r>
            <a:endParaRPr lang="zh-CN" alt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28600" y="1295400"/>
                <a:ext cx="8686800" cy="5562600"/>
              </a:xfrm>
            </p:spPr>
            <p:txBody>
              <a:bodyPr/>
              <a:lstStyle/>
              <a:p>
                <a:r>
                  <a:rPr lang="en-US" altLang="zh-CN" sz="2200" dirty="0"/>
                  <a:t>Suppose there are </a:t>
                </a:r>
                <a:r>
                  <a:rPr lang="en-US" altLang="zh-CN" sz="2200" dirty="0">
                    <a:solidFill>
                      <a:srgbClr val="0000FF"/>
                    </a:solidFill>
                  </a:rPr>
                  <a:t>40</a:t>
                </a:r>
                <a:r>
                  <a:rPr lang="en-US" altLang="zh-CN" sz="2200" dirty="0"/>
                  <a:t> faculty members in the computer science department and </a:t>
                </a:r>
                <a:r>
                  <a:rPr lang="en-US" altLang="zh-CN" sz="2200" dirty="0">
                    <a:solidFill>
                      <a:srgbClr val="FF3300"/>
                    </a:solidFill>
                  </a:rPr>
                  <a:t>30</a:t>
                </a:r>
                <a:r>
                  <a:rPr lang="en-US" altLang="zh-CN" sz="2200" dirty="0"/>
                  <a:t> in the mathematics department. How many ways are there to select a committee that has </a:t>
                </a:r>
                <a:r>
                  <a:rPr lang="en-US" altLang="zh-CN" sz="2200" dirty="0">
                    <a:solidFill>
                      <a:srgbClr val="0000FF"/>
                    </a:solidFill>
                  </a:rPr>
                  <a:t>4</a:t>
                </a:r>
                <a:r>
                  <a:rPr lang="en-US" altLang="zh-CN" sz="2200" dirty="0"/>
                  <a:t> faculty members from the computer science and </a:t>
                </a:r>
                <a:r>
                  <a:rPr lang="en-US" altLang="zh-CN" sz="2200" dirty="0">
                    <a:solidFill>
                      <a:srgbClr val="FF3300"/>
                    </a:solidFill>
                  </a:rPr>
                  <a:t>3</a:t>
                </a:r>
                <a:r>
                  <a:rPr lang="en-US" altLang="zh-CN" sz="2200" dirty="0"/>
                  <a:t> from the mathematics department?</a:t>
                </a:r>
              </a:p>
              <a:p>
                <a:r>
                  <a:rPr lang="en-US" altLang="zh-CN" sz="2200" b="1" dirty="0">
                    <a:solidFill>
                      <a:srgbClr val="0000FF"/>
                    </a:solidFill>
                  </a:rPr>
                  <a:t>Solution</a:t>
                </a:r>
              </a:p>
              <a:p>
                <a:r>
                  <a:rPr lang="en-US" altLang="zh-CN" sz="2200" dirty="0"/>
                  <a:t>There are 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(40, 4)</m:t>
                    </m:r>
                  </m:oMath>
                </a14:m>
                <a:r>
                  <a:rPr lang="en-US" altLang="zh-CN" sz="2200" dirty="0"/>
                  <a:t> ways to select the 4 computer science faculty members. </a:t>
                </a:r>
              </a:p>
              <a:p>
                <a:r>
                  <a:rPr lang="en-US" altLang="zh-CN" sz="2200" dirty="0"/>
                  <a:t>For each fixed set of selected CSE faculty members, there are 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(30, 3)</m:t>
                    </m:r>
                  </m:oMath>
                </a14:m>
                <a:r>
                  <a:rPr lang="en-US" altLang="zh-CN" sz="2200" dirty="0"/>
                  <a:t> ways to select the 3 Math faculty members.</a:t>
                </a:r>
              </a:p>
              <a:p>
                <a:r>
                  <a:rPr lang="en-US" altLang="zh-CN" sz="2200" dirty="0"/>
                  <a:t>By the </a:t>
                </a:r>
                <a:r>
                  <a:rPr lang="en-US" altLang="zh-CN" sz="2200" dirty="0">
                    <a:solidFill>
                      <a:srgbClr val="0000FF"/>
                    </a:solidFill>
                  </a:rPr>
                  <a:t>product rule</a:t>
                </a:r>
                <a:r>
                  <a:rPr lang="en-US" altLang="zh-CN" sz="2200" dirty="0"/>
                  <a:t> so there are a total of </a:t>
                </a:r>
                <a14:m>
                  <m:oMath xmlns:m="http://schemas.openxmlformats.org/officeDocument/2006/math"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altLang="zh-CN" sz="2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200" i="1" dirty="0" smtClean="0">
                            <a:latin typeface="Cambria Math" panose="02040503050406030204" pitchFamily="18" charset="0"/>
                          </a:rPr>
                          <m:t>40,4</m:t>
                        </m:r>
                      </m:e>
                    </m:d>
                    <m:r>
                      <a:rPr lang="en-US" altLang="zh-CN" sz="2200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200" i="1" dirty="0" smtClean="0">
                        <a:latin typeface="Cambria Math" panose="02040503050406030204" pitchFamily="18" charset="0"/>
                      </a:rPr>
                      <m:t>(30,3)=</m:t>
                    </m:r>
                    <m:f>
                      <m:f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en-US" altLang="zh-CN" sz="2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30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US" altLang="zh-CN" sz="2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200" i="1">
                            <a:latin typeface="Cambria Math" panose="02040503050406030204" pitchFamily="18" charset="0"/>
                          </a:rPr>
                          <m:t>7!</m:t>
                        </m:r>
                      </m:den>
                    </m:f>
                  </m:oMath>
                </a14:m>
                <a:r>
                  <a:rPr lang="en-US" altLang="zh-CN" sz="2200" dirty="0"/>
                  <a:t> possible ways. 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8600" y="1295400"/>
                <a:ext cx="8686800" cy="5562600"/>
              </a:xfrm>
              <a:blipFill>
                <a:blip r:embed="rId2"/>
                <a:stretch>
                  <a:fillRect l="-772" t="-768" r="-1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19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640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