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30" saveSubsetFonts="1" autoCompressPictures="0">
  <p:sldMasterIdLst>
    <p:sldMasterId id="2147483648" r:id="rId1"/>
  </p:sldMasterIdLst>
  <p:notesMasterIdLst>
    <p:notesMasterId r:id="rId53"/>
  </p:notesMasterIdLst>
  <p:handoutMasterIdLst>
    <p:handoutMasterId r:id="rId54"/>
  </p:handoutMasterIdLst>
  <p:sldIdLst>
    <p:sldId id="384" r:id="rId31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72" autoAdjust="0"/>
    <p:restoredTop sz="94279" autoAdjust="0"/>
  </p:normalViewPr>
  <p:slideViewPr>
    <p:cSldViewPr>
      <p:cViewPr varScale="1">
        <p:scale>
          <a:sx n="150" d="100"/>
          <a:sy n="150" d="100"/>
        </p:scale>
        <p:origin x="176" y="6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2568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55" Type="http://schemas.openxmlformats.org/officeDocument/2006/relationships/presProps" Target="presProps.xml" /><Relationship Id="rId53" Type="http://schemas.openxmlformats.org/officeDocument/2006/relationships/notesMaster" Target="notesMasters/notesMaster1.xml" /><Relationship Id="rId58" Type="http://schemas.openxmlformats.org/officeDocument/2006/relationships/tableStyles" Target="tableStyles.xml" /><Relationship Id="rId56" Type="http://schemas.openxmlformats.org/officeDocument/2006/relationships/viewProps" Target="viewProps.xml" /><Relationship Id="rId54" Type="http://schemas.openxmlformats.org/officeDocument/2006/relationships/handoutMaster" Target="handoutMasters/handoutMaster1.xml" /><Relationship Id="rId1" Type="http://schemas.openxmlformats.org/officeDocument/2006/relationships/slideMaster" Target="slideMasters/slideMaster1.xml" /><Relationship Id="rId57" Type="http://schemas.openxmlformats.org/officeDocument/2006/relationships/theme" Target="theme/theme1.xml" /><Relationship Id="rId31" Type="http://schemas.openxmlformats.org/officeDocument/2006/relationships/slide" Target="slides/slide30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8213" y="752475"/>
            <a:ext cx="5008562" cy="37576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1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0.xml.rels><?xml version='1.0' encoding='utf-8'?>
<Relationships xmlns="http://schemas.openxmlformats.org/package/2006/relationships"><Relationship Id="rId3" Type="http://schemas.openxmlformats.org/officeDocument/2006/relationships/image" Target="../media/image150.png" /><Relationship Id="rId2" Type="http://schemas.openxmlformats.org/officeDocument/2006/relationships/image" Target="../media/image15.png" /><Relationship Id="rId1" Type="http://schemas.openxmlformats.org/officeDocument/2006/relationships/slideLayout" Target="../slideLayouts/slideLayout2.xml" /></Relationships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/>
              <p:cNvSpPr>
                <a:spLocks noGrp="1"/>
              </p:cNvSpPr>
              <p:nvPr>
                <p:ph type="title"/>
              </p:nvPr>
            </p:nvSpPr>
            <p:spPr>
              <a:xfrm>
                <a:off x="152400" y="274638"/>
                <a:ext cx="8839200" cy="715962"/>
              </a:xfrm>
            </p:spPr>
            <p:txBody>
              <a:bodyPr/>
              <a:lstStyle/>
              <a:p>
                <a:r>
                  <a:rPr lang="en-US" altLang="zh-CN" sz="3000" dirty="0">
                    <a:solidFill>
                      <a:schemeClr val="tx1"/>
                    </a:solidFill>
                  </a:rPr>
                  <a:t>Proof of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3000" dirty="0">
                    <a:solidFill>
                      <a:schemeClr val="tx1"/>
                    </a:solidFill>
                  </a:rPr>
                  <a:t> by Bijection Principle</a:t>
                </a:r>
                <a:endParaRPr lang="zh-CN" altLang="en-US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标题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52400" y="274638"/>
                <a:ext cx="8839200" cy="715962"/>
              </a:xfrm>
              <a:blipFill>
                <a:blip r:embed="rId2"/>
                <a:stretch>
                  <a:fillRect l="-1586" t="-30508" b="-47458"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600200"/>
                <a:ext cx="8686800" cy="5181600"/>
              </a:xfrm>
            </p:spPr>
            <p:txBody>
              <a:bodyPr/>
              <a:lstStyle/>
              <a:p>
                <a:r>
                  <a:rPr lang="en-US" altLang="zh-CN" sz="2400" dirty="0"/>
                  <a:t>Suppose </a:t>
                </a:r>
                <a:r>
                  <a:rPr lang="en-US" altLang="zh-CN" sz="2400" i="1" dirty="0"/>
                  <a:t>S</a:t>
                </a:r>
                <a:r>
                  <a:rPr lang="en-US" altLang="zh-CN" sz="2400" dirty="0"/>
                  <a:t> is a set with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400" dirty="0"/>
                  <a:t> distinct elements.</a:t>
                </a:r>
                <a:br>
                  <a:rPr lang="en-US" altLang="zh-CN" sz="2400" dirty="0"/>
                </a:br>
                <a:r>
                  <a:rPr lang="en-US" altLang="zh-CN" sz="2400" dirty="0"/>
                  <a:t>Every subset </a:t>
                </a:r>
                <a:r>
                  <a:rPr lang="en-US" altLang="zh-CN" sz="2400" i="1" dirty="0"/>
                  <a:t>A</a:t>
                </a:r>
                <a:r>
                  <a:rPr lang="en-US" altLang="zh-CN" sz="2400" dirty="0"/>
                  <a:t> of </a:t>
                </a:r>
                <a:r>
                  <a:rPr lang="en-US" altLang="zh-CN" sz="2400" i="1" dirty="0"/>
                  <a:t>S</a:t>
                </a:r>
                <a:r>
                  <a:rPr lang="en-US" altLang="zh-CN" sz="2400" dirty="0"/>
                  <a:t> with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400" dirty="0"/>
                  <a:t> elements corresponds to the subset </a:t>
                </a:r>
                <a:r>
                  <a:rPr lang="en-US" altLang="zh-CN" sz="2400" i="1" dirty="0"/>
                  <a:t>A</a:t>
                </a:r>
                <a:r>
                  <a:rPr lang="en-US" altLang="zh-CN" sz="2400" dirty="0"/>
                  <a:t>'=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zh-CN" sz="2400" dirty="0"/>
                  <a:t> of </a:t>
                </a:r>
                <a:r>
                  <a:rPr lang="en-US" altLang="zh-CN" sz="2400" i="1" dirty="0"/>
                  <a:t>S</a:t>
                </a:r>
                <a:r>
                  <a:rPr lang="en-US" altLang="zh-CN" sz="2400" dirty="0"/>
                  <a:t> with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sz="2400" dirty="0"/>
                  <a:t> elements. Therefore, the function that maps </a:t>
                </a:r>
                <a:r>
                  <a:rPr lang="en-US" altLang="zh-CN" i="1" dirty="0"/>
                  <a:t>A</a:t>
                </a:r>
                <a:r>
                  <a:rPr lang="en-US" altLang="zh-CN" sz="2400" dirty="0"/>
                  <a:t> to </a:t>
                </a:r>
                <a:r>
                  <a:rPr lang="en-US" altLang="zh-CN" i="1" dirty="0"/>
                  <a:t>A</a:t>
                </a:r>
                <a:r>
                  <a:rPr lang="en-US" altLang="zh-CN" dirty="0"/>
                  <a:t>' is a bijection </a:t>
                </a:r>
                <a:r>
                  <a:rPr lang="en-US" altLang="zh-CN" sz="2400" dirty="0"/>
                  <a:t>Consequently, the number of subsets of </a:t>
                </a:r>
                <a:r>
                  <a:rPr lang="en-US" altLang="zh-CN" i="1" dirty="0"/>
                  <a:t>S </a:t>
                </a:r>
                <a:r>
                  <a:rPr lang="en-US" altLang="zh-CN" dirty="0"/>
                  <a:t>with</a:t>
                </a:r>
                <a:r>
                  <a:rPr lang="en-US" altLang="zh-CN" i="1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sz="2400" dirty="0"/>
                  <a:t> elements is the same as th</a:t>
                </a:r>
                <a:r>
                  <a:rPr lang="en-US" altLang="zh-CN" dirty="0"/>
                  <a:t>e number of subsets of S with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dirty="0"/>
                  <a:t> elements. The former can be counted by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/>
                  <a:t>and the latter by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    </a:t>
                </a:r>
              </a:p>
              <a:p>
                <a:pPr marL="0" indent="0">
                  <a:buNone/>
                </a:pPr>
                <a:r>
                  <a:rPr lang="en-US" altLang="zh-CN" sz="2400" dirty="0"/>
                  <a:t>    </a:t>
                </a:r>
                <a:r>
                  <a:rPr lang="pt-BR" altLang="zh-CN" sz="2400" dirty="0" err="1"/>
                  <a:t>Consequently</a:t>
                </a:r>
                <a:r>
                  <a:rPr lang="pt-BR" altLang="zh-CN" sz="2400" dirty="0"/>
                  <a:t>,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/>
                  <a:t>.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600200"/>
                <a:ext cx="8686800" cy="5181600"/>
              </a:xfrm>
              <a:blipFill>
                <a:blip r:embed="rId3"/>
                <a:stretch>
                  <a:fillRect l="-982" t="-824" r="-11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30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250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15719</TotalTime>
  <Words>6436</Words>
  <Application>Microsoft Macintosh PowerPoint</Application>
  <PresentationFormat>On-screen Show (4:3)</PresentationFormat>
  <Paragraphs>395</Paragraphs>
  <Slides>51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Arial</vt:lpstr>
      <vt:lpstr>Cambria</vt:lpstr>
      <vt:lpstr>Cambria Math</vt:lpstr>
      <vt:lpstr>Lucida Sans</vt:lpstr>
      <vt:lpstr>Symbol</vt:lpstr>
      <vt:lpstr>Wingdings</vt:lpstr>
      <vt:lpstr>Default Design</vt:lpstr>
      <vt:lpstr>Permutations and Combinations</vt:lpstr>
      <vt:lpstr>Permutations</vt:lpstr>
      <vt:lpstr>Example</vt:lpstr>
      <vt:lpstr>Permutation</vt:lpstr>
      <vt:lpstr>k-Permutation</vt:lpstr>
      <vt:lpstr>Number of k-Permutations</vt:lpstr>
      <vt:lpstr>Example</vt:lpstr>
      <vt:lpstr>Example</vt:lpstr>
      <vt:lpstr>Exercise on Strings</vt:lpstr>
      <vt:lpstr>Exercise on Seating Arrangement</vt:lpstr>
      <vt:lpstr>Exercise on Seating Arrangement</vt:lpstr>
      <vt:lpstr>Exercise on Parking Lots</vt:lpstr>
      <vt:lpstr>k-Combinations</vt:lpstr>
      <vt:lpstr>k-Combinations</vt:lpstr>
      <vt:lpstr>Number of k-Combinations</vt:lpstr>
      <vt:lpstr>Proof</vt:lpstr>
      <vt:lpstr>Example</vt:lpstr>
      <vt:lpstr>Corollary</vt:lpstr>
      <vt:lpstr>Exercise on Committee Selection</vt:lpstr>
      <vt:lpstr>Exercise on Group Selection</vt:lpstr>
      <vt:lpstr>Exercise on Ball Selection</vt:lpstr>
      <vt:lpstr>Exercise on Earring Selection</vt:lpstr>
      <vt:lpstr>PowerPoint Presentation</vt:lpstr>
      <vt:lpstr>Exercise on Seating Arrangements</vt:lpstr>
      <vt:lpstr>Poker Exercises 1</vt:lpstr>
      <vt:lpstr>Poker Exercises 2</vt:lpstr>
      <vt:lpstr>Poker Exercises 3</vt:lpstr>
      <vt:lpstr>Poker Exercises 4</vt:lpstr>
      <vt:lpstr>Combinatorial Proof and Bijection Principle</vt:lpstr>
      <vt:lpstr>Proof of C(n, k) = C(n, n-k) by Bijection Principle</vt:lpstr>
      <vt:lpstr>Example by Bijection Principle</vt:lpstr>
      <vt:lpstr>The Playoff Example (solved using tree diagrams in previous lecture)</vt:lpstr>
      <vt:lpstr>Exercise on Coin Flipping</vt:lpstr>
      <vt:lpstr>Permutations with Indistinguishable Objects</vt:lpstr>
      <vt:lpstr>Permutations with Indistinguishable Objects</vt:lpstr>
      <vt:lpstr>Proof of Theorem</vt:lpstr>
      <vt:lpstr>Distributing Objects into Boxes</vt:lpstr>
      <vt:lpstr>Distributing Objects into Boxes</vt:lpstr>
      <vt:lpstr>Distributing Objects into Boxes</vt:lpstr>
      <vt:lpstr>Combinations with Repetition</vt:lpstr>
      <vt:lpstr>Solution</vt:lpstr>
      <vt:lpstr>Comments on the Bill Example</vt:lpstr>
      <vt:lpstr>Combinations with Repetition (bars and stars)</vt:lpstr>
      <vt:lpstr>Combinations with Repetition - Cookies</vt:lpstr>
      <vt:lpstr>Example of Combinations with Repetition</vt:lpstr>
      <vt:lpstr>Exercise on Equation Solutions</vt:lpstr>
      <vt:lpstr>Exercise on Equation Solutions with minimum constraint</vt:lpstr>
      <vt:lpstr>Exercise on Equation Solutions with maximum constraint</vt:lpstr>
      <vt:lpstr>Summary</vt:lpstr>
      <vt:lpstr>Exercise on Paths 1</vt:lpstr>
      <vt:lpstr>Exercise on Paths 2 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964</cp:revision>
  <cp:lastPrinted>2026-09-29T02:33:58Z</cp:lastPrinted>
  <dcterms:created xsi:type="dcterms:W3CDTF">2012-01-21T22:53:48Z</dcterms:created>
  <dcterms:modified xsi:type="dcterms:W3CDTF">2026-09-30T01:31:42Z</dcterms:modified>
</cp:coreProperties>
</file>