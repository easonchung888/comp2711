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3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58" r:id="rId14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4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5" Type="http://schemas.openxmlformats.org/officeDocument/2006/relationships/presProps" Target="presProps.xml" /><Relationship Id="rId44" Type="http://schemas.openxmlformats.org/officeDocument/2006/relationships/handoutMaster" Target="handoutMasters/handoutMaster1.xml" /><Relationship Id="rId14" Type="http://schemas.openxmlformats.org/officeDocument/2006/relationships/slide" Target="slides/slide13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3.xml.rels><?xml version='1.0' encoding='utf-8'?>
<Relationships xmlns="http://schemas.openxmlformats.org/package/2006/relationships"><Relationship Id="rId2" Type="http://schemas.openxmlformats.org/officeDocument/2006/relationships/image" Target="../media/image90.png" /><Relationship Id="rId1" Type="http://schemas.openxmlformats.org/officeDocument/2006/relationships/slideLayout" Target="../slideLayouts/slideLayout2.xml" /></Relationships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Alternative: Combinatorial Proof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066800"/>
                <a:ext cx="8686800" cy="4876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We have already seen that set with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elements has a total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dirty="0"/>
                  <a:t> different subsets (</a:t>
                </a:r>
                <a:r>
                  <a:rPr lang="en-US" altLang="zh-CN" i="1" dirty="0">
                    <a:solidFill>
                      <a:srgbClr val="FF0000"/>
                    </a:solidFill>
                  </a:rPr>
                  <a:t>powerset</a:t>
                </a:r>
                <a:r>
                  <a:rPr lang="en-US" altLang="zh-CN" dirty="0"/>
                  <a:t>). Each subset has either zero elements, or one element, or two elements, …, or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elements in it. 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There are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dirty="0"/>
                  <a:t> subsets with zero elements,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dirty="0"/>
                  <a:t> subsets with one element,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dirty="0"/>
                  <a:t> subsets with two elements, …,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dirty="0"/>
                  <a:t> subsets with </a:t>
                </a:r>
                <a:r>
                  <a:rPr lang="en-US" altLang="zh-CN" i="1" dirty="0"/>
                  <a:t>n</a:t>
                </a:r>
                <a:r>
                  <a:rPr lang="en-US" altLang="zh-CN" dirty="0"/>
                  <a:t> elements.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Therefore,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2400" dirty="0"/>
              </a:p>
              <a:p>
                <a:pPr marL="0" indent="0">
                  <a:buNone/>
                </a:pPr>
                <a:r>
                  <a:rPr lang="en-US" altLang="zh-CN" dirty="0"/>
                  <a:t>counts the total number of subsets of a set with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elements, which is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066800"/>
                <a:ext cx="8686800" cy="4876800"/>
              </a:xfrm>
              <a:blipFill>
                <a:blip r:embed="rId2"/>
                <a:stretch>
                  <a:fillRect l="-1123" t="-875" r="-1754" b="-18125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13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471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