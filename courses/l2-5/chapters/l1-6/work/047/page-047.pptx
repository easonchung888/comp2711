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7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411" r:id="rId48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48" Type="http://schemas.openxmlformats.org/officeDocument/2006/relationships/slide" Target="slides/slide47.xml" /><Relationship Id="rId56" Type="http://schemas.openxmlformats.org/officeDocument/2006/relationships/viewProps" Target="viewProps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7.xml.rels><?xml version='1.0' encoding='utf-8'?>
<Relationships xmlns="http://schemas.openxmlformats.org/package/2006/relationships"><Relationship Id="rId2" Type="http://schemas.openxmlformats.org/officeDocument/2006/relationships/image" Target="../media/image30.png" /><Relationship Id="rId1" Type="http://schemas.openxmlformats.org/officeDocument/2006/relationships/slideLayout" Target="../slideLayouts/slideLayout2.xml" /></Relationships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Exercise </a:t>
            </a:r>
            <a:r>
              <a:rPr lang="en-US" sz="3200" dirty="0"/>
              <a:t>on Equation Solutions with minimum constraint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1295400"/>
                <a:ext cx="8839200" cy="4953000"/>
              </a:xfrm>
            </p:spPr>
            <p:txBody>
              <a:bodyPr/>
              <a:lstStyle/>
              <a:p>
                <a:r>
                  <a:rPr lang="en-US" sz="2000" dirty="0"/>
                  <a:t>How many solutions does the equation</a:t>
                </a:r>
                <a:br>
                  <a:rPr lang="en-US" sz="2000" b="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3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5</m:t>
                    </m:r>
                  </m:oMath>
                </a14:m>
                <a:br>
                  <a:rPr lang="en-US" sz="2000" dirty="0"/>
                </a:br>
                <a:r>
                  <a:rPr lang="en-US" sz="2000" dirty="0"/>
                  <a:t>have,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/>
                  <a:t> are nonnegative integers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≥ 3</a:t>
                </a:r>
                <a:r>
                  <a:rPr lang="en-US" sz="2000" dirty="0"/>
                  <a:t>?</a:t>
                </a:r>
              </a:p>
              <a:p>
                <a:r>
                  <a:rPr lang="en-US" sz="2000" dirty="0">
                    <a:solidFill>
                      <a:srgbClr val="00B050"/>
                    </a:solidFill>
                    <a:ea typeface="Cambria Math" pitchFamily="18" charset="0"/>
                  </a:rPr>
                  <a:t>Equivalent problem: </a:t>
                </a:r>
                <a:r>
                  <a:rPr lang="en-US" sz="2000" dirty="0"/>
                  <a:t>Suppose that a cookie shop has </a:t>
                </a:r>
                <a:r>
                  <a:rPr lang="en-US" sz="2000" dirty="0">
                    <a:solidFill>
                      <a:srgbClr val="FF0000"/>
                    </a:solidFill>
                  </a:rPr>
                  <a:t>3 different kinds of cookies</a:t>
                </a:r>
                <a:r>
                  <a:rPr lang="en-US" sz="2000" dirty="0"/>
                  <a:t>. In how many different ways can </a:t>
                </a:r>
                <a:r>
                  <a:rPr lang="en-US" sz="2000" dirty="0">
                    <a:solidFill>
                      <a:srgbClr val="0000FF"/>
                    </a:solidFill>
                  </a:rPr>
                  <a:t>5</a:t>
                </a:r>
                <a:r>
                  <a:rPr lang="en-US" sz="2000" dirty="0"/>
                  <a:t> cookies be chosen, </a:t>
                </a:r>
                <a:r>
                  <a:rPr lang="en-US" sz="2000" dirty="0">
                    <a:solidFill>
                      <a:srgbClr val="0000FF"/>
                    </a:solidFill>
                  </a:rPr>
                  <a:t>if I must choose at least 3 cookies of the third kind</a:t>
                </a:r>
                <a:r>
                  <a:rPr lang="en-US" sz="2000" dirty="0"/>
                  <a:t>?</a:t>
                </a:r>
              </a:p>
              <a:p>
                <a:r>
                  <a:rPr lang="en-US" sz="2000" b="1" dirty="0"/>
                  <a:t>Solution</a:t>
                </a:r>
                <a:endParaRPr lang="en-US" sz="2000" dirty="0"/>
              </a:p>
              <a:p>
                <a:r>
                  <a:rPr lang="en-US" sz="2000" dirty="0"/>
                  <a:t>I rewrite the equation as follows:</a:t>
                </a:r>
              </a:p>
              <a:p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3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−3)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 pitchFamily="18" charset="0"/>
                      </a:rPr>
                      <m:t>5</m:t>
                    </m:r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itchFamily="18" charset="0"/>
                      </a:rPr>
                      <m:t>−3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dirty="0">
                    <a:sym typeface="Symbol" panose="05050102010706020507" pitchFamily="18" charset="2"/>
                  </a:rPr>
                  <a:t>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baseline="-25000" dirty="0" smtClean="0">
                        <a:latin typeface="Cambria Math" panose="02040503050406030204" pitchFamily="18" charset="0"/>
                        <a:ea typeface="Cambria Math" pitchFamily="18" charset="0"/>
                      </a:rPr>
                      <m:t>1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baseline="-25000" dirty="0"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Cambria Math" pitchFamily="18" charset="0"/>
                      </a:rPr>
                      <m:t>2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r>
                  <a:rPr lang="en-US" sz="2000" dirty="0"/>
                  <a:t>The number of solutions for the new equation is</a:t>
                </a:r>
              </a:p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!2!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This is the number of solutions when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>
                    <a:sym typeface="Symbol" panose="05050102010706020507" pitchFamily="18" charset="2"/>
                  </a:rPr>
                  <a:t>0 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nor/>
                      </m:rPr>
                      <a:rPr lang="en-US" sz="20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sz="2000" i="0" dirty="0">
                        <a:sym typeface="Symbol" panose="05050102010706020507" pitchFamily="18" charset="2"/>
                      </a:rPr>
                      <m:t></m:t>
                    </m:r>
                    <m:r>
                      <m:rPr>
                        <m:nor/>
                      </m:rPr>
                      <a:rPr lang="en-US" sz="2000" i="0" dirty="0"/>
                      <m:t>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1295400"/>
                <a:ext cx="8839200" cy="4953000"/>
              </a:xfrm>
              <a:blipFill>
                <a:blip r:embed="rId2"/>
                <a:stretch>
                  <a:fillRect l="-717" t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47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3976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