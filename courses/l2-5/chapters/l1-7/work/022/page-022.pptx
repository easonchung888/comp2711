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2" saveSubsetFonts="1" autoCompressPictures="0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379" r:id="rId23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71" autoAdjust="0"/>
    <p:restoredTop sz="94260" autoAdjust="0"/>
  </p:normalViewPr>
  <p:slideViewPr>
    <p:cSldViewPr>
      <p:cViewPr varScale="1">
        <p:scale>
          <a:sx n="151" d="100"/>
          <a:sy n="151" d="100"/>
        </p:scale>
        <p:origin x="216" y="56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106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4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45" Type="http://schemas.openxmlformats.org/officeDocument/2006/relationships/presProps" Target="presProps.xml" /><Relationship Id="rId23" Type="http://schemas.openxmlformats.org/officeDocument/2006/relationships/slide" Target="slides/slide22.xml" /><Relationship Id="rId44" Type="http://schemas.openxmlformats.org/officeDocument/2006/relationships/handoutMaster" Target="handoutMasters/handoutMaster1.xml" /><Relationship Id="rId43" Type="http://schemas.openxmlformats.org/officeDocument/2006/relationships/notesMaster" Target="notesMasters/notesMaster1.xml" /><Relationship Id="rId48" Type="http://schemas.openxmlformats.org/officeDocument/2006/relationships/tableStyles" Target="tableStyles.xml" /><Relationship Id="rId46" Type="http://schemas.openxmlformats.org/officeDocument/2006/relationships/viewProps" Target="viewProps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9800" y="752475"/>
            <a:ext cx="5005388" cy="3756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0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2.xml.rels><?xml version='1.0' encoding='utf-8'?>
<Relationships xmlns="http://schemas.openxmlformats.org/package/2006/relationships"><Relationship Id="rId3" Type="http://schemas.openxmlformats.org/officeDocument/2006/relationships/image" Target="../media/image220.png" /><Relationship Id="rId2" Type="http://schemas.openxmlformats.org/officeDocument/2006/relationships/image" Target="../media/image16.jpe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112.png" /><Relationship Id="rId4" Type="http://schemas.openxmlformats.org/officeDocument/2006/relationships/image" Target="../media/image17.jpeg" /></Relationships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3" descr="0510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914400" y="2618058"/>
            <a:ext cx="6551676" cy="4087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Pascal’s Triangle (1641) 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143000"/>
                <a:ext cx="8686800" cy="5105400"/>
              </a:xfrm>
            </p:spPr>
            <p:txBody>
              <a:bodyPr/>
              <a:lstStyle/>
              <a:p>
                <a:r>
                  <a:rPr lang="en-US" altLang="zh-CN" sz="2000" b="1" dirty="0">
                    <a:solidFill>
                      <a:srgbClr val="0000FF"/>
                    </a:solidFill>
                  </a:rPr>
                  <a:t>Corollary</a:t>
                </a:r>
                <a:endParaRPr lang="en-US" altLang="zh-CN" sz="2000" dirty="0"/>
              </a:p>
              <a:p>
                <a:pPr marL="0" indent="0">
                  <a:buNone/>
                </a:pPr>
                <a:r>
                  <a:rPr lang="en-US" altLang="zh-CN" sz="2000" dirty="0"/>
                  <a:t>Pascal's identity, together with the initial conditions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sz="2000" dirty="0"/>
                  <a:t> for all integers </a:t>
                </a:r>
                <a:r>
                  <a:rPr lang="en-US" altLang="zh-CN" sz="2000" i="1" dirty="0"/>
                  <a:t>n</a:t>
                </a:r>
                <a:r>
                  <a:rPr lang="en-US" altLang="zh-CN" sz="2000" dirty="0"/>
                  <a:t>, can be used to give a geometric arrangement of the binomial coefficients in a triangle, called Pascal's triangle, as follows: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algn="just">
                  <a:buNone/>
                </a:pPr>
                <a:endParaRPr lang="en-US" altLang="zh-CN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143000"/>
                <a:ext cx="8686800" cy="5105400"/>
              </a:xfrm>
              <a:blipFill rotWithShape="0">
                <a:blip r:embed="rId3"/>
                <a:stretch>
                  <a:fillRect l="-702" t="-717" r="-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22</a:t>
            </a:r>
            <a:endParaRPr lang="en-US"/>
          </a:p>
        </p:txBody>
      </p:sp>
      <p:pic>
        <p:nvPicPr>
          <p:cNvPr id="6" name="Picture 5" descr="0511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440183" y="2895600"/>
            <a:ext cx="1184245" cy="1371600"/>
          </a:xfrm>
          <a:prstGeom prst="rect">
            <a:avLst/>
          </a:prstGeom>
        </p:spPr>
      </p:pic>
      <p:sp>
        <p:nvSpPr>
          <p:cNvPr id="4" name="Triangle 3">
            <a:extLst>
              <a:ext uri="{FF2B5EF4-FFF2-40B4-BE49-F238E27FC236}">
                <a16:creationId xmlns:a16="http://schemas.microsoft.com/office/drawing/2014/main" id="{B4E2BAD6-F630-144D-ADB9-5B1D403225BE}"/>
              </a:ext>
            </a:extLst>
          </p:cNvPr>
          <p:cNvSpPr/>
          <p:nvPr/>
        </p:nvSpPr>
        <p:spPr bwMode="auto">
          <a:xfrm>
            <a:off x="1219200" y="3124200"/>
            <a:ext cx="2667000" cy="2961904"/>
          </a:xfrm>
          <a:prstGeom prst="triangle">
            <a:avLst>
              <a:gd name="adj" fmla="val 51744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44C32D41-F35F-F44F-B641-A28BFEC44983}"/>
              </a:ext>
            </a:extLst>
          </p:cNvPr>
          <p:cNvSpPr/>
          <p:nvPr/>
        </p:nvSpPr>
        <p:spPr bwMode="auto">
          <a:xfrm>
            <a:off x="4876800" y="3180877"/>
            <a:ext cx="2514600" cy="2961904"/>
          </a:xfrm>
          <a:prstGeom prst="triangle">
            <a:avLst>
              <a:gd name="adj" fmla="val 51744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AAFE3A-6947-0644-A2D5-CE753716C915}"/>
              </a:ext>
            </a:extLst>
          </p:cNvPr>
          <p:cNvSpPr/>
          <p:nvPr/>
        </p:nvSpPr>
        <p:spPr bwMode="auto">
          <a:xfrm>
            <a:off x="1790700" y="6086103"/>
            <a:ext cx="4608576" cy="314697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D91487-63E2-3F43-91D2-A6CED0791A8A}"/>
              </a:ext>
            </a:extLst>
          </p:cNvPr>
          <p:cNvSpPr/>
          <p:nvPr/>
        </p:nvSpPr>
        <p:spPr bwMode="auto">
          <a:xfrm>
            <a:off x="3657600" y="3352800"/>
            <a:ext cx="1524000" cy="9144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262E369-ABC0-48CE-9ADA-73BC9BF5267D}"/>
                  </a:ext>
                </a:extLst>
              </p:cNvPr>
              <p:cNvSpPr/>
              <p:nvPr/>
            </p:nvSpPr>
            <p:spPr>
              <a:xfrm>
                <a:off x="5943600" y="310975"/>
                <a:ext cx="2810448" cy="7146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262E369-ABC0-48CE-9ADA-73BC9BF526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310975"/>
                <a:ext cx="2810448" cy="7146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7697590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7894</TotalTime>
  <Words>2436</Words>
  <Application>Microsoft Macintosh PowerPoint</Application>
  <PresentationFormat>On-screen Show (4:3)</PresentationFormat>
  <Paragraphs>288</Paragraphs>
  <Slides>41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Cambria Math</vt:lpstr>
      <vt:lpstr>Lucida Sans</vt:lpstr>
      <vt:lpstr>Monotype Sorts</vt:lpstr>
      <vt:lpstr>Times New Roman</vt:lpstr>
      <vt:lpstr>Wingdings</vt:lpstr>
      <vt:lpstr>Default Design</vt:lpstr>
      <vt:lpstr>Binomial Coefficients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Binomial Theorem</vt:lpstr>
      <vt:lpstr>Proof</vt:lpstr>
      <vt:lpstr>Example</vt:lpstr>
      <vt:lpstr>Example</vt:lpstr>
      <vt:lpstr>Example</vt:lpstr>
      <vt:lpstr>Corollary</vt:lpstr>
      <vt:lpstr>Alternative: Combinatorial Proof</vt:lpstr>
      <vt:lpstr>Corollary</vt:lpstr>
      <vt:lpstr>Exercise on Number of Subsets</vt:lpstr>
      <vt:lpstr>Corollary</vt:lpstr>
      <vt:lpstr>Pascal's Identity</vt:lpstr>
      <vt:lpstr>Example of Pascal's Identity for n=5, k=2</vt:lpstr>
      <vt:lpstr>Proof </vt:lpstr>
      <vt:lpstr>Combinatorial proof of Pascal’s identity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Vandermonde's Identity</vt:lpstr>
      <vt:lpstr>Combinatorial Proof</vt:lpstr>
      <vt:lpstr>Corollary</vt:lpstr>
      <vt:lpstr>Counting bit strings</vt:lpstr>
      <vt:lpstr>Proof</vt:lpstr>
      <vt:lpstr>Exercise on Combinatorial Proof</vt:lpstr>
      <vt:lpstr>Exercise 2 on Combinatorial Proof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803</cp:revision>
  <cp:lastPrinted>2024-10-03T04:24:41Z</cp:lastPrinted>
  <dcterms:created xsi:type="dcterms:W3CDTF">2012-01-21T22:53:48Z</dcterms:created>
  <dcterms:modified xsi:type="dcterms:W3CDTF">2026-09-30T02:20:54Z</dcterms:modified>
</cp:coreProperties>
</file>