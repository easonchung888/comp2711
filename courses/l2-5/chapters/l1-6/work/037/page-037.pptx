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7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73" r:id="rId3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38" Type="http://schemas.openxmlformats.org/officeDocument/2006/relationships/slide" Target="slides/slide37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Distributing Objects into Boxes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295400"/>
            <a:ext cx="8686800" cy="5181600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200" dirty="0"/>
              <a:t>Many counting problems can be solved by enumerating the different ways objects can be placed into boxes where the order these objects are placed into the boxes does not matter.</a:t>
            </a:r>
          </a:p>
          <a:p>
            <a:pPr marL="0" indent="0">
              <a:buNone/>
            </a:pPr>
            <a:r>
              <a:rPr lang="en-US" altLang="zh-CN" sz="2200" dirty="0"/>
              <a:t>The objects and the boxes can be either </a:t>
            </a:r>
            <a:r>
              <a:rPr lang="en-US" altLang="zh-CN" sz="2200" i="1" dirty="0">
                <a:solidFill>
                  <a:srgbClr val="FF0000"/>
                </a:solidFill>
              </a:rPr>
              <a:t>Distinguishable</a:t>
            </a:r>
            <a:r>
              <a:rPr lang="en-US" altLang="zh-CN" sz="2200" dirty="0"/>
              <a:t> (labeled) or </a:t>
            </a:r>
            <a:r>
              <a:rPr lang="en-US" altLang="zh-CN" sz="2200" i="1" dirty="0">
                <a:solidFill>
                  <a:srgbClr val="0000FF"/>
                </a:solidFill>
              </a:rPr>
              <a:t>Indistinguishable</a:t>
            </a:r>
            <a:r>
              <a:rPr lang="en-US" altLang="zh-CN" sz="2200" i="1" dirty="0"/>
              <a:t> </a:t>
            </a:r>
            <a:r>
              <a:rPr lang="en-US" altLang="zh-CN" sz="2200" dirty="0"/>
              <a:t>(unlabeled).</a:t>
            </a:r>
          </a:p>
          <a:p>
            <a:pPr marL="0" indent="0">
              <a:buNone/>
            </a:pPr>
            <a:r>
              <a:rPr lang="en-US" altLang="zh-CN" sz="2200" dirty="0"/>
              <a:t>Examples: </a:t>
            </a:r>
          </a:p>
          <a:p>
            <a:r>
              <a:rPr lang="en-US" altLang="zh-CN" sz="2200" dirty="0">
                <a:solidFill>
                  <a:srgbClr val="FF0000"/>
                </a:solidFill>
              </a:rPr>
              <a:t>D</a:t>
            </a:r>
            <a:r>
              <a:rPr lang="en-US" altLang="zh-CN" sz="2200" dirty="0"/>
              <a:t>-</a:t>
            </a:r>
            <a:r>
              <a:rPr lang="en-US" altLang="zh-CN" sz="2200" dirty="0">
                <a:solidFill>
                  <a:srgbClr val="FF0000"/>
                </a:solidFill>
              </a:rPr>
              <a:t>D</a:t>
            </a:r>
            <a:r>
              <a:rPr lang="en-US" altLang="zh-CN" sz="2200" dirty="0"/>
              <a:t>: How many ways to place </a:t>
            </a:r>
            <a:r>
              <a:rPr lang="en-US" altLang="zh-CN" sz="2200" i="1" dirty="0"/>
              <a:t>n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labeled objects</a:t>
            </a:r>
            <a:r>
              <a:rPr lang="en-US" altLang="zh-CN" sz="2200" dirty="0"/>
              <a:t> in </a:t>
            </a:r>
            <a:r>
              <a:rPr lang="en-US" altLang="zh-CN" sz="2200" i="1" dirty="0"/>
              <a:t>m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labeled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boxes</a:t>
            </a:r>
          </a:p>
          <a:p>
            <a:r>
              <a:rPr lang="en-US" altLang="zh-CN" sz="2200" dirty="0">
                <a:solidFill>
                  <a:srgbClr val="FF0000"/>
                </a:solidFill>
              </a:rPr>
              <a:t>D</a:t>
            </a:r>
            <a:r>
              <a:rPr lang="en-US" altLang="zh-CN" sz="2200" dirty="0"/>
              <a:t>-</a:t>
            </a:r>
            <a:r>
              <a:rPr lang="en-US" altLang="zh-CN" sz="2200" dirty="0">
                <a:solidFill>
                  <a:srgbClr val="0000FF"/>
                </a:solidFill>
              </a:rPr>
              <a:t>I</a:t>
            </a:r>
            <a:r>
              <a:rPr lang="en-US" altLang="zh-CN" sz="2200" dirty="0"/>
              <a:t>: How many ways to place </a:t>
            </a:r>
            <a:r>
              <a:rPr lang="en-US" altLang="zh-CN" sz="2200" i="1" dirty="0"/>
              <a:t>n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labeled objects</a:t>
            </a:r>
            <a:r>
              <a:rPr lang="en-US" altLang="zh-CN" sz="2200" dirty="0"/>
              <a:t> in </a:t>
            </a:r>
            <a:r>
              <a:rPr lang="en-US" altLang="zh-CN" sz="2200" i="1" dirty="0"/>
              <a:t>m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0000FF"/>
                </a:solidFill>
              </a:rPr>
              <a:t>unlabeled boxes</a:t>
            </a:r>
          </a:p>
          <a:p>
            <a:r>
              <a:rPr lang="en-US" altLang="zh-CN" sz="2200" dirty="0">
                <a:solidFill>
                  <a:srgbClr val="0000FF"/>
                </a:solidFill>
              </a:rPr>
              <a:t>I</a:t>
            </a:r>
            <a:r>
              <a:rPr lang="en-US" altLang="zh-CN" sz="2200" dirty="0"/>
              <a:t>-</a:t>
            </a:r>
            <a:r>
              <a:rPr lang="en-US" altLang="zh-CN" sz="2200" dirty="0">
                <a:solidFill>
                  <a:srgbClr val="FF3300"/>
                </a:solidFill>
              </a:rPr>
              <a:t>D</a:t>
            </a:r>
            <a:r>
              <a:rPr lang="en-US" altLang="zh-CN" sz="2200" dirty="0"/>
              <a:t>: How many ways to place </a:t>
            </a:r>
            <a:r>
              <a:rPr lang="en-US" altLang="zh-CN" sz="2200" i="1" dirty="0"/>
              <a:t>n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0000FF"/>
                </a:solidFill>
              </a:rPr>
              <a:t>unlabeled objects</a:t>
            </a:r>
            <a:r>
              <a:rPr lang="en-US" altLang="zh-CN" sz="2200" dirty="0"/>
              <a:t> in </a:t>
            </a:r>
            <a:r>
              <a:rPr lang="en-US" altLang="zh-CN" sz="2200" i="1" dirty="0"/>
              <a:t>m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FF3300"/>
                </a:solidFill>
              </a:rPr>
              <a:t>labeled boxes</a:t>
            </a:r>
          </a:p>
          <a:p>
            <a:r>
              <a:rPr lang="en-US" altLang="zh-CN" sz="2200" dirty="0">
                <a:solidFill>
                  <a:srgbClr val="0000FF"/>
                </a:solidFill>
              </a:rPr>
              <a:t>I</a:t>
            </a:r>
            <a:r>
              <a:rPr lang="en-US" altLang="zh-CN" sz="2200" dirty="0"/>
              <a:t>-</a:t>
            </a:r>
            <a:r>
              <a:rPr lang="en-US" altLang="zh-CN" sz="2200" dirty="0">
                <a:solidFill>
                  <a:srgbClr val="0000FF"/>
                </a:solidFill>
              </a:rPr>
              <a:t>I</a:t>
            </a:r>
            <a:r>
              <a:rPr lang="en-US" altLang="zh-CN" sz="2200" dirty="0"/>
              <a:t>: How many ways to place </a:t>
            </a:r>
            <a:r>
              <a:rPr lang="en-US" altLang="zh-CN" sz="2200" i="1" dirty="0"/>
              <a:t>n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0000FF"/>
                </a:solidFill>
              </a:rPr>
              <a:t>unlabeled objects</a:t>
            </a:r>
            <a:r>
              <a:rPr lang="en-US" altLang="zh-CN" sz="2200" dirty="0"/>
              <a:t> in </a:t>
            </a:r>
            <a:r>
              <a:rPr lang="en-US" altLang="zh-CN" sz="2200" i="1" dirty="0"/>
              <a:t>m</a:t>
            </a: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0000FF"/>
                </a:solidFill>
              </a:rPr>
              <a:t>unlabeled</a:t>
            </a:r>
            <a:r>
              <a:rPr lang="en-US" altLang="zh-CN" sz="2200" dirty="0">
                <a:solidFill>
                  <a:srgbClr val="FF3300"/>
                </a:solidFill>
              </a:rPr>
              <a:t> </a:t>
            </a:r>
            <a:r>
              <a:rPr lang="en-US" altLang="zh-CN" sz="2200" dirty="0">
                <a:solidFill>
                  <a:srgbClr val="0000FF"/>
                </a:solidFill>
              </a:rPr>
              <a:t>boxes</a:t>
            </a:r>
            <a:endParaRPr lang="en-US" altLang="zh-CN" sz="2200" dirty="0">
              <a:solidFill>
                <a:srgbClr val="FF3300"/>
              </a:solidFill>
            </a:endParaRPr>
          </a:p>
          <a:p>
            <a:endParaRPr lang="en-US" altLang="zh-CN" sz="2200" dirty="0">
              <a:solidFill>
                <a:srgbClr val="FF3300"/>
              </a:solidFill>
            </a:endParaRPr>
          </a:p>
          <a:p>
            <a:endParaRPr lang="en-US" altLang="zh-CN" sz="2200" dirty="0">
              <a:solidFill>
                <a:srgbClr val="FF33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935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