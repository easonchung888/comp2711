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7" saveSubsetFonts="1" autoCompressPictures="0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307" r:id="rId18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71" autoAdjust="0"/>
    <p:restoredTop sz="94260" autoAdjust="0"/>
  </p:normalViewPr>
  <p:slideViewPr>
    <p:cSldViewPr>
      <p:cViewPr varScale="1">
        <p:scale>
          <a:sx n="151" d="100"/>
          <a:sy n="151" d="100"/>
        </p:scale>
        <p:origin x="216" y="56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106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18" Type="http://schemas.openxmlformats.org/officeDocument/2006/relationships/slide" Target="slides/slide17.xml" /><Relationship Id="rId4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45" Type="http://schemas.openxmlformats.org/officeDocument/2006/relationships/presProps" Target="presProps.xml" /><Relationship Id="rId44" Type="http://schemas.openxmlformats.org/officeDocument/2006/relationships/handoutMaster" Target="handoutMasters/handoutMaster1.xml" /><Relationship Id="rId43" Type="http://schemas.openxmlformats.org/officeDocument/2006/relationships/notesMaster" Target="notesMasters/notesMaster1.xml" /><Relationship Id="rId48" Type="http://schemas.openxmlformats.org/officeDocument/2006/relationships/tableStyles" Target="tableStyles.xml" /><Relationship Id="rId46" Type="http://schemas.openxmlformats.org/officeDocument/2006/relationships/viewProps" Target="viewProps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9800" y="752475"/>
            <a:ext cx="5005388" cy="3756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0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7.xml.rels><?xml version='1.0' encoding='utf-8'?>
<Relationships xmlns="http://schemas.openxmlformats.org/package/2006/relationships"><Relationship Id="rId2" Type="http://schemas.openxmlformats.org/officeDocument/2006/relationships/image" Target="../media/image111.png" /><Relationship Id="rId1" Type="http://schemas.openxmlformats.org/officeDocument/2006/relationships/slideLayout" Target="../slideLayouts/slideLayout2.xml" /></Relationships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Pascal's Identity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600200"/>
                <a:ext cx="8686800" cy="4876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sz="2400" dirty="0"/>
                  <a:t>The binomial coefficients satisfy many different identities. One of the most important identities is discussed below.</a:t>
                </a:r>
              </a:p>
              <a:p>
                <a:pPr marL="0" indent="0">
                  <a:buNone/>
                </a:pPr>
                <a:endParaRPr lang="en-US" altLang="zh-CN" sz="2400" b="1" dirty="0">
                  <a:solidFill>
                    <a:srgbClr val="0000FF"/>
                  </a:solidFill>
                </a:endParaRPr>
              </a:p>
              <a:p>
                <a:r>
                  <a:rPr lang="en-US" altLang="zh-CN" sz="2400" b="1" dirty="0">
                    <a:solidFill>
                      <a:srgbClr val="0000FF"/>
                    </a:solidFill>
                  </a:rPr>
                  <a:t>Theorem (Pascal's identity)</a:t>
                </a:r>
              </a:p>
              <a:p>
                <a:pPr marL="0" indent="0">
                  <a:buNone/>
                </a:pPr>
                <a:r>
                  <a:rPr lang="en-US" altLang="zh-CN" sz="2400" dirty="0"/>
                  <a:t>Let </a:t>
                </a:r>
                <a:r>
                  <a:rPr lang="en-US" altLang="zh-CN" sz="2400" i="1" dirty="0"/>
                  <a:t>n</a:t>
                </a:r>
                <a:r>
                  <a:rPr lang="en-US" altLang="zh-CN" sz="2400" dirty="0"/>
                  <a:t> and </a:t>
                </a:r>
                <a:r>
                  <a:rPr lang="en-US" altLang="zh-CN" sz="2400" i="1" dirty="0"/>
                  <a:t>k</a:t>
                </a:r>
                <a:r>
                  <a:rPr lang="en-US" altLang="zh-CN" sz="2400" dirty="0"/>
                  <a:t> be integers with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400" dirty="0"/>
                  <a:t>. Then,</a:t>
                </a:r>
              </a:p>
              <a:p>
                <a:pPr marL="0" indent="0">
                  <a:buNone/>
                </a:pPr>
                <a:endParaRPr lang="en-US" altLang="zh-C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600200"/>
                <a:ext cx="8686800" cy="4876800"/>
              </a:xfrm>
              <a:blipFill>
                <a:blip r:embed="rId2"/>
                <a:stretch>
                  <a:fillRect l="-1123" t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17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7894</TotalTime>
  <Words>2436</Words>
  <Application>Microsoft Macintosh PowerPoint</Application>
  <PresentationFormat>On-screen Show (4:3)</PresentationFormat>
  <Paragraphs>288</Paragraphs>
  <Slides>41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Cambria Math</vt:lpstr>
      <vt:lpstr>Lucida Sans</vt:lpstr>
      <vt:lpstr>Monotype Sorts</vt:lpstr>
      <vt:lpstr>Times New Roman</vt:lpstr>
      <vt:lpstr>Wingdings</vt:lpstr>
      <vt:lpstr>Default Design</vt:lpstr>
      <vt:lpstr>Binomial Coefficients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Binomial Theorem</vt:lpstr>
      <vt:lpstr>Proof</vt:lpstr>
      <vt:lpstr>Example</vt:lpstr>
      <vt:lpstr>Example</vt:lpstr>
      <vt:lpstr>Example</vt:lpstr>
      <vt:lpstr>Corollary</vt:lpstr>
      <vt:lpstr>Alternative: Combinatorial Proof</vt:lpstr>
      <vt:lpstr>Corollary</vt:lpstr>
      <vt:lpstr>Exercise on Number of Subsets</vt:lpstr>
      <vt:lpstr>Corollary</vt:lpstr>
      <vt:lpstr>Pascal's Identity</vt:lpstr>
      <vt:lpstr>Example of Pascal's Identity for n=5, k=2</vt:lpstr>
      <vt:lpstr>Proof </vt:lpstr>
      <vt:lpstr>Combinatorial proof of Pascal’s identity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Vandermonde's Identity</vt:lpstr>
      <vt:lpstr>Combinatorial Proof</vt:lpstr>
      <vt:lpstr>Corollary</vt:lpstr>
      <vt:lpstr>Counting bit strings</vt:lpstr>
      <vt:lpstr>Proof</vt:lpstr>
      <vt:lpstr>Exercise on Combinatorial Proof</vt:lpstr>
      <vt:lpstr>Exercise 2 on Combinatorial Proof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803</cp:revision>
  <cp:lastPrinted>2024-10-03T04:24:41Z</cp:lastPrinted>
  <dcterms:created xsi:type="dcterms:W3CDTF">2012-01-21T22:53:48Z</dcterms:created>
  <dcterms:modified xsi:type="dcterms:W3CDTF">2026-09-30T02:20:54Z</dcterms:modified>
</cp:coreProperties>
</file>