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5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12" r:id="rId26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26" Type="http://schemas.openxmlformats.org/officeDocument/2006/relationships/slide" Target="slides/slide25.xml" /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Poker</a:t>
            </a:r>
            <a:r>
              <a:rPr lang="en-US" b="1" dirty="0">
                <a:solidFill>
                  <a:srgbClr val="0000FF"/>
                </a:solidFill>
              </a:rPr>
              <a:t> Exercises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8839200" cy="5257800"/>
          </a:xfrm>
        </p:spPr>
        <p:txBody>
          <a:bodyPr/>
          <a:lstStyle/>
          <a:p>
            <a:r>
              <a:rPr lang="en-US" sz="2000" dirty="0"/>
              <a:t>A poker hand contains 5 out of 52 cards. The cards are 13 </a:t>
            </a:r>
            <a:r>
              <a:rPr lang="en-US" sz="2000" dirty="0">
                <a:solidFill>
                  <a:srgbClr val="0000FF"/>
                </a:solidFill>
              </a:rPr>
              <a:t>kinds</a:t>
            </a:r>
            <a:r>
              <a:rPr lang="en-US" sz="2000" dirty="0"/>
              <a:t> (1-Ace, 2,..,10,J,Q,K) and 4 </a:t>
            </a:r>
            <a:r>
              <a:rPr lang="en-US" sz="2000" dirty="0">
                <a:solidFill>
                  <a:srgbClr val="0000FF"/>
                </a:solidFill>
              </a:rPr>
              <a:t>suites</a:t>
            </a:r>
            <a:r>
              <a:rPr lang="en-US" sz="2000" dirty="0"/>
              <a:t> (spades, hearts, clubs, diamonds)</a:t>
            </a:r>
          </a:p>
          <a:p>
            <a:r>
              <a:rPr lang="en-US" sz="2000" dirty="0"/>
              <a:t>What is the total number of poker hands?</a:t>
            </a:r>
          </a:p>
          <a:p>
            <a:r>
              <a:rPr lang="en-US" sz="2000" dirty="0"/>
              <a:t>C(52,5)</a:t>
            </a:r>
          </a:p>
          <a:p>
            <a:r>
              <a:rPr lang="en-US" sz="2000" dirty="0"/>
              <a:t>How many hands contain 5 different kinds?</a:t>
            </a:r>
          </a:p>
          <a:p>
            <a:r>
              <a:rPr lang="en-US" sz="2000" dirty="0"/>
              <a:t>There are C(13,5) ways to choose the 5 kinds. For each card there are 4 choices of suit: 4</a:t>
            </a:r>
            <a:r>
              <a:rPr lang="en-US" sz="2000" baseline="30000" dirty="0"/>
              <a:t>5</a:t>
            </a:r>
            <a:r>
              <a:rPr lang="en-US" sz="2000" dirty="0">
                <a:sym typeface="Symbol" panose="05050102010706020507" pitchFamily="18" charset="2"/>
              </a:rPr>
              <a:t></a:t>
            </a:r>
            <a:r>
              <a:rPr lang="en-US" sz="2000" dirty="0"/>
              <a:t>C(13,5)</a:t>
            </a:r>
          </a:p>
          <a:p>
            <a:r>
              <a:rPr lang="en-US" sz="2000" dirty="0"/>
              <a:t>How many hands contain the Ace of Spades and the King of Spades?</a:t>
            </a:r>
          </a:p>
          <a:p>
            <a:r>
              <a:rPr lang="en-US" sz="2000" dirty="0"/>
              <a:t>Since these 2 cards are fixed, I have C(50,3) choices for the remaining 3 cards.   </a:t>
            </a:r>
          </a:p>
          <a:p>
            <a:r>
              <a:rPr lang="en-US" sz="2000" dirty="0"/>
              <a:t>How many hands contain exactly 1 Ace?</a:t>
            </a:r>
          </a:p>
          <a:p>
            <a:r>
              <a:rPr lang="en-US" sz="2000" dirty="0"/>
              <a:t>There are 4 ways to choose the Ace. Once the Ace is selected, there are C(48,4) ways to choose the remaining four cards: 4</a:t>
            </a:r>
            <a:r>
              <a:rPr lang="en-US" sz="2000" dirty="0">
                <a:sym typeface="Symbol" panose="05050102010706020507" pitchFamily="18" charset="2"/>
              </a:rPr>
              <a:t></a:t>
            </a:r>
            <a:r>
              <a:rPr lang="en-US" sz="2000" dirty="0"/>
              <a:t>C(48,4)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25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