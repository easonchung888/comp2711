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8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74" r:id="rId39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39" Type="http://schemas.openxmlformats.org/officeDocument/2006/relationships/slide" Target="slides/slide38.xml" /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8.xml.rels><?xml version='1.0' encoding='utf-8'?>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2.xml" /></Relationships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solidFill>
                  <a:schemeClr val="tx1"/>
                </a:solidFill>
              </a:rPr>
              <a:t>Distributing Objects into Boxes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066800"/>
                <a:ext cx="8686800" cy="5410200"/>
              </a:xfrm>
            </p:spPr>
            <p:txBody>
              <a:bodyPr/>
              <a:lstStyle/>
              <a:p>
                <a:r>
                  <a:rPr lang="en-US" altLang="zh-CN" dirty="0"/>
                  <a:t>How many ways are there to deal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5 cards to each of 4 players</a:t>
                </a:r>
                <a:r>
                  <a:rPr lang="en-US" altLang="zh-CN" dirty="0"/>
                  <a:t>, from the standard deck of 52 cards?</a:t>
                </a:r>
              </a:p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Solution</a:t>
                </a:r>
              </a:p>
              <a:p>
                <a:r>
                  <a:rPr lang="en-US" altLang="zh-CN" dirty="0">
                    <a:solidFill>
                      <a:srgbClr val="0000FF"/>
                    </a:solidFill>
                  </a:rPr>
                  <a:t>Here, the cards are the </a:t>
                </a:r>
                <a:r>
                  <a:rPr lang="en-US" altLang="zh-CN" dirty="0">
                    <a:solidFill>
                      <a:srgbClr val="FF3300"/>
                    </a:solidFill>
                  </a:rPr>
                  <a:t>distinguishable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 objects and the players hands are the </a:t>
                </a:r>
                <a:r>
                  <a:rPr lang="en-US" altLang="zh-CN" dirty="0">
                    <a:solidFill>
                      <a:srgbClr val="FF3300"/>
                    </a:solidFill>
                  </a:rPr>
                  <a:t>distinguishable</a:t>
                </a:r>
                <a:r>
                  <a:rPr lang="en-US" altLang="zh-CN" dirty="0">
                    <a:solidFill>
                      <a:srgbClr val="0000FF"/>
                    </a:solidFill>
                  </a:rPr>
                  <a:t> boxes.</a:t>
                </a:r>
              </a:p>
              <a:p>
                <a:r>
                  <a:rPr lang="en-US" altLang="zh-CN" dirty="0"/>
                  <a:t>The first player’s can be chosen in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(52,5)</m:t>
                    </m:r>
                  </m:oMath>
                </a14:m>
                <a:r>
                  <a:rPr lang="en-US" altLang="zh-CN" dirty="0"/>
                  <a:t> ways</a:t>
                </a:r>
              </a:p>
              <a:p>
                <a:r>
                  <a:rPr lang="en-US" altLang="zh-CN" dirty="0"/>
                  <a:t>The second player: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(47,5)</m:t>
                    </m:r>
                  </m:oMath>
                </a14:m>
                <a:r>
                  <a:rPr lang="en-US" altLang="zh-CN" dirty="0"/>
                  <a:t> ways</a:t>
                </a:r>
              </a:p>
              <a:p>
                <a:r>
                  <a:rPr lang="en-US" altLang="zh-CN" dirty="0"/>
                  <a:t>The third player: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(42,5)</m:t>
                    </m:r>
                  </m:oMath>
                </a14:m>
                <a:r>
                  <a:rPr lang="en-US" altLang="zh-CN" dirty="0"/>
                  <a:t> ways</a:t>
                </a:r>
              </a:p>
              <a:p>
                <a:r>
                  <a:rPr lang="en-US" altLang="zh-CN" dirty="0"/>
                  <a:t>The fourth player: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(37,5)</m:t>
                    </m:r>
                  </m:oMath>
                </a14:m>
                <a:r>
                  <a:rPr lang="en-US" altLang="zh-CN" dirty="0"/>
                  <a:t> ways</a:t>
                </a:r>
              </a:p>
              <a:p>
                <a:r>
                  <a:rPr lang="en-US" altLang="zh-CN" dirty="0"/>
                  <a:t>By the product rule, the total number of ways is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(52,5)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(47,5)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(42,5)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</a:rPr>
                      <m:t>(37,5)=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52!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47!5!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47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!5!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7!5!</m:t>
                        </m:r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37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!5!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52!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5!5!5!5!</m:t>
                        </m:r>
                        <m:r>
                          <a:rPr lang="en-US" altLang="zh-CN" b="0" i="1" smtClean="0">
                            <a:solidFill>
                              <a:srgbClr val="FF3300"/>
                            </a:solidFill>
                            <a:latin typeface="Cambria Math" panose="02040503050406030204" pitchFamily="18" charset="0"/>
                          </a:rPr>
                          <m:t>32!</m:t>
                        </m:r>
                      </m:den>
                    </m:f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066800"/>
                <a:ext cx="8686800" cy="5410200"/>
              </a:xfrm>
              <a:blipFill>
                <a:blip r:embed="rId2"/>
                <a:stretch>
                  <a:fillRect l="-982" t="-788" r="-1614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62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