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'1.0' encoding='utf-8'?>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34" saveSubsetFonts="1" autoCompressPictures="0">
  <p:sldMasterIdLst>
    <p:sldMasterId id="2147483648" r:id="rId1"/>
  </p:sldMasterIdLst>
  <p:notesMasterIdLst>
    <p:notesMasterId r:id="rId53"/>
  </p:notesMasterIdLst>
  <p:handoutMasterIdLst>
    <p:handoutMasterId r:id="rId54"/>
  </p:handoutMasterIdLst>
  <p:sldIdLst>
    <p:sldId id="371" r:id="rId35"/>
  </p:sldIdLst>
  <p:sldSz cx="9144000" cy="6858000" type="screen4x3"/>
  <p:notesSz cx="6884988" cy="100187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672" autoAdjust="0"/>
    <p:restoredTop sz="94279" autoAdjust="0"/>
  </p:normalViewPr>
  <p:slideViewPr>
    <p:cSldViewPr>
      <p:cViewPr varScale="1">
        <p:scale>
          <a:sx n="150" d="100"/>
          <a:sy n="150" d="100"/>
        </p:scale>
        <p:origin x="176" y="6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114" y="1068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2568"/>
    </p:cViewPr>
  </p:sorterViewPr>
  <p:gridSpacing cx="76200" cy="76200"/>
</p:viewPr>
</file>

<file path=ppt/_rels/presentation.xml.rels><?xml version='1.0' encoding='utf-8'?>
<Relationships xmlns="http://schemas.openxmlformats.org/package/2006/relationships"><Relationship Id="rId55" Type="http://schemas.openxmlformats.org/officeDocument/2006/relationships/presProps" Target="presProps.xml" /><Relationship Id="rId53" Type="http://schemas.openxmlformats.org/officeDocument/2006/relationships/notesMaster" Target="notesMasters/notesMaster1.xml" /><Relationship Id="rId58" Type="http://schemas.openxmlformats.org/officeDocument/2006/relationships/tableStyles" Target="tableStyles.xml" /><Relationship Id="rId35" Type="http://schemas.openxmlformats.org/officeDocument/2006/relationships/slide" Target="slides/slide34.xml" /><Relationship Id="rId56" Type="http://schemas.openxmlformats.org/officeDocument/2006/relationships/viewProps" Target="viewProps.xml" /><Relationship Id="rId54" Type="http://schemas.openxmlformats.org/officeDocument/2006/relationships/handoutMaster" Target="handoutMasters/handoutMaster1.xml" /><Relationship Id="rId1" Type="http://schemas.openxmlformats.org/officeDocument/2006/relationships/slideMaster" Target="slideMasters/slideMaster1.xml" /><Relationship Id="rId57" Type="http://schemas.openxmlformats.org/officeDocument/2006/relationships/theme" Target="theme/theme1.xml" /></Relationships>
</file>

<file path=ppt/handoutMasters/_rels/handoutMaster1.xml.rels><?xml version='1.0' encoding='utf-8'?>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4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99349" y="4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/>
          <a:lstStyle>
            <a:lvl1pPr algn="r">
              <a:defRPr sz="1200"/>
            </a:lvl1pPr>
          </a:lstStyle>
          <a:p>
            <a:fld id="{50BE4F2C-0EE3-4CC6-9A7F-FCEE2CED77EB}" type="datetimeFigureOut">
              <a:rPr lang="en-US" smtClean="0"/>
              <a:pPr/>
              <a:t>9/30/26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516175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99349" y="9516175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 anchor="b"/>
          <a:lstStyle>
            <a:lvl1pPr algn="r">
              <a:defRPr sz="1200"/>
            </a:lvl1pPr>
          </a:lstStyle>
          <a:p>
            <a:fld id="{A2AB639E-B2BE-4F41-B992-699629CBE3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4535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?>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99901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38213" y="752475"/>
            <a:ext cx="5008562" cy="37576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8499" y="4758891"/>
            <a:ext cx="5507990" cy="45084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516041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99901" y="9516041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fld id="{878340DC-DDD3-4383-9614-668A8EE0901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3636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D48EA5-2AB8-469C-9C8D-DDC17F3887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960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EC735E3-5B29-4F54-8FB9-022B0DB6C88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091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E5E6A3E-4888-4C12-8315-4FD2172AB79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275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F4F64A1-F48A-4587-8460-697BC25700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360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4D11BB-E399-4356-A7BA-ED113D687B1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278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E0ABEF-E41E-4666-84C4-413527B4A9B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208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09926DB-4DC2-4E3A-B2C0-BB9A6A9391A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950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1B4454-C8A7-4B1B-8E65-E82A92619F9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954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0DDABB2-A7EC-4A6A-8A4D-8C9E34B87E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476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4971A2-E15B-40AD-8D3B-C3853A18A93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847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9737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9737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32645C-7078-496B-800F-5B55B382AA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425351"/>
      </p:ext>
    </p:extLst>
  </p:cSld>
  <p:clrMapOvr>
    <a:masterClrMapping/>
  </p:clrMapOvr>
</p:sldLayout>
</file>

<file path=ppt/slideMasters/_rels/slideMaster1.xml.rels><?xml version='1.0' encoding='utf-8'?>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382000" cy="71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600200"/>
            <a:ext cx="86868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2895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Arial" charset="0"/>
              </a:defRPr>
            </a:lvl1pPr>
          </a:lstStyle>
          <a:p>
            <a:fld id="{6724A02C-A69E-4EC1-BA44-1213A0435DCD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31" name="Text Box 7"/>
          <p:cNvSpPr txBox="1">
            <a:spLocks noChangeArrowheads="1"/>
          </p:cNvSpPr>
          <p:nvPr userDrawn="1"/>
        </p:nvSpPr>
        <p:spPr bwMode="auto">
          <a:xfrm>
            <a:off x="457200" y="1066800"/>
            <a:ext cx="2286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/>
            <a:endParaRPr lang="en-US" sz="1800" b="0">
              <a:latin typeface="Arial" charset="0"/>
            </a:endParaRPr>
          </a:p>
        </p:txBody>
      </p:sp>
      <p:sp>
        <p:nvSpPr>
          <p:cNvPr id="1032" name="Text Box 8"/>
          <p:cNvSpPr txBox="1">
            <a:spLocks noChangeArrowheads="1"/>
          </p:cNvSpPr>
          <p:nvPr userDrawn="1"/>
        </p:nvSpPr>
        <p:spPr bwMode="auto">
          <a:xfrm>
            <a:off x="457200" y="1143000"/>
            <a:ext cx="2590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1800" b="0">
              <a:latin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ＭＳ Ｐゴシック" charset="-128"/>
          <a:cs typeface="ＭＳ Ｐゴシック" charset="-128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5pPr>
      <a:lvl6pPr marL="4572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8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400">
          <a:solidFill>
            <a:schemeClr val="tx1"/>
          </a:solidFill>
          <a:latin typeface="+mn-lt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000">
          <a:solidFill>
            <a:schemeClr val="tx1"/>
          </a:solidFill>
          <a:latin typeface="+mn-lt"/>
          <a:ea typeface="ＭＳ Ｐゴシック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4.xml.rels><?xml version='1.0' encoding='utf-8'?>
<Relationships xmlns="http://schemas.openxmlformats.org/package/2006/relationships"><Relationship Id="rId2" Type="http://schemas.openxmlformats.org/officeDocument/2006/relationships/image" Target="../media/image18.png" /><Relationship Id="rId1" Type="http://schemas.openxmlformats.org/officeDocument/2006/relationships/slideLayout" Target="../slideLayouts/slideLayout2.xml" /></Relationships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dirty="0">
                <a:solidFill>
                  <a:schemeClr val="tx1"/>
                </a:solidFill>
              </a:rPr>
              <a:t>Permutations with </a:t>
            </a:r>
            <a:r>
              <a:rPr lang="en-US" altLang="zh-CN" sz="2800" dirty="0">
                <a:solidFill>
                  <a:srgbClr val="0000FF"/>
                </a:solidFill>
              </a:rPr>
              <a:t>Indistinguishable</a:t>
            </a:r>
            <a:r>
              <a:rPr lang="en-US" altLang="zh-CN" sz="2800" dirty="0">
                <a:solidFill>
                  <a:schemeClr val="tx1"/>
                </a:solidFill>
              </a:rPr>
              <a:t> Objects</a:t>
            </a:r>
            <a:endParaRPr lang="zh-CN" altLang="en-US" sz="2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228600" y="1295400"/>
                <a:ext cx="8686800" cy="5562600"/>
              </a:xfrm>
            </p:spPr>
            <p:txBody>
              <a:bodyPr/>
              <a:lstStyle/>
              <a:p>
                <a:r>
                  <a:rPr lang="en-US" altLang="zh-CN" sz="2300" dirty="0"/>
                  <a:t>How many different strings can be made by reordering the letters of the word </a:t>
                </a:r>
                <a:r>
                  <a:rPr lang="en-US" altLang="zh-CN" sz="2300" i="1" dirty="0"/>
                  <a:t>SUCCESS</a:t>
                </a:r>
                <a:r>
                  <a:rPr lang="en-US" altLang="zh-CN" sz="2300" dirty="0"/>
                  <a:t>?</a:t>
                </a:r>
              </a:p>
              <a:p>
                <a:r>
                  <a:rPr lang="en-US" altLang="zh-CN" sz="2300" b="1" dirty="0">
                    <a:solidFill>
                      <a:srgbClr val="0000FF"/>
                    </a:solidFill>
                  </a:rPr>
                  <a:t>Solution:</a:t>
                </a:r>
                <a:br>
                  <a:rPr lang="en-US" altLang="zh-CN" sz="2300" b="1" dirty="0">
                    <a:solidFill>
                      <a:srgbClr val="0000FF"/>
                    </a:solidFill>
                  </a:rPr>
                </a:br>
                <a:r>
                  <a:rPr lang="en-US" altLang="zh-CN" sz="2300" dirty="0"/>
                  <a:t>Since some of the letters repeat in SUCCESS, so the number of permutations for 7 distinct letters is not the correct answer here. SUCCESS contains 3 S’s, 2 C’s, 1 E and 1 U. The three </a:t>
                </a:r>
                <a:r>
                  <a:rPr lang="en-US" altLang="zh-CN" sz="2300" dirty="0">
                    <a:solidFill>
                      <a:srgbClr val="0000FF"/>
                    </a:solidFill>
                  </a:rPr>
                  <a:t>indistinguishable</a:t>
                </a:r>
                <a:r>
                  <a:rPr lang="en-US" altLang="zh-CN" sz="2300" dirty="0"/>
                  <a:t> S’s can be placed among the 7 positions in </a:t>
                </a:r>
                <a14:m>
                  <m:oMath xmlns:m="http://schemas.openxmlformats.org/officeDocument/2006/math">
                    <m:r>
                      <a:rPr lang="en-US" altLang="zh-CN" sz="230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CN" sz="2300" i="1" dirty="0" smtClean="0">
                        <a:latin typeface="Cambria Math" panose="02040503050406030204" pitchFamily="18" charset="0"/>
                      </a:rPr>
                      <m:t>(7,3)</m:t>
                    </m:r>
                  </m:oMath>
                </a14:m>
                <a:r>
                  <a:rPr lang="en-US" altLang="zh-CN" sz="2300" dirty="0"/>
                  <a:t> different ways, leaving 4 positions free. Then, the two C’s can be placed in </a:t>
                </a:r>
                <a14:m>
                  <m:oMath xmlns:m="http://schemas.openxmlformats.org/officeDocument/2006/math">
                    <m:r>
                      <a:rPr lang="en-US" altLang="zh-CN" sz="230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CN" sz="2300" i="1" dirty="0" smtClean="0">
                        <a:latin typeface="Cambria Math" panose="02040503050406030204" pitchFamily="18" charset="0"/>
                      </a:rPr>
                      <m:t>(4,2)</m:t>
                    </m:r>
                  </m:oMath>
                </a14:m>
                <a:r>
                  <a:rPr lang="en-US" altLang="zh-CN" sz="2300" dirty="0"/>
                  <a:t> ways, leaving 2 free positions. … By the product rule, the number of different ways is </a:t>
                </a:r>
                <a:br>
                  <a:rPr lang="en-US" altLang="zh-CN" sz="2300" dirty="0"/>
                </a:br>
                <a14:m>
                  <m:oMath xmlns:m="http://schemas.openxmlformats.org/officeDocument/2006/math">
                    <m:r>
                      <a:rPr lang="en-US" altLang="zh-CN" sz="230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CN" sz="2300" i="1" dirty="0" smtClean="0">
                        <a:latin typeface="Cambria Math" panose="02040503050406030204" pitchFamily="18" charset="0"/>
                      </a:rPr>
                      <m:t>(7,3)</m:t>
                    </m:r>
                    <m:r>
                      <a:rPr lang="en-US" altLang="zh-CN" sz="230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CN" sz="2300" i="1" dirty="0" smtClean="0">
                        <a:latin typeface="Cambria Math" panose="02040503050406030204" pitchFamily="18" charset="0"/>
                      </a:rPr>
                      <m:t>(4,2)</m:t>
                    </m:r>
                    <m:r>
                      <a:rPr lang="en-US" altLang="zh-CN" sz="230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CN" sz="2300" i="1" dirty="0" smtClean="0">
                        <a:latin typeface="Cambria Math" panose="02040503050406030204" pitchFamily="18" charset="0"/>
                      </a:rPr>
                      <m:t>(2,1)</m:t>
                    </m:r>
                    <m:r>
                      <a:rPr lang="en-US" altLang="zh-CN" sz="230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CN" sz="2300" i="1" dirty="0" smtClean="0">
                        <a:latin typeface="Cambria Math" panose="02040503050406030204" pitchFamily="18" charset="0"/>
                      </a:rPr>
                      <m:t>(1,1)=</m:t>
                    </m:r>
                    <m:f>
                      <m:fPr>
                        <m:ctrlPr>
                          <a:rPr lang="en-US" altLang="zh-CN" sz="2400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/>
                          </a:rPr>
                          <m:t>7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US" altLang="zh-CN" sz="2400" b="0" i="1" smtClean="0">
                            <a:latin typeface="Cambria Math"/>
                          </a:rPr>
                          <m:t>3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US" altLang="zh-CN" sz="2400" b="0" i="1" smtClean="0">
                            <a:latin typeface="Cambria Math"/>
                          </a:rPr>
                          <m:t>2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1!1!</m:t>
                        </m:r>
                        <m:r>
                          <a:rPr lang="en-US" altLang="zh-CN" sz="2400" i="1" smtClean="0">
                            <a:latin typeface="Cambria Math"/>
                          </a:rPr>
                          <m:t> </m:t>
                        </m:r>
                      </m:den>
                    </m:f>
                  </m:oMath>
                </a14:m>
                <a:endParaRPr lang="en-US" altLang="zh-CN" sz="2300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8600" y="1295400"/>
                <a:ext cx="8686800" cy="5562600"/>
              </a:xfrm>
              <a:blipFill>
                <a:blip r:embed="rId2"/>
                <a:stretch>
                  <a:fillRect l="-842" t="-877" r="-1404"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/>
              <a:pPr/>
              <a:t>34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922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Lucida Sans"/>
        <a:ea typeface=""/>
        <a:cs typeface=""/>
      </a:majorFont>
      <a:minorFont>
        <a:latin typeface="Lucid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15719</TotalTime>
  <Words>6436</Words>
  <Application>Microsoft Macintosh PowerPoint</Application>
  <PresentationFormat>On-screen Show (4:3)</PresentationFormat>
  <Paragraphs>395</Paragraphs>
  <Slides>51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8" baseType="lpstr">
      <vt:lpstr>Arial</vt:lpstr>
      <vt:lpstr>Cambria</vt:lpstr>
      <vt:lpstr>Cambria Math</vt:lpstr>
      <vt:lpstr>Lucida Sans</vt:lpstr>
      <vt:lpstr>Symbol</vt:lpstr>
      <vt:lpstr>Wingdings</vt:lpstr>
      <vt:lpstr>Default Design</vt:lpstr>
      <vt:lpstr>Permutations and Combinations</vt:lpstr>
      <vt:lpstr>Permutations</vt:lpstr>
      <vt:lpstr>Example</vt:lpstr>
      <vt:lpstr>Permutation</vt:lpstr>
      <vt:lpstr>k-Permutation</vt:lpstr>
      <vt:lpstr>Number of k-Permutations</vt:lpstr>
      <vt:lpstr>Example</vt:lpstr>
      <vt:lpstr>Example</vt:lpstr>
      <vt:lpstr>Exercise on Strings</vt:lpstr>
      <vt:lpstr>Exercise on Seating Arrangement</vt:lpstr>
      <vt:lpstr>Exercise on Seating Arrangement</vt:lpstr>
      <vt:lpstr>Exercise on Parking Lots</vt:lpstr>
      <vt:lpstr>k-Combinations</vt:lpstr>
      <vt:lpstr>k-Combinations</vt:lpstr>
      <vt:lpstr>Number of k-Combinations</vt:lpstr>
      <vt:lpstr>Proof</vt:lpstr>
      <vt:lpstr>Example</vt:lpstr>
      <vt:lpstr>Corollary</vt:lpstr>
      <vt:lpstr>Exercise on Committee Selection</vt:lpstr>
      <vt:lpstr>Exercise on Group Selection</vt:lpstr>
      <vt:lpstr>Exercise on Ball Selection</vt:lpstr>
      <vt:lpstr>Exercise on Earring Selection</vt:lpstr>
      <vt:lpstr>PowerPoint Presentation</vt:lpstr>
      <vt:lpstr>Exercise on Seating Arrangements</vt:lpstr>
      <vt:lpstr>Poker Exercises 1</vt:lpstr>
      <vt:lpstr>Poker Exercises 2</vt:lpstr>
      <vt:lpstr>Poker Exercises 3</vt:lpstr>
      <vt:lpstr>Poker Exercises 4</vt:lpstr>
      <vt:lpstr>Combinatorial Proof and Bijection Principle</vt:lpstr>
      <vt:lpstr>Proof of C(n, k) = C(n, n-k) by Bijection Principle</vt:lpstr>
      <vt:lpstr>Example by Bijection Principle</vt:lpstr>
      <vt:lpstr>The Playoff Example (solved using tree diagrams in previous lecture)</vt:lpstr>
      <vt:lpstr>Exercise on Coin Flipping</vt:lpstr>
      <vt:lpstr>Permutations with Indistinguishable Objects</vt:lpstr>
      <vt:lpstr>Permutations with Indistinguishable Objects</vt:lpstr>
      <vt:lpstr>Proof of Theorem</vt:lpstr>
      <vt:lpstr>Distributing Objects into Boxes</vt:lpstr>
      <vt:lpstr>Distributing Objects into Boxes</vt:lpstr>
      <vt:lpstr>Distributing Objects into Boxes</vt:lpstr>
      <vt:lpstr>Combinations with Repetition</vt:lpstr>
      <vt:lpstr>Solution</vt:lpstr>
      <vt:lpstr>Comments on the Bill Example</vt:lpstr>
      <vt:lpstr>Combinations with Repetition (bars and stars)</vt:lpstr>
      <vt:lpstr>Combinations with Repetition - Cookies</vt:lpstr>
      <vt:lpstr>Example of Combinations with Repetition</vt:lpstr>
      <vt:lpstr>Exercise on Equation Solutions</vt:lpstr>
      <vt:lpstr>Exercise on Equation Solutions with minimum constraint</vt:lpstr>
      <vt:lpstr>Exercise on Equation Solutions with maximum constraint</vt:lpstr>
      <vt:lpstr>Summary</vt:lpstr>
      <vt:lpstr>Exercise on Paths 1</vt:lpstr>
      <vt:lpstr>Exercise on Paths 2 </vt:lpstr>
    </vt:vector>
  </TitlesOfParts>
  <Company>HKUST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taicl</dc:creator>
  <cp:lastModifiedBy>Lionel Parreaux</cp:lastModifiedBy>
  <cp:revision>964</cp:revision>
  <cp:lastPrinted>2026-09-29T02:33:58Z</cp:lastPrinted>
  <dcterms:created xsi:type="dcterms:W3CDTF">2012-01-21T22:53:48Z</dcterms:created>
  <dcterms:modified xsi:type="dcterms:W3CDTF">2026-09-30T01:31:42Z</dcterms:modified>
</cp:coreProperties>
</file>