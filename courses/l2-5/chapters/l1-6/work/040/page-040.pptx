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0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88" r:id="rId41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41" Type="http://schemas.openxmlformats.org/officeDocument/2006/relationships/slide" Target="slides/slide40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0.xml.rels><?xml version='1.0' encoding='utf-8'?>
<Relationships xmlns="http://schemas.openxmlformats.org/package/2006/relationships"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2.xml" /></Relationships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 with Repetition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3429000"/>
          </a:xfrm>
        </p:spPr>
        <p:txBody>
          <a:bodyPr/>
          <a:lstStyle/>
          <a:p>
            <a:r>
              <a:rPr lang="en-US" sz="2000" dirty="0"/>
              <a:t>How many ways are there to select </a:t>
            </a:r>
            <a:r>
              <a:rPr lang="en-US" sz="2000" dirty="0">
                <a:solidFill>
                  <a:srgbClr val="0000FF"/>
                </a:solidFill>
              </a:rPr>
              <a:t>5</a:t>
            </a:r>
            <a:r>
              <a:rPr lang="en-US" sz="2000" dirty="0"/>
              <a:t> bills from the following </a:t>
            </a:r>
            <a:r>
              <a:rPr lang="en-US" sz="2000" dirty="0">
                <a:solidFill>
                  <a:srgbClr val="FF0000"/>
                </a:solidFill>
              </a:rPr>
              <a:t>7</a:t>
            </a:r>
            <a:r>
              <a:rPr lang="en-US" sz="2000" dirty="0"/>
              <a:t> denominations: </a:t>
            </a:r>
            <a:r>
              <a:rPr lang="en-US" dirty="0"/>
              <a:t>$</a:t>
            </a:r>
            <a:r>
              <a:rPr lang="en-US" sz="2000" dirty="0">
                <a:latin typeface="Cambria" pitchFamily="18" charset="0"/>
              </a:rPr>
              <a:t>1</a:t>
            </a:r>
            <a:r>
              <a:rPr lang="en-US" sz="2000" dirty="0"/>
              <a:t>, </a:t>
            </a:r>
            <a:r>
              <a:rPr lang="en-US" dirty="0"/>
              <a:t>$</a:t>
            </a:r>
            <a:r>
              <a:rPr lang="en-US" sz="2000" dirty="0">
                <a:latin typeface="Cambria" pitchFamily="18" charset="0"/>
              </a:rPr>
              <a:t>2</a:t>
            </a:r>
            <a:r>
              <a:rPr lang="en-US" sz="2000" dirty="0"/>
              <a:t>, </a:t>
            </a:r>
            <a:r>
              <a:rPr lang="en-US" dirty="0"/>
              <a:t>$</a:t>
            </a:r>
            <a:r>
              <a:rPr lang="en-US" sz="2000" dirty="0">
                <a:latin typeface="Cambria" pitchFamily="18" charset="0"/>
              </a:rPr>
              <a:t>5</a:t>
            </a:r>
            <a:r>
              <a:rPr lang="en-US" sz="2000" dirty="0"/>
              <a:t>, </a:t>
            </a:r>
            <a:r>
              <a:rPr lang="en-US" dirty="0"/>
              <a:t>$</a:t>
            </a:r>
            <a:r>
              <a:rPr lang="en-US" sz="2000" dirty="0">
                <a:latin typeface="Cambria" pitchFamily="18" charset="0"/>
              </a:rPr>
              <a:t>10</a:t>
            </a:r>
            <a:r>
              <a:rPr lang="en-US" sz="2000" dirty="0"/>
              <a:t>, </a:t>
            </a:r>
            <a:r>
              <a:rPr lang="en-US" dirty="0"/>
              <a:t>$</a:t>
            </a:r>
            <a:r>
              <a:rPr lang="en-US" sz="2000" dirty="0">
                <a:latin typeface="Cambria" pitchFamily="18" charset="0"/>
              </a:rPr>
              <a:t>20</a:t>
            </a:r>
            <a:r>
              <a:rPr lang="en-US" sz="2000" dirty="0"/>
              <a:t>, </a:t>
            </a:r>
            <a:r>
              <a:rPr lang="en-US" dirty="0"/>
              <a:t>$</a:t>
            </a:r>
            <a:r>
              <a:rPr lang="en-US" sz="2000" dirty="0">
                <a:latin typeface="Cambria" pitchFamily="18" charset="0"/>
              </a:rPr>
              <a:t>50</a:t>
            </a:r>
            <a:r>
              <a:rPr lang="en-US" sz="2000" dirty="0"/>
              <a:t>, and </a:t>
            </a:r>
            <a:r>
              <a:rPr lang="en-US" dirty="0"/>
              <a:t>$</a:t>
            </a:r>
            <a:r>
              <a:rPr lang="en-US" sz="2000" dirty="0">
                <a:latin typeface="Cambria" pitchFamily="18" charset="0"/>
              </a:rPr>
              <a:t>100</a:t>
            </a:r>
            <a:r>
              <a:rPr lang="en-US" sz="2000" dirty="0"/>
              <a:t>? Assume there are enough bills of each denomination</a:t>
            </a:r>
          </a:p>
          <a:p>
            <a:r>
              <a:rPr lang="en-US" sz="2000" b="1" dirty="0"/>
              <a:t>Solution</a:t>
            </a:r>
            <a:br>
              <a:rPr lang="en-US" sz="2000" b="1" dirty="0"/>
            </a:br>
            <a:r>
              <a:rPr lang="en-US" sz="2000" dirty="0"/>
              <a:t>Select the bills from the appropriate position of a cash box illustrated below. </a:t>
            </a:r>
          </a:p>
          <a:p>
            <a:r>
              <a:rPr lang="en-US" sz="2000" dirty="0"/>
              <a:t>Equivalently, according to the "</a:t>
            </a:r>
            <a:r>
              <a:rPr lang="en-US" altLang="zh-CN" sz="2000" i="1" dirty="0"/>
              <a:t>Distributing Objects into Boxes</a:t>
            </a:r>
            <a:r>
              <a:rPr lang="en-US" altLang="zh-CN" sz="2000" dirty="0"/>
              <a:t>" framework, </a:t>
            </a:r>
            <a:r>
              <a:rPr lang="en-US" sz="2000" dirty="0"/>
              <a:t>distribute </a:t>
            </a:r>
            <a:r>
              <a:rPr lang="en-US" sz="2000" dirty="0">
                <a:solidFill>
                  <a:srgbClr val="0000FF"/>
                </a:solidFill>
              </a:rPr>
              <a:t>5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00FF"/>
                </a:solidFill>
              </a:rPr>
              <a:t>indistinguishable</a:t>
            </a:r>
            <a:r>
              <a:rPr lang="en-US" sz="2000" dirty="0"/>
              <a:t> objects (bills) into </a:t>
            </a:r>
            <a:r>
              <a:rPr lang="en-US" sz="2000" dirty="0">
                <a:solidFill>
                  <a:srgbClr val="FF3300"/>
                </a:solidFill>
              </a:rPr>
              <a:t>7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distinguishable</a:t>
            </a:r>
            <a:r>
              <a:rPr lang="en-US" sz="2000" dirty="0"/>
              <a:t> boxes (denominations).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40</a:t>
            </a:r>
            <a:endParaRPr lang="en-US"/>
          </a:p>
        </p:txBody>
      </p:sp>
      <p:pic>
        <p:nvPicPr>
          <p:cNvPr id="5" name="Picture 4" descr="051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3200" y="4578921"/>
            <a:ext cx="3244596" cy="111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9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