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9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75" r:id="rId40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40" Type="http://schemas.openxmlformats.org/officeDocument/2006/relationships/slide" Target="slides/slide39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9.xml.rels><?xml version='1.0' encoding='utf-8'?>
<Relationships xmlns="http://schemas.openxmlformats.org/package/2006/relationships"><Relationship Id="rId2" Type="http://schemas.openxmlformats.org/officeDocument/2006/relationships/image" Target="../media/image22.png" /><Relationship Id="rId1" Type="http://schemas.openxmlformats.org/officeDocument/2006/relationships/slideLayout" Target="../slideLayouts/slideLayout2.xml" /></Relationships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>
                <a:solidFill>
                  <a:schemeClr val="tx1"/>
                </a:solidFill>
              </a:rPr>
              <a:t>Distributing Objects into Boxes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0" y="1216511"/>
                <a:ext cx="8686800" cy="4953000"/>
              </a:xfrm>
            </p:spPr>
            <p:txBody>
              <a:bodyPr/>
              <a:lstStyle/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Theorem</a:t>
                </a:r>
                <a:br>
                  <a:rPr lang="en-US" altLang="zh-CN" b="1" dirty="0">
                    <a:solidFill>
                      <a:srgbClr val="0000FF"/>
                    </a:solidFill>
                  </a:rPr>
                </a:br>
                <a:r>
                  <a:rPr lang="en-US" altLang="zh-CN" dirty="0"/>
                  <a:t>The number of ways to distribute </a:t>
                </a:r>
                <a:r>
                  <a:rPr lang="en-US" altLang="zh-CN" i="1" dirty="0"/>
                  <a:t>n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olidFill>
                      <a:srgbClr val="FF3300"/>
                    </a:solidFill>
                  </a:rPr>
                  <a:t>distinguishable</a:t>
                </a:r>
                <a:r>
                  <a:rPr lang="en-US" altLang="zh-CN" dirty="0"/>
                  <a:t> objects into </a:t>
                </a:r>
                <a:r>
                  <a:rPr lang="en-US" altLang="zh-CN" i="1" dirty="0"/>
                  <a:t>k</a:t>
                </a:r>
                <a:r>
                  <a:rPr lang="en-US" altLang="zh-CN" dirty="0"/>
                  <a:t> </a:t>
                </a:r>
                <a:r>
                  <a:rPr lang="en-US" altLang="zh-CN" dirty="0">
                    <a:solidFill>
                      <a:srgbClr val="FF3300"/>
                    </a:solidFill>
                  </a:rPr>
                  <a:t>distinguishable</a:t>
                </a:r>
                <a:r>
                  <a:rPr lang="en-US" altLang="zh-CN" dirty="0"/>
                  <a:t> boxes so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/>
                  <a:t> objects are placed into box </a:t>
                </a:r>
                <a:r>
                  <a:rPr lang="en-US" altLang="zh-CN" i="1" dirty="0" err="1"/>
                  <a:t>i</a:t>
                </a:r>
                <a:r>
                  <a:rPr lang="en-US" altLang="zh-CN" dirty="0"/>
                  <a:t>, where</a:t>
                </a:r>
                <a:r>
                  <a:rPr lang="en-US" altLang="zh-CN" i="1" dirty="0"/>
                  <a:t> n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+</a:t>
                </a:r>
                <a:r>
                  <a:rPr lang="en-US" altLang="zh-CN" i="1" dirty="0"/>
                  <a:t>n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+..</a:t>
                </a:r>
                <a:r>
                  <a:rPr lang="en-US" altLang="zh-CN" i="1" dirty="0"/>
                  <a:t> </a:t>
                </a:r>
                <a:r>
                  <a:rPr lang="en-US" altLang="zh-CN" dirty="0"/>
                  <a:t>+</a:t>
                </a:r>
                <a:r>
                  <a:rPr lang="en-US" altLang="zh-CN" i="1" dirty="0" err="1"/>
                  <a:t>n</a:t>
                </a:r>
                <a:r>
                  <a:rPr lang="en-US" altLang="zh-CN" i="1" baseline="-25000" dirty="0" err="1"/>
                  <a:t>k</a:t>
                </a:r>
                <a:r>
                  <a:rPr lang="en-US" altLang="zh-CN" i="1" baseline="-25000" dirty="0"/>
                  <a:t> </a:t>
                </a:r>
                <a:r>
                  <a:rPr lang="en-US" altLang="zh-CN" dirty="0"/>
                  <a:t>= </a:t>
                </a:r>
                <a:r>
                  <a:rPr lang="en-US" altLang="zh-CN" i="1" dirty="0">
                    <a:solidFill>
                      <a:srgbClr val="FF3300"/>
                    </a:solidFill>
                  </a:rPr>
                  <a:t>m </a:t>
                </a:r>
                <a:r>
                  <a:rPr lang="en-US" altLang="zh-CN" dirty="0"/>
                  <a:t>&lt; </a:t>
                </a:r>
                <a:r>
                  <a:rPr lang="en-US" altLang="zh-CN" i="1" dirty="0"/>
                  <a:t>n</a:t>
                </a:r>
                <a:r>
                  <a:rPr lang="en-US" altLang="zh-CN" dirty="0"/>
                  <a:t>, is equal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!...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HK" i="1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HK" i="1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HK" i="1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HK" i="1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HK" i="1">
                              <a:solidFill>
                                <a:srgbClr val="FF3300"/>
                              </a:solidFill>
                              <a:latin typeface="Cambria Math" panose="02040503050406030204" pitchFamily="18" charset="0"/>
                            </a:rPr>
                            <m:t>)!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solidFill>
                    <a:srgbClr val="0000FF"/>
                  </a:solidFill>
                </a:endParaRPr>
              </a:p>
              <a:p>
                <a:pPr marL="0" indent="0">
                  <a:buNone/>
                </a:pPr>
                <a:endParaRPr lang="en-US" altLang="zh-CN" dirty="0">
                  <a:solidFill>
                    <a:srgbClr val="0000FF"/>
                  </a:solidFill>
                </a:endParaRPr>
              </a:p>
              <a:p>
                <a:r>
                  <a:rPr lang="en-US" altLang="zh-CN" b="1" dirty="0">
                    <a:solidFill>
                      <a:srgbClr val="0000FF"/>
                    </a:solidFill>
                  </a:rPr>
                  <a:t>Special Case</a:t>
                </a:r>
              </a:p>
              <a:p>
                <a:r>
                  <a:rPr lang="en-US" altLang="zh-CN" dirty="0"/>
                  <a:t>When </a:t>
                </a:r>
                <a:r>
                  <a:rPr lang="en-US" altLang="zh-CN" i="1" dirty="0"/>
                  <a:t>n</a:t>
                </a:r>
                <a:r>
                  <a:rPr lang="en-US" altLang="zh-CN" baseline="-25000" dirty="0"/>
                  <a:t>1</a:t>
                </a:r>
                <a:r>
                  <a:rPr lang="en-US" altLang="zh-CN" dirty="0"/>
                  <a:t>+</a:t>
                </a:r>
                <a:r>
                  <a:rPr lang="en-US" altLang="zh-CN" i="1" dirty="0"/>
                  <a:t>n</a:t>
                </a:r>
                <a:r>
                  <a:rPr lang="en-US" altLang="zh-CN" baseline="-25000" dirty="0"/>
                  <a:t>2</a:t>
                </a:r>
                <a:r>
                  <a:rPr lang="en-US" altLang="zh-CN" dirty="0"/>
                  <a:t>+..</a:t>
                </a:r>
                <a:r>
                  <a:rPr lang="en-US" altLang="zh-CN" i="1" dirty="0"/>
                  <a:t> </a:t>
                </a:r>
                <a:r>
                  <a:rPr lang="en-US" altLang="zh-CN" dirty="0"/>
                  <a:t>+</a:t>
                </a:r>
                <a:r>
                  <a:rPr lang="en-US" altLang="zh-CN" i="1" dirty="0" err="1"/>
                  <a:t>n</a:t>
                </a:r>
                <a:r>
                  <a:rPr lang="en-US" altLang="zh-CN" i="1" baseline="-25000" dirty="0" err="1"/>
                  <a:t>k</a:t>
                </a:r>
                <a:r>
                  <a:rPr lang="en-US" altLang="zh-CN" i="1" baseline="-25000" dirty="0"/>
                  <a:t> </a:t>
                </a:r>
                <a:r>
                  <a:rPr lang="en-US" altLang="zh-CN" dirty="0"/>
                  <a:t>= </a:t>
                </a:r>
                <a:r>
                  <a:rPr lang="en-US" altLang="zh-CN" i="1" dirty="0"/>
                  <a:t>n</a:t>
                </a:r>
                <a:r>
                  <a:rPr lang="en-US" altLang="zh-CN" dirty="0"/>
                  <a:t> the above formula becomes: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!...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  <m:sSub>
                            <m:sSubPr>
                              <m:ctrlP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HK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HK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altLang="zh-CN" dirty="0">
                  <a:solidFill>
                    <a:srgbClr val="0000FF"/>
                  </a:solidFill>
                </a:endParaRPr>
              </a:p>
              <a:p>
                <a:r>
                  <a:rPr lang="en-US" altLang="zh-CN" sz="2000" dirty="0">
                    <a:solidFill>
                      <a:schemeClr val="tx1"/>
                    </a:solidFill>
                  </a:rPr>
                  <a:t>Same formula as “Permutations with Indistinguishable Object”</a:t>
                </a:r>
                <a:endParaRPr lang="en-US" altLang="zh-CN" sz="2000" dirty="0">
                  <a:solidFill>
                    <a:srgbClr val="0000FF"/>
                  </a:solidFill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16511"/>
                <a:ext cx="8686800" cy="4953000"/>
              </a:xfrm>
              <a:blipFill>
                <a:blip r:embed="rId2"/>
                <a:stretch>
                  <a:fillRect l="-1023" t="-1282" r="-585"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39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42978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