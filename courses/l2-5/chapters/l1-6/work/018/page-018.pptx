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8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66" r:id="rId19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19" Type="http://schemas.openxmlformats.org/officeDocument/2006/relationships/slide" Target="slides/slide18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?>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2.xml" /></Relationships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Corollary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4876800"/>
              </a:xfrm>
            </p:spPr>
            <p:txBody>
              <a:bodyPr/>
              <a:lstStyle/>
              <a:p>
                <a:r>
                  <a:rPr lang="en-US" altLang="zh-CN" dirty="0"/>
                  <a:t>Let </a:t>
                </a:r>
                <a:r>
                  <a:rPr lang="en-US" altLang="zh-CN" i="1" dirty="0"/>
                  <a:t>n</a:t>
                </a:r>
                <a:r>
                  <a:rPr lang="en-US" altLang="zh-CN" dirty="0"/>
                  <a:t> and </a:t>
                </a:r>
                <a:r>
                  <a:rPr lang="en-US" altLang="zh-CN" i="1" dirty="0"/>
                  <a:t>k</a:t>
                </a:r>
                <a:r>
                  <a:rPr lang="en-US" altLang="zh-CN" dirty="0"/>
                  <a:t> be integers with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. Then</a:t>
                </a:r>
                <a:br>
                  <a:rPr lang="en-US" altLang="zh-CN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en-US" altLang="zh-CN" b="1" dirty="0">
                    <a:solidFill>
                      <a:srgbClr val="0000FF"/>
                    </a:solidFill>
                  </a:rPr>
                  <a:t>Proof</a:t>
                </a:r>
                <a:br>
                  <a:rPr lang="en-US" altLang="zh-CN" b="1" dirty="0">
                    <a:solidFill>
                      <a:srgbClr val="0000FF"/>
                    </a:solidFill>
                  </a:rPr>
                </a:br>
                <a:r>
                  <a:rPr lang="en-US" altLang="zh-CN" dirty="0"/>
                  <a:t>From the previous theorem, it follows that</a:t>
                </a:r>
                <a:br>
                  <a:rPr lang="en-US" altLang="zh-CN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br>
                  <a:rPr lang="en-US" altLang="zh-CN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br>
                  <a:rPr lang="en-US" altLang="zh-CN" b="0" i="1" dirty="0">
                    <a:latin typeface="Cambria Math" panose="02040503050406030204" pitchFamily="18" charset="0"/>
                  </a:rPr>
                </a:br>
                <a:r>
                  <a:rPr lang="en-US" altLang="zh-CN" dirty="0"/>
                  <a:t>Hence,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4876800"/>
              </a:xfrm>
              <a:blipFill>
                <a:blip r:embed="rId2"/>
                <a:stretch>
                  <a:fillRect l="-982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6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