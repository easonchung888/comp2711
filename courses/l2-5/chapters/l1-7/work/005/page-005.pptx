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5" saveSubsetFonts="1" autoCompressPictures="0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397" r:id="rId6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71" autoAdjust="0"/>
    <p:restoredTop sz="94260" autoAdjust="0"/>
  </p:normalViewPr>
  <p:slideViewPr>
    <p:cSldViewPr>
      <p:cViewPr varScale="1">
        <p:scale>
          <a:sx n="151" d="100"/>
          <a:sy n="151" d="100"/>
        </p:scale>
        <p:origin x="216" y="56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06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4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45" Type="http://schemas.openxmlformats.org/officeDocument/2006/relationships/presProps" Target="presProps.xml" /><Relationship Id="rId44" Type="http://schemas.openxmlformats.org/officeDocument/2006/relationships/handoutMaster" Target="handoutMasters/handoutMaster1.xml" /><Relationship Id="rId43" Type="http://schemas.openxmlformats.org/officeDocument/2006/relationships/notesMaster" Target="notesMasters/notesMaster1.xml" /><Relationship Id="rId48" Type="http://schemas.openxmlformats.org/officeDocument/2006/relationships/tableStyles" Target="tableStyles.xml" /><Relationship Id="rId46" Type="http://schemas.openxmlformats.org/officeDocument/2006/relationships/viewProps" Target="viewProps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9800" y="752475"/>
            <a:ext cx="5005388" cy="3756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0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5.xml.rels><?xml version='1.0' encoding='utf-8'?>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8340DC-DDD3-4383-9614-668A8EE0901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568013"/>
      </p:ext>
    </p:extLst>
  </p:cSld>
  <p:clrMapOvr>
    <a:masterClrMapping/>
  </p:clrMapOvr>
</p:note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.xml.rels><?xml version='1.0' encoding='utf-8'?>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5.png" /><Relationship Id="rId5" Type="http://schemas.openxmlformats.org/officeDocument/2006/relationships/image" Target="../media/image4.png" /><Relationship Id="rId4" Type="http://schemas.openxmlformats.org/officeDocument/2006/relationships/image" Target="../media/image3.png" /></Relationships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42900" y="4329953"/>
            <a:ext cx="8458200" cy="1752600"/>
          </a:xfrm>
        </p:spPr>
        <p:txBody>
          <a:bodyPr/>
          <a:lstStyle/>
          <a:p>
            <a:r>
              <a:rPr lang="en-US" sz="2000" dirty="0"/>
              <a:t>Coefficient  of</a:t>
            </a:r>
          </a:p>
          <a:p>
            <a:pPr lvl="1">
              <a:buNone/>
            </a:pPr>
            <a:r>
              <a:rPr lang="en-US" sz="1800" dirty="0"/>
              <a:t> = </a:t>
            </a:r>
            <a:r>
              <a:rPr lang="en-US" sz="2000" dirty="0"/>
              <a:t>number of length-3 lists having y in </a:t>
            </a:r>
            <a:r>
              <a:rPr lang="en-US" sz="2000" b="1" dirty="0"/>
              <a:t>2</a:t>
            </a:r>
            <a:r>
              <a:rPr lang="en-US" sz="2000" dirty="0"/>
              <a:t> places.</a:t>
            </a:r>
            <a:endParaRPr lang="en-US" sz="1800" dirty="0"/>
          </a:p>
        </p:txBody>
      </p:sp>
      <p:pic>
        <p:nvPicPr>
          <p:cNvPr id="68915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67000" y="4267200"/>
            <a:ext cx="457200" cy="467360"/>
          </a:xfrm>
          <a:prstGeom prst="rect">
            <a:avLst/>
          </a:prstGeom>
          <a:noFill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629" y="1809115"/>
            <a:ext cx="81248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505"/>
          <a:stretch/>
        </p:blipFill>
        <p:spPr bwMode="auto">
          <a:xfrm>
            <a:off x="609600" y="2890202"/>
            <a:ext cx="3448050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109" y="3552825"/>
            <a:ext cx="8067675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5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53D430-F4FD-2043-84F3-BAF033D04898}"/>
              </a:ext>
            </a:extLst>
          </p:cNvPr>
          <p:cNvSpPr/>
          <p:nvPr/>
        </p:nvSpPr>
        <p:spPr bwMode="auto">
          <a:xfrm>
            <a:off x="3581400" y="1600200"/>
            <a:ext cx="5105400" cy="990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2F15BF56-1D49-9571-D5CE-FC33AF20C713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382000" cy="715962"/>
          </a:xfrm>
          <a:prstGeom prst="rect">
            <a:avLst/>
          </a:prstGeom>
        </p:spPr>
        <p:txBody>
          <a:bodyPr/>
          <a:lstStyle>
            <a:lvl1pPr algn="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+mj-lt"/>
                <a:ea typeface="ＭＳ Ｐゴシック" charset="-128"/>
                <a:cs typeface="ＭＳ Ｐゴシック" charset="-128"/>
              </a:defRPr>
            </a:lvl1pPr>
            <a:lvl2pPr algn="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  <a:ea typeface="ＭＳ Ｐゴシック" charset="-128"/>
                <a:cs typeface="ＭＳ Ｐゴシック" charset="-128"/>
              </a:defRPr>
            </a:lvl2pPr>
            <a:lvl3pPr algn="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  <a:ea typeface="ＭＳ Ｐゴシック" charset="-128"/>
                <a:cs typeface="ＭＳ Ｐゴシック" charset="-128"/>
              </a:defRPr>
            </a:lvl3pPr>
            <a:lvl4pPr algn="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  <a:ea typeface="ＭＳ Ｐゴシック" charset="-128"/>
                <a:cs typeface="ＭＳ Ｐゴシック" charset="-128"/>
              </a:defRPr>
            </a:lvl4pPr>
            <a:lvl5pPr algn="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  <a:ea typeface="ＭＳ Ｐゴシック" charset="-128"/>
                <a:cs typeface="ＭＳ Ｐゴシック" charset="-128"/>
              </a:defRPr>
            </a:lvl5pPr>
            <a:lvl6pPr marL="4572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</a:defRPr>
            </a:lvl6pPr>
            <a:lvl7pPr marL="9144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</a:defRPr>
            </a:lvl7pPr>
            <a:lvl8pPr marL="13716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</a:defRPr>
            </a:lvl8pPr>
            <a:lvl9pPr marL="1828800" algn="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2"/>
                </a:solidFill>
                <a:latin typeface="Lucida Sans" charset="0"/>
              </a:defRPr>
            </a:lvl9pPr>
          </a:lstStyle>
          <a:p>
            <a:pPr algn="l"/>
            <a:r>
              <a:rPr lang="en-US" altLang="zh-CN" b="0" kern="0" dirty="0">
                <a:solidFill>
                  <a:schemeClr val="tx1"/>
                </a:solidFill>
              </a:rPr>
              <a:t>Binomial Expression Expansion</a:t>
            </a:r>
            <a:endParaRPr lang="zh-CN" altLang="en-US" b="0" kern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7958170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7894</TotalTime>
  <Words>2436</Words>
  <Application>Microsoft Macintosh PowerPoint</Application>
  <PresentationFormat>On-screen Show (4:3)</PresentationFormat>
  <Paragraphs>288</Paragraphs>
  <Slides>41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Cambria Math</vt:lpstr>
      <vt:lpstr>Lucida Sans</vt:lpstr>
      <vt:lpstr>Monotype Sorts</vt:lpstr>
      <vt:lpstr>Times New Roman</vt:lpstr>
      <vt:lpstr>Wingdings</vt:lpstr>
      <vt:lpstr>Default Design</vt:lpstr>
      <vt:lpstr>Binomial Coefficients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Binomial Theorem</vt:lpstr>
      <vt:lpstr>Proof</vt:lpstr>
      <vt:lpstr>Example</vt:lpstr>
      <vt:lpstr>Example</vt:lpstr>
      <vt:lpstr>Example</vt:lpstr>
      <vt:lpstr>Corollary</vt:lpstr>
      <vt:lpstr>Alternative: Combinatorial Proof</vt:lpstr>
      <vt:lpstr>Corollary</vt:lpstr>
      <vt:lpstr>Exercise on Number of Subsets</vt:lpstr>
      <vt:lpstr>Corollary</vt:lpstr>
      <vt:lpstr>Pascal's Identity</vt:lpstr>
      <vt:lpstr>Example of Pascal's Identity for n=5, k=2</vt:lpstr>
      <vt:lpstr>Proof </vt:lpstr>
      <vt:lpstr>Combinatorial proof of Pascal’s identity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Vandermonde's Identity</vt:lpstr>
      <vt:lpstr>Combinatorial Proof</vt:lpstr>
      <vt:lpstr>Corollary</vt:lpstr>
      <vt:lpstr>Counting bit strings</vt:lpstr>
      <vt:lpstr>Proof</vt:lpstr>
      <vt:lpstr>Exercise on Combinatorial Proof</vt:lpstr>
      <vt:lpstr>Exercise 2 on Combinatorial Proof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803</cp:revision>
  <cp:lastPrinted>2024-10-03T04:24:41Z</cp:lastPrinted>
  <dcterms:created xsi:type="dcterms:W3CDTF">2012-01-21T22:53:48Z</dcterms:created>
  <dcterms:modified xsi:type="dcterms:W3CDTF">2026-09-30T02:20:54Z</dcterms:modified>
</cp:coreProperties>
</file>