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6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97" r:id="rId37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37" Type="http://schemas.openxmlformats.org/officeDocument/2006/relationships/slide" Target="slides/slide36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6.xml.rels><?xml version='1.0' encoding='utf-8'?>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.xml" /></Relationships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0000FF"/>
                </a:solidFill>
              </a:rPr>
              <a:t>Proof of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38100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The 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indistinguishable objects of type 1 can be placed among the </a:t>
            </a:r>
            <a:r>
              <a:rPr lang="en-US" altLang="zh-CN" sz="2000" i="1" dirty="0"/>
              <a:t>n</a:t>
            </a:r>
            <a:r>
              <a:rPr lang="en-US" altLang="zh-CN" sz="2000" dirty="0"/>
              <a:t> positions in C(</a:t>
            </a:r>
            <a:r>
              <a:rPr lang="en-US" altLang="zh-CN" sz="2000" i="1" dirty="0"/>
              <a:t>n</a:t>
            </a:r>
            <a:r>
              <a:rPr lang="en-US" altLang="zh-CN" sz="2000" dirty="0"/>
              <a:t>,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)=</a:t>
            </a:r>
            <a:r>
              <a:rPr lang="en-US" altLang="zh-CN" sz="2000" i="1" dirty="0"/>
              <a:t>n</a:t>
            </a:r>
            <a:r>
              <a:rPr lang="en-US" altLang="zh-CN" sz="2000" dirty="0"/>
              <a:t>!/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!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</a:rPr>
              <a:t>n</a:t>
            </a:r>
            <a:r>
              <a:rPr lang="en-US" altLang="zh-CN" sz="2000" dirty="0">
                <a:solidFill>
                  <a:srgbClr val="FF0000"/>
                </a:solidFill>
              </a:rPr>
              <a:t>-</a:t>
            </a:r>
            <a:r>
              <a:rPr lang="en-US" altLang="zh-CN" sz="2000" i="1" dirty="0">
                <a:solidFill>
                  <a:srgbClr val="FF0000"/>
                </a:solidFill>
              </a:rPr>
              <a:t>n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1</a:t>
            </a:r>
            <a:r>
              <a:rPr lang="en-US" altLang="zh-CN" sz="2000" dirty="0">
                <a:solidFill>
                  <a:srgbClr val="FF0000"/>
                </a:solidFill>
              </a:rPr>
              <a:t>)!</a:t>
            </a:r>
            <a:r>
              <a:rPr lang="en-US" altLang="zh-CN" sz="2000" dirty="0"/>
              <a:t> ways.</a:t>
            </a:r>
          </a:p>
          <a:p>
            <a:pPr marL="0" indent="0">
              <a:buNone/>
            </a:pPr>
            <a:r>
              <a:rPr lang="en-US" altLang="zh-CN" sz="2000" dirty="0"/>
              <a:t>The 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 indistinguishable objects of type 2 can be placed among the (</a:t>
            </a:r>
            <a:r>
              <a:rPr lang="en-US" altLang="zh-CN" sz="2000" i="1" dirty="0"/>
              <a:t>n</a:t>
            </a:r>
            <a:r>
              <a:rPr lang="en-US" altLang="zh-CN" sz="2000" dirty="0"/>
              <a:t>-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 positions in C(</a:t>
            </a:r>
            <a:r>
              <a:rPr lang="en-US" altLang="zh-CN" sz="2000" i="1" dirty="0"/>
              <a:t>n</a:t>
            </a:r>
            <a:r>
              <a:rPr lang="en-US" altLang="zh-CN" sz="2000" dirty="0"/>
              <a:t>-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)=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</a:rPr>
              <a:t>n</a:t>
            </a:r>
            <a:r>
              <a:rPr lang="en-US" altLang="zh-CN" sz="2000" dirty="0">
                <a:solidFill>
                  <a:srgbClr val="FF0000"/>
                </a:solidFill>
              </a:rPr>
              <a:t>-</a:t>
            </a:r>
            <a:r>
              <a:rPr lang="en-US" altLang="zh-CN" sz="2000" i="1" dirty="0">
                <a:solidFill>
                  <a:srgbClr val="FF0000"/>
                </a:solidFill>
              </a:rPr>
              <a:t>n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1</a:t>
            </a:r>
            <a:r>
              <a:rPr lang="en-US" altLang="zh-CN" sz="2000" dirty="0">
                <a:solidFill>
                  <a:srgbClr val="FF0000"/>
                </a:solidFill>
              </a:rPr>
              <a:t>)!</a:t>
            </a:r>
            <a:r>
              <a:rPr lang="en-US" altLang="zh-CN" sz="2000" dirty="0"/>
              <a:t>/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! </a:t>
            </a:r>
            <a:r>
              <a:rPr lang="en-US" altLang="zh-CN" sz="2000" dirty="0">
                <a:solidFill>
                  <a:srgbClr val="0000FF"/>
                </a:solidFill>
              </a:rPr>
              <a:t>(</a:t>
            </a:r>
            <a:r>
              <a:rPr lang="en-US" altLang="zh-CN" sz="2000" i="1" dirty="0">
                <a:solidFill>
                  <a:srgbClr val="0000FF"/>
                </a:solidFill>
              </a:rPr>
              <a:t>n</a:t>
            </a:r>
            <a:r>
              <a:rPr lang="en-US" altLang="zh-CN" sz="2000" dirty="0">
                <a:solidFill>
                  <a:srgbClr val="0000FF"/>
                </a:solidFill>
              </a:rPr>
              <a:t>-</a:t>
            </a:r>
            <a:r>
              <a:rPr lang="en-US" altLang="zh-CN" sz="2000" i="1" dirty="0">
                <a:solidFill>
                  <a:srgbClr val="0000FF"/>
                </a:solidFill>
              </a:rPr>
              <a:t>n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1</a:t>
            </a:r>
            <a:r>
              <a:rPr lang="en-US" altLang="zh-CN" sz="2000" dirty="0">
                <a:solidFill>
                  <a:srgbClr val="0000FF"/>
                </a:solidFill>
              </a:rPr>
              <a:t>-</a:t>
            </a:r>
            <a:r>
              <a:rPr lang="en-US" altLang="zh-CN" sz="2000" i="1" dirty="0">
                <a:solidFill>
                  <a:srgbClr val="0000FF"/>
                </a:solidFill>
              </a:rPr>
              <a:t>n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2</a:t>
            </a:r>
            <a:r>
              <a:rPr lang="en-US" altLang="zh-CN" sz="2000" dirty="0">
                <a:solidFill>
                  <a:srgbClr val="0000FF"/>
                </a:solidFill>
              </a:rPr>
              <a:t>)!</a:t>
            </a:r>
            <a:r>
              <a:rPr lang="en-US" altLang="zh-CN" sz="2000" dirty="0"/>
              <a:t> ways.</a:t>
            </a:r>
          </a:p>
          <a:p>
            <a:pPr marL="0" indent="0">
              <a:buNone/>
            </a:pPr>
            <a:r>
              <a:rPr lang="en-US" altLang="zh-CN" sz="2000" dirty="0"/>
              <a:t>….</a:t>
            </a:r>
          </a:p>
          <a:p>
            <a:pPr marL="0" indent="0">
              <a:buNone/>
            </a:pPr>
            <a:r>
              <a:rPr lang="en-US" altLang="zh-CN" sz="2000" dirty="0"/>
              <a:t>The </a:t>
            </a:r>
            <a:r>
              <a:rPr lang="en-US" altLang="zh-CN" sz="2000" i="1" dirty="0"/>
              <a:t>n</a:t>
            </a:r>
            <a:r>
              <a:rPr lang="en-US" altLang="zh-CN" sz="2000" i="1" baseline="-25000" dirty="0"/>
              <a:t>k</a:t>
            </a:r>
            <a:r>
              <a:rPr lang="en-US" altLang="zh-CN" sz="2000" baseline="-25000" dirty="0"/>
              <a:t>-1</a:t>
            </a:r>
            <a:r>
              <a:rPr lang="en-US" altLang="zh-CN" sz="2000" dirty="0"/>
              <a:t> indistinguishable objects of type </a:t>
            </a:r>
            <a:r>
              <a:rPr lang="en-US" altLang="zh-CN" sz="2000" i="1" dirty="0"/>
              <a:t>k</a:t>
            </a:r>
            <a:r>
              <a:rPr lang="en-US" altLang="zh-CN" sz="2000" dirty="0"/>
              <a:t>-1 can be placed among the (</a:t>
            </a:r>
            <a:r>
              <a:rPr lang="en-US" altLang="zh-CN" sz="2000" i="1" dirty="0"/>
              <a:t>n</a:t>
            </a:r>
            <a:r>
              <a:rPr lang="en-US" altLang="zh-CN" sz="2000" dirty="0"/>
              <a:t>-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-…-</a:t>
            </a:r>
            <a:r>
              <a:rPr lang="en-US" altLang="zh-CN" sz="2000" i="1" dirty="0"/>
              <a:t>n</a:t>
            </a:r>
            <a:r>
              <a:rPr lang="en-US" altLang="zh-CN" sz="2000" i="1" baseline="-25000" dirty="0"/>
              <a:t>k</a:t>
            </a:r>
            <a:r>
              <a:rPr lang="en-US" altLang="zh-CN" sz="2000" baseline="-25000" dirty="0"/>
              <a:t>-2</a:t>
            </a:r>
            <a:r>
              <a:rPr lang="en-US" altLang="zh-CN" sz="2000" dirty="0"/>
              <a:t>) positions in C(</a:t>
            </a:r>
            <a:r>
              <a:rPr lang="en-US" altLang="zh-CN" sz="2000" i="1" dirty="0"/>
              <a:t>n</a:t>
            </a:r>
            <a:r>
              <a:rPr lang="en-US" altLang="zh-CN" sz="2000" dirty="0"/>
              <a:t>-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-…-</a:t>
            </a:r>
            <a:r>
              <a:rPr lang="en-US" altLang="zh-CN" sz="2000" i="1" dirty="0"/>
              <a:t>n</a:t>
            </a:r>
            <a:r>
              <a:rPr lang="en-US" altLang="zh-CN" sz="2000" i="1" baseline="-25000" dirty="0"/>
              <a:t>k</a:t>
            </a:r>
            <a:r>
              <a:rPr lang="en-US" altLang="zh-CN" sz="2000" baseline="-25000" dirty="0"/>
              <a:t>-2</a:t>
            </a:r>
            <a:r>
              <a:rPr lang="en-US" altLang="zh-CN" sz="2000" dirty="0"/>
              <a:t>, </a:t>
            </a:r>
            <a:r>
              <a:rPr lang="en-US" altLang="zh-CN" sz="2000" i="1" dirty="0"/>
              <a:t>n</a:t>
            </a:r>
            <a:r>
              <a:rPr lang="en-US" altLang="zh-CN" sz="2000" i="1" baseline="-25000" dirty="0"/>
              <a:t>k</a:t>
            </a:r>
            <a:r>
              <a:rPr lang="en-US" altLang="zh-CN" sz="2000" baseline="-25000" dirty="0"/>
              <a:t>-1</a:t>
            </a:r>
            <a:r>
              <a:rPr lang="en-US" altLang="zh-CN" sz="2000" dirty="0"/>
              <a:t>)= (</a:t>
            </a:r>
            <a:r>
              <a:rPr lang="en-US" altLang="zh-CN" sz="2000" i="1" dirty="0"/>
              <a:t>n</a:t>
            </a:r>
            <a:r>
              <a:rPr lang="en-US" altLang="zh-CN" sz="2000" dirty="0"/>
              <a:t>-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-…-</a:t>
            </a:r>
            <a:r>
              <a:rPr lang="en-US" altLang="zh-CN" sz="2000" i="1" dirty="0"/>
              <a:t>n</a:t>
            </a:r>
            <a:r>
              <a:rPr lang="en-US" altLang="zh-CN" sz="2000" i="1" baseline="-25000" dirty="0"/>
              <a:t>k</a:t>
            </a:r>
            <a:r>
              <a:rPr lang="en-US" altLang="zh-CN" sz="2000" baseline="-25000" dirty="0"/>
              <a:t>-2</a:t>
            </a:r>
            <a:r>
              <a:rPr lang="en-US" altLang="zh-CN" sz="2000" dirty="0"/>
              <a:t>)!/</a:t>
            </a:r>
            <a:r>
              <a:rPr lang="en-US" altLang="zh-CN" sz="2000" i="1" dirty="0"/>
              <a:t> n</a:t>
            </a:r>
            <a:r>
              <a:rPr lang="en-US" altLang="zh-CN" sz="2000" i="1" baseline="-25000" dirty="0"/>
              <a:t>k</a:t>
            </a:r>
            <a:r>
              <a:rPr lang="en-US" altLang="zh-CN" sz="2000" baseline="-25000" dirty="0"/>
              <a:t>-1</a:t>
            </a:r>
            <a:r>
              <a:rPr lang="en-US" altLang="zh-CN" sz="2000" dirty="0"/>
              <a:t>! (</a:t>
            </a:r>
            <a:r>
              <a:rPr lang="en-US" altLang="zh-CN" sz="2000" i="1" dirty="0"/>
              <a:t>n</a:t>
            </a:r>
            <a:r>
              <a:rPr lang="en-US" altLang="zh-CN" sz="2000" dirty="0"/>
              <a:t>-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-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 …-</a:t>
            </a:r>
            <a:r>
              <a:rPr lang="en-US" altLang="zh-CN" sz="2000" i="1" dirty="0"/>
              <a:t>n</a:t>
            </a:r>
            <a:r>
              <a:rPr lang="en-US" altLang="zh-CN" sz="2000" i="1" baseline="-25000" dirty="0"/>
              <a:t>k</a:t>
            </a:r>
            <a:r>
              <a:rPr lang="en-US" altLang="zh-CN" sz="2000" baseline="-25000" dirty="0"/>
              <a:t>-2</a:t>
            </a:r>
            <a:r>
              <a:rPr lang="en-US" altLang="zh-CN" sz="2000" dirty="0"/>
              <a:t>-</a:t>
            </a:r>
            <a:r>
              <a:rPr lang="en-US" altLang="zh-CN" sz="2000" i="1" dirty="0"/>
              <a:t>n</a:t>
            </a:r>
            <a:r>
              <a:rPr lang="en-US" altLang="zh-CN" sz="2000" i="1" baseline="-25000" dirty="0"/>
              <a:t>k</a:t>
            </a:r>
            <a:r>
              <a:rPr lang="en-US" altLang="zh-CN" sz="2000" baseline="-25000" dirty="0"/>
              <a:t>-1</a:t>
            </a:r>
            <a:r>
              <a:rPr lang="en-US" altLang="zh-CN" sz="2000" dirty="0"/>
              <a:t>)! ways.</a:t>
            </a:r>
          </a:p>
          <a:p>
            <a:pPr marL="0" indent="0">
              <a:buNone/>
            </a:pPr>
            <a:r>
              <a:rPr lang="en-US" altLang="zh-CN" sz="2000" dirty="0"/>
              <a:t>The </a:t>
            </a:r>
            <a:r>
              <a:rPr lang="en-US" altLang="zh-CN" sz="2000" i="1" dirty="0" err="1"/>
              <a:t>n</a:t>
            </a:r>
            <a:r>
              <a:rPr lang="en-US" altLang="zh-CN" sz="2000" i="1" baseline="-25000" dirty="0" err="1"/>
              <a:t>k</a:t>
            </a:r>
            <a:r>
              <a:rPr lang="en-US" altLang="zh-CN" sz="2000" dirty="0"/>
              <a:t> indistinguishable objects of type </a:t>
            </a:r>
            <a:r>
              <a:rPr lang="en-US" altLang="zh-CN" sz="2000" i="1" dirty="0"/>
              <a:t>k</a:t>
            </a:r>
            <a:r>
              <a:rPr lang="en-US" altLang="zh-CN" sz="2000" dirty="0"/>
              <a:t> can be placed among the (</a:t>
            </a:r>
            <a:r>
              <a:rPr lang="en-US" altLang="zh-CN" sz="2000" i="1" dirty="0"/>
              <a:t>n</a:t>
            </a:r>
            <a:r>
              <a:rPr lang="en-US" altLang="zh-CN" sz="2000" dirty="0"/>
              <a:t>-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-…-</a:t>
            </a:r>
            <a:r>
              <a:rPr lang="en-US" altLang="zh-CN" sz="2000" i="1" dirty="0"/>
              <a:t>n</a:t>
            </a:r>
            <a:r>
              <a:rPr lang="en-US" altLang="zh-CN" sz="2000" i="1" baseline="-25000" dirty="0"/>
              <a:t>k</a:t>
            </a:r>
            <a:r>
              <a:rPr lang="en-US" altLang="zh-CN" sz="2000" baseline="-25000" dirty="0"/>
              <a:t>-1</a:t>
            </a:r>
            <a:r>
              <a:rPr lang="en-US" altLang="zh-CN" sz="2000" dirty="0"/>
              <a:t>) positions in C(</a:t>
            </a:r>
            <a:r>
              <a:rPr lang="en-US" altLang="zh-CN" sz="2000" i="1" dirty="0"/>
              <a:t>n</a:t>
            </a:r>
            <a:r>
              <a:rPr lang="en-US" altLang="zh-CN" sz="2000" dirty="0"/>
              <a:t>-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-…-</a:t>
            </a:r>
            <a:r>
              <a:rPr lang="en-US" altLang="zh-CN" sz="2000" i="1" dirty="0"/>
              <a:t>n</a:t>
            </a:r>
            <a:r>
              <a:rPr lang="en-US" altLang="zh-CN" sz="2000" i="1" baseline="-25000" dirty="0"/>
              <a:t>k</a:t>
            </a:r>
            <a:r>
              <a:rPr lang="en-US" altLang="zh-CN" sz="2000" baseline="-25000" dirty="0"/>
              <a:t>-1</a:t>
            </a:r>
            <a:r>
              <a:rPr lang="en-US" altLang="zh-CN" sz="2000" dirty="0"/>
              <a:t>, </a:t>
            </a:r>
            <a:r>
              <a:rPr lang="en-US" altLang="zh-CN" sz="2000" i="1" dirty="0" err="1"/>
              <a:t>n</a:t>
            </a:r>
            <a:r>
              <a:rPr lang="en-US" altLang="zh-CN" sz="2000" i="1" baseline="-25000" dirty="0" err="1"/>
              <a:t>k</a:t>
            </a:r>
            <a:r>
              <a:rPr lang="en-US" altLang="zh-CN" sz="2000" dirty="0"/>
              <a:t>)= (</a:t>
            </a:r>
            <a:r>
              <a:rPr lang="en-US" altLang="zh-CN" sz="2000" i="1" dirty="0"/>
              <a:t>n</a:t>
            </a:r>
            <a:r>
              <a:rPr lang="en-US" altLang="zh-CN" sz="2000" dirty="0"/>
              <a:t>-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-…-</a:t>
            </a:r>
            <a:r>
              <a:rPr lang="en-US" altLang="zh-CN" sz="2000" i="1" dirty="0"/>
              <a:t>n</a:t>
            </a:r>
            <a:r>
              <a:rPr lang="en-US" altLang="zh-CN" sz="2000" i="1" baseline="-25000" dirty="0"/>
              <a:t>k</a:t>
            </a:r>
            <a:r>
              <a:rPr lang="en-US" altLang="zh-CN" sz="2000" baseline="-25000" dirty="0"/>
              <a:t>-1</a:t>
            </a:r>
            <a:r>
              <a:rPr lang="en-US" altLang="zh-CN" sz="2000" dirty="0"/>
              <a:t>)!/</a:t>
            </a:r>
            <a:r>
              <a:rPr lang="en-US" altLang="zh-CN" sz="2000" i="1" dirty="0"/>
              <a:t> </a:t>
            </a:r>
            <a:r>
              <a:rPr lang="en-US" altLang="zh-CN" sz="2000" i="1" dirty="0" err="1"/>
              <a:t>n</a:t>
            </a:r>
            <a:r>
              <a:rPr lang="en-US" altLang="zh-CN" sz="2000" i="1" baseline="-25000" dirty="0" err="1"/>
              <a:t>k</a:t>
            </a:r>
            <a:r>
              <a:rPr lang="en-US" altLang="zh-CN" sz="2000" dirty="0"/>
              <a:t>! (</a:t>
            </a:r>
            <a:r>
              <a:rPr lang="en-US" altLang="zh-CN" sz="2000" i="1" dirty="0"/>
              <a:t>n</a:t>
            </a:r>
            <a:r>
              <a:rPr lang="en-US" altLang="zh-CN" sz="2000" dirty="0"/>
              <a:t>-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-</a:t>
            </a:r>
            <a:r>
              <a:rPr lang="en-US" altLang="zh-CN" sz="2000" i="1" dirty="0"/>
              <a:t>n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 …-</a:t>
            </a:r>
            <a:r>
              <a:rPr lang="en-US" altLang="zh-CN" sz="2000" i="1" dirty="0"/>
              <a:t>n</a:t>
            </a:r>
            <a:r>
              <a:rPr lang="en-US" altLang="zh-CN" sz="2000" i="1" baseline="-25000" dirty="0"/>
              <a:t>k</a:t>
            </a:r>
            <a:r>
              <a:rPr lang="en-US" altLang="zh-CN" sz="2000" baseline="-25000" dirty="0"/>
              <a:t>-1</a:t>
            </a:r>
            <a:r>
              <a:rPr lang="en-US" altLang="zh-CN" sz="2000" dirty="0"/>
              <a:t>-</a:t>
            </a:r>
            <a:r>
              <a:rPr lang="en-US" altLang="zh-CN" sz="2000" i="1" dirty="0"/>
              <a:t>n</a:t>
            </a:r>
            <a:r>
              <a:rPr lang="en-US" altLang="zh-CN" sz="2000" i="1" baseline="-25000" dirty="0"/>
              <a:t>k</a:t>
            </a:r>
            <a:r>
              <a:rPr lang="en-US" altLang="zh-CN" sz="2000" dirty="0"/>
              <a:t>)! ways.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sz="1400" dirty="0"/>
          </a:p>
          <a:p>
            <a:pPr marL="0" indent="0">
              <a:buNone/>
            </a:pPr>
            <a:endParaRPr lang="en-US" altLang="zh-CN" i="1" dirty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36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00CB4BF2-82F8-4D8B-B1FE-562D4C3F0F69}"/>
                  </a:ext>
                </a:extLst>
              </p:cNvPr>
              <p:cNvSpPr txBox="1"/>
              <p:nvPr/>
            </p:nvSpPr>
            <p:spPr>
              <a:xfrm>
                <a:off x="381000" y="5029200"/>
                <a:ext cx="8250238" cy="1314450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!(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)!</m:t>
                          </m:r>
                        </m:den>
                      </m:f>
                      <m:r>
                        <a:rPr lang="en-HK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)!</m:t>
                          </m:r>
                        </m:num>
                        <m:den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!(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)!</m:t>
                          </m:r>
                        </m:den>
                      </m:f>
                      <m:r>
                        <a:rPr lang="en-HK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⋅⋅</m:t>
                      </m:r>
                      <m:f>
                        <m:fPr>
                          <m:ctrlP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...−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)!</m:t>
                          </m:r>
                        </m:num>
                        <m:den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!(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...−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)!</m:t>
                          </m:r>
                        </m:den>
                      </m:f>
                      <m:r>
                        <a:rPr lang="en-HK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...−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)!</m:t>
                          </m:r>
                        </m:num>
                        <m:den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HK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HK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HK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...−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)!</m:t>
                          </m:r>
                        </m:den>
                      </m:f>
                      <m:r>
                        <a:rPr lang="en-HK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!...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HK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0!</m:t>
                          </m:r>
                        </m:den>
                      </m:f>
                      <m:r>
                        <a:rPr lang="en-HK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f>
                        <m:fPr>
                          <m:ctrlP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!...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00CB4BF2-82F8-4D8B-B1FE-562D4C3F0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029200"/>
                <a:ext cx="8250238" cy="13144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422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