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6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14" r:id="rId27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27" Type="http://schemas.openxmlformats.org/officeDocument/2006/relationships/slide" Target="slides/slide26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Poker</a:t>
            </a:r>
            <a:r>
              <a:rPr lang="en-US" b="1" dirty="0">
                <a:solidFill>
                  <a:srgbClr val="0000FF"/>
                </a:solidFill>
              </a:rPr>
              <a:t> Exercises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90600"/>
            <a:ext cx="8839200" cy="5257800"/>
          </a:xfrm>
        </p:spPr>
        <p:txBody>
          <a:bodyPr/>
          <a:lstStyle/>
          <a:p>
            <a:r>
              <a:rPr lang="en-US" sz="1600" dirty="0"/>
              <a:t>A poker hand contains 5 out of 52 cards. The cards are 13 </a:t>
            </a:r>
            <a:r>
              <a:rPr lang="en-US" sz="1600" dirty="0">
                <a:solidFill>
                  <a:srgbClr val="0000FF"/>
                </a:solidFill>
              </a:rPr>
              <a:t>kinds</a:t>
            </a:r>
            <a:r>
              <a:rPr lang="en-US" sz="1600" dirty="0"/>
              <a:t> (1-Ace, 2,..,10,J,Q,K) and 4 </a:t>
            </a:r>
            <a:r>
              <a:rPr lang="en-US" sz="1600" dirty="0">
                <a:solidFill>
                  <a:srgbClr val="0000FF"/>
                </a:solidFill>
              </a:rPr>
              <a:t>suites</a:t>
            </a:r>
            <a:r>
              <a:rPr lang="en-US" sz="1600" dirty="0"/>
              <a:t> (spades, hearts, clubs, diamonds)</a:t>
            </a:r>
          </a:p>
          <a:p>
            <a:r>
              <a:rPr lang="en-US" sz="1600" dirty="0"/>
              <a:t>How many hands are </a:t>
            </a:r>
            <a:r>
              <a:rPr lang="en-US" sz="1600" dirty="0">
                <a:solidFill>
                  <a:srgbClr val="FF0000"/>
                </a:solidFill>
              </a:rPr>
              <a:t>royal flush</a:t>
            </a:r>
            <a:r>
              <a:rPr lang="en-US" sz="1600" dirty="0"/>
              <a:t>? Royal flush is </a:t>
            </a:r>
            <a:r>
              <a:rPr lang="en-US" sz="1600" dirty="0">
                <a:solidFill>
                  <a:srgbClr val="0000FF"/>
                </a:solidFill>
              </a:rPr>
              <a:t>{10,J,Q,K,Ace} of the same suit</a:t>
            </a:r>
            <a:r>
              <a:rPr lang="en-US" sz="1600" dirty="0"/>
              <a:t>. This is the strongest card in poker. </a:t>
            </a:r>
          </a:p>
          <a:p>
            <a:r>
              <a:rPr lang="en-US" sz="1600" dirty="0"/>
              <a:t>There are 4 royal flushes/one per suit</a:t>
            </a:r>
          </a:p>
          <a:p>
            <a:r>
              <a:rPr lang="en-US" sz="1600" dirty="0"/>
              <a:t>How many hands are </a:t>
            </a:r>
            <a:r>
              <a:rPr lang="en-US" sz="1600" dirty="0">
                <a:solidFill>
                  <a:srgbClr val="FF0000"/>
                </a:solidFill>
              </a:rPr>
              <a:t>straight flush</a:t>
            </a:r>
            <a:r>
              <a:rPr lang="en-US" sz="1600" dirty="0"/>
              <a:t>? A straight flush is a hand with all five cards of the same suit in sequential order starting at 1,2,….,9. 10 is excluded because it would lead to a Royal flush.</a:t>
            </a:r>
          </a:p>
          <a:p>
            <a:r>
              <a:rPr lang="en-US" sz="1600" dirty="0"/>
              <a:t>I have C(9,1)=9 options for the beginning of straight flush, and 4 options for the suit, yielding a total of 4</a:t>
            </a:r>
            <a:r>
              <a:rPr lang="en-US" sz="1600" dirty="0">
                <a:sym typeface="Symbol" panose="05050102010706020507" pitchFamily="18" charset="2"/>
              </a:rPr>
              <a:t>9=36</a:t>
            </a:r>
            <a:r>
              <a:rPr lang="en-US" sz="1600" dirty="0"/>
              <a:t>. There is a single option for each of the remaining cards.   </a:t>
            </a:r>
          </a:p>
          <a:p>
            <a:r>
              <a:rPr lang="en-US" sz="1600" dirty="0"/>
              <a:t>How many hands are </a:t>
            </a:r>
            <a:r>
              <a:rPr lang="en-US" sz="1600" dirty="0">
                <a:solidFill>
                  <a:srgbClr val="FF0000"/>
                </a:solidFill>
              </a:rPr>
              <a:t>straight</a:t>
            </a:r>
            <a:r>
              <a:rPr lang="en-US" sz="1600" dirty="0"/>
              <a:t>? A straight is a hand with all five cards in sequential order. At least two cards are of different suit; otherwise, it would be a royal or straight flush.</a:t>
            </a:r>
          </a:p>
          <a:p>
            <a:r>
              <a:rPr lang="en-US" sz="1600" dirty="0"/>
              <a:t>I will first count all straights including straight and royal flushes.</a:t>
            </a:r>
          </a:p>
          <a:p>
            <a:r>
              <a:rPr lang="en-US" sz="1600" dirty="0"/>
              <a:t>I have C(10,1)=10 options for the beginning of the straight. For each of the five cards, there are 4 suite options. Therefore, total number of straights is: 10</a:t>
            </a:r>
            <a:r>
              <a:rPr lang="en-US" sz="1600" dirty="0">
                <a:sym typeface="Symbol" panose="05050102010706020507" pitchFamily="18" charset="2"/>
              </a:rPr>
              <a:t>4</a:t>
            </a:r>
            <a:r>
              <a:rPr lang="en-US" sz="1600" baseline="30000" dirty="0">
                <a:sym typeface="Symbol" panose="05050102010706020507" pitchFamily="18" charset="2"/>
              </a:rPr>
              <a:t>5</a:t>
            </a:r>
            <a:r>
              <a:rPr lang="en-US" sz="1600" dirty="0"/>
              <a:t>. </a:t>
            </a:r>
          </a:p>
          <a:p>
            <a:r>
              <a:rPr lang="en-US" sz="1600" dirty="0"/>
              <a:t>If I exclude the straight and royal flushes, the number becomes: 10</a:t>
            </a:r>
            <a:r>
              <a:rPr lang="en-US" sz="1600" dirty="0">
                <a:sym typeface="Symbol" panose="05050102010706020507" pitchFamily="18" charset="2"/>
              </a:rPr>
              <a:t>4</a:t>
            </a:r>
            <a:r>
              <a:rPr lang="en-US" sz="1600" baseline="30000" dirty="0">
                <a:sym typeface="Symbol" panose="05050102010706020507" pitchFamily="18" charset="2"/>
              </a:rPr>
              <a:t>5 </a:t>
            </a:r>
            <a:r>
              <a:rPr lang="en-US" sz="1600" dirty="0"/>
              <a:t>- 40.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78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