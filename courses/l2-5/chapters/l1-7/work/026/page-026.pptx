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6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3" r:id="rId2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27" Type="http://schemas.openxmlformats.org/officeDocument/2006/relationships/slide" Target="slides/slide26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?>
<Relationships xmlns="http://schemas.openxmlformats.org/package/2006/relationships"><Relationship Id="rId3" Type="http://schemas.openxmlformats.org/officeDocument/2006/relationships/image" Target="../media/image220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2.png" /><Relationship Id="rId4" Type="http://schemas.openxmlformats.org/officeDocument/2006/relationships/image" Target="../media/image17.jpeg" 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05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908340" y="2618058"/>
            <a:ext cx="6551676" cy="40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(1641) 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</p:spPr>
            <p:txBody>
              <a:bodyPr/>
              <a:lstStyle/>
              <a:p>
                <a:r>
                  <a:rPr lang="en-US" altLang="zh-CN" sz="2000" b="1" dirty="0">
                    <a:solidFill>
                      <a:srgbClr val="0000FF"/>
                    </a:solidFill>
                  </a:rPr>
                  <a:t>Corollary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Pascal's identity, together with the initial conditions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000" dirty="0"/>
                  <a:t> for all integers 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, can be used to give a geometric arrangement of the binomial coefficients in a triangle, called Pascal's triangle, as follows: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86800" cy="5105400"/>
              </a:xfrm>
              <a:blipFill rotWithShape="0">
                <a:blip r:embed="rId3"/>
                <a:stretch>
                  <a:fillRect l="-702" t="-717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26</a:t>
            </a:r>
            <a:endParaRPr lang="en-US"/>
          </a:p>
        </p:txBody>
      </p:sp>
      <p:pic>
        <p:nvPicPr>
          <p:cNvPr id="6" name="Picture 5" descr="051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0183" y="2895600"/>
            <a:ext cx="1184245" cy="1371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AAFE3A-6947-0644-A2D5-CE753716C915}"/>
              </a:ext>
            </a:extLst>
          </p:cNvPr>
          <p:cNvSpPr/>
          <p:nvPr/>
        </p:nvSpPr>
        <p:spPr bwMode="auto">
          <a:xfrm>
            <a:off x="1790700" y="6121811"/>
            <a:ext cx="4608576" cy="31469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91487-63E2-3F43-91D2-A6CED0791A8A}"/>
              </a:ext>
            </a:extLst>
          </p:cNvPr>
          <p:cNvSpPr/>
          <p:nvPr/>
        </p:nvSpPr>
        <p:spPr bwMode="auto">
          <a:xfrm>
            <a:off x="3657600" y="3388508"/>
            <a:ext cx="15240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DF0E2E66-D075-C240-9B1B-7DD722BCC922}"/>
              </a:ext>
            </a:extLst>
          </p:cNvPr>
          <p:cNvSpPr/>
          <p:nvPr/>
        </p:nvSpPr>
        <p:spPr bwMode="auto">
          <a:xfrm>
            <a:off x="1143000" y="4153930"/>
            <a:ext cx="2514600" cy="2005982"/>
          </a:xfrm>
          <a:prstGeom prst="triangle">
            <a:avLst>
              <a:gd name="adj" fmla="val 39129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818C687D-912A-FF40-A079-10541648415E}"/>
              </a:ext>
            </a:extLst>
          </p:cNvPr>
          <p:cNvSpPr/>
          <p:nvPr/>
        </p:nvSpPr>
        <p:spPr bwMode="auto">
          <a:xfrm>
            <a:off x="5105400" y="3921908"/>
            <a:ext cx="1127648" cy="2185288"/>
          </a:xfrm>
          <a:prstGeom prst="triangle">
            <a:avLst>
              <a:gd name="adj" fmla="val 69334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350ECE-733C-AB4F-9FFA-98CCD31419D2}"/>
              </a:ext>
            </a:extLst>
          </p:cNvPr>
          <p:cNvSpPr/>
          <p:nvPr/>
        </p:nvSpPr>
        <p:spPr bwMode="auto">
          <a:xfrm>
            <a:off x="6019616" y="415393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113D3578-1FF2-C24E-B1A2-4DB587AC6FA6}"/>
              </a:ext>
            </a:extLst>
          </p:cNvPr>
          <p:cNvSpPr/>
          <p:nvPr/>
        </p:nvSpPr>
        <p:spPr bwMode="auto">
          <a:xfrm>
            <a:off x="1399017" y="4096780"/>
            <a:ext cx="2563383" cy="2005982"/>
          </a:xfrm>
          <a:prstGeom prst="triangle">
            <a:avLst>
              <a:gd name="adj" fmla="val 6247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A09CD-43B0-F94F-A944-95AEFFE1B330}"/>
              </a:ext>
            </a:extLst>
          </p:cNvPr>
          <p:cNvSpPr/>
          <p:nvPr/>
        </p:nvSpPr>
        <p:spPr bwMode="auto">
          <a:xfrm>
            <a:off x="2208276" y="4138055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7EFC7431-6697-644D-8459-193A7C565E32}"/>
              </a:ext>
            </a:extLst>
          </p:cNvPr>
          <p:cNvSpPr/>
          <p:nvPr/>
        </p:nvSpPr>
        <p:spPr bwMode="auto">
          <a:xfrm>
            <a:off x="6109828" y="3878067"/>
            <a:ext cx="1129172" cy="2185288"/>
          </a:xfrm>
          <a:prstGeom prst="triangle">
            <a:avLst>
              <a:gd name="adj" fmla="val 315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6237B-1646-FC4E-AEA0-195DEA05452B}"/>
              </a:ext>
            </a:extLst>
          </p:cNvPr>
          <p:cNvSpPr/>
          <p:nvPr/>
        </p:nvSpPr>
        <p:spPr bwMode="auto">
          <a:xfrm>
            <a:off x="5924396" y="4607708"/>
            <a:ext cx="534924" cy="6522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C03B20-EB6E-459B-B45B-396AB9B15C5D}"/>
                  </a:ext>
                </a:extLst>
              </p:cNvPr>
              <p:cNvSpPr/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C03B20-EB6E-459B-B45B-396AB9B15C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0975"/>
                <a:ext cx="281044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66705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