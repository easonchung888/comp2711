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6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98" r:id="rId7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theme" Target="theme/theme1.xml" /><Relationship Id="rId7" Type="http://schemas.openxmlformats.org/officeDocument/2006/relationships/slide" Target="slides/slide6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44" Type="http://schemas.openxmlformats.org/officeDocument/2006/relationships/handoutMaster" Target="handoutMasters/handoutMaster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.xml.rels><?xml version='1.0' encoding='utf-8'?>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8340DC-DDD3-4383-9614-668A8EE0901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350410"/>
      </p:ext>
    </p:extLst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?>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694" y="4391660"/>
            <a:ext cx="8458200" cy="1752600"/>
          </a:xfrm>
        </p:spPr>
        <p:txBody>
          <a:bodyPr/>
          <a:lstStyle/>
          <a:p>
            <a:r>
              <a:rPr lang="en-US" sz="2000" dirty="0"/>
              <a:t>Coefficient  of</a:t>
            </a:r>
          </a:p>
          <a:p>
            <a:pPr lvl="1">
              <a:buNone/>
            </a:pPr>
            <a:r>
              <a:rPr lang="en-US" sz="1800" dirty="0"/>
              <a:t> = </a:t>
            </a:r>
            <a:r>
              <a:rPr lang="en-US" sz="2000" dirty="0"/>
              <a:t>number of length-3 lists having y in </a:t>
            </a:r>
            <a:r>
              <a:rPr lang="en-US" sz="2000" b="1" dirty="0"/>
              <a:t>2</a:t>
            </a:r>
            <a:r>
              <a:rPr lang="en-US" sz="2000" dirty="0"/>
              <a:t> places.</a:t>
            </a:r>
          </a:p>
          <a:p>
            <a:r>
              <a:rPr lang="en-US" sz="2000" dirty="0"/>
              <a:t>You can think of x as 0 and y as 1 in a bitstring</a:t>
            </a:r>
          </a:p>
          <a:p>
            <a:pPr lvl="1"/>
            <a:r>
              <a:rPr lang="en-US" sz="1600" dirty="0"/>
              <a:t>The equivalent question is how many bit strings have exactly 2 1's: </a:t>
            </a:r>
            <a:r>
              <a:rPr lang="en-US" sz="1600" dirty="0">
                <a:solidFill>
                  <a:srgbClr val="0000FF"/>
                </a:solidFill>
              </a:rPr>
              <a:t>C(3,2)</a:t>
            </a:r>
            <a:r>
              <a:rPr lang="en-US" sz="1600" dirty="0"/>
              <a:t>.</a:t>
            </a:r>
          </a:p>
          <a:p>
            <a:pPr lvl="1">
              <a:buNone/>
            </a:pPr>
            <a:r>
              <a:rPr lang="en-US" sz="2000" dirty="0"/>
              <a:t> </a:t>
            </a:r>
          </a:p>
          <a:p>
            <a:pPr>
              <a:buNone/>
            </a:pPr>
            <a:endParaRPr lang="en-US" sz="2200" dirty="0"/>
          </a:p>
        </p:txBody>
      </p:sp>
      <p:pic>
        <p:nvPicPr>
          <p:cNvPr id="68915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90800" y="4343400"/>
            <a:ext cx="457200" cy="467360"/>
          </a:xfrm>
          <a:prstGeom prst="rect">
            <a:avLst/>
          </a:prstGeom>
          <a:noFill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29" y="1809115"/>
            <a:ext cx="81248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505"/>
          <a:stretch/>
        </p:blipFill>
        <p:spPr bwMode="auto">
          <a:xfrm>
            <a:off x="609600" y="2890202"/>
            <a:ext cx="344805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09" y="3552825"/>
            <a:ext cx="806767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6</a:t>
            </a:r>
            <a:endParaRPr lang="en-US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C10E0F25-D0AF-3B0F-66B7-A8837F762F0F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382000" cy="715962"/>
          </a:xfrm>
          <a:prstGeom prst="rect">
            <a:avLst/>
          </a:prstGeom>
        </p:spPr>
        <p:txBody>
          <a:bodyPr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9pPr>
          </a:lstStyle>
          <a:p>
            <a:pPr algn="l"/>
            <a:r>
              <a:rPr lang="en-US" altLang="zh-CN" b="0" kern="0" dirty="0">
                <a:solidFill>
                  <a:schemeClr val="tx1"/>
                </a:solidFill>
              </a:rPr>
              <a:t>Binomial Expression Expansion</a:t>
            </a:r>
            <a:endParaRPr lang="zh-CN" altLang="en-US" b="0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975185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