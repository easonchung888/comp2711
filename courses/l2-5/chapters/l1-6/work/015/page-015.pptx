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5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64" r:id="rId16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55" Type="http://schemas.openxmlformats.org/officeDocument/2006/relationships/presProps" Target="presProps.xml" /><Relationship Id="rId16" Type="http://schemas.openxmlformats.org/officeDocument/2006/relationships/slide" Target="slides/slide15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56" Type="http://schemas.openxmlformats.org/officeDocument/2006/relationships/viewProps" Target="viewProps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57" Type="http://schemas.openxmlformats.org/officeDocument/2006/relationships/theme" Target="theme/theme1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5.xml.rels><?xml version='1.0' encoding='utf-8'?>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2.xml" /></Relationships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Number of </a:t>
            </a:r>
            <a:r>
              <a:rPr lang="en-US" altLang="zh-CN" i="1" dirty="0">
                <a:solidFill>
                  <a:schemeClr val="tx1"/>
                </a:solidFill>
              </a:rPr>
              <a:t>k</a:t>
            </a:r>
            <a:r>
              <a:rPr lang="en-US" altLang="zh-CN" dirty="0">
                <a:solidFill>
                  <a:schemeClr val="tx1"/>
                </a:solidFill>
              </a:rPr>
              <a:t>-Combinations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600200"/>
                <a:ext cx="8686800" cy="4953000"/>
              </a:xfrm>
            </p:spPr>
            <p:txBody>
              <a:bodyPr/>
              <a:lstStyle/>
              <a:p>
                <a:r>
                  <a:rPr lang="en-US" altLang="zh-CN" b="1" dirty="0">
                    <a:solidFill>
                      <a:srgbClr val="0000FF"/>
                    </a:solidFill>
                  </a:rPr>
                  <a:t>Theorem</a:t>
                </a:r>
                <a:br>
                  <a:rPr lang="en-US" altLang="zh-CN" b="1" dirty="0">
                    <a:solidFill>
                      <a:srgbClr val="0000FF"/>
                    </a:solidFill>
                  </a:rPr>
                </a:br>
                <a:r>
                  <a:rPr lang="en-US" altLang="zh-CN" dirty="0"/>
                  <a:t>Let </a:t>
                </a:r>
                <a:r>
                  <a:rPr lang="en-US" altLang="zh-CN" i="1" dirty="0"/>
                  <a:t>n</a:t>
                </a:r>
                <a:r>
                  <a:rPr lang="en-US" altLang="zh-CN" dirty="0"/>
                  <a:t> and </a:t>
                </a:r>
                <a:r>
                  <a:rPr lang="en-US" altLang="zh-CN" i="1" dirty="0"/>
                  <a:t>k</a:t>
                </a:r>
                <a:r>
                  <a:rPr lang="en-US" altLang="zh-CN" dirty="0"/>
                  <a:t> be integers with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. The number of </a:t>
                </a:r>
                <a:r>
                  <a:rPr lang="en-US" altLang="zh-CN" i="1" dirty="0"/>
                  <a:t>k</a:t>
                </a:r>
                <a:r>
                  <a:rPr lang="en-US" altLang="zh-CN" dirty="0"/>
                  <a:t>-combinations of a set with </a:t>
                </a:r>
                <a:r>
                  <a:rPr lang="en-US" altLang="zh-CN" i="1" dirty="0"/>
                  <a:t>n</a:t>
                </a:r>
                <a:r>
                  <a:rPr lang="en-US" altLang="zh-CN" dirty="0"/>
                  <a:t> distinct elements, denoted by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CN" dirty="0"/>
                  <a:t>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dirty="0"/>
                  <a:t>, is equal to</a:t>
                </a:r>
                <a:br>
                  <a:rPr lang="en-US" altLang="zh-CN" dirty="0"/>
                </a:b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…(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+1)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endParaRPr lang="en-US" altLang="zh-CN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solidFill>
                      <a:srgbClr val="0000FF"/>
                    </a:solidFill>
                  </a:rPr>
                  <a:t>Comment: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 0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altLang="zh-CN" b="0" i="1" smtClean="0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i="1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−0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CN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600200"/>
                <a:ext cx="8686800" cy="4953000"/>
              </a:xfrm>
              <a:blipFill>
                <a:blip r:embed="rId2"/>
                <a:stretch>
                  <a:fillRect l="-1123" t="-985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15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06741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