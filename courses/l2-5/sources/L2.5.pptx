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handoutMasterIdLst>
    <p:handoutMasterId r:id="rId42"/>
  </p:handoutMasterIdLst>
  <p:sldIdLst>
    <p:sldId id="258" r:id="rId2"/>
    <p:sldId id="306" r:id="rId3"/>
    <p:sldId id="307" r:id="rId4"/>
    <p:sldId id="308" r:id="rId5"/>
    <p:sldId id="383" r:id="rId6"/>
    <p:sldId id="366" r:id="rId7"/>
    <p:sldId id="309" r:id="rId8"/>
    <p:sldId id="410" r:id="rId9"/>
    <p:sldId id="345" r:id="rId10"/>
    <p:sldId id="371" r:id="rId11"/>
    <p:sldId id="370" r:id="rId12"/>
    <p:sldId id="385" r:id="rId13"/>
    <p:sldId id="415" r:id="rId14"/>
    <p:sldId id="340" r:id="rId15"/>
    <p:sldId id="312" r:id="rId16"/>
    <p:sldId id="313" r:id="rId17"/>
    <p:sldId id="351" r:id="rId18"/>
    <p:sldId id="373" r:id="rId19"/>
    <p:sldId id="376" r:id="rId20"/>
    <p:sldId id="374" r:id="rId21"/>
    <p:sldId id="405" r:id="rId22"/>
    <p:sldId id="377" r:id="rId23"/>
    <p:sldId id="378" r:id="rId24"/>
    <p:sldId id="352" r:id="rId25"/>
    <p:sldId id="379" r:id="rId26"/>
    <p:sldId id="380" r:id="rId27"/>
    <p:sldId id="381" r:id="rId28"/>
    <p:sldId id="413" r:id="rId29"/>
    <p:sldId id="382" r:id="rId30"/>
    <p:sldId id="391" r:id="rId31"/>
    <p:sldId id="392" r:id="rId32"/>
    <p:sldId id="394" r:id="rId33"/>
    <p:sldId id="395" r:id="rId34"/>
    <p:sldId id="396" r:id="rId35"/>
    <p:sldId id="397" r:id="rId36"/>
    <p:sldId id="398" r:id="rId37"/>
    <p:sldId id="414" r:id="rId38"/>
    <p:sldId id="416" r:id="rId39"/>
    <p:sldId id="356" r:id="rId40"/>
  </p:sldIdLst>
  <p:sldSz cx="9144000" cy="6858000" type="screen4x3"/>
  <p:notesSz cx="6985000" cy="9283700"/>
  <p:defaultTextStyle>
    <a:defPPr>
      <a:defRPr lang="en-US"/>
    </a:defPPr>
    <a:lvl1pPr algn="l" rtl="0" fontAlgn="base">
      <a:spcBef>
        <a:spcPct val="0"/>
      </a:spcBef>
      <a:spcAft>
        <a:spcPct val="0"/>
      </a:spcAft>
      <a:defRPr b="1" kern="1200">
        <a:solidFill>
          <a:schemeClr val="tx1"/>
        </a:solidFill>
        <a:latin typeface="Lucida Sans" charset="0"/>
        <a:ea typeface="ＭＳ Ｐゴシック" charset="-128"/>
        <a:cs typeface="+mn-cs"/>
      </a:defRPr>
    </a:lvl1pPr>
    <a:lvl2pPr marL="457200" algn="l" rtl="0" fontAlgn="base">
      <a:spcBef>
        <a:spcPct val="0"/>
      </a:spcBef>
      <a:spcAft>
        <a:spcPct val="0"/>
      </a:spcAft>
      <a:defRPr b="1" kern="1200">
        <a:solidFill>
          <a:schemeClr val="tx1"/>
        </a:solidFill>
        <a:latin typeface="Lucida Sans" charset="0"/>
        <a:ea typeface="ＭＳ Ｐゴシック" charset="-128"/>
        <a:cs typeface="+mn-cs"/>
      </a:defRPr>
    </a:lvl2pPr>
    <a:lvl3pPr marL="914400" algn="l" rtl="0" fontAlgn="base">
      <a:spcBef>
        <a:spcPct val="0"/>
      </a:spcBef>
      <a:spcAft>
        <a:spcPct val="0"/>
      </a:spcAft>
      <a:defRPr b="1" kern="1200">
        <a:solidFill>
          <a:schemeClr val="tx1"/>
        </a:solidFill>
        <a:latin typeface="Lucida Sans" charset="0"/>
        <a:ea typeface="ＭＳ Ｐゴシック" charset="-128"/>
        <a:cs typeface="+mn-cs"/>
      </a:defRPr>
    </a:lvl3pPr>
    <a:lvl4pPr marL="1371600" algn="l" rtl="0" fontAlgn="base">
      <a:spcBef>
        <a:spcPct val="0"/>
      </a:spcBef>
      <a:spcAft>
        <a:spcPct val="0"/>
      </a:spcAft>
      <a:defRPr b="1" kern="1200">
        <a:solidFill>
          <a:schemeClr val="tx1"/>
        </a:solidFill>
        <a:latin typeface="Lucida Sans" charset="0"/>
        <a:ea typeface="ＭＳ Ｐゴシック" charset="-128"/>
        <a:cs typeface="+mn-cs"/>
      </a:defRPr>
    </a:lvl4pPr>
    <a:lvl5pPr marL="1828800" algn="l" rtl="0" fontAlgn="base">
      <a:spcBef>
        <a:spcPct val="0"/>
      </a:spcBef>
      <a:spcAft>
        <a:spcPct val="0"/>
      </a:spcAft>
      <a:defRPr b="1" kern="1200">
        <a:solidFill>
          <a:schemeClr val="tx1"/>
        </a:solidFill>
        <a:latin typeface="Lucida Sans" charset="0"/>
        <a:ea typeface="ＭＳ Ｐゴシック" charset="-128"/>
        <a:cs typeface="+mn-cs"/>
      </a:defRPr>
    </a:lvl5pPr>
    <a:lvl6pPr marL="2286000" algn="l" defTabSz="914400" rtl="0" eaLnBrk="1" latinLnBrk="0" hangingPunct="1">
      <a:defRPr b="1" kern="1200">
        <a:solidFill>
          <a:schemeClr val="tx1"/>
        </a:solidFill>
        <a:latin typeface="Lucida Sans" charset="0"/>
        <a:ea typeface="ＭＳ Ｐゴシック" charset="-128"/>
        <a:cs typeface="+mn-cs"/>
      </a:defRPr>
    </a:lvl6pPr>
    <a:lvl7pPr marL="2743200" algn="l" defTabSz="914400" rtl="0" eaLnBrk="1" latinLnBrk="0" hangingPunct="1">
      <a:defRPr b="1" kern="1200">
        <a:solidFill>
          <a:schemeClr val="tx1"/>
        </a:solidFill>
        <a:latin typeface="Lucida Sans" charset="0"/>
        <a:ea typeface="ＭＳ Ｐゴシック" charset="-128"/>
        <a:cs typeface="+mn-cs"/>
      </a:defRPr>
    </a:lvl7pPr>
    <a:lvl8pPr marL="3200400" algn="l" defTabSz="914400" rtl="0" eaLnBrk="1" latinLnBrk="0" hangingPunct="1">
      <a:defRPr b="1" kern="1200">
        <a:solidFill>
          <a:schemeClr val="tx1"/>
        </a:solidFill>
        <a:latin typeface="Lucida Sans" charset="0"/>
        <a:ea typeface="ＭＳ Ｐゴシック" charset="-128"/>
        <a:cs typeface="+mn-cs"/>
      </a:defRPr>
    </a:lvl8pPr>
    <a:lvl9pPr marL="3657600" algn="l" defTabSz="914400" rtl="0" eaLnBrk="1" latinLnBrk="0" hangingPunct="1">
      <a:defRPr b="1" kern="1200">
        <a:solidFill>
          <a:schemeClr val="tx1"/>
        </a:solidFill>
        <a:latin typeface="Lucida Sans"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mngok" initials="l" lastIdx="8"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3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24F3D0-E932-47FC-9BD5-D04BC92BD4BE}" v="561" dt="2026-09-22T04:40:18.9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3798" autoAdjust="0"/>
    <p:restoredTop sz="94279" autoAdjust="0"/>
  </p:normalViewPr>
  <p:slideViewPr>
    <p:cSldViewPr>
      <p:cViewPr varScale="1">
        <p:scale>
          <a:sx n="126" d="100"/>
          <a:sy n="126" d="100"/>
        </p:scale>
        <p:origin x="200" y="6712"/>
      </p:cViewPr>
      <p:guideLst>
        <p:guide orient="horz" pos="2160"/>
        <p:guide pos="2880"/>
      </p:guideLst>
    </p:cSldViewPr>
  </p:slideViewPr>
  <p:outlineViewPr>
    <p:cViewPr>
      <p:scale>
        <a:sx n="33" d="100"/>
        <a:sy n="33" d="100"/>
      </p:scale>
      <p:origin x="114" y="10680"/>
    </p:cViewPr>
  </p:outlineViewPr>
  <p:notesTextViewPr>
    <p:cViewPr>
      <p:scale>
        <a:sx n="100" d="100"/>
        <a:sy n="100" d="100"/>
      </p:scale>
      <p:origin x="0" y="0"/>
    </p:cViewPr>
  </p:notesTextViewPr>
  <p:sorterViewPr>
    <p:cViewPr>
      <p:scale>
        <a:sx n="100" d="100"/>
        <a:sy n="100" d="100"/>
      </p:scale>
      <p:origin x="0" y="777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ommentAuthors" Target="commentAuthor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3"/>
            <a:ext cx="3027378" cy="464185"/>
          </a:xfrm>
          <a:prstGeom prst="rect">
            <a:avLst/>
          </a:prstGeom>
        </p:spPr>
        <p:txBody>
          <a:bodyPr vert="horz" lIns="91432" tIns="45716" rIns="91432" bIns="45716" rtlCol="0"/>
          <a:lstStyle>
            <a:lvl1pPr algn="l">
              <a:defRPr sz="1200"/>
            </a:lvl1pPr>
          </a:lstStyle>
          <a:p>
            <a:endParaRPr lang="en-US"/>
          </a:p>
        </p:txBody>
      </p:sp>
      <p:sp>
        <p:nvSpPr>
          <p:cNvPr id="3" name="Date Placeholder 2"/>
          <p:cNvSpPr>
            <a:spLocks noGrp="1"/>
          </p:cNvSpPr>
          <p:nvPr>
            <p:ph type="dt" sz="quarter" idx="1"/>
          </p:nvPr>
        </p:nvSpPr>
        <p:spPr>
          <a:xfrm>
            <a:off x="3955991" y="3"/>
            <a:ext cx="3027378" cy="464185"/>
          </a:xfrm>
          <a:prstGeom prst="rect">
            <a:avLst/>
          </a:prstGeom>
        </p:spPr>
        <p:txBody>
          <a:bodyPr vert="horz" lIns="91432" tIns="45716" rIns="91432" bIns="45716" rtlCol="0"/>
          <a:lstStyle>
            <a:lvl1pPr algn="r">
              <a:defRPr sz="1200"/>
            </a:lvl1pPr>
          </a:lstStyle>
          <a:p>
            <a:fld id="{50BE4F2C-0EE3-4CC6-9A7F-FCEE2CED77EB}" type="datetimeFigureOut">
              <a:rPr lang="en-US" smtClean="0"/>
              <a:pPr/>
              <a:t>9/23/26</a:t>
            </a:fld>
            <a:endParaRPr lang="en-US"/>
          </a:p>
        </p:txBody>
      </p:sp>
      <p:sp>
        <p:nvSpPr>
          <p:cNvPr id="4" name="Footer Placeholder 3"/>
          <p:cNvSpPr>
            <a:spLocks noGrp="1"/>
          </p:cNvSpPr>
          <p:nvPr>
            <p:ph type="ftr" sz="quarter" idx="2"/>
          </p:nvPr>
        </p:nvSpPr>
        <p:spPr>
          <a:xfrm>
            <a:off x="1" y="8818029"/>
            <a:ext cx="3027378" cy="464185"/>
          </a:xfrm>
          <a:prstGeom prst="rect">
            <a:avLst/>
          </a:prstGeom>
        </p:spPr>
        <p:txBody>
          <a:bodyPr vert="horz" lIns="91432" tIns="45716" rIns="91432" bIns="45716" rtlCol="0" anchor="b"/>
          <a:lstStyle>
            <a:lvl1pPr algn="l">
              <a:defRPr sz="1200"/>
            </a:lvl1pPr>
          </a:lstStyle>
          <a:p>
            <a:endParaRPr lang="en-US"/>
          </a:p>
        </p:txBody>
      </p:sp>
      <p:sp>
        <p:nvSpPr>
          <p:cNvPr id="5" name="Slide Number Placeholder 4"/>
          <p:cNvSpPr>
            <a:spLocks noGrp="1"/>
          </p:cNvSpPr>
          <p:nvPr>
            <p:ph type="sldNum" sz="quarter" idx="3"/>
          </p:nvPr>
        </p:nvSpPr>
        <p:spPr>
          <a:xfrm>
            <a:off x="3955991" y="8818029"/>
            <a:ext cx="3027378" cy="464185"/>
          </a:xfrm>
          <a:prstGeom prst="rect">
            <a:avLst/>
          </a:prstGeom>
        </p:spPr>
        <p:txBody>
          <a:bodyPr vert="horz" lIns="91432" tIns="45716" rIns="91432" bIns="45716" rtlCol="0" anchor="b"/>
          <a:lstStyle>
            <a:lvl1pPr algn="r">
              <a:defRPr sz="1200"/>
            </a:lvl1pPr>
          </a:lstStyle>
          <a:p>
            <a:fld id="{A2AB639E-B2BE-4F41-B992-699629CBE31A}" type="slidenum">
              <a:rPr lang="en-US" smtClean="0"/>
              <a:pPr/>
              <a:t>‹#›</a:t>
            </a:fld>
            <a:endParaRPr lang="en-US"/>
          </a:p>
        </p:txBody>
      </p:sp>
    </p:spTree>
    <p:extLst>
      <p:ext uri="{BB962C8B-B14F-4D97-AF65-F5344CB8AC3E}">
        <p14:creationId xmlns:p14="http://schemas.microsoft.com/office/powerpoint/2010/main" val="14424535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1" y="3"/>
            <a:ext cx="3026834" cy="464185"/>
          </a:xfrm>
          <a:prstGeom prst="rect">
            <a:avLst/>
          </a:prstGeom>
          <a:noFill/>
          <a:ln w="9525">
            <a:noFill/>
            <a:miter lim="800000"/>
            <a:headEnd/>
            <a:tailEnd/>
          </a:ln>
          <a:effectLst/>
        </p:spPr>
        <p:txBody>
          <a:bodyPr vert="horz" wrap="square" lIns="91432" tIns="45716" rIns="91432" bIns="45716" numCol="1" anchor="t" anchorCtr="0" compatLnSpc="1">
            <a:prstTxWarp prst="textNoShape">
              <a:avLst/>
            </a:prstTxWarp>
          </a:bodyPr>
          <a:lstStyle>
            <a:lvl1pPr>
              <a:defRPr sz="1200" b="0">
                <a:latin typeface="Arial" charset="0"/>
              </a:defRPr>
            </a:lvl1pPr>
          </a:lstStyle>
          <a:p>
            <a:endParaRPr lang="en-US"/>
          </a:p>
        </p:txBody>
      </p:sp>
      <p:sp>
        <p:nvSpPr>
          <p:cNvPr id="3075" name="Rectangle 3"/>
          <p:cNvSpPr>
            <a:spLocks noGrp="1" noChangeArrowheads="1"/>
          </p:cNvSpPr>
          <p:nvPr>
            <p:ph type="dt" idx="1"/>
          </p:nvPr>
        </p:nvSpPr>
        <p:spPr bwMode="auto">
          <a:xfrm>
            <a:off x="3956551" y="3"/>
            <a:ext cx="3026834" cy="464185"/>
          </a:xfrm>
          <a:prstGeom prst="rect">
            <a:avLst/>
          </a:prstGeom>
          <a:noFill/>
          <a:ln w="9525">
            <a:noFill/>
            <a:miter lim="800000"/>
            <a:headEnd/>
            <a:tailEnd/>
          </a:ln>
          <a:effectLst/>
        </p:spPr>
        <p:txBody>
          <a:bodyPr vert="horz" wrap="square" lIns="91432" tIns="45716" rIns="91432" bIns="45716" numCol="1" anchor="t" anchorCtr="0" compatLnSpc="1">
            <a:prstTxWarp prst="textNoShape">
              <a:avLst/>
            </a:prstTxWarp>
          </a:bodyPr>
          <a:lstStyle>
            <a:lvl1pPr algn="r">
              <a:defRPr sz="1200" b="0">
                <a:latin typeface="Arial" charset="0"/>
              </a:defRPr>
            </a:lvl1pPr>
          </a:lstStyle>
          <a:p>
            <a:endParaRPr lang="en-US"/>
          </a:p>
        </p:txBody>
      </p:sp>
      <p:sp>
        <p:nvSpPr>
          <p:cNvPr id="13316" name="Rectangle 4"/>
          <p:cNvSpPr>
            <a:spLocks noGrp="1" noRot="1" noChangeAspect="1" noChangeArrowheads="1" noTextEdit="1"/>
          </p:cNvSpPr>
          <p:nvPr>
            <p:ph type="sldImg" idx="2"/>
          </p:nvPr>
        </p:nvSpPr>
        <p:spPr bwMode="auto">
          <a:xfrm>
            <a:off x="1171575" y="696913"/>
            <a:ext cx="4641850" cy="3481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698500" y="4409758"/>
            <a:ext cx="5588000" cy="4177665"/>
          </a:xfrm>
          <a:prstGeom prst="rect">
            <a:avLst/>
          </a:prstGeom>
          <a:noFill/>
          <a:ln w="9525">
            <a:noFill/>
            <a:miter lim="800000"/>
            <a:headEnd/>
            <a:tailEnd/>
          </a:ln>
          <a:effectLst/>
        </p:spPr>
        <p:txBody>
          <a:bodyPr vert="horz" wrap="square" lIns="91432" tIns="45716" rIns="91432" bIns="4571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1" y="8817905"/>
            <a:ext cx="3026834" cy="464185"/>
          </a:xfrm>
          <a:prstGeom prst="rect">
            <a:avLst/>
          </a:prstGeom>
          <a:noFill/>
          <a:ln w="9525">
            <a:noFill/>
            <a:miter lim="800000"/>
            <a:headEnd/>
            <a:tailEnd/>
          </a:ln>
          <a:effectLst/>
        </p:spPr>
        <p:txBody>
          <a:bodyPr vert="horz" wrap="square" lIns="91432" tIns="45716" rIns="91432" bIns="45716" numCol="1" anchor="b" anchorCtr="0" compatLnSpc="1">
            <a:prstTxWarp prst="textNoShape">
              <a:avLst/>
            </a:prstTxWarp>
          </a:bodyPr>
          <a:lstStyle>
            <a:lvl1pPr>
              <a:defRPr sz="1200" b="0">
                <a:latin typeface="Arial" charset="0"/>
              </a:defRPr>
            </a:lvl1pPr>
          </a:lstStyle>
          <a:p>
            <a:endParaRPr lang="en-US"/>
          </a:p>
        </p:txBody>
      </p:sp>
      <p:sp>
        <p:nvSpPr>
          <p:cNvPr id="3079" name="Rectangle 7"/>
          <p:cNvSpPr>
            <a:spLocks noGrp="1" noChangeArrowheads="1"/>
          </p:cNvSpPr>
          <p:nvPr>
            <p:ph type="sldNum" sz="quarter" idx="5"/>
          </p:nvPr>
        </p:nvSpPr>
        <p:spPr bwMode="auto">
          <a:xfrm>
            <a:off x="3956551" y="8817905"/>
            <a:ext cx="3026834" cy="464185"/>
          </a:xfrm>
          <a:prstGeom prst="rect">
            <a:avLst/>
          </a:prstGeom>
          <a:noFill/>
          <a:ln w="9525">
            <a:noFill/>
            <a:miter lim="800000"/>
            <a:headEnd/>
            <a:tailEnd/>
          </a:ln>
          <a:effectLst/>
        </p:spPr>
        <p:txBody>
          <a:bodyPr vert="horz" wrap="square" lIns="91432" tIns="45716" rIns="91432" bIns="45716" numCol="1" anchor="b" anchorCtr="0" compatLnSpc="1">
            <a:prstTxWarp prst="textNoShape">
              <a:avLst/>
            </a:prstTxWarp>
          </a:bodyPr>
          <a:lstStyle>
            <a:lvl1pPr algn="r">
              <a:defRPr sz="1200" b="0">
                <a:latin typeface="Arial" charset="0"/>
              </a:defRPr>
            </a:lvl1pPr>
          </a:lstStyle>
          <a:p>
            <a:fld id="{878340DC-DDD3-4383-9614-668A8EE0901D}" type="slidenum">
              <a:rPr lang="en-US"/>
              <a:pPr/>
              <a:t>‹#›</a:t>
            </a:fld>
            <a:endParaRPr lang="en-US"/>
          </a:p>
        </p:txBody>
      </p:sp>
    </p:spTree>
    <p:extLst>
      <p:ext uri="{BB962C8B-B14F-4D97-AF65-F5344CB8AC3E}">
        <p14:creationId xmlns:p14="http://schemas.microsoft.com/office/powerpoint/2010/main" val="27263636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p:cNvSpPr>
          <p:nvPr>
            <p:ph type="sldImg"/>
          </p:nvPr>
        </p:nvSpPr>
        <p:spPr>
          <a:ln/>
        </p:spPr>
      </p:sp>
      <p:sp>
        <p:nvSpPr>
          <p:cNvPr id="17411" name="Notes Placeholder 2"/>
          <p:cNvSpPr>
            <a:spLocks noGrp="1"/>
          </p:cNvSpPr>
          <p:nvPr>
            <p:ph type="body" idx="1"/>
          </p:nvPr>
        </p:nvSpPr>
        <p:spPr>
          <a:noFill/>
          <a:ln/>
        </p:spPr>
        <p:txBody>
          <a:bodyPr/>
          <a:lstStyle/>
          <a:p>
            <a:pPr eaLnBrk="1" hangingPunct="1"/>
            <a:endParaRPr lang="en-US"/>
          </a:p>
        </p:txBody>
      </p:sp>
      <p:sp>
        <p:nvSpPr>
          <p:cNvPr id="17412" name="Slide Number Placeholder 3"/>
          <p:cNvSpPr>
            <a:spLocks noGrp="1"/>
          </p:cNvSpPr>
          <p:nvPr>
            <p:ph type="sldNum" sz="quarter" idx="5"/>
          </p:nvPr>
        </p:nvSpPr>
        <p:spPr>
          <a:noFill/>
        </p:spPr>
        <p:txBody>
          <a:bodyPr/>
          <a:lstStyle/>
          <a:p>
            <a:fld id="{BD9DCBA1-42CF-8145-B13F-3E8BBD967398}" type="slidenum">
              <a:rPr lang="zh-CN" altLang="en-US" smtClean="0"/>
              <a:pPr/>
              <a:t>1</a:t>
            </a:fld>
            <a:endParaRPr lang="en-US" altLang="zh-CN"/>
          </a:p>
        </p:txBody>
      </p:sp>
    </p:spTree>
    <p:extLst>
      <p:ext uri="{BB962C8B-B14F-4D97-AF65-F5344CB8AC3E}">
        <p14:creationId xmlns:p14="http://schemas.microsoft.com/office/powerpoint/2010/main" val="40657943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8340DC-DDD3-4383-9614-668A8EE0901D}" type="slidenum">
              <a:rPr lang="en-US" smtClean="0"/>
              <a:pPr/>
              <a:t>2</a:t>
            </a:fld>
            <a:endParaRPr lang="en-US"/>
          </a:p>
        </p:txBody>
      </p:sp>
    </p:spTree>
    <p:extLst>
      <p:ext uri="{BB962C8B-B14F-4D97-AF65-F5344CB8AC3E}">
        <p14:creationId xmlns:p14="http://schemas.microsoft.com/office/powerpoint/2010/main" val="36086564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4ED48EA5-2AB8-469C-9C8D-DDC17F3887B3}" type="slidenum">
              <a:rPr lang="en-US"/>
              <a:pPr/>
              <a:t>‹#›</a:t>
            </a:fld>
            <a:endParaRPr lang="en-US"/>
          </a:p>
        </p:txBody>
      </p:sp>
    </p:spTree>
    <p:extLst>
      <p:ext uri="{BB962C8B-B14F-4D97-AF65-F5344CB8AC3E}">
        <p14:creationId xmlns:p14="http://schemas.microsoft.com/office/powerpoint/2010/main" val="2935960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5EC735E3-5B29-4F54-8FB9-022B0DB6C884}" type="slidenum">
              <a:rPr lang="en-US"/>
              <a:pPr/>
              <a:t>‹#›</a:t>
            </a:fld>
            <a:endParaRPr lang="en-US"/>
          </a:p>
        </p:txBody>
      </p:sp>
    </p:spTree>
    <p:extLst>
      <p:ext uri="{BB962C8B-B14F-4D97-AF65-F5344CB8AC3E}">
        <p14:creationId xmlns:p14="http://schemas.microsoft.com/office/powerpoint/2010/main" val="1414091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8E5E6A3E-4888-4C12-8315-4FD2172AB79D}" type="slidenum">
              <a:rPr lang="en-US"/>
              <a:pPr/>
              <a:t>‹#›</a:t>
            </a:fld>
            <a:endParaRPr lang="en-US"/>
          </a:p>
        </p:txBody>
      </p:sp>
    </p:spTree>
    <p:extLst>
      <p:ext uri="{BB962C8B-B14F-4D97-AF65-F5344CB8AC3E}">
        <p14:creationId xmlns:p14="http://schemas.microsoft.com/office/powerpoint/2010/main" val="28202753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EF4F64A1-F48A-4587-8460-697BC25700CB}" type="slidenum">
              <a:rPr lang="en-US"/>
              <a:pPr/>
              <a:t>‹#›</a:t>
            </a:fld>
            <a:endParaRPr lang="en-US"/>
          </a:p>
        </p:txBody>
      </p:sp>
    </p:spTree>
    <p:extLst>
      <p:ext uri="{BB962C8B-B14F-4D97-AF65-F5344CB8AC3E}">
        <p14:creationId xmlns:p14="http://schemas.microsoft.com/office/powerpoint/2010/main" val="1697360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endParaRPr lang="en-US"/>
          </a:p>
        </p:txBody>
      </p:sp>
      <p:sp>
        <p:nvSpPr>
          <p:cNvPr id="8" name="Rectangle 5"/>
          <p:cNvSpPr>
            <a:spLocks noGrp="1" noChangeArrowheads="1"/>
          </p:cNvSpPr>
          <p:nvPr>
            <p:ph type="ftr" sz="quarter" idx="11"/>
          </p:nvPr>
        </p:nvSpPr>
        <p:spPr>
          <a:ln/>
        </p:spPr>
        <p:txBody>
          <a:bodyPr/>
          <a:lstStyle>
            <a:lvl1pPr>
              <a:defRPr/>
            </a:lvl1pPr>
          </a:lstStyle>
          <a:p>
            <a:endParaRPr lang="en-US"/>
          </a:p>
        </p:txBody>
      </p:sp>
      <p:sp>
        <p:nvSpPr>
          <p:cNvPr id="9" name="Rectangle 6"/>
          <p:cNvSpPr>
            <a:spLocks noGrp="1" noChangeArrowheads="1"/>
          </p:cNvSpPr>
          <p:nvPr>
            <p:ph type="sldNum" sz="quarter" idx="12"/>
          </p:nvPr>
        </p:nvSpPr>
        <p:spPr>
          <a:ln/>
        </p:spPr>
        <p:txBody>
          <a:bodyPr/>
          <a:lstStyle>
            <a:lvl1pPr>
              <a:defRPr/>
            </a:lvl1pPr>
          </a:lstStyle>
          <a:p>
            <a:fld id="{A14D11BB-E399-4356-A7BA-ED113D687B1C}" type="slidenum">
              <a:rPr lang="en-US"/>
              <a:pPr/>
              <a:t>‹#›</a:t>
            </a:fld>
            <a:endParaRPr lang="en-US"/>
          </a:p>
        </p:txBody>
      </p:sp>
    </p:spTree>
    <p:extLst>
      <p:ext uri="{BB962C8B-B14F-4D97-AF65-F5344CB8AC3E}">
        <p14:creationId xmlns:p14="http://schemas.microsoft.com/office/powerpoint/2010/main" val="1225278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Rectangle 4"/>
          <p:cNvSpPr>
            <a:spLocks noGrp="1" noChangeArrowheads="1"/>
          </p:cNvSpPr>
          <p:nvPr>
            <p:ph type="dt" sz="half" idx="10"/>
          </p:nvPr>
        </p:nvSpPr>
        <p:spPr>
          <a:ln/>
        </p:spPr>
        <p:txBody>
          <a:bodyPr/>
          <a:lstStyle>
            <a:lvl1pPr>
              <a:defRPr/>
            </a:lvl1pPr>
          </a:lstStyle>
          <a:p>
            <a:endParaRPr lang="en-US"/>
          </a:p>
        </p:txBody>
      </p:sp>
      <p:sp>
        <p:nvSpPr>
          <p:cNvPr id="4" name="Rectangle 5"/>
          <p:cNvSpPr>
            <a:spLocks noGrp="1" noChangeArrowheads="1"/>
          </p:cNvSpPr>
          <p:nvPr>
            <p:ph type="ftr" sz="quarter" idx="11"/>
          </p:nvPr>
        </p:nvSpPr>
        <p:spPr>
          <a:ln/>
        </p:spPr>
        <p:txBody>
          <a:bodyPr/>
          <a:lstStyle>
            <a:lvl1pPr>
              <a:defRPr/>
            </a:lvl1pPr>
          </a:lstStyle>
          <a:p>
            <a:endParaRPr lang="en-US"/>
          </a:p>
        </p:txBody>
      </p:sp>
      <p:sp>
        <p:nvSpPr>
          <p:cNvPr id="5" name="Rectangle 6"/>
          <p:cNvSpPr>
            <a:spLocks noGrp="1" noChangeArrowheads="1"/>
          </p:cNvSpPr>
          <p:nvPr>
            <p:ph type="sldNum" sz="quarter" idx="12"/>
          </p:nvPr>
        </p:nvSpPr>
        <p:spPr>
          <a:ln/>
        </p:spPr>
        <p:txBody>
          <a:bodyPr/>
          <a:lstStyle>
            <a:lvl1pPr>
              <a:defRPr/>
            </a:lvl1pPr>
          </a:lstStyle>
          <a:p>
            <a:fld id="{7BE0ABEF-E41E-4666-84C4-413527B4A9B4}" type="slidenum">
              <a:rPr lang="en-US"/>
              <a:pPr/>
              <a:t>‹#›</a:t>
            </a:fld>
            <a:endParaRPr lang="en-US"/>
          </a:p>
        </p:txBody>
      </p:sp>
    </p:spTree>
    <p:extLst>
      <p:ext uri="{BB962C8B-B14F-4D97-AF65-F5344CB8AC3E}">
        <p14:creationId xmlns:p14="http://schemas.microsoft.com/office/powerpoint/2010/main" val="596208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p>
        </p:txBody>
      </p:sp>
      <p:sp>
        <p:nvSpPr>
          <p:cNvPr id="3" name="Rectangle 5"/>
          <p:cNvSpPr>
            <a:spLocks noGrp="1" noChangeArrowheads="1"/>
          </p:cNvSpPr>
          <p:nvPr>
            <p:ph type="ftr" sz="quarter" idx="11"/>
          </p:nvPr>
        </p:nvSpPr>
        <p:spPr>
          <a:ln/>
        </p:spPr>
        <p:txBody>
          <a:bodyPr/>
          <a:lstStyle>
            <a:lvl1pPr>
              <a:defRPr/>
            </a:lvl1pPr>
          </a:lstStyle>
          <a:p>
            <a:endParaRPr lang="en-US"/>
          </a:p>
        </p:txBody>
      </p:sp>
      <p:sp>
        <p:nvSpPr>
          <p:cNvPr id="4" name="Rectangle 6"/>
          <p:cNvSpPr>
            <a:spLocks noGrp="1" noChangeArrowheads="1"/>
          </p:cNvSpPr>
          <p:nvPr>
            <p:ph type="sldNum" sz="quarter" idx="12"/>
          </p:nvPr>
        </p:nvSpPr>
        <p:spPr>
          <a:ln/>
        </p:spPr>
        <p:txBody>
          <a:bodyPr/>
          <a:lstStyle>
            <a:lvl1pPr>
              <a:defRPr/>
            </a:lvl1pPr>
          </a:lstStyle>
          <a:p>
            <a:fld id="{309926DB-4DC2-4E3A-B2C0-BB9A6A9391A5}" type="slidenum">
              <a:rPr lang="en-US"/>
              <a:pPr/>
              <a:t>‹#›</a:t>
            </a:fld>
            <a:endParaRPr lang="en-US"/>
          </a:p>
        </p:txBody>
      </p:sp>
    </p:spTree>
    <p:extLst>
      <p:ext uri="{BB962C8B-B14F-4D97-AF65-F5344CB8AC3E}">
        <p14:creationId xmlns:p14="http://schemas.microsoft.com/office/powerpoint/2010/main" val="4043950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AB1B4454-C8A7-4B1B-8E65-E82A92619F92}" type="slidenum">
              <a:rPr lang="en-US"/>
              <a:pPr/>
              <a:t>‹#›</a:t>
            </a:fld>
            <a:endParaRPr lang="en-US"/>
          </a:p>
        </p:txBody>
      </p:sp>
    </p:spTree>
    <p:extLst>
      <p:ext uri="{BB962C8B-B14F-4D97-AF65-F5344CB8AC3E}">
        <p14:creationId xmlns:p14="http://schemas.microsoft.com/office/powerpoint/2010/main" val="435954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00DDABB2-A7EC-4A6A-8A4D-8C9E34B87ECB}" type="slidenum">
              <a:rPr lang="en-US"/>
              <a:pPr/>
              <a:t>‹#›</a:t>
            </a:fld>
            <a:endParaRPr lang="en-US"/>
          </a:p>
        </p:txBody>
      </p:sp>
    </p:spTree>
    <p:extLst>
      <p:ext uri="{BB962C8B-B14F-4D97-AF65-F5344CB8AC3E}">
        <p14:creationId xmlns:p14="http://schemas.microsoft.com/office/powerpoint/2010/main" val="943476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B04971A2-E15B-40AD-8D3B-C3853A18A93B}" type="slidenum">
              <a:rPr lang="en-US"/>
              <a:pPr/>
              <a:t>‹#›</a:t>
            </a:fld>
            <a:endParaRPr lang="en-US"/>
          </a:p>
        </p:txBody>
      </p:sp>
    </p:spTree>
    <p:extLst>
      <p:ext uri="{BB962C8B-B14F-4D97-AF65-F5344CB8AC3E}">
        <p14:creationId xmlns:p14="http://schemas.microsoft.com/office/powerpoint/2010/main" val="23608475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9737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9737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E132645C-7078-496B-800F-5B55B382AAB3}" type="slidenum">
              <a:rPr lang="en-US"/>
              <a:pPr/>
              <a:t>‹#›</a:t>
            </a:fld>
            <a:endParaRPr lang="en-US"/>
          </a:p>
        </p:txBody>
      </p:sp>
    </p:spTree>
    <p:extLst>
      <p:ext uri="{BB962C8B-B14F-4D97-AF65-F5344CB8AC3E}">
        <p14:creationId xmlns:p14="http://schemas.microsoft.com/office/powerpoint/2010/main" val="1823425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3820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228600" y="1600200"/>
            <a:ext cx="86868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4008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atin typeface="Arial" charset="0"/>
              </a:defRPr>
            </a:lvl1pPr>
          </a:lstStyle>
          <a:p>
            <a:endParaRPr lang="en-US"/>
          </a:p>
        </p:txBody>
      </p:sp>
      <p:sp>
        <p:nvSpPr>
          <p:cNvPr id="1029" name="Rectangle 5"/>
          <p:cNvSpPr>
            <a:spLocks noGrp="1" noChangeArrowheads="1"/>
          </p:cNvSpPr>
          <p:nvPr>
            <p:ph type="ftr" sz="quarter" idx="3"/>
          </p:nvPr>
        </p:nvSpPr>
        <p:spPr bwMode="auto">
          <a:xfrm>
            <a:off x="3124200" y="6400800"/>
            <a:ext cx="2895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latin typeface="Arial" charset="0"/>
              </a:defRPr>
            </a:lvl1pPr>
          </a:lstStyle>
          <a:p>
            <a:endParaRPr lang="en-US"/>
          </a:p>
        </p:txBody>
      </p:sp>
      <p:sp>
        <p:nvSpPr>
          <p:cNvPr id="1030" name="Rectangle 6"/>
          <p:cNvSpPr>
            <a:spLocks noGrp="1" noChangeArrowheads="1"/>
          </p:cNvSpPr>
          <p:nvPr>
            <p:ph type="sldNum" sz="quarter" idx="4"/>
          </p:nvPr>
        </p:nvSpPr>
        <p:spPr bwMode="auto">
          <a:xfrm>
            <a:off x="6553200" y="64008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atin typeface="Arial" charset="0"/>
              </a:defRPr>
            </a:lvl1pPr>
          </a:lstStyle>
          <a:p>
            <a:fld id="{6724A02C-A69E-4EC1-BA44-1213A0435DCD}" type="slidenum">
              <a:rPr lang="en-US"/>
              <a:pPr/>
              <a:t>‹#›</a:t>
            </a:fld>
            <a:endParaRPr lang="en-US"/>
          </a:p>
        </p:txBody>
      </p:sp>
      <p:sp>
        <p:nvSpPr>
          <p:cNvPr id="1031" name="Text Box 7"/>
          <p:cNvSpPr txBox="1">
            <a:spLocks noChangeArrowheads="1"/>
          </p:cNvSpPr>
          <p:nvPr userDrawn="1"/>
        </p:nvSpPr>
        <p:spPr bwMode="auto">
          <a:xfrm>
            <a:off x="457200" y="1066800"/>
            <a:ext cx="2286000" cy="366713"/>
          </a:xfrm>
          <a:prstGeom prst="rect">
            <a:avLst/>
          </a:prstGeom>
          <a:noFill/>
          <a:ln w="9525">
            <a:noFill/>
            <a:miter lim="800000"/>
            <a:headEnd/>
            <a:tailEnd/>
          </a:ln>
          <a:effectLst/>
        </p:spPr>
        <p:txBody>
          <a:bodyPr>
            <a:spAutoFit/>
          </a:bodyPr>
          <a:lstStyle>
            <a:lvl1pPr eaLnBrk="0" hangingPunct="0">
              <a:defRPr sz="2400" b="1">
                <a:solidFill>
                  <a:schemeClr val="tx1"/>
                </a:solidFill>
                <a:latin typeface="Lucida Sans" charset="0"/>
                <a:ea typeface="ＭＳ Ｐゴシック" charset="-128"/>
              </a:defRPr>
            </a:lvl1pPr>
            <a:lvl2pPr marL="37931725" indent="-37474525" eaLnBrk="0" hangingPunct="0">
              <a:defRPr sz="2400" b="1">
                <a:solidFill>
                  <a:schemeClr val="tx1"/>
                </a:solidFill>
                <a:latin typeface="Lucida Sans" charset="0"/>
                <a:ea typeface="ＭＳ Ｐゴシック" charset="-128"/>
              </a:defRPr>
            </a:lvl2pPr>
            <a:lvl3pPr eaLnBrk="0" hangingPunct="0">
              <a:defRPr sz="2400" b="1">
                <a:solidFill>
                  <a:schemeClr val="tx1"/>
                </a:solidFill>
                <a:latin typeface="Lucida Sans" charset="0"/>
                <a:ea typeface="ＭＳ Ｐゴシック" charset="-128"/>
              </a:defRPr>
            </a:lvl3pPr>
            <a:lvl4pPr eaLnBrk="0" hangingPunct="0">
              <a:defRPr sz="2400" b="1">
                <a:solidFill>
                  <a:schemeClr val="tx1"/>
                </a:solidFill>
                <a:latin typeface="Lucida Sans" charset="0"/>
                <a:ea typeface="ＭＳ Ｐゴシック" charset="-128"/>
              </a:defRPr>
            </a:lvl4pPr>
            <a:lvl5pPr eaLnBrk="0" hangingPunct="0">
              <a:defRPr sz="2400" b="1">
                <a:solidFill>
                  <a:schemeClr val="tx1"/>
                </a:solidFill>
                <a:latin typeface="Lucida Sans" charset="0"/>
                <a:ea typeface="ＭＳ Ｐゴシック" charset="-128"/>
              </a:defRPr>
            </a:lvl5pPr>
            <a:lvl6pPr marL="457200" eaLnBrk="0" fontAlgn="base" hangingPunct="0">
              <a:spcBef>
                <a:spcPct val="0"/>
              </a:spcBef>
              <a:spcAft>
                <a:spcPct val="0"/>
              </a:spcAft>
              <a:defRPr sz="2400" b="1">
                <a:solidFill>
                  <a:schemeClr val="tx1"/>
                </a:solidFill>
                <a:latin typeface="Lucida Sans" charset="0"/>
                <a:ea typeface="ＭＳ Ｐゴシック" charset="-128"/>
              </a:defRPr>
            </a:lvl6pPr>
            <a:lvl7pPr marL="914400" eaLnBrk="0" fontAlgn="base" hangingPunct="0">
              <a:spcBef>
                <a:spcPct val="0"/>
              </a:spcBef>
              <a:spcAft>
                <a:spcPct val="0"/>
              </a:spcAft>
              <a:defRPr sz="2400" b="1">
                <a:solidFill>
                  <a:schemeClr val="tx1"/>
                </a:solidFill>
                <a:latin typeface="Lucida Sans" charset="0"/>
                <a:ea typeface="ＭＳ Ｐゴシック" charset="-128"/>
              </a:defRPr>
            </a:lvl7pPr>
            <a:lvl8pPr marL="1371600" eaLnBrk="0" fontAlgn="base" hangingPunct="0">
              <a:spcBef>
                <a:spcPct val="0"/>
              </a:spcBef>
              <a:spcAft>
                <a:spcPct val="0"/>
              </a:spcAft>
              <a:defRPr sz="2400" b="1">
                <a:solidFill>
                  <a:schemeClr val="tx1"/>
                </a:solidFill>
                <a:latin typeface="Lucida Sans" charset="0"/>
                <a:ea typeface="ＭＳ Ｐゴシック" charset="-128"/>
              </a:defRPr>
            </a:lvl8pPr>
            <a:lvl9pPr marL="1828800" eaLnBrk="0" fontAlgn="base" hangingPunct="0">
              <a:spcBef>
                <a:spcPct val="0"/>
              </a:spcBef>
              <a:spcAft>
                <a:spcPct val="0"/>
              </a:spcAft>
              <a:defRPr sz="2400" b="1">
                <a:solidFill>
                  <a:schemeClr val="tx1"/>
                </a:solidFill>
                <a:latin typeface="Lucida Sans" charset="0"/>
                <a:ea typeface="ＭＳ Ｐゴシック" charset="-128"/>
              </a:defRPr>
            </a:lvl9pPr>
          </a:lstStyle>
          <a:p>
            <a:pPr eaLnBrk="1" hangingPunct="1"/>
            <a:endParaRPr lang="en-US" sz="1800" b="0">
              <a:latin typeface="Arial" charset="0"/>
            </a:endParaRPr>
          </a:p>
        </p:txBody>
      </p:sp>
      <p:sp>
        <p:nvSpPr>
          <p:cNvPr id="1032" name="Text Box 8"/>
          <p:cNvSpPr txBox="1">
            <a:spLocks noChangeArrowheads="1"/>
          </p:cNvSpPr>
          <p:nvPr userDrawn="1"/>
        </p:nvSpPr>
        <p:spPr bwMode="auto">
          <a:xfrm>
            <a:off x="457200" y="1143000"/>
            <a:ext cx="2590800" cy="366713"/>
          </a:xfrm>
          <a:prstGeom prst="rect">
            <a:avLst/>
          </a:prstGeom>
          <a:noFill/>
          <a:ln w="9525">
            <a:noFill/>
            <a:miter lim="800000"/>
            <a:headEnd/>
            <a:tailEnd/>
          </a:ln>
          <a:effectLst/>
        </p:spPr>
        <p:txBody>
          <a:bodyPr>
            <a:spAutoFit/>
          </a:bodyPr>
          <a:lstStyle>
            <a:lvl1pPr eaLnBrk="0" hangingPunct="0">
              <a:defRPr sz="2400" b="1">
                <a:solidFill>
                  <a:schemeClr val="tx1"/>
                </a:solidFill>
                <a:latin typeface="Lucida Sans" charset="0"/>
                <a:ea typeface="ＭＳ Ｐゴシック" charset="-128"/>
              </a:defRPr>
            </a:lvl1pPr>
            <a:lvl2pPr marL="37931725" indent="-37474525" eaLnBrk="0" hangingPunct="0">
              <a:defRPr sz="2400" b="1">
                <a:solidFill>
                  <a:schemeClr val="tx1"/>
                </a:solidFill>
                <a:latin typeface="Lucida Sans" charset="0"/>
                <a:ea typeface="ＭＳ Ｐゴシック" charset="-128"/>
              </a:defRPr>
            </a:lvl2pPr>
            <a:lvl3pPr eaLnBrk="0" hangingPunct="0">
              <a:defRPr sz="2400" b="1">
                <a:solidFill>
                  <a:schemeClr val="tx1"/>
                </a:solidFill>
                <a:latin typeface="Lucida Sans" charset="0"/>
                <a:ea typeface="ＭＳ Ｐゴシック" charset="-128"/>
              </a:defRPr>
            </a:lvl3pPr>
            <a:lvl4pPr eaLnBrk="0" hangingPunct="0">
              <a:defRPr sz="2400" b="1">
                <a:solidFill>
                  <a:schemeClr val="tx1"/>
                </a:solidFill>
                <a:latin typeface="Lucida Sans" charset="0"/>
                <a:ea typeface="ＭＳ Ｐゴシック" charset="-128"/>
              </a:defRPr>
            </a:lvl4pPr>
            <a:lvl5pPr eaLnBrk="0" hangingPunct="0">
              <a:defRPr sz="2400" b="1">
                <a:solidFill>
                  <a:schemeClr val="tx1"/>
                </a:solidFill>
                <a:latin typeface="Lucida Sans" charset="0"/>
                <a:ea typeface="ＭＳ Ｐゴシック" charset="-128"/>
              </a:defRPr>
            </a:lvl5pPr>
            <a:lvl6pPr marL="457200" eaLnBrk="0" fontAlgn="base" hangingPunct="0">
              <a:spcBef>
                <a:spcPct val="0"/>
              </a:spcBef>
              <a:spcAft>
                <a:spcPct val="0"/>
              </a:spcAft>
              <a:defRPr sz="2400" b="1">
                <a:solidFill>
                  <a:schemeClr val="tx1"/>
                </a:solidFill>
                <a:latin typeface="Lucida Sans" charset="0"/>
                <a:ea typeface="ＭＳ Ｐゴシック" charset="-128"/>
              </a:defRPr>
            </a:lvl6pPr>
            <a:lvl7pPr marL="914400" eaLnBrk="0" fontAlgn="base" hangingPunct="0">
              <a:spcBef>
                <a:spcPct val="0"/>
              </a:spcBef>
              <a:spcAft>
                <a:spcPct val="0"/>
              </a:spcAft>
              <a:defRPr sz="2400" b="1">
                <a:solidFill>
                  <a:schemeClr val="tx1"/>
                </a:solidFill>
                <a:latin typeface="Lucida Sans" charset="0"/>
                <a:ea typeface="ＭＳ Ｐゴシック" charset="-128"/>
              </a:defRPr>
            </a:lvl7pPr>
            <a:lvl8pPr marL="1371600" eaLnBrk="0" fontAlgn="base" hangingPunct="0">
              <a:spcBef>
                <a:spcPct val="0"/>
              </a:spcBef>
              <a:spcAft>
                <a:spcPct val="0"/>
              </a:spcAft>
              <a:defRPr sz="2400" b="1">
                <a:solidFill>
                  <a:schemeClr val="tx1"/>
                </a:solidFill>
                <a:latin typeface="Lucida Sans" charset="0"/>
                <a:ea typeface="ＭＳ Ｐゴシック" charset="-128"/>
              </a:defRPr>
            </a:lvl8pPr>
            <a:lvl9pPr marL="1828800" eaLnBrk="0" fontAlgn="base" hangingPunct="0">
              <a:spcBef>
                <a:spcPct val="0"/>
              </a:spcBef>
              <a:spcAft>
                <a:spcPct val="0"/>
              </a:spcAft>
              <a:defRPr sz="2400" b="1">
                <a:solidFill>
                  <a:schemeClr val="tx1"/>
                </a:solidFill>
                <a:latin typeface="Lucida Sans" charset="0"/>
                <a:ea typeface="ＭＳ Ｐゴシック" charset="-128"/>
              </a:defRPr>
            </a:lvl9pPr>
          </a:lstStyle>
          <a:p>
            <a:pPr eaLnBrk="1" hangingPunct="1">
              <a:spcBef>
                <a:spcPct val="50000"/>
              </a:spcBef>
            </a:pPr>
            <a:endParaRPr lang="en-US" sz="1800" b="0">
              <a:latin typeface="Arial"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r" rtl="0" eaLnBrk="0" fontAlgn="base" hangingPunct="0">
        <a:spcBef>
          <a:spcPct val="0"/>
        </a:spcBef>
        <a:spcAft>
          <a:spcPct val="0"/>
        </a:spcAft>
        <a:defRPr sz="3600">
          <a:solidFill>
            <a:schemeClr val="tx2"/>
          </a:solidFill>
          <a:latin typeface="+mj-lt"/>
          <a:ea typeface="ＭＳ Ｐゴシック" charset="-128"/>
          <a:cs typeface="ＭＳ Ｐゴシック" charset="-128"/>
        </a:defRPr>
      </a:lvl1pPr>
      <a:lvl2pPr algn="r" rtl="0" eaLnBrk="0" fontAlgn="base" hangingPunct="0">
        <a:spcBef>
          <a:spcPct val="0"/>
        </a:spcBef>
        <a:spcAft>
          <a:spcPct val="0"/>
        </a:spcAft>
        <a:defRPr sz="3600">
          <a:solidFill>
            <a:schemeClr val="tx2"/>
          </a:solidFill>
          <a:latin typeface="Lucida Sans" charset="0"/>
          <a:ea typeface="ＭＳ Ｐゴシック" charset="-128"/>
          <a:cs typeface="ＭＳ Ｐゴシック" charset="-128"/>
        </a:defRPr>
      </a:lvl2pPr>
      <a:lvl3pPr algn="r" rtl="0" eaLnBrk="0" fontAlgn="base" hangingPunct="0">
        <a:spcBef>
          <a:spcPct val="0"/>
        </a:spcBef>
        <a:spcAft>
          <a:spcPct val="0"/>
        </a:spcAft>
        <a:defRPr sz="3600">
          <a:solidFill>
            <a:schemeClr val="tx2"/>
          </a:solidFill>
          <a:latin typeface="Lucida Sans" charset="0"/>
          <a:ea typeface="ＭＳ Ｐゴシック" charset="-128"/>
          <a:cs typeface="ＭＳ Ｐゴシック" charset="-128"/>
        </a:defRPr>
      </a:lvl3pPr>
      <a:lvl4pPr algn="r" rtl="0" eaLnBrk="0" fontAlgn="base" hangingPunct="0">
        <a:spcBef>
          <a:spcPct val="0"/>
        </a:spcBef>
        <a:spcAft>
          <a:spcPct val="0"/>
        </a:spcAft>
        <a:defRPr sz="3600">
          <a:solidFill>
            <a:schemeClr val="tx2"/>
          </a:solidFill>
          <a:latin typeface="Lucida Sans" charset="0"/>
          <a:ea typeface="ＭＳ Ｐゴシック" charset="-128"/>
          <a:cs typeface="ＭＳ Ｐゴシック" charset="-128"/>
        </a:defRPr>
      </a:lvl4pPr>
      <a:lvl5pPr algn="r" rtl="0" eaLnBrk="0" fontAlgn="base" hangingPunct="0">
        <a:spcBef>
          <a:spcPct val="0"/>
        </a:spcBef>
        <a:spcAft>
          <a:spcPct val="0"/>
        </a:spcAft>
        <a:defRPr sz="3600">
          <a:solidFill>
            <a:schemeClr val="tx2"/>
          </a:solidFill>
          <a:latin typeface="Lucida Sans" charset="0"/>
          <a:ea typeface="ＭＳ Ｐゴシック" charset="-128"/>
          <a:cs typeface="ＭＳ Ｐゴシック" charset="-128"/>
        </a:defRPr>
      </a:lvl5pPr>
      <a:lvl6pPr marL="457200" algn="r" rtl="0" fontAlgn="base">
        <a:spcBef>
          <a:spcPct val="0"/>
        </a:spcBef>
        <a:spcAft>
          <a:spcPct val="0"/>
        </a:spcAft>
        <a:defRPr sz="3600">
          <a:solidFill>
            <a:schemeClr val="tx2"/>
          </a:solidFill>
          <a:latin typeface="Lucida Sans" charset="0"/>
        </a:defRPr>
      </a:lvl6pPr>
      <a:lvl7pPr marL="914400" algn="r" rtl="0" fontAlgn="base">
        <a:spcBef>
          <a:spcPct val="0"/>
        </a:spcBef>
        <a:spcAft>
          <a:spcPct val="0"/>
        </a:spcAft>
        <a:defRPr sz="3600">
          <a:solidFill>
            <a:schemeClr val="tx2"/>
          </a:solidFill>
          <a:latin typeface="Lucida Sans" charset="0"/>
        </a:defRPr>
      </a:lvl7pPr>
      <a:lvl8pPr marL="1371600" algn="r" rtl="0" fontAlgn="base">
        <a:spcBef>
          <a:spcPct val="0"/>
        </a:spcBef>
        <a:spcAft>
          <a:spcPct val="0"/>
        </a:spcAft>
        <a:defRPr sz="3600">
          <a:solidFill>
            <a:schemeClr val="tx2"/>
          </a:solidFill>
          <a:latin typeface="Lucida Sans" charset="0"/>
        </a:defRPr>
      </a:lvl8pPr>
      <a:lvl9pPr marL="1828800" algn="r" rtl="0" fontAlgn="base">
        <a:spcBef>
          <a:spcPct val="0"/>
        </a:spcBef>
        <a:spcAft>
          <a:spcPct val="0"/>
        </a:spcAft>
        <a:defRPr sz="3600">
          <a:solidFill>
            <a:schemeClr val="tx2"/>
          </a:solidFill>
          <a:latin typeface="Lucida Sans" charset="0"/>
        </a:defRPr>
      </a:lvl9pPr>
    </p:titleStyle>
    <p:bodyStyle>
      <a:lvl1pPr marL="342900" indent="-342900" algn="l" rtl="0" eaLnBrk="0" fontAlgn="base" hangingPunct="0">
        <a:spcBef>
          <a:spcPct val="20000"/>
        </a:spcBef>
        <a:spcAft>
          <a:spcPct val="0"/>
        </a:spcAft>
        <a:buFont typeface="Wingdings" charset="2"/>
        <a:buChar char="§"/>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Font typeface="Wingdings" charset="2"/>
        <a:buChar char="§"/>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Font typeface="Wingdings" charset="2"/>
        <a:buChar char="§"/>
        <a:defRPr sz="20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4"/>
          <p:cNvSpPr>
            <a:spLocks noGrp="1" noChangeArrowheads="1"/>
          </p:cNvSpPr>
          <p:nvPr>
            <p:ph type="title"/>
          </p:nvPr>
        </p:nvSpPr>
        <p:spPr>
          <a:noFill/>
        </p:spPr>
        <p:txBody>
          <a:bodyPr/>
          <a:lstStyle/>
          <a:p>
            <a:r>
              <a:rPr lang="en-US"/>
              <a:t>L07: </a:t>
            </a:r>
            <a:r>
              <a:rPr lang="en-US" dirty="0"/>
              <a:t>Basics of Counting</a:t>
            </a:r>
          </a:p>
        </p:txBody>
      </p:sp>
      <p:sp>
        <p:nvSpPr>
          <p:cNvPr id="727045" name="Rectangle 5"/>
          <p:cNvSpPr>
            <a:spLocks noGrp="1" noChangeArrowheads="1"/>
          </p:cNvSpPr>
          <p:nvPr>
            <p:ph type="body" idx="1"/>
          </p:nvPr>
        </p:nvSpPr>
        <p:spPr>
          <a:xfrm>
            <a:off x="609600" y="1295400"/>
            <a:ext cx="6096000" cy="3657600"/>
          </a:xfrm>
          <a:noFill/>
        </p:spPr>
        <p:txBody>
          <a:bodyPr/>
          <a:lstStyle/>
          <a:p>
            <a:r>
              <a:rPr lang="en-US" dirty="0"/>
              <a:t>Outline</a:t>
            </a:r>
          </a:p>
          <a:p>
            <a:pPr lvl="1"/>
            <a:r>
              <a:rPr lang="en-US" dirty="0"/>
              <a:t>Product Rule</a:t>
            </a:r>
          </a:p>
          <a:p>
            <a:pPr lvl="1"/>
            <a:r>
              <a:rPr lang="en-US" dirty="0"/>
              <a:t>Sum Rule</a:t>
            </a:r>
          </a:p>
          <a:p>
            <a:pPr lvl="1"/>
            <a:endParaRPr lang="en-US" dirty="0"/>
          </a:p>
          <a:p>
            <a:r>
              <a:rPr lang="en-US" dirty="0"/>
              <a:t>Reading: Rosen 6.1, 6.2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tx1"/>
                </a:solidFill>
              </a:rPr>
              <a:t>Introduction</a:t>
            </a:r>
            <a:endParaRPr lang="zh-CN" altLang="en-US" dirty="0">
              <a:solidFill>
                <a:schemeClr val="tx1"/>
              </a:solidFill>
            </a:endParaRPr>
          </a:p>
        </p:txBody>
      </p:sp>
      <p:sp>
        <p:nvSpPr>
          <p:cNvPr id="3" name="内容占位符 2"/>
          <p:cNvSpPr>
            <a:spLocks noGrp="1"/>
          </p:cNvSpPr>
          <p:nvPr>
            <p:ph idx="1"/>
          </p:nvPr>
        </p:nvSpPr>
        <p:spPr>
          <a:xfrm>
            <a:off x="609600" y="1371600"/>
            <a:ext cx="8305800" cy="5334000"/>
          </a:xfrm>
        </p:spPr>
        <p:txBody>
          <a:bodyPr/>
          <a:lstStyle/>
          <a:p>
            <a:pPr marL="0" indent="0">
              <a:buNone/>
            </a:pPr>
            <a:r>
              <a:rPr lang="en-US" altLang="zh-CN" sz="2400" dirty="0"/>
              <a:t>Examples of when counting is needed in computer science:</a:t>
            </a:r>
          </a:p>
          <a:p>
            <a:r>
              <a:rPr lang="en-US" altLang="zh-CN" dirty="0"/>
              <a:t>Determining the time or space complexity of algorithms</a:t>
            </a:r>
          </a:p>
          <a:p>
            <a:r>
              <a:rPr lang="en-US" altLang="zh-CN" dirty="0"/>
              <a:t>Computing the probabilities of events</a:t>
            </a:r>
          </a:p>
          <a:p>
            <a:r>
              <a:rPr lang="en-US" altLang="zh-CN" sz="2400" dirty="0"/>
              <a:t>Determining whether there are enough Internet protocol (IP) addresses to meet the demand</a:t>
            </a:r>
          </a:p>
          <a:p>
            <a:pPr marL="0" indent="0">
              <a:buNone/>
            </a:pPr>
            <a:endParaRPr lang="en-US" altLang="zh-CN" sz="2400" dirty="0"/>
          </a:p>
          <a:p>
            <a:pPr marL="0" indent="0">
              <a:buNone/>
            </a:pPr>
            <a:r>
              <a:rPr lang="en-US" altLang="zh-CN" sz="2400" dirty="0"/>
              <a:t>Two basic counting principles:</a:t>
            </a:r>
          </a:p>
          <a:p>
            <a:r>
              <a:rPr lang="en-US" altLang="zh-CN" sz="2400" b="1" dirty="0"/>
              <a:t>Product rule</a:t>
            </a:r>
            <a:r>
              <a:rPr lang="en-US" altLang="zh-CN" sz="2400" dirty="0"/>
              <a:t> (or </a:t>
            </a:r>
            <a:r>
              <a:rPr lang="en-US" altLang="zh-CN" sz="2400" b="1" dirty="0"/>
              <a:t>sequential rule</a:t>
            </a:r>
            <a:r>
              <a:rPr lang="en-US" altLang="zh-CN" sz="2400" dirty="0"/>
              <a:t>)</a:t>
            </a:r>
          </a:p>
          <a:p>
            <a:r>
              <a:rPr lang="en-US" altLang="zh-CN" sz="2400" b="1" dirty="0"/>
              <a:t>Sum rule </a:t>
            </a:r>
            <a:r>
              <a:rPr lang="en-US" altLang="zh-CN" sz="2400" dirty="0"/>
              <a:t>(or </a:t>
            </a:r>
            <a:r>
              <a:rPr lang="en-US" altLang="zh-CN" sz="2400" b="1" dirty="0"/>
              <a:t>disjunctive rule</a:t>
            </a:r>
            <a:r>
              <a:rPr lang="en-US" altLang="zh-CN" sz="2400" dirty="0"/>
              <a:t>)</a:t>
            </a:r>
          </a:p>
          <a:p>
            <a:endParaRPr lang="en-US" altLang="zh-CN" sz="2400" dirty="0"/>
          </a:p>
        </p:txBody>
      </p:sp>
      <p:sp>
        <p:nvSpPr>
          <p:cNvPr id="5" name="Slide Number Placeholder 4"/>
          <p:cNvSpPr>
            <a:spLocks noGrp="1"/>
          </p:cNvSpPr>
          <p:nvPr>
            <p:ph type="sldNum" sz="quarter" idx="12"/>
          </p:nvPr>
        </p:nvSpPr>
        <p:spPr/>
        <p:txBody>
          <a:bodyPr/>
          <a:lstStyle/>
          <a:p>
            <a:fld id="{5EC735E3-5B29-4F54-8FB9-022B0DB6C884}"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00FF"/>
                </a:solidFill>
              </a:rPr>
              <a:t>Product Rule</a:t>
            </a:r>
            <a:endParaRPr lang="zh-CN" altLang="en-US" dirty="0">
              <a:solidFill>
                <a:srgbClr val="0000FF"/>
              </a:solidFill>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533400" y="1600200"/>
                <a:ext cx="7772400" cy="4495800"/>
              </a:xfrm>
            </p:spPr>
            <p:txBody>
              <a:bodyPr/>
              <a:lstStyle/>
              <a:p>
                <a:r>
                  <a:rPr lang="en-US" altLang="zh-CN" sz="2400" dirty="0"/>
                  <a:t>Suppose a procedure can be broken down into </a:t>
                </a:r>
                <a14:m>
                  <m:oMath xmlns:m="http://schemas.openxmlformats.org/officeDocument/2006/math">
                    <m:r>
                      <a:rPr lang="en-US" altLang="zh-CN" sz="2400" i="1" dirty="0" smtClean="0">
                        <a:latin typeface="Cambria Math" panose="02040503050406030204" pitchFamily="18" charset="0"/>
                      </a:rPr>
                      <m:t>𝑚</m:t>
                    </m:r>
                    <m:r>
                      <a:rPr lang="en-US" altLang="zh-CN" sz="2400" i="1" dirty="0" smtClean="0">
                        <a:latin typeface="Cambria Math" panose="02040503050406030204" pitchFamily="18" charset="0"/>
                      </a:rPr>
                      <m:t>&gt;1</m:t>
                    </m:r>
                  </m:oMath>
                </a14:m>
                <a:r>
                  <a:rPr lang="en-US" altLang="zh-CN" sz="2400" dirty="0"/>
                  <a:t> tasks, </a:t>
                </a: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 </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𝑚</m:t>
                        </m:r>
                      </m:sub>
                    </m:sSub>
                  </m:oMath>
                </a14:m>
                <a:r>
                  <a:rPr lang="en-US" altLang="zh-CN" sz="2400" dirty="0"/>
                  <a:t>, and carried out by performing </a:t>
                </a:r>
                <a:r>
                  <a:rPr lang="en-US" altLang="zh-CN" sz="2400" dirty="0">
                    <a:solidFill>
                      <a:srgbClr val="FF0000"/>
                    </a:solidFill>
                  </a:rPr>
                  <a:t>all</a:t>
                </a:r>
                <a:r>
                  <a:rPr lang="en-US" altLang="zh-CN" sz="2400" dirty="0"/>
                  <a:t> the tasks in sequence. </a:t>
                </a:r>
              </a:p>
              <a:p>
                <a:r>
                  <a:rPr lang="en-US" altLang="zh-CN" sz="2400" dirty="0"/>
                  <a:t>If each task </a:t>
                </a: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𝑖</m:t>
                        </m:r>
                      </m:sub>
                    </m:sSub>
                  </m:oMath>
                </a14:m>
                <a:r>
                  <a:rPr lang="en-US" altLang="zh-CN" sz="2400" dirty="0"/>
                  <a:t> can be done in </a:t>
                </a: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i="1" dirty="0" smtClean="0">
                            <a:latin typeface="Cambria Math" panose="02040503050406030204" pitchFamily="18" charset="0"/>
                          </a:rPr>
                          <m:t>𝑛</m:t>
                        </m:r>
                      </m:e>
                      <m:sub>
                        <m:r>
                          <a:rPr lang="en-US" altLang="zh-CN" sz="2400" b="0" i="1" dirty="0" smtClean="0">
                            <a:latin typeface="Cambria Math" panose="02040503050406030204" pitchFamily="18" charset="0"/>
                          </a:rPr>
                          <m:t>𝑖</m:t>
                        </m:r>
                      </m:sub>
                    </m:sSub>
                  </m:oMath>
                </a14:m>
                <a:r>
                  <a:rPr lang="en-US" altLang="zh-CN" sz="2400" dirty="0"/>
                  <a:t> ways regardless of how the previous tasks were done, then there are </a:t>
                </a:r>
                <a14:m>
                  <m:oMath xmlns:m="http://schemas.openxmlformats.org/officeDocument/2006/math">
                    <m:r>
                      <a:rPr lang="en-US" altLang="zh-CN" sz="2400" i="1" dirty="0" smtClean="0">
                        <a:solidFill>
                          <a:srgbClr val="FF0000"/>
                        </a:solidFill>
                        <a:latin typeface="Cambria Math" panose="02040503050406030204" pitchFamily="18" charset="0"/>
                      </a:rPr>
                      <m:t>𝑛</m:t>
                    </m:r>
                    <m:r>
                      <a:rPr lang="en-US" altLang="zh-CN" sz="2400" i="1" baseline="-25000" dirty="0" smtClean="0">
                        <a:solidFill>
                          <a:srgbClr val="FF0000"/>
                        </a:solidFill>
                        <a:latin typeface="Cambria Math" panose="02040503050406030204" pitchFamily="18" charset="0"/>
                      </a:rPr>
                      <m:t>1</m:t>
                    </m:r>
                    <m:r>
                      <a:rPr lang="en-US" altLang="zh-CN" sz="2400" i="1" dirty="0" smtClean="0">
                        <a:solidFill>
                          <a:srgbClr val="FF0000"/>
                        </a:solidFill>
                        <a:latin typeface="Cambria Math" panose="02040503050406030204" pitchFamily="18" charset="0"/>
                      </a:rPr>
                      <m:t>𝑛</m:t>
                    </m:r>
                    <m:r>
                      <a:rPr lang="en-US" altLang="zh-CN" sz="2400" i="1" baseline="-25000" dirty="0" smtClean="0">
                        <a:solidFill>
                          <a:srgbClr val="FF0000"/>
                        </a:solidFill>
                        <a:latin typeface="Cambria Math" panose="02040503050406030204" pitchFamily="18" charset="0"/>
                      </a:rPr>
                      <m:t>2</m:t>
                    </m:r>
                    <m:r>
                      <a:rPr lang="en-US" altLang="zh-CN" sz="2400" i="1" dirty="0" smtClean="0">
                        <a:solidFill>
                          <a:srgbClr val="FF0000"/>
                        </a:solidFill>
                        <a:latin typeface="Cambria Math" panose="02040503050406030204" pitchFamily="18" charset="0"/>
                      </a:rPr>
                      <m:t> … </m:t>
                    </m:r>
                    <m:sSub>
                      <m:sSubPr>
                        <m:ctrlPr>
                          <a:rPr lang="en-US" altLang="zh-CN" sz="2400" i="1" dirty="0" smtClean="0">
                            <a:solidFill>
                              <a:srgbClr val="FF0000"/>
                            </a:solidFill>
                            <a:latin typeface="Cambria Math" panose="02040503050406030204" pitchFamily="18" charset="0"/>
                          </a:rPr>
                        </m:ctrlPr>
                      </m:sSubPr>
                      <m:e>
                        <m:r>
                          <a:rPr lang="en-US" altLang="zh-CN" sz="2400" i="1" dirty="0" smtClean="0">
                            <a:solidFill>
                              <a:srgbClr val="FF0000"/>
                            </a:solidFill>
                            <a:latin typeface="Cambria Math" panose="02040503050406030204" pitchFamily="18" charset="0"/>
                          </a:rPr>
                          <m:t>𝑛</m:t>
                        </m:r>
                      </m:e>
                      <m:sub>
                        <m:r>
                          <a:rPr lang="en-US" altLang="zh-CN" sz="2400" b="0" i="1" dirty="0" smtClean="0">
                            <a:solidFill>
                              <a:srgbClr val="FF0000"/>
                            </a:solidFill>
                            <a:latin typeface="Cambria Math" panose="02040503050406030204" pitchFamily="18" charset="0"/>
                          </a:rPr>
                          <m:t>𝑚</m:t>
                        </m:r>
                      </m:sub>
                    </m:sSub>
                  </m:oMath>
                </a14:m>
                <a:r>
                  <a:rPr lang="en-US" altLang="zh-CN" sz="2400" i="1" baseline="-25000" dirty="0"/>
                  <a:t> </a:t>
                </a:r>
                <a:r>
                  <a:rPr lang="en-US" altLang="zh-CN" sz="2400" dirty="0"/>
                  <a:t>ways to carry out the procedure.</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533400" y="1600200"/>
                <a:ext cx="7772400" cy="4495800"/>
              </a:xfrm>
              <a:blipFill>
                <a:blip r:embed="rId2"/>
                <a:stretch>
                  <a:fillRect l="-1098" t="-950" r="-1333"/>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5EC735E3-5B29-4F54-8FB9-022B0DB6C884}"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tx1"/>
                </a:solidFill>
              </a:rPr>
              <a:t>Examples</a:t>
            </a:r>
            <a:endParaRPr lang="zh-CN" altLang="en-US" dirty="0">
              <a:solidFill>
                <a:schemeClr val="tx1"/>
              </a:solidFill>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76200" y="1030539"/>
                <a:ext cx="8839200" cy="5257800"/>
              </a:xfrm>
            </p:spPr>
            <p:txBody>
              <a:bodyPr/>
              <a:lstStyle/>
              <a:p>
                <a:r>
                  <a:rPr lang="en-US" altLang="zh-CN" sz="2000" b="1" dirty="0">
                    <a:solidFill>
                      <a:srgbClr val="0000FF"/>
                    </a:solidFill>
                  </a:rPr>
                  <a:t>Example</a:t>
                </a:r>
                <a:br>
                  <a:rPr lang="en-US" altLang="zh-CN" sz="2000" b="1" dirty="0">
                    <a:solidFill>
                      <a:srgbClr val="0000FF"/>
                    </a:solidFill>
                  </a:rPr>
                </a:br>
                <a:r>
                  <a:rPr lang="en-US" altLang="zh-CN" sz="2000" dirty="0"/>
                  <a:t>Ten chairs are numbered from 1 to 10. How many ways are there to assign different chairs to Joseph and Mary?</a:t>
                </a:r>
                <a:endParaRPr lang="en-US" altLang="zh-CN" sz="2000" b="1" dirty="0">
                  <a:solidFill>
                    <a:srgbClr val="0000FF"/>
                  </a:solidFill>
                </a:endParaRPr>
              </a:p>
              <a:p>
                <a:r>
                  <a:rPr lang="en-US" altLang="zh-CN" sz="2000" b="1" dirty="0">
                    <a:solidFill>
                      <a:srgbClr val="0000FF"/>
                    </a:solidFill>
                  </a:rPr>
                  <a:t>Solution</a:t>
                </a:r>
                <a:br>
                  <a:rPr lang="en-US" altLang="zh-CN" sz="2000" b="1" dirty="0">
                    <a:solidFill>
                      <a:srgbClr val="0000FF"/>
                    </a:solidFill>
                  </a:rPr>
                </a:br>
                <a:r>
                  <a:rPr lang="en-US" altLang="zh-CN" sz="2000" dirty="0">
                    <a:solidFill>
                      <a:srgbClr val="000000"/>
                    </a:solidFill>
                  </a:rPr>
                  <a:t>2 Tasks: 1. Assign chair to Joseph. 2 Assign chair to Mary.</a:t>
                </a:r>
              </a:p>
              <a:p>
                <a:r>
                  <a:rPr lang="en-US" altLang="zh-CN" sz="2000" dirty="0">
                    <a:solidFill>
                      <a:srgbClr val="000000"/>
                    </a:solidFill>
                  </a:rPr>
                  <a:t>There are 10 ways to assign a chair to Joseph and 9 ways to assign a chair to Mary. By the product rule, there are </a:t>
                </a:r>
                <a14:m>
                  <m:oMath xmlns:m="http://schemas.openxmlformats.org/officeDocument/2006/math">
                    <m:r>
                      <a:rPr lang="en-US" altLang="zh-CN" sz="2000" i="1" dirty="0" smtClean="0">
                        <a:solidFill>
                          <a:srgbClr val="000000"/>
                        </a:solidFill>
                        <a:latin typeface="Cambria Math" panose="02040503050406030204" pitchFamily="18" charset="0"/>
                      </a:rPr>
                      <m:t>10</m:t>
                    </m:r>
                    <m:r>
                      <a:rPr lang="en-US" altLang="zh-CN" sz="2000" b="0" i="1" dirty="0" smtClean="0">
                        <a:solidFill>
                          <a:srgbClr val="000000"/>
                        </a:solidFill>
                        <a:latin typeface="Cambria Math" panose="02040503050406030204" pitchFamily="18" charset="0"/>
                      </a:rPr>
                      <m:t>×</m:t>
                    </m:r>
                    <m:r>
                      <a:rPr lang="en-US" altLang="zh-CN" sz="2000" i="1" dirty="0" smtClean="0">
                        <a:solidFill>
                          <a:srgbClr val="000000"/>
                        </a:solidFill>
                        <a:latin typeface="Cambria Math" panose="02040503050406030204" pitchFamily="18" charset="0"/>
                      </a:rPr>
                      <m:t>9=90</m:t>
                    </m:r>
                  </m:oMath>
                </a14:m>
                <a:r>
                  <a:rPr lang="en-US" altLang="zh-CN" sz="2000" dirty="0">
                    <a:solidFill>
                      <a:srgbClr val="000000"/>
                    </a:solidFill>
                  </a:rPr>
                  <a:t> ways. </a:t>
                </a:r>
              </a:p>
              <a:p>
                <a:r>
                  <a:rPr lang="en-US" altLang="zh-CN" sz="2000" dirty="0">
                    <a:solidFill>
                      <a:srgbClr val="000000"/>
                    </a:solidFill>
                  </a:rPr>
                  <a:t>Does the order matter?</a:t>
                </a:r>
              </a:p>
              <a:p>
                <a:r>
                  <a:rPr lang="en-US" altLang="zh-CN" sz="2000" dirty="0">
                    <a:solidFill>
                      <a:srgbClr val="000000"/>
                    </a:solidFill>
                  </a:rPr>
                  <a:t>Yes. This is a </a:t>
                </a:r>
                <a:r>
                  <a:rPr lang="en-US" altLang="zh-CN" sz="2000" i="1" dirty="0">
                    <a:solidFill>
                      <a:srgbClr val="000000"/>
                    </a:solidFill>
                  </a:rPr>
                  <a:t>permutation</a:t>
                </a:r>
                <a:r>
                  <a:rPr lang="en-US" altLang="zh-CN" sz="2000" dirty="0">
                    <a:solidFill>
                      <a:srgbClr val="000000"/>
                    </a:solidFill>
                  </a:rPr>
                  <a:t> (to be discussed in different lecture). There are 45 ways to select 2 out of 10 chairs </a:t>
                </a:r>
                <a:r>
                  <a:rPr lang="en-US" altLang="zh-CN" sz="2000" dirty="0"/>
                  <a:t>if order does not matter (</a:t>
                </a:r>
                <a:r>
                  <a:rPr lang="en-US" altLang="zh-CN" sz="2000" i="1" dirty="0"/>
                  <a:t>combination</a:t>
                </a:r>
                <a:r>
                  <a:rPr lang="en-US" altLang="zh-CN" sz="2000" dirty="0"/>
                  <a:t>).</a:t>
                </a:r>
                <a:endParaRPr lang="en-US" altLang="zh-CN" sz="2000" dirty="0">
                  <a:solidFill>
                    <a:srgbClr val="000000"/>
                  </a:solidFill>
                </a:endParaRPr>
              </a:p>
              <a:p>
                <a:r>
                  <a:rPr lang="en-US" altLang="zh-CN" sz="2000" b="1" dirty="0">
                    <a:solidFill>
                      <a:srgbClr val="0000FF"/>
                    </a:solidFill>
                  </a:rPr>
                  <a:t>Example</a:t>
                </a:r>
                <a:br>
                  <a:rPr lang="en-US" altLang="zh-CN" sz="2000" b="1" dirty="0">
                    <a:solidFill>
                      <a:srgbClr val="0000FF"/>
                    </a:solidFill>
                  </a:rPr>
                </a:br>
                <a:r>
                  <a:rPr lang="en-US" altLang="zh-CN" sz="2000" dirty="0"/>
                  <a:t>How many ways are there to assign 4 different chairs to 4 people?</a:t>
                </a:r>
                <a:endParaRPr lang="en-US" altLang="zh-CN" sz="2000" b="1" dirty="0">
                  <a:solidFill>
                    <a:srgbClr val="0000FF"/>
                  </a:solidFill>
                </a:endParaRPr>
              </a:p>
              <a:p>
                <a:r>
                  <a:rPr lang="en-US" altLang="zh-CN" sz="2000" b="1" dirty="0">
                    <a:solidFill>
                      <a:srgbClr val="0000FF"/>
                    </a:solidFill>
                  </a:rPr>
                  <a:t>Solution</a:t>
                </a:r>
                <a:br>
                  <a:rPr lang="en-US" altLang="zh-CN" sz="2000" b="1" dirty="0">
                    <a:solidFill>
                      <a:srgbClr val="0000FF"/>
                    </a:solidFill>
                  </a:rPr>
                </a:br>
                <a:r>
                  <a:rPr lang="en-US" altLang="zh-CN" sz="2000" dirty="0"/>
                  <a:t>4 Tasks</a:t>
                </a:r>
              </a:p>
              <a:p>
                <a:r>
                  <a:rPr lang="en-US" altLang="zh-CN" sz="2000" dirty="0">
                    <a:solidFill>
                      <a:srgbClr val="000000"/>
                    </a:solidFill>
                  </a:rPr>
                  <a:t>4</a:t>
                </a:r>
                <a:r>
                  <a:rPr lang="en-US" altLang="zh-CN" sz="2000" dirty="0">
                    <a:solidFill>
                      <a:srgbClr val="000000"/>
                    </a:solidFill>
                    <a:sym typeface="Symbol" panose="05050102010706020507" pitchFamily="18" charset="2"/>
                  </a:rPr>
                  <a:t></a:t>
                </a:r>
                <a:r>
                  <a:rPr lang="en-US" altLang="zh-CN" sz="2000" dirty="0">
                    <a:solidFill>
                      <a:srgbClr val="000000"/>
                    </a:solidFill>
                  </a:rPr>
                  <a:t>3</a:t>
                </a:r>
                <a:r>
                  <a:rPr lang="en-US" altLang="zh-CN" sz="2000" dirty="0">
                    <a:solidFill>
                      <a:srgbClr val="000000"/>
                    </a:solidFill>
                    <a:sym typeface="Symbol" panose="05050102010706020507" pitchFamily="18" charset="2"/>
                  </a:rPr>
                  <a:t></a:t>
                </a:r>
                <a:r>
                  <a:rPr lang="en-US" altLang="zh-CN" sz="2000" dirty="0">
                    <a:solidFill>
                      <a:srgbClr val="000000"/>
                    </a:solidFill>
                  </a:rPr>
                  <a:t>2</a:t>
                </a:r>
                <a:r>
                  <a:rPr lang="en-US" altLang="zh-CN" sz="2000" dirty="0">
                    <a:solidFill>
                      <a:srgbClr val="000000"/>
                    </a:solidFill>
                    <a:sym typeface="Symbol" panose="05050102010706020507" pitchFamily="18" charset="2"/>
                  </a:rPr>
                  <a:t></a:t>
                </a:r>
                <a:r>
                  <a:rPr lang="en-US" altLang="zh-CN" sz="2000" dirty="0">
                    <a:solidFill>
                      <a:srgbClr val="000000"/>
                    </a:solidFill>
                  </a:rPr>
                  <a:t>1 = 4! = 24 (all different orders/permutations)</a:t>
                </a:r>
              </a:p>
              <a:p>
                <a:endParaRPr lang="en-US" altLang="zh-CN" dirty="0">
                  <a:solidFill>
                    <a:srgbClr val="000000"/>
                  </a:solidFill>
                </a:endParaRPr>
              </a:p>
              <a:p>
                <a:endParaRPr lang="en-US" altLang="zh-CN" sz="2000" dirty="0"/>
              </a:p>
              <a:p>
                <a:pPr algn="just">
                  <a:buNone/>
                </a:pPr>
                <a:endParaRPr lang="en-US" altLang="zh-CN" sz="2000" dirty="0"/>
              </a:p>
              <a:p>
                <a:pPr algn="just">
                  <a:buNone/>
                </a:pPr>
                <a:endParaRPr lang="en-US" altLang="zh-CN" sz="2000" dirty="0">
                  <a:solidFill>
                    <a:srgbClr val="0000FF"/>
                  </a:solidFill>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76200" y="1030539"/>
                <a:ext cx="8839200" cy="5257800"/>
              </a:xfrm>
              <a:blipFill>
                <a:blip r:embed="rId2"/>
                <a:stretch>
                  <a:fillRect l="-717" t="-723" r="-861" b="-4578"/>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5EC735E3-5B29-4F54-8FB9-022B0DB6C884}" type="slidenum">
              <a:rPr lang="en-US" smtClean="0"/>
              <a:pPr/>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solidFill>
                  <a:schemeClr val="tx1"/>
                </a:solidFill>
              </a:rPr>
              <a:t>Example</a:t>
            </a:r>
            <a:endParaRPr lang="en-US" dirty="0">
              <a:solidFill>
                <a:schemeClr val="tx1"/>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altLang="zh-CN" sz="2400" b="1" dirty="0">
                    <a:solidFill>
                      <a:srgbClr val="0000FF"/>
                    </a:solidFill>
                  </a:rPr>
                  <a:t>Example</a:t>
                </a:r>
              </a:p>
              <a:p>
                <a:pPr marL="0" indent="0">
                  <a:buNone/>
                </a:pPr>
                <a:r>
                  <a:rPr lang="en-US" altLang="zh-CN" sz="2400" dirty="0"/>
                  <a:t>Let </a:t>
                </a:r>
                <a14:m>
                  <m:oMath xmlns:m="http://schemas.openxmlformats.org/officeDocument/2006/math">
                    <m:r>
                      <a:rPr lang="en-US" altLang="zh-CN" sz="2400" i="1" dirty="0" smtClean="0">
                        <a:latin typeface="Cambria Math" panose="02040503050406030204" pitchFamily="18" charset="0"/>
                      </a:rPr>
                      <m:t>𝑈</m:t>
                    </m:r>
                  </m:oMath>
                </a14:m>
                <a:r>
                  <a:rPr lang="en-US" altLang="zh-CN" sz="2400" dirty="0"/>
                  <a:t> and </a:t>
                </a:r>
                <a14:m>
                  <m:oMath xmlns:m="http://schemas.openxmlformats.org/officeDocument/2006/math">
                    <m:r>
                      <a:rPr lang="en-US" altLang="zh-CN" sz="2400" i="1" dirty="0" smtClean="0">
                        <a:latin typeface="Cambria Math" panose="02040503050406030204" pitchFamily="18" charset="0"/>
                      </a:rPr>
                      <m:t>𝑉</m:t>
                    </m:r>
                  </m:oMath>
                </a14:m>
                <a:r>
                  <a:rPr lang="en-US" altLang="zh-CN" sz="2400" dirty="0"/>
                  <a:t> be two finite sets </a:t>
                </a:r>
                <a14:m>
                  <m:oMath xmlns:m="http://schemas.openxmlformats.org/officeDocument/2006/math">
                    <m:r>
                      <a:rPr lang="en-US" sz="2400" i="1" dirty="0" smtClean="0">
                        <a:latin typeface="Cambria Math" panose="02040503050406030204" pitchFamily="18" charset="0"/>
                      </a:rPr>
                      <m:t>𝑈</m:t>
                    </m:r>
                    <m:r>
                      <a:rPr lang="en-US" sz="2400" i="1" dirty="0" smtClean="0">
                        <a:latin typeface="Cambria Math" panose="02040503050406030204" pitchFamily="18" charset="0"/>
                      </a:rPr>
                      <m:t>={1, 2, 3}, </m:t>
                    </m:r>
                    <m:r>
                      <a:rPr lang="en-US" sz="2400" i="1" dirty="0" smtClean="0">
                        <a:latin typeface="Cambria Math" panose="02040503050406030204" pitchFamily="18" charset="0"/>
                      </a:rPr>
                      <m:t>𝑉</m:t>
                    </m:r>
                    <m:r>
                      <a:rPr lang="en-US" sz="2400" i="1" dirty="0" smtClean="0">
                        <a:latin typeface="Cambria Math" panose="02040503050406030204" pitchFamily="18" charset="0"/>
                      </a:rPr>
                      <m:t>={</m:t>
                    </m:r>
                    <m:r>
                      <a:rPr lang="en-US" sz="2400" i="1" dirty="0" smtClean="0">
                        <a:latin typeface="Cambria Math" panose="02040503050406030204" pitchFamily="18" charset="0"/>
                      </a:rPr>
                      <m:t>𝑎</m:t>
                    </m:r>
                    <m:r>
                      <a:rPr lang="en-US" sz="2400" i="1" dirty="0" smtClean="0">
                        <a:latin typeface="Cambria Math" panose="02040503050406030204" pitchFamily="18" charset="0"/>
                      </a:rPr>
                      <m:t>, </m:t>
                    </m:r>
                    <m:r>
                      <a:rPr lang="en-US" sz="2400" i="1" dirty="0" smtClean="0">
                        <a:latin typeface="Cambria Math" panose="02040503050406030204" pitchFamily="18" charset="0"/>
                      </a:rPr>
                      <m:t>𝑏</m:t>
                    </m:r>
                    <m:r>
                      <a:rPr lang="en-US" sz="2400" i="1" dirty="0" smtClean="0">
                        <a:latin typeface="Cambria Math" panose="02040503050406030204" pitchFamily="18" charset="0"/>
                      </a:rPr>
                      <m:t>}. </m:t>
                    </m:r>
                  </m:oMath>
                </a14:m>
                <a:r>
                  <a:rPr lang="en-US" altLang="zh-CN" sz="2400" dirty="0"/>
                  <a:t>How many different functions </a:t>
                </a:r>
                <a14:m>
                  <m:oMath xmlns:m="http://schemas.openxmlformats.org/officeDocument/2006/math">
                    <m:r>
                      <a:rPr lang="en-US" altLang="zh-CN" sz="2400" i="1" dirty="0" smtClean="0">
                        <a:latin typeface="Cambria Math" panose="02040503050406030204" pitchFamily="18" charset="0"/>
                      </a:rPr>
                      <m:t>𝑓</m:t>
                    </m:r>
                    <m:r>
                      <a:rPr lang="en-US" altLang="zh-CN" sz="2400" i="1" dirty="0" smtClean="0">
                        <a:latin typeface="Cambria Math" panose="02040503050406030204" pitchFamily="18" charset="0"/>
                      </a:rPr>
                      <m:t> :</m:t>
                    </m:r>
                    <m:r>
                      <a:rPr lang="en-US" altLang="zh-CN" sz="2400" i="1" dirty="0" smtClean="0">
                        <a:latin typeface="Cambria Math" panose="02040503050406030204" pitchFamily="18" charset="0"/>
                      </a:rPr>
                      <m:t>𝑈</m:t>
                    </m:r>
                    <m:r>
                      <a:rPr lang="zh-CN" altLang="en-US" sz="2400" i="1" dirty="0">
                        <a:latin typeface="Cambria Math" panose="02040503050406030204" pitchFamily="18" charset="0"/>
                      </a:rPr>
                      <m:t>→</m:t>
                    </m:r>
                    <m:r>
                      <a:rPr lang="en-US" altLang="zh-CN" sz="2400" i="1" dirty="0">
                        <a:latin typeface="Cambria Math" panose="02040503050406030204" pitchFamily="18" charset="0"/>
                      </a:rPr>
                      <m:t>𝑉</m:t>
                    </m:r>
                    <m:r>
                      <a:rPr lang="en-US" altLang="zh-CN" sz="2400" i="1" dirty="0">
                        <a:latin typeface="Cambria Math" panose="02040503050406030204" pitchFamily="18" charset="0"/>
                      </a:rPr>
                      <m:t> </m:t>
                    </m:r>
                  </m:oMath>
                </a14:m>
                <a:r>
                  <a:rPr lang="en-US" altLang="zh-CN" sz="2400" dirty="0"/>
                  <a:t>can be defined? </a:t>
                </a:r>
              </a:p>
              <a:p>
                <a:pPr>
                  <a:buFont typeface="Wingdings" panose="05000000000000000000" pitchFamily="2" charset="2"/>
                  <a:buChar char="§"/>
                </a:pPr>
                <a:endParaRPr lang="en-US" altLang="zh-CN" sz="2400" dirty="0">
                  <a:solidFill>
                    <a:srgbClr val="FF3300"/>
                  </a:solidFill>
                </a:endParaRPr>
              </a:p>
              <a:p>
                <a:pPr>
                  <a:buFont typeface="Wingdings" panose="05000000000000000000" pitchFamily="2" charset="2"/>
                  <a:buChar char="§"/>
                </a:pPr>
                <a:r>
                  <a:rPr lang="en-US" altLang="zh-CN" sz="2400" b="1" dirty="0">
                    <a:solidFill>
                      <a:srgbClr val="0000FF"/>
                    </a:solidFill>
                  </a:rPr>
                  <a:t>Solution</a:t>
                </a:r>
                <a:r>
                  <a:rPr lang="en-US" altLang="zh-CN" sz="2400" b="1" dirty="0"/>
                  <a:t>:</a:t>
                </a:r>
                <a:r>
                  <a:rPr lang="en-US" altLang="zh-CN" sz="2400" dirty="0"/>
                  <a:t> </a:t>
                </a:r>
                <a14:m>
                  <m:oMath xmlns:m="http://schemas.openxmlformats.org/officeDocument/2006/math">
                    <m:r>
                      <a:rPr lang="en-US" altLang="zh-CN" sz="2400" i="1" dirty="0" smtClean="0">
                        <a:latin typeface="Cambria Math" panose="02040503050406030204" pitchFamily="18" charset="0"/>
                      </a:rPr>
                      <m:t>2</m:t>
                    </m:r>
                    <m:r>
                      <a:rPr lang="en-US" altLang="zh-CN" sz="2400" i="1" baseline="30000" dirty="0" smtClean="0">
                        <a:latin typeface="Cambria Math" panose="02040503050406030204" pitchFamily="18" charset="0"/>
                      </a:rPr>
                      <m:t>3</m:t>
                    </m:r>
                    <m:r>
                      <a:rPr lang="en-US" altLang="zh-CN" sz="2400" i="1" dirty="0" smtClean="0">
                        <a:latin typeface="Cambria Math" panose="02040503050406030204" pitchFamily="18" charset="0"/>
                      </a:rPr>
                      <m:t>=</m:t>
                    </m:r>
                    <m:r>
                      <a:rPr lang="en-US" sz="2400" i="1" dirty="0" smtClean="0">
                        <a:latin typeface="Cambria Math" panose="02040503050406030204" pitchFamily="18" charset="0"/>
                      </a:rPr>
                      <m:t>8</m:t>
                    </m:r>
                  </m:oMath>
                </a14:m>
                <a:r>
                  <a:rPr lang="en-US" sz="2400" dirty="0"/>
                  <a:t> possible functions.</a:t>
                </a: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123" t="-1050"/>
                </a:stretch>
              </a:blipFill>
            </p:spPr>
            <p:txBody>
              <a:bodyPr/>
              <a:lstStyle/>
              <a:p>
                <a:r>
                  <a:rPr lang="en-US">
                    <a:noFill/>
                  </a:rPr>
                  <a:t> </a:t>
                </a:r>
              </a:p>
            </p:txBody>
          </p:sp>
        </mc:Fallback>
      </mc:AlternateContent>
      <p:graphicFrame>
        <p:nvGraphicFramePr>
          <p:cNvPr id="14" name="Table 13"/>
          <p:cNvGraphicFramePr>
            <a:graphicFrameLocks noGrp="1"/>
          </p:cNvGraphicFramePr>
          <p:nvPr>
            <p:extLst>
              <p:ext uri="{D42A27DB-BD31-4B8C-83A1-F6EECF244321}">
                <p14:modId xmlns:p14="http://schemas.microsoft.com/office/powerpoint/2010/main" val="306739815"/>
              </p:ext>
            </p:extLst>
          </p:nvPr>
        </p:nvGraphicFramePr>
        <p:xfrm>
          <a:off x="2514600" y="3962400"/>
          <a:ext cx="2743200" cy="2524125"/>
        </p:xfrm>
        <a:graphic>
          <a:graphicData uri="http://schemas.openxmlformats.org/drawingml/2006/table">
            <a:tbl>
              <a:tblPr>
                <a:tableStyleId>{5C22544A-7EE6-4342-B048-85BDC9FD1C3A}</a:tableStyleId>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233915">
                <a:tc>
                  <a:txBody>
                    <a:body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f(1)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f(2)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f(3)</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0"/>
                  </a:ext>
                </a:extLst>
              </a:tr>
              <a:tr h="222776">
                <a:tc>
                  <a:txBody>
                    <a:bodyPr/>
                    <a:lstStyle/>
                    <a:p>
                      <a:pPr algn="l" fontAlgn="b"/>
                      <a:r>
                        <a:rPr lang="en-US" sz="1800" u="none" strike="noStrike" dirty="0">
                          <a:effectLst/>
                        </a:rPr>
                        <a:t>f</a:t>
                      </a:r>
                      <a:r>
                        <a:rPr lang="en-US" sz="1800" u="none" strike="noStrike" baseline="-25000" dirty="0">
                          <a:effectLst/>
                        </a:rPr>
                        <a:t>1</a:t>
                      </a:r>
                      <a:endParaRPr lang="en-US" sz="1800" b="0" i="0" u="none" strike="noStrike" baseline="-25000"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800" u="none" strike="noStrike" dirty="0">
                          <a:effectLst/>
                        </a:rPr>
                        <a:t>a</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800" u="none" strike="noStrike">
                          <a:effectLst/>
                        </a:rPr>
                        <a:t>a</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800" u="none" strike="noStrike" dirty="0">
                          <a:effectLst/>
                        </a:rPr>
                        <a:t>a</a:t>
                      </a:r>
                      <a:endParaRPr lang="en-US"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1"/>
                  </a:ext>
                </a:extLst>
              </a:tr>
              <a:tr h="222776">
                <a:tc>
                  <a:txBody>
                    <a:bodyPr/>
                    <a:lstStyle/>
                    <a:p>
                      <a:pPr algn="l" fontAlgn="b"/>
                      <a:r>
                        <a:rPr lang="en-US" sz="1800" u="none" strike="noStrike" dirty="0">
                          <a:effectLst/>
                        </a:rPr>
                        <a:t>f</a:t>
                      </a:r>
                      <a:r>
                        <a:rPr lang="en-US" sz="1800" u="none" strike="noStrike" baseline="-25000" dirty="0">
                          <a:effectLst/>
                        </a:rPr>
                        <a:t>2</a:t>
                      </a:r>
                      <a:endParaRPr lang="en-US" sz="1800" b="0" i="0" u="none" strike="noStrike" baseline="-25000"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800" u="none" strike="noStrike" dirty="0">
                          <a:effectLst/>
                        </a:rPr>
                        <a:t>a</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800" u="none" strike="noStrike">
                          <a:effectLst/>
                        </a:rPr>
                        <a:t>a</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800" u="none" strike="noStrike" dirty="0">
                          <a:effectLst/>
                        </a:rPr>
                        <a:t>b</a:t>
                      </a:r>
                      <a:endParaRPr lang="en-US"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2"/>
                  </a:ext>
                </a:extLst>
              </a:tr>
              <a:tr h="222776">
                <a:tc>
                  <a:txBody>
                    <a:bodyPr/>
                    <a:lstStyle/>
                    <a:p>
                      <a:pPr algn="l" fontAlgn="b"/>
                      <a:r>
                        <a:rPr lang="en-US" sz="1800" u="none" strike="noStrike" dirty="0">
                          <a:effectLst/>
                        </a:rPr>
                        <a:t>f</a:t>
                      </a:r>
                      <a:r>
                        <a:rPr lang="en-US" sz="1800" u="none" strike="noStrike" baseline="-25000" dirty="0">
                          <a:effectLst/>
                        </a:rPr>
                        <a:t>3</a:t>
                      </a:r>
                      <a:endParaRPr lang="en-US" sz="1800" b="0" i="0" u="none" strike="noStrike" baseline="-25000"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800" u="none" strike="noStrike">
                          <a:effectLst/>
                        </a:rPr>
                        <a:t>a</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800" u="none" strike="noStrike">
                          <a:effectLst/>
                        </a:rPr>
                        <a:t>b</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800" u="none" strike="noStrike" dirty="0">
                          <a:effectLst/>
                        </a:rPr>
                        <a:t>a</a:t>
                      </a:r>
                      <a:endParaRPr lang="en-US"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3"/>
                  </a:ext>
                </a:extLst>
              </a:tr>
              <a:tr h="222776">
                <a:tc>
                  <a:txBody>
                    <a:bodyPr/>
                    <a:lstStyle/>
                    <a:p>
                      <a:pPr algn="l" fontAlgn="b"/>
                      <a:r>
                        <a:rPr lang="en-US" sz="1800" u="none" strike="noStrike" dirty="0">
                          <a:effectLst/>
                        </a:rPr>
                        <a:t>f</a:t>
                      </a:r>
                      <a:r>
                        <a:rPr lang="en-US" sz="1800" u="none" strike="noStrike" baseline="-25000" dirty="0">
                          <a:effectLst/>
                        </a:rPr>
                        <a:t>4</a:t>
                      </a:r>
                      <a:endParaRPr lang="en-US" sz="1800" b="0" i="0" u="none" strike="noStrike" baseline="-25000"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800" u="none" strike="noStrike">
                          <a:effectLst/>
                        </a:rPr>
                        <a:t>a</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800" u="none" strike="noStrike">
                          <a:effectLst/>
                        </a:rPr>
                        <a:t>b</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800" u="none" strike="noStrike" dirty="0">
                          <a:effectLst/>
                        </a:rPr>
                        <a:t>b</a:t>
                      </a:r>
                      <a:endParaRPr lang="en-US"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4"/>
                  </a:ext>
                </a:extLst>
              </a:tr>
              <a:tr h="222776">
                <a:tc>
                  <a:txBody>
                    <a:bodyPr/>
                    <a:lstStyle/>
                    <a:p>
                      <a:pPr algn="l" fontAlgn="b"/>
                      <a:r>
                        <a:rPr lang="en-US" sz="1800" u="none" strike="noStrike" dirty="0">
                          <a:effectLst/>
                        </a:rPr>
                        <a:t>f</a:t>
                      </a:r>
                      <a:r>
                        <a:rPr lang="en-US" sz="1800" u="none" strike="noStrike" baseline="-25000" dirty="0">
                          <a:effectLst/>
                        </a:rPr>
                        <a:t>5</a:t>
                      </a:r>
                      <a:endParaRPr lang="en-US" sz="1800" b="0" i="0" u="none" strike="noStrike" baseline="-25000"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800" u="none" strike="noStrike">
                          <a:effectLst/>
                        </a:rPr>
                        <a:t>b</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800" u="none" strike="noStrike">
                          <a:effectLst/>
                        </a:rPr>
                        <a:t>a</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800" u="none" strike="noStrike" dirty="0">
                          <a:effectLst/>
                        </a:rPr>
                        <a:t>a</a:t>
                      </a:r>
                      <a:endParaRPr lang="en-US"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5"/>
                  </a:ext>
                </a:extLst>
              </a:tr>
              <a:tr h="222776">
                <a:tc>
                  <a:txBody>
                    <a:bodyPr/>
                    <a:lstStyle/>
                    <a:p>
                      <a:pPr algn="l" fontAlgn="b"/>
                      <a:r>
                        <a:rPr lang="en-US" sz="1800" u="none" strike="noStrike" dirty="0">
                          <a:effectLst/>
                        </a:rPr>
                        <a:t>f</a:t>
                      </a:r>
                      <a:r>
                        <a:rPr lang="en-US" sz="1800" u="none" strike="noStrike" baseline="-25000" dirty="0">
                          <a:effectLst/>
                        </a:rPr>
                        <a:t>6</a:t>
                      </a:r>
                      <a:endParaRPr lang="en-US" sz="1800" b="0" i="0" u="none" strike="noStrike" baseline="-25000"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800" u="none" strike="noStrike">
                          <a:effectLst/>
                        </a:rPr>
                        <a:t>b</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800" u="none" strike="noStrike">
                          <a:effectLst/>
                        </a:rPr>
                        <a:t>a</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800" u="none" strike="noStrike" dirty="0">
                          <a:effectLst/>
                        </a:rPr>
                        <a:t>b</a:t>
                      </a:r>
                      <a:endParaRPr lang="en-US"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6"/>
                  </a:ext>
                </a:extLst>
              </a:tr>
              <a:tr h="222776">
                <a:tc>
                  <a:txBody>
                    <a:bodyPr/>
                    <a:lstStyle/>
                    <a:p>
                      <a:pPr algn="l" fontAlgn="b"/>
                      <a:r>
                        <a:rPr lang="en-US" sz="1800" u="none" strike="noStrike" dirty="0">
                          <a:effectLst/>
                        </a:rPr>
                        <a:t>f</a:t>
                      </a:r>
                      <a:r>
                        <a:rPr lang="en-US" sz="1800" u="none" strike="noStrike" baseline="-25000" dirty="0">
                          <a:effectLst/>
                        </a:rPr>
                        <a:t>7</a:t>
                      </a:r>
                      <a:endParaRPr lang="en-US" sz="1800" b="0" i="0" u="none" strike="noStrike" baseline="-25000"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800" u="none" strike="noStrike">
                          <a:effectLst/>
                        </a:rPr>
                        <a:t>b</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800" u="none" strike="noStrike">
                          <a:effectLst/>
                        </a:rPr>
                        <a:t>b</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800" u="none" strike="noStrike" dirty="0">
                          <a:effectLst/>
                        </a:rPr>
                        <a:t>a</a:t>
                      </a:r>
                      <a:endParaRPr lang="en-US"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7"/>
                  </a:ext>
                </a:extLst>
              </a:tr>
              <a:tr h="222776">
                <a:tc>
                  <a:txBody>
                    <a:bodyPr/>
                    <a:lstStyle/>
                    <a:p>
                      <a:pPr algn="l" fontAlgn="b"/>
                      <a:r>
                        <a:rPr lang="en-US" sz="1800" u="none" strike="noStrike" dirty="0">
                          <a:effectLst/>
                        </a:rPr>
                        <a:t>f</a:t>
                      </a:r>
                      <a:r>
                        <a:rPr lang="en-US" sz="1800" u="none" strike="noStrike" baseline="-25000" dirty="0">
                          <a:effectLst/>
                        </a:rPr>
                        <a:t>8</a:t>
                      </a:r>
                      <a:endParaRPr lang="en-US" sz="1800" b="0" i="0" u="none" strike="noStrike" baseline="-25000"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800" u="none" strike="noStrike">
                          <a:effectLst/>
                        </a:rPr>
                        <a:t>b</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800" u="none" strike="noStrike">
                          <a:effectLst/>
                        </a:rPr>
                        <a:t>b</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800" u="none" strike="noStrike" dirty="0">
                          <a:effectLst/>
                        </a:rPr>
                        <a:t>b</a:t>
                      </a:r>
                      <a:endParaRPr lang="en-US"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8"/>
                  </a:ext>
                </a:extLst>
              </a:tr>
            </a:tbl>
          </a:graphicData>
        </a:graphic>
      </p:graphicFrame>
      <p:cxnSp>
        <p:nvCxnSpPr>
          <p:cNvPr id="16" name="Straight Connector 15"/>
          <p:cNvCxnSpPr/>
          <p:nvPr/>
        </p:nvCxnSpPr>
        <p:spPr bwMode="auto">
          <a:xfrm>
            <a:off x="2514600" y="4220045"/>
            <a:ext cx="27432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4" name="Slide Number Placeholder 3"/>
          <p:cNvSpPr>
            <a:spLocks noGrp="1"/>
          </p:cNvSpPr>
          <p:nvPr>
            <p:ph type="sldNum" sz="quarter" idx="12"/>
          </p:nvPr>
        </p:nvSpPr>
        <p:spPr/>
        <p:txBody>
          <a:bodyPr/>
          <a:lstStyle/>
          <a:p>
            <a:fld id="{5EC735E3-5B29-4F54-8FB9-022B0DB6C884}" type="slidenum">
              <a:rPr lang="en-US" smtClean="0"/>
              <a:pPr/>
              <a:t>5</a:t>
            </a:fld>
            <a:endParaRPr lang="en-US"/>
          </a:p>
        </p:txBody>
      </p:sp>
    </p:spTree>
    <p:extLst>
      <p:ext uri="{BB962C8B-B14F-4D97-AF65-F5344CB8AC3E}">
        <p14:creationId xmlns:p14="http://schemas.microsoft.com/office/powerpoint/2010/main" val="2811561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solidFill>
                  <a:srgbClr val="0000FF"/>
                </a:solidFill>
              </a:rPr>
              <a:t>Exercise</a:t>
            </a:r>
            <a:r>
              <a:rPr lang="en-US" altLang="zh-CN" dirty="0">
                <a:solidFill>
                  <a:schemeClr val="tx1"/>
                </a:solidFill>
              </a:rPr>
              <a:t> on Functions</a:t>
            </a:r>
            <a:endParaRPr lang="en-US" dirty="0">
              <a:solidFill>
                <a:schemeClr val="tx1"/>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1000" y="1600200"/>
                <a:ext cx="8382000" cy="4648200"/>
              </a:xfrm>
            </p:spPr>
            <p:txBody>
              <a:bodyPr/>
              <a:lstStyle/>
              <a:p>
                <a:r>
                  <a:rPr lang="en-US" altLang="zh-CN" sz="2400" dirty="0"/>
                  <a:t>Let </a:t>
                </a:r>
                <a14:m>
                  <m:oMath xmlns:m="http://schemas.openxmlformats.org/officeDocument/2006/math">
                    <m:r>
                      <a:rPr lang="en-US" altLang="zh-CN" sz="2400" i="1" dirty="0" smtClean="0">
                        <a:latin typeface="Cambria Math" panose="02040503050406030204" pitchFamily="18" charset="0"/>
                      </a:rPr>
                      <m:t>𝑈</m:t>
                    </m:r>
                  </m:oMath>
                </a14:m>
                <a:r>
                  <a:rPr lang="en-US" altLang="zh-CN" sz="2400" dirty="0"/>
                  <a:t> and </a:t>
                </a:r>
                <a14:m>
                  <m:oMath xmlns:m="http://schemas.openxmlformats.org/officeDocument/2006/math">
                    <m:r>
                      <a:rPr lang="en-US" altLang="zh-CN" sz="2400" i="1" dirty="0" smtClean="0">
                        <a:latin typeface="Cambria Math" panose="02040503050406030204" pitchFamily="18" charset="0"/>
                      </a:rPr>
                      <m:t>𝑉</m:t>
                    </m:r>
                  </m:oMath>
                </a14:m>
                <a:r>
                  <a:rPr lang="en-US" altLang="zh-CN" sz="2400" dirty="0"/>
                  <a:t> be two finite sets consisting of </a:t>
                </a:r>
                <a14:m>
                  <m:oMath xmlns:m="http://schemas.openxmlformats.org/officeDocument/2006/math">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𝑈</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𝑚</m:t>
                    </m:r>
                    <m:r>
                      <a:rPr lang="en-US" altLang="zh-CN" sz="2400" i="1" dirty="0" smtClean="0">
                        <a:latin typeface="Cambria Math" panose="02040503050406030204" pitchFamily="18" charset="0"/>
                      </a:rPr>
                      <m:t>&gt;0</m:t>
                    </m:r>
                  </m:oMath>
                </a14:m>
                <a:r>
                  <a:rPr lang="en-US" altLang="zh-CN" sz="2400" dirty="0"/>
                  <a:t> and </a:t>
                </a:r>
                <a14:m>
                  <m:oMath xmlns:m="http://schemas.openxmlformats.org/officeDocument/2006/math">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𝑉</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𝑛</m:t>
                    </m:r>
                    <m:r>
                      <a:rPr lang="en-US" altLang="zh-CN" sz="2400" i="1" dirty="0" smtClean="0">
                        <a:latin typeface="Cambria Math" panose="02040503050406030204" pitchFamily="18" charset="0"/>
                      </a:rPr>
                      <m:t>&gt;0</m:t>
                    </m:r>
                  </m:oMath>
                </a14:m>
                <a:r>
                  <a:rPr lang="en-US" altLang="zh-CN" sz="2400" dirty="0"/>
                  <a:t> elements, respectively. How many different functions </a:t>
                </a:r>
                <a14:m>
                  <m:oMath xmlns:m="http://schemas.openxmlformats.org/officeDocument/2006/math">
                    <m:r>
                      <a:rPr lang="en-US" altLang="zh-CN" sz="2400" i="1" dirty="0" smtClean="0">
                        <a:latin typeface="Cambria Math" panose="02040503050406030204" pitchFamily="18" charset="0"/>
                      </a:rPr>
                      <m:t>𝑓</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𝑈</m:t>
                    </m:r>
                    <m:r>
                      <a:rPr lang="zh-CN" altLang="en-US" sz="2400" i="1" dirty="0" smtClean="0">
                        <a:latin typeface="Cambria Math" panose="02040503050406030204" pitchFamily="18" charset="0"/>
                      </a:rPr>
                      <m:t>→</m:t>
                    </m:r>
                    <m:r>
                      <a:rPr lang="en-US" altLang="zh-CN" sz="2400" i="1" dirty="0" smtClean="0">
                        <a:latin typeface="Cambria Math" panose="02040503050406030204" pitchFamily="18" charset="0"/>
                      </a:rPr>
                      <m:t>𝑉</m:t>
                    </m:r>
                  </m:oMath>
                </a14:m>
                <a:r>
                  <a:rPr lang="en-US" altLang="zh-CN" sz="2400" dirty="0"/>
                  <a:t> can be defined? </a:t>
                </a:r>
              </a:p>
              <a:p>
                <a:pPr>
                  <a:buFont typeface="Wingdings" panose="05000000000000000000" pitchFamily="2" charset="2"/>
                  <a:buChar char="§"/>
                </a:pPr>
                <a:r>
                  <a:rPr lang="en-US" altLang="zh-CN" sz="2400" dirty="0"/>
                  <a:t>We can think of each task as mapping a single element of </a:t>
                </a:r>
                <a:r>
                  <a:rPr lang="en-US" altLang="zh-CN" sz="2400" i="1" dirty="0"/>
                  <a:t>U</a:t>
                </a:r>
                <a:r>
                  <a:rPr lang="en-US" altLang="zh-CN" sz="2400" dirty="0"/>
                  <a:t> to an element of </a:t>
                </a:r>
                <a:r>
                  <a:rPr lang="en-US" altLang="zh-CN" sz="2400" i="1" dirty="0"/>
                  <a:t>V</a:t>
                </a:r>
                <a:r>
                  <a:rPr lang="en-US" altLang="zh-CN" dirty="0"/>
                  <a:t>. </a:t>
                </a:r>
              </a:p>
              <a:p>
                <a:pPr>
                  <a:buFont typeface="Wingdings" panose="05000000000000000000" pitchFamily="2" charset="2"/>
                  <a:buChar char="§"/>
                </a:pPr>
                <a:r>
                  <a:rPr lang="en-US" altLang="zh-CN" sz="2400" dirty="0"/>
                  <a:t>The number of tasks is </a:t>
                </a:r>
                <a:r>
                  <a:rPr lang="en-US" altLang="zh-CN" sz="2400" i="1" dirty="0"/>
                  <a:t>m</a:t>
                </a:r>
                <a:r>
                  <a:rPr lang="en-US" altLang="zh-CN" sz="2400" dirty="0"/>
                  <a:t>.</a:t>
                </a:r>
              </a:p>
              <a:p>
                <a:pPr>
                  <a:buFont typeface="Wingdings" panose="05000000000000000000" pitchFamily="2" charset="2"/>
                  <a:buChar char="§"/>
                </a:pPr>
                <a:r>
                  <a:rPr lang="en-US" altLang="zh-CN" dirty="0"/>
                  <a:t>Each task can be performed in </a:t>
                </a:r>
                <a:r>
                  <a:rPr lang="en-US" altLang="zh-CN" i="1" dirty="0"/>
                  <a:t>n</a:t>
                </a:r>
                <a:r>
                  <a:rPr lang="en-US" altLang="zh-CN" dirty="0"/>
                  <a:t> ways because w</a:t>
                </a:r>
                <a:r>
                  <a:rPr lang="en-US" dirty="0"/>
                  <a:t>e can map each of the elements in the domain </a:t>
                </a:r>
                <a14:m>
                  <m:oMath xmlns:m="http://schemas.openxmlformats.org/officeDocument/2006/math">
                    <m:r>
                      <a:rPr lang="en-US" i="1" dirty="0">
                        <a:latin typeface="Cambria Math" panose="02040503050406030204" pitchFamily="18" charset="0"/>
                      </a:rPr>
                      <m:t>𝑈</m:t>
                    </m:r>
                  </m:oMath>
                </a14:m>
                <a:r>
                  <a:rPr lang="en-US" dirty="0"/>
                  <a:t> to </a:t>
                </a:r>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𝑉</m:t>
                    </m:r>
                    <m:r>
                      <a:rPr lang="en-US" i="1" dirty="0">
                        <a:latin typeface="Cambria Math" panose="02040503050406030204" pitchFamily="18" charset="0"/>
                      </a:rPr>
                      <m:t>|=</m:t>
                    </m:r>
                    <m:r>
                      <a:rPr lang="en-US" i="1" dirty="0">
                        <a:latin typeface="Cambria Math" panose="02040503050406030204" pitchFamily="18" charset="0"/>
                      </a:rPr>
                      <m:t>𝑛</m:t>
                    </m:r>
                  </m:oMath>
                </a14:m>
                <a:r>
                  <a:rPr lang="en-US" dirty="0"/>
                  <a:t> possible values in the codomain </a:t>
                </a:r>
                <a14:m>
                  <m:oMath xmlns:m="http://schemas.openxmlformats.org/officeDocument/2006/math">
                    <m:r>
                      <a:rPr lang="en-US" i="1" dirty="0">
                        <a:latin typeface="Cambria Math" panose="02040503050406030204" pitchFamily="18" charset="0"/>
                      </a:rPr>
                      <m:t>𝑉</m:t>
                    </m:r>
                  </m:oMath>
                </a14:m>
                <a:r>
                  <a:rPr lang="en-US" dirty="0"/>
                  <a:t>.</a:t>
                </a:r>
                <a:endParaRPr lang="en-US" altLang="zh-CN" sz="2400" dirty="0"/>
              </a:p>
              <a:p>
                <a:pPr>
                  <a:buFont typeface="Wingdings" panose="05000000000000000000" pitchFamily="2" charset="2"/>
                  <a:buChar char="§"/>
                </a:pPr>
                <a:r>
                  <a:rPr lang="en-US" sz="2400" dirty="0"/>
                  <a:t>So there are </a:t>
                </a:r>
                <a14:m>
                  <m:oMath xmlns:m="http://schemas.openxmlformats.org/officeDocument/2006/math">
                    <m:sSup>
                      <m:sSupPr>
                        <m:ctrlPr>
                          <a:rPr lang="en-US" sz="2400" i="1" dirty="0" smtClean="0">
                            <a:latin typeface="Cambria Math" panose="02040503050406030204" pitchFamily="18" charset="0"/>
                          </a:rPr>
                        </m:ctrlPr>
                      </m:sSupPr>
                      <m:e>
                        <m:r>
                          <a:rPr lang="en-US" sz="2400" i="1" dirty="0" smtClean="0">
                            <a:latin typeface="Cambria Math" panose="02040503050406030204" pitchFamily="18" charset="0"/>
                          </a:rPr>
                          <m:t>𝑛</m:t>
                        </m:r>
                      </m:e>
                      <m:sup>
                        <m:r>
                          <a:rPr lang="en-US" sz="2400" b="0" i="1" dirty="0" smtClean="0">
                            <a:latin typeface="Cambria Math" panose="02040503050406030204" pitchFamily="18" charset="0"/>
                          </a:rPr>
                          <m:t>𝑚</m:t>
                        </m:r>
                      </m:sup>
                    </m:sSup>
                  </m:oMath>
                </a14:m>
                <a:r>
                  <a:rPr lang="en-US" sz="2400" baseline="30000" dirty="0"/>
                  <a:t> </a:t>
                </a:r>
                <a:r>
                  <a:rPr lang="en-US" sz="2400" dirty="0"/>
                  <a:t>different functions.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1000" y="1600200"/>
                <a:ext cx="8382000" cy="4648200"/>
              </a:xfrm>
              <a:blipFill>
                <a:blip r:embed="rId2"/>
                <a:stretch>
                  <a:fillRect l="-1018" t="-91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6</a:t>
            </a:fld>
            <a:endParaRPr lang="en-US" dirty="0"/>
          </a:p>
        </p:txBody>
      </p:sp>
    </p:spTree>
    <p:extLst>
      <p:ext uri="{BB962C8B-B14F-4D97-AF65-F5344CB8AC3E}">
        <p14:creationId xmlns:p14="http://schemas.microsoft.com/office/powerpoint/2010/main" val="3970203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00FF"/>
                </a:solidFill>
              </a:rPr>
              <a:t>Exercise</a:t>
            </a:r>
            <a:r>
              <a:rPr lang="en-US" altLang="zh-CN" dirty="0">
                <a:solidFill>
                  <a:schemeClr val="tx1"/>
                </a:solidFill>
              </a:rPr>
              <a:t> on Functions 2</a:t>
            </a: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28600" y="1219200"/>
                <a:ext cx="8686800" cy="5486400"/>
              </a:xfrm>
            </p:spPr>
            <p:txBody>
              <a:bodyPr/>
              <a:lstStyle/>
              <a:p>
                <a:r>
                  <a:rPr lang="en-US" altLang="zh-CN" sz="2400" dirty="0"/>
                  <a:t>Let </a:t>
                </a:r>
                <a14:m>
                  <m:oMath xmlns:m="http://schemas.openxmlformats.org/officeDocument/2006/math">
                    <m:r>
                      <a:rPr lang="en-US" altLang="zh-CN" sz="2400" i="1" dirty="0" smtClean="0">
                        <a:latin typeface="Cambria Math" panose="02040503050406030204" pitchFamily="18" charset="0"/>
                      </a:rPr>
                      <m:t>𝑈</m:t>
                    </m:r>
                  </m:oMath>
                </a14:m>
                <a:r>
                  <a:rPr lang="en-US" altLang="zh-CN" sz="2400" dirty="0"/>
                  <a:t> and </a:t>
                </a:r>
                <a14:m>
                  <m:oMath xmlns:m="http://schemas.openxmlformats.org/officeDocument/2006/math">
                    <m:r>
                      <a:rPr lang="en-US" altLang="zh-CN" sz="2400" i="1" dirty="0" smtClean="0">
                        <a:latin typeface="Cambria Math" panose="02040503050406030204" pitchFamily="18" charset="0"/>
                      </a:rPr>
                      <m:t>𝑉</m:t>
                    </m:r>
                  </m:oMath>
                </a14:m>
                <a:r>
                  <a:rPr lang="en-US" altLang="zh-CN" sz="2400" dirty="0"/>
                  <a:t> be two finite sets consisting of </a:t>
                </a:r>
                <a14:m>
                  <m:oMath xmlns:m="http://schemas.openxmlformats.org/officeDocument/2006/math">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𝑈</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𝑚</m:t>
                    </m:r>
                    <m:r>
                      <a:rPr lang="en-US" altLang="zh-CN" sz="2400" i="1" dirty="0" smtClean="0">
                        <a:latin typeface="Cambria Math" panose="02040503050406030204" pitchFamily="18" charset="0"/>
                      </a:rPr>
                      <m:t>&gt;0</m:t>
                    </m:r>
                  </m:oMath>
                </a14:m>
                <a:r>
                  <a:rPr lang="en-US" altLang="zh-CN" sz="2400" dirty="0"/>
                  <a:t> and </a:t>
                </a:r>
                <a14:m>
                  <m:oMath xmlns:m="http://schemas.openxmlformats.org/officeDocument/2006/math">
                    <m:d>
                      <m:dPr>
                        <m:begChr m:val="|"/>
                        <m:endChr m:val="|"/>
                        <m:ctrlPr>
                          <a:rPr lang="en-US" altLang="zh-CN" sz="2400" i="1" dirty="0" smtClean="0">
                            <a:latin typeface="Cambria Math" panose="02040503050406030204" pitchFamily="18" charset="0"/>
                          </a:rPr>
                        </m:ctrlPr>
                      </m:dPr>
                      <m:e>
                        <m:r>
                          <a:rPr lang="en-US" altLang="zh-CN" sz="2400" i="1" dirty="0" smtClean="0">
                            <a:latin typeface="Cambria Math" panose="02040503050406030204" pitchFamily="18" charset="0"/>
                          </a:rPr>
                          <m:t>𝑉</m:t>
                        </m:r>
                      </m:e>
                    </m:d>
                    <m:r>
                      <a:rPr lang="en-US" altLang="zh-CN" sz="2400" i="1" dirty="0">
                        <a:latin typeface="Cambria Math" panose="02040503050406030204" pitchFamily="18" charset="0"/>
                      </a:rPr>
                      <m:t>=</m:t>
                    </m:r>
                    <m:r>
                      <a:rPr lang="en-US" altLang="zh-CN" sz="2400" i="1" dirty="0">
                        <a:latin typeface="Cambria Math" panose="02040503050406030204" pitchFamily="18" charset="0"/>
                      </a:rPr>
                      <m:t>𝑛</m:t>
                    </m:r>
                    <m:r>
                      <a:rPr lang="en-US" altLang="zh-CN" sz="2400" i="1" dirty="0">
                        <a:latin typeface="Cambria Math" panose="02040503050406030204" pitchFamily="18" charset="0"/>
                      </a:rPr>
                      <m:t>&gt;0</m:t>
                    </m:r>
                  </m:oMath>
                </a14:m>
                <a:r>
                  <a:rPr lang="en-US" altLang="zh-CN" sz="2400" dirty="0"/>
                  <a:t> elements, respectively. How many different one-to-one (or injective) functions </a:t>
                </a:r>
                <a14:m>
                  <m:oMath xmlns:m="http://schemas.openxmlformats.org/officeDocument/2006/math">
                    <m:r>
                      <a:rPr lang="en-US" altLang="zh-CN" sz="2400" i="1" dirty="0" smtClean="0">
                        <a:latin typeface="Cambria Math" panose="02040503050406030204" pitchFamily="18" charset="0"/>
                      </a:rPr>
                      <m:t>𝑓</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𝑈</m:t>
                    </m:r>
                    <m:r>
                      <a:rPr lang="zh-CN" altLang="en-US" sz="2400" i="1" dirty="0">
                        <a:latin typeface="Cambria Math" panose="02040503050406030204" pitchFamily="18" charset="0"/>
                      </a:rPr>
                      <m:t>→</m:t>
                    </m:r>
                    <m:r>
                      <a:rPr lang="en-US" altLang="zh-CN" sz="2400" i="1" dirty="0">
                        <a:latin typeface="Cambria Math" panose="02040503050406030204" pitchFamily="18" charset="0"/>
                      </a:rPr>
                      <m:t>𝑉</m:t>
                    </m:r>
                  </m:oMath>
                </a14:m>
                <a:r>
                  <a:rPr lang="en-US" altLang="zh-CN" sz="2400" dirty="0"/>
                  <a:t> can be defined?</a:t>
                </a:r>
              </a:p>
              <a:p>
                <a:pPr algn="just"/>
                <a:r>
                  <a:rPr lang="en-US" sz="2400" dirty="0"/>
                  <a:t>If </a:t>
                </a:r>
                <a14:m>
                  <m:oMath xmlns:m="http://schemas.openxmlformats.org/officeDocument/2006/math">
                    <m:r>
                      <a:rPr lang="en-US" sz="2400" i="1" dirty="0" smtClean="0">
                        <a:latin typeface="Cambria Math" panose="02040503050406030204" pitchFamily="18" charset="0"/>
                      </a:rPr>
                      <m:t>𝑚</m:t>
                    </m:r>
                    <m:r>
                      <a:rPr lang="en-US" sz="2400" i="1" dirty="0" smtClean="0">
                        <a:latin typeface="Cambria Math" panose="02040503050406030204" pitchFamily="18" charset="0"/>
                      </a:rPr>
                      <m:t>&gt;</m:t>
                    </m:r>
                    <m:r>
                      <a:rPr lang="en-US" sz="2400" i="1" dirty="0" smtClean="0">
                        <a:latin typeface="Cambria Math" panose="02040503050406030204" pitchFamily="18" charset="0"/>
                      </a:rPr>
                      <m:t>𝑛</m:t>
                    </m:r>
                  </m:oMath>
                </a14:m>
                <a:r>
                  <a:rPr lang="en-US" sz="2400" dirty="0"/>
                  <a:t>, no injective function could be formed. </a:t>
                </a:r>
                <a:endParaRPr lang="en-US" dirty="0"/>
              </a:p>
              <a:p>
                <a:r>
                  <a:rPr lang="en-US" sz="2400" dirty="0"/>
                  <a:t>If </a:t>
                </a:r>
                <a14:m>
                  <m:oMath xmlns:m="http://schemas.openxmlformats.org/officeDocument/2006/math">
                    <m:r>
                      <a:rPr lang="en-US" sz="2400" i="1" dirty="0" smtClean="0">
                        <a:latin typeface="Cambria Math" panose="02040503050406030204" pitchFamily="18" charset="0"/>
                      </a:rPr>
                      <m:t>𝑚</m:t>
                    </m:r>
                    <m:r>
                      <a:rPr lang="en-US" sz="2400" i="1" dirty="0" smtClean="0">
                        <a:latin typeface="Cambria Math" panose="02040503050406030204" pitchFamily="18" charset="0"/>
                      </a:rPr>
                      <m:t>≤</m:t>
                    </m:r>
                    <m:r>
                      <a:rPr lang="en-US" sz="2400" i="1" dirty="0" smtClean="0">
                        <a:latin typeface="Cambria Math" panose="02040503050406030204" pitchFamily="18" charset="0"/>
                      </a:rPr>
                      <m:t>𝑛</m:t>
                    </m:r>
                  </m:oMath>
                </a14:m>
                <a:r>
                  <a:rPr lang="en-US" sz="2400" dirty="0"/>
                  <a:t>, then the first element in </a:t>
                </a:r>
                <a14:m>
                  <m:oMath xmlns:m="http://schemas.openxmlformats.org/officeDocument/2006/math">
                    <m:r>
                      <a:rPr lang="en-US" sz="2400" i="1" dirty="0" smtClean="0">
                        <a:latin typeface="Cambria Math" panose="02040503050406030204" pitchFamily="18" charset="0"/>
                      </a:rPr>
                      <m:t>𝑈</m:t>
                    </m:r>
                  </m:oMath>
                </a14:m>
                <a:r>
                  <a:rPr lang="en-US" sz="2400" dirty="0"/>
                  <a:t> can be mapped to </a:t>
                </a:r>
                <a14:m>
                  <m:oMath xmlns:m="http://schemas.openxmlformats.org/officeDocument/2006/math">
                    <m:r>
                      <a:rPr lang="en-US" sz="2400" i="1" dirty="0" smtClean="0">
                        <a:latin typeface="Cambria Math" panose="02040503050406030204" pitchFamily="18" charset="0"/>
                      </a:rPr>
                      <m:t>𝑛</m:t>
                    </m:r>
                  </m:oMath>
                </a14:m>
                <a:r>
                  <a:rPr lang="en-US" sz="2400" dirty="0"/>
                  <a:t> possible elements in </a:t>
                </a:r>
                <a14:m>
                  <m:oMath xmlns:m="http://schemas.openxmlformats.org/officeDocument/2006/math">
                    <m:r>
                      <a:rPr lang="en-US" sz="2400" i="1" dirty="0" smtClean="0">
                        <a:latin typeface="Cambria Math" panose="02040503050406030204" pitchFamily="18" charset="0"/>
                      </a:rPr>
                      <m:t>𝑉</m:t>
                    </m:r>
                  </m:oMath>
                </a14:m>
                <a:r>
                  <a:rPr lang="en-US" sz="2400" dirty="0"/>
                  <a:t>, the second element in </a:t>
                </a:r>
                <a14:m>
                  <m:oMath xmlns:m="http://schemas.openxmlformats.org/officeDocument/2006/math">
                    <m:r>
                      <a:rPr lang="en-US" sz="2400" i="1" dirty="0" smtClean="0">
                        <a:latin typeface="Cambria Math" panose="02040503050406030204" pitchFamily="18" charset="0"/>
                      </a:rPr>
                      <m:t>𝑈</m:t>
                    </m:r>
                  </m:oMath>
                </a14:m>
                <a:r>
                  <a:rPr lang="en-US" sz="2400" dirty="0"/>
                  <a:t> can be mapped to </a:t>
                </a:r>
                <a14:m>
                  <m:oMath xmlns:m="http://schemas.openxmlformats.org/officeDocument/2006/math">
                    <m:r>
                      <a:rPr lang="en-US" sz="2400" i="1" dirty="0" smtClean="0">
                        <a:latin typeface="Cambria Math" panose="02040503050406030204" pitchFamily="18" charset="0"/>
                      </a:rPr>
                      <m:t>𝑛</m:t>
                    </m:r>
                    <m:r>
                      <a:rPr lang="en-US" sz="2400" i="1" dirty="0" smtClean="0">
                        <a:latin typeface="Cambria Math" panose="02040503050406030204" pitchFamily="18" charset="0"/>
                      </a:rPr>
                      <m:t>−1</m:t>
                    </m:r>
                  </m:oMath>
                </a14:m>
                <a:r>
                  <a:rPr lang="en-US" sz="2400" dirty="0"/>
                  <a:t> possible elements in </a:t>
                </a:r>
                <a14:m>
                  <m:oMath xmlns:m="http://schemas.openxmlformats.org/officeDocument/2006/math">
                    <m:r>
                      <a:rPr lang="en-US" sz="2400" i="1" dirty="0" smtClean="0">
                        <a:latin typeface="Cambria Math" panose="02040503050406030204" pitchFamily="18" charset="0"/>
                      </a:rPr>
                      <m:t>𝑉</m:t>
                    </m:r>
                  </m:oMath>
                </a14:m>
                <a:r>
                  <a:rPr lang="en-US" sz="2400" dirty="0"/>
                  <a:t>, and so on. </a:t>
                </a:r>
              </a:p>
              <a:p>
                <a:pPr marL="303213" indent="-303213">
                  <a:buNone/>
                </a:pPr>
                <a:r>
                  <a:rPr lang="en-US" dirty="0"/>
                  <a:t>   </a:t>
                </a:r>
                <a:r>
                  <a:rPr lang="en-US" sz="2400" dirty="0"/>
                  <a:t>The </a:t>
                </a:r>
                <a14:m>
                  <m:oMath xmlns:m="http://schemas.openxmlformats.org/officeDocument/2006/math">
                    <m:r>
                      <a:rPr lang="en-US" sz="2400" i="1" dirty="0" smtClean="0">
                        <a:latin typeface="Cambria Math" panose="02040503050406030204" pitchFamily="18" charset="0"/>
                      </a:rPr>
                      <m:t>𝑘</m:t>
                    </m:r>
                  </m:oMath>
                </a14:m>
                <a:r>
                  <a:rPr lang="en-US" sz="2400" baseline="30000" dirty="0"/>
                  <a:t>th</a:t>
                </a:r>
                <a:r>
                  <a:rPr lang="en-US" sz="2400" dirty="0"/>
                  <a:t> element of </a:t>
                </a:r>
                <a14:m>
                  <m:oMath xmlns:m="http://schemas.openxmlformats.org/officeDocument/2006/math">
                    <m:r>
                      <a:rPr lang="en-US" sz="2400" i="1" dirty="0" smtClean="0">
                        <a:latin typeface="Cambria Math" panose="02040503050406030204" pitchFamily="18" charset="0"/>
                      </a:rPr>
                      <m:t>𝑈</m:t>
                    </m:r>
                  </m:oMath>
                </a14:m>
                <a:r>
                  <a:rPr lang="en-US" sz="2400" dirty="0"/>
                  <a:t> can be mapped to </a:t>
                </a:r>
                <a14:m>
                  <m:oMath xmlns:m="http://schemas.openxmlformats.org/officeDocument/2006/math">
                    <m:r>
                      <a:rPr lang="en-US" sz="2400" i="1" dirty="0" smtClean="0">
                        <a:latin typeface="Cambria Math" panose="02040503050406030204" pitchFamily="18" charset="0"/>
                      </a:rPr>
                      <m:t>𝑛</m:t>
                    </m:r>
                    <m:r>
                      <a:rPr lang="en-US" sz="2400" i="1" dirty="0" smtClean="0">
                        <a:latin typeface="Cambria Math" panose="02040503050406030204" pitchFamily="18" charset="0"/>
                      </a:rPr>
                      <m:t>−</m:t>
                    </m:r>
                    <m:r>
                      <a:rPr lang="en-US" sz="2400" i="1" dirty="0" smtClean="0">
                        <a:latin typeface="Cambria Math" panose="02040503050406030204" pitchFamily="18" charset="0"/>
                      </a:rPr>
                      <m:t>𝑘</m:t>
                    </m:r>
                    <m:r>
                      <a:rPr lang="en-US" sz="2400" i="1" dirty="0" smtClean="0">
                        <a:latin typeface="Cambria Math" panose="02040503050406030204" pitchFamily="18" charset="0"/>
                      </a:rPr>
                      <m:t>+1</m:t>
                    </m:r>
                  </m:oMath>
                </a14:m>
                <a:r>
                  <a:rPr lang="en-US" sz="2400" dirty="0"/>
                  <a:t>            possible elements in </a:t>
                </a:r>
                <a14:m>
                  <m:oMath xmlns:m="http://schemas.openxmlformats.org/officeDocument/2006/math">
                    <m:r>
                      <a:rPr lang="en-US" sz="2400" i="1" dirty="0" smtClean="0">
                        <a:latin typeface="Cambria Math" panose="02040503050406030204" pitchFamily="18" charset="0"/>
                      </a:rPr>
                      <m:t>𝑉</m:t>
                    </m:r>
                  </m:oMath>
                </a14:m>
                <a:r>
                  <a:rPr lang="en-US" sz="2400" dirty="0"/>
                  <a:t>. Therefore, by the product rule, there are </a:t>
                </a:r>
                <a14:m>
                  <m:oMath xmlns:m="http://schemas.openxmlformats.org/officeDocument/2006/math">
                    <m:r>
                      <a:rPr lang="en-US" sz="2400" i="1" dirty="0" smtClean="0">
                        <a:latin typeface="Cambria Math" panose="02040503050406030204" pitchFamily="18" charset="0"/>
                      </a:rPr>
                      <m:t>𝑛</m:t>
                    </m:r>
                    <m:d>
                      <m:dPr>
                        <m:ctrlPr>
                          <a:rPr lang="en-US" sz="2400" i="1" dirty="0" smtClean="0">
                            <a:latin typeface="Cambria Math" panose="02040503050406030204" pitchFamily="18" charset="0"/>
                          </a:rPr>
                        </m:ctrlPr>
                      </m:dPr>
                      <m:e>
                        <m:r>
                          <a:rPr lang="en-US" sz="2400" i="1" dirty="0" smtClean="0">
                            <a:latin typeface="Cambria Math" panose="02040503050406030204" pitchFamily="18" charset="0"/>
                          </a:rPr>
                          <m:t>𝑛</m:t>
                        </m:r>
                        <m:r>
                          <a:rPr lang="en-US" sz="2400" i="1" dirty="0" smtClean="0">
                            <a:latin typeface="Cambria Math" panose="02040503050406030204" pitchFamily="18" charset="0"/>
                          </a:rPr>
                          <m:t>−1</m:t>
                        </m:r>
                      </m:e>
                    </m:d>
                    <m:d>
                      <m:dPr>
                        <m:ctrlPr>
                          <a:rPr lang="en-US" sz="2400" i="1" dirty="0" smtClean="0">
                            <a:latin typeface="Cambria Math" panose="02040503050406030204" pitchFamily="18" charset="0"/>
                          </a:rPr>
                        </m:ctrlPr>
                      </m:dPr>
                      <m:e>
                        <m:r>
                          <a:rPr lang="en-US" sz="2400" i="1" dirty="0" smtClean="0">
                            <a:latin typeface="Cambria Math" panose="02040503050406030204" pitchFamily="18" charset="0"/>
                          </a:rPr>
                          <m:t>𝑛</m:t>
                        </m:r>
                        <m:r>
                          <a:rPr lang="en-US" sz="2400" i="1" dirty="0" smtClean="0">
                            <a:latin typeface="Cambria Math" panose="02040503050406030204" pitchFamily="18" charset="0"/>
                          </a:rPr>
                          <m:t>−2</m:t>
                        </m:r>
                      </m:e>
                    </m:d>
                    <m:r>
                      <a:rPr lang="en-US" sz="2400" b="0" i="1" dirty="0" smtClean="0">
                        <a:latin typeface="Cambria Math" panose="02040503050406030204" pitchFamily="18" charset="0"/>
                      </a:rPr>
                      <m:t>…</m:t>
                    </m:r>
                    <m:r>
                      <a:rPr lang="en-US" sz="2400" i="1" dirty="0" smtClean="0">
                        <a:latin typeface="Cambria Math" panose="02040503050406030204" pitchFamily="18" charset="0"/>
                      </a:rPr>
                      <m:t>(</m:t>
                    </m:r>
                    <m:r>
                      <a:rPr lang="en-US" sz="2400" i="1" dirty="0" smtClean="0">
                        <a:latin typeface="Cambria Math" panose="02040503050406030204" pitchFamily="18" charset="0"/>
                      </a:rPr>
                      <m:t>𝑛</m:t>
                    </m:r>
                    <m:r>
                      <a:rPr lang="en-US" sz="2400" i="1" dirty="0" smtClean="0">
                        <a:latin typeface="Cambria Math" panose="02040503050406030204" pitchFamily="18" charset="0"/>
                      </a:rPr>
                      <m:t>−</m:t>
                    </m:r>
                    <m:r>
                      <a:rPr lang="en-US" sz="2400" i="1" dirty="0" smtClean="0">
                        <a:latin typeface="Cambria Math" panose="02040503050406030204" pitchFamily="18" charset="0"/>
                      </a:rPr>
                      <m:t>𝑚</m:t>
                    </m:r>
                    <m:r>
                      <a:rPr lang="en-US" sz="2400" i="1" dirty="0" smtClean="0">
                        <a:latin typeface="Cambria Math" panose="02040503050406030204" pitchFamily="18" charset="0"/>
                      </a:rPr>
                      <m:t>+1)</m:t>
                    </m:r>
                  </m:oMath>
                </a14:m>
                <a:r>
                  <a:rPr lang="en-US" sz="2400" dirty="0"/>
                  <a:t> different one-to-one functions.</a:t>
                </a:r>
                <a:endParaRPr lang="en-US" altLang="zh-CN" sz="2400" dirty="0"/>
              </a:p>
              <a:p>
                <a:pPr marL="303213" indent="-303213" algn="just">
                  <a:buNone/>
                </a:pPr>
                <a:endParaRPr lang="en-US" altLang="zh-CN" sz="2000" dirty="0"/>
              </a:p>
              <a:p>
                <a:pPr marL="0" indent="0" algn="just">
                  <a:buNone/>
                </a:pPr>
                <a:endParaRPr lang="en-US" altLang="zh-CN" sz="20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28600" y="1219200"/>
                <a:ext cx="8686800" cy="5486400"/>
              </a:xfrm>
              <a:blipFill>
                <a:blip r:embed="rId2"/>
                <a:stretch>
                  <a:fillRect l="-982" t="-778" r="-1123"/>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5EC735E3-5B29-4F54-8FB9-022B0DB6C884}" type="slidenum">
              <a:rPr lang="en-US" smtClean="0"/>
              <a:pPr/>
              <a:t>7</a:t>
            </a:fld>
            <a:endParaRPr lang="en-US"/>
          </a:p>
        </p:txBody>
      </p:sp>
    </p:spTree>
    <p:extLst>
      <p:ext uri="{BB962C8B-B14F-4D97-AF65-F5344CB8AC3E}">
        <p14:creationId xmlns:p14="http://schemas.microsoft.com/office/powerpoint/2010/main" val="954819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tx1"/>
                </a:solidFill>
              </a:rPr>
              <a:t>Matrix Multiplication</a:t>
            </a:r>
            <a:endParaRPr lang="zh-CN" altLang="en-US" dirty="0">
              <a:solidFill>
                <a:schemeClr val="tx1"/>
              </a:solidFill>
            </a:endParaRPr>
          </a:p>
        </p:txBody>
      </p:sp>
      <p:sp>
        <p:nvSpPr>
          <p:cNvPr id="5" name="Slide Number Placeholder 4"/>
          <p:cNvSpPr>
            <a:spLocks noGrp="1"/>
          </p:cNvSpPr>
          <p:nvPr>
            <p:ph type="sldNum" sz="quarter" idx="12"/>
          </p:nvPr>
        </p:nvSpPr>
        <p:spPr/>
        <p:txBody>
          <a:bodyPr/>
          <a:lstStyle/>
          <a:p>
            <a:fld id="{5EC735E3-5B29-4F54-8FB9-022B0DB6C884}" type="slidenum">
              <a:rPr lang="en-US" smtClean="0"/>
              <a:pPr/>
              <a:t>8</a:t>
            </a:fld>
            <a:endParaRPr lang="en-US"/>
          </a:p>
        </p:txBody>
      </p:sp>
      <p:graphicFrame>
        <p:nvGraphicFramePr>
          <p:cNvPr id="7" name="Table 6">
            <a:extLst>
              <a:ext uri="{FF2B5EF4-FFF2-40B4-BE49-F238E27FC236}">
                <a16:creationId xmlns:a16="http://schemas.microsoft.com/office/drawing/2014/main" id="{001F0365-64FB-054B-8DFC-AC690A0B5CC9}"/>
              </a:ext>
            </a:extLst>
          </p:cNvPr>
          <p:cNvGraphicFramePr>
            <a:graphicFrameLocks noGrp="1"/>
          </p:cNvGraphicFramePr>
          <p:nvPr>
            <p:extLst>
              <p:ext uri="{D42A27DB-BD31-4B8C-83A1-F6EECF244321}">
                <p14:modId xmlns:p14="http://schemas.microsoft.com/office/powerpoint/2010/main" val="291432444"/>
              </p:ext>
            </p:extLst>
          </p:nvPr>
        </p:nvGraphicFramePr>
        <p:xfrm>
          <a:off x="1524000" y="1828800"/>
          <a:ext cx="762000" cy="746760"/>
        </p:xfrm>
        <a:graphic>
          <a:graphicData uri="http://schemas.openxmlformats.org/drawingml/2006/table">
            <a:tbl>
              <a:tblPr firstRow="1" bandRow="1">
                <a:tableStyleId>{F5AB1C69-6EDB-4FF4-983F-18BD219EF322}</a:tableStyleId>
              </a:tblPr>
              <a:tblGrid>
                <a:gridCol w="401955">
                  <a:extLst>
                    <a:ext uri="{9D8B030D-6E8A-4147-A177-3AD203B41FA5}">
                      <a16:colId xmlns:a16="http://schemas.microsoft.com/office/drawing/2014/main" val="2910503234"/>
                    </a:ext>
                  </a:extLst>
                </a:gridCol>
                <a:gridCol w="360045">
                  <a:extLst>
                    <a:ext uri="{9D8B030D-6E8A-4147-A177-3AD203B41FA5}">
                      <a16:colId xmlns:a16="http://schemas.microsoft.com/office/drawing/2014/main" val="3616164355"/>
                    </a:ext>
                  </a:extLst>
                </a:gridCol>
              </a:tblGrid>
              <a:tr h="381000">
                <a:tc>
                  <a:txBody>
                    <a:bodyPr/>
                    <a:lstStyle/>
                    <a:p>
                      <a:r>
                        <a:rPr lang="en-US" b="1" dirty="0">
                          <a:solidFill>
                            <a:srgbClr val="FF3300"/>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0000FF"/>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5635135"/>
                  </a:ext>
                </a:extLst>
              </a:tr>
              <a:tr h="0">
                <a:tc>
                  <a:txBody>
                    <a:bodyPr/>
                    <a:lstStyle/>
                    <a:p>
                      <a:r>
                        <a:rPr lang="en-US" b="1"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3207237"/>
                  </a:ext>
                </a:extLst>
              </a:tr>
            </a:tbl>
          </a:graphicData>
        </a:graphic>
      </p:graphicFrame>
      <p:graphicFrame>
        <p:nvGraphicFramePr>
          <p:cNvPr id="8" name="Table 7">
            <a:extLst>
              <a:ext uri="{FF2B5EF4-FFF2-40B4-BE49-F238E27FC236}">
                <a16:creationId xmlns:a16="http://schemas.microsoft.com/office/drawing/2014/main" id="{C762E5DB-D498-B54D-8BA1-0AF56DC2F3BE}"/>
              </a:ext>
            </a:extLst>
          </p:cNvPr>
          <p:cNvGraphicFramePr>
            <a:graphicFrameLocks noGrp="1"/>
          </p:cNvGraphicFramePr>
          <p:nvPr>
            <p:extLst>
              <p:ext uri="{D42A27DB-BD31-4B8C-83A1-F6EECF244321}">
                <p14:modId xmlns:p14="http://schemas.microsoft.com/office/powerpoint/2010/main" val="372614423"/>
              </p:ext>
            </p:extLst>
          </p:nvPr>
        </p:nvGraphicFramePr>
        <p:xfrm>
          <a:off x="3124200" y="1828800"/>
          <a:ext cx="1295400" cy="746760"/>
        </p:xfrm>
        <a:graphic>
          <a:graphicData uri="http://schemas.openxmlformats.org/drawingml/2006/table">
            <a:tbl>
              <a:tblPr firstRow="1" bandRow="1">
                <a:tableStyleId>{F5AB1C69-6EDB-4FF4-983F-18BD219EF322}</a:tableStyleId>
              </a:tblPr>
              <a:tblGrid>
                <a:gridCol w="381000">
                  <a:extLst>
                    <a:ext uri="{9D8B030D-6E8A-4147-A177-3AD203B41FA5}">
                      <a16:colId xmlns:a16="http://schemas.microsoft.com/office/drawing/2014/main" val="2910503234"/>
                    </a:ext>
                  </a:extLst>
                </a:gridCol>
                <a:gridCol w="457200">
                  <a:extLst>
                    <a:ext uri="{9D8B030D-6E8A-4147-A177-3AD203B41FA5}">
                      <a16:colId xmlns:a16="http://schemas.microsoft.com/office/drawing/2014/main" val="3616164355"/>
                    </a:ext>
                  </a:extLst>
                </a:gridCol>
                <a:gridCol w="457200">
                  <a:extLst>
                    <a:ext uri="{9D8B030D-6E8A-4147-A177-3AD203B41FA5}">
                      <a16:colId xmlns:a16="http://schemas.microsoft.com/office/drawing/2014/main" val="1702517892"/>
                    </a:ext>
                  </a:extLst>
                </a:gridCol>
              </a:tblGrid>
              <a:tr h="381000">
                <a:tc>
                  <a:txBody>
                    <a:bodyPr/>
                    <a:lstStyle/>
                    <a:p>
                      <a:r>
                        <a:rPr lang="en-US" b="1" dirty="0">
                          <a:solidFill>
                            <a:srgbClr val="FF0000"/>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5635135"/>
                  </a:ext>
                </a:extLst>
              </a:tr>
              <a:tr h="0">
                <a:tc>
                  <a:txBody>
                    <a:bodyPr/>
                    <a:lstStyle/>
                    <a:p>
                      <a:r>
                        <a:rPr lang="en-US" b="1" dirty="0">
                          <a:solidFill>
                            <a:srgbClr val="0000FF"/>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3207237"/>
                  </a:ext>
                </a:extLst>
              </a:tr>
            </a:tbl>
          </a:graphicData>
        </a:graphic>
      </p:graphicFrame>
      <p:sp>
        <p:nvSpPr>
          <p:cNvPr id="9" name="TextBox 8">
            <a:extLst>
              <a:ext uri="{FF2B5EF4-FFF2-40B4-BE49-F238E27FC236}">
                <a16:creationId xmlns:a16="http://schemas.microsoft.com/office/drawing/2014/main" id="{69871ED8-D8A7-3B43-923F-EF8A64B83376}"/>
              </a:ext>
            </a:extLst>
          </p:cNvPr>
          <p:cNvSpPr txBox="1"/>
          <p:nvPr/>
        </p:nvSpPr>
        <p:spPr>
          <a:xfrm>
            <a:off x="2514600" y="2017514"/>
            <a:ext cx="533400" cy="369332"/>
          </a:xfrm>
          <a:prstGeom prst="rect">
            <a:avLst/>
          </a:prstGeom>
          <a:noFill/>
        </p:spPr>
        <p:txBody>
          <a:bodyPr wrap="square" rtlCol="0">
            <a:spAutoFit/>
          </a:bodyPr>
          <a:lstStyle/>
          <a:p>
            <a:r>
              <a:rPr lang="en-US" dirty="0"/>
              <a:t>X</a:t>
            </a:r>
          </a:p>
        </p:txBody>
      </p:sp>
      <p:sp>
        <p:nvSpPr>
          <p:cNvPr id="10" name="TextBox 9">
            <a:extLst>
              <a:ext uri="{FF2B5EF4-FFF2-40B4-BE49-F238E27FC236}">
                <a16:creationId xmlns:a16="http://schemas.microsoft.com/office/drawing/2014/main" id="{886BB9D5-0A4D-4914-9410-DD22C2269BBB}"/>
              </a:ext>
            </a:extLst>
          </p:cNvPr>
          <p:cNvSpPr txBox="1"/>
          <p:nvPr/>
        </p:nvSpPr>
        <p:spPr>
          <a:xfrm>
            <a:off x="5042981" y="1971347"/>
            <a:ext cx="533400" cy="461665"/>
          </a:xfrm>
          <a:prstGeom prst="rect">
            <a:avLst/>
          </a:prstGeom>
          <a:noFill/>
        </p:spPr>
        <p:txBody>
          <a:bodyPr wrap="square" rtlCol="0">
            <a:spAutoFit/>
          </a:bodyPr>
          <a:lstStyle/>
          <a:p>
            <a:r>
              <a:rPr lang="en-US" sz="2400" dirty="0"/>
              <a:t>=</a:t>
            </a:r>
          </a:p>
        </p:txBody>
      </p:sp>
      <p:graphicFrame>
        <p:nvGraphicFramePr>
          <p:cNvPr id="11" name="Table 10">
            <a:extLst>
              <a:ext uri="{FF2B5EF4-FFF2-40B4-BE49-F238E27FC236}">
                <a16:creationId xmlns:a16="http://schemas.microsoft.com/office/drawing/2014/main" id="{034201B0-2EE0-47D2-A299-97B8896F2648}"/>
              </a:ext>
            </a:extLst>
          </p:cNvPr>
          <p:cNvGraphicFramePr>
            <a:graphicFrameLocks noGrp="1"/>
          </p:cNvGraphicFramePr>
          <p:nvPr>
            <p:extLst>
              <p:ext uri="{D42A27DB-BD31-4B8C-83A1-F6EECF244321}">
                <p14:modId xmlns:p14="http://schemas.microsoft.com/office/powerpoint/2010/main" val="2605228675"/>
              </p:ext>
            </p:extLst>
          </p:nvPr>
        </p:nvGraphicFramePr>
        <p:xfrm>
          <a:off x="5867400" y="1828800"/>
          <a:ext cx="1637488" cy="746760"/>
        </p:xfrm>
        <a:graphic>
          <a:graphicData uri="http://schemas.openxmlformats.org/drawingml/2006/table">
            <a:tbl>
              <a:tblPr firstRow="1" bandRow="1">
                <a:tableStyleId>{F5AB1C69-6EDB-4FF4-983F-18BD219EF322}</a:tableStyleId>
              </a:tblPr>
              <a:tblGrid>
                <a:gridCol w="577740">
                  <a:extLst>
                    <a:ext uri="{9D8B030D-6E8A-4147-A177-3AD203B41FA5}">
                      <a16:colId xmlns:a16="http://schemas.microsoft.com/office/drawing/2014/main" val="2910503234"/>
                    </a:ext>
                  </a:extLst>
                </a:gridCol>
                <a:gridCol w="577740">
                  <a:extLst>
                    <a:ext uri="{9D8B030D-6E8A-4147-A177-3AD203B41FA5}">
                      <a16:colId xmlns:a16="http://schemas.microsoft.com/office/drawing/2014/main" val="3616164355"/>
                    </a:ext>
                  </a:extLst>
                </a:gridCol>
                <a:gridCol w="482008">
                  <a:extLst>
                    <a:ext uri="{9D8B030D-6E8A-4147-A177-3AD203B41FA5}">
                      <a16:colId xmlns:a16="http://schemas.microsoft.com/office/drawing/2014/main" val="1702517892"/>
                    </a:ext>
                  </a:extLst>
                </a:gridCol>
              </a:tblGrid>
              <a:tr h="381000">
                <a:tc>
                  <a:txBody>
                    <a:bodyPr/>
                    <a:lstStyle/>
                    <a:p>
                      <a:r>
                        <a:rPr lang="en-US" b="1" dirty="0">
                          <a:solidFill>
                            <a:srgbClr val="00B050"/>
                          </a:solidFill>
                        </a:rPr>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chemeClr val="tx1"/>
                          </a:solidFill>
                        </a:rPr>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chemeClr val="tx1"/>
                          </a:solidFill>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5635135"/>
                  </a:ext>
                </a:extLst>
              </a:tr>
              <a:tr h="0">
                <a:tc>
                  <a:txBody>
                    <a:bodyPr/>
                    <a:lstStyle/>
                    <a:p>
                      <a:r>
                        <a:rPr lang="en-US" b="1"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3207237"/>
                  </a:ext>
                </a:extLst>
              </a:tr>
            </a:tbl>
          </a:graphicData>
        </a:graphic>
      </p:graphicFrame>
      <p:sp>
        <p:nvSpPr>
          <p:cNvPr id="12" name="内容占位符 2">
            <a:extLst>
              <a:ext uri="{FF2B5EF4-FFF2-40B4-BE49-F238E27FC236}">
                <a16:creationId xmlns:a16="http://schemas.microsoft.com/office/drawing/2014/main" id="{C427C3D7-0BE6-4F2D-9DC5-EC62AF970C19}"/>
              </a:ext>
            </a:extLst>
          </p:cNvPr>
          <p:cNvSpPr>
            <a:spLocks noGrp="1"/>
          </p:cNvSpPr>
          <p:nvPr>
            <p:ph idx="1"/>
          </p:nvPr>
        </p:nvSpPr>
        <p:spPr>
          <a:xfrm>
            <a:off x="381000" y="2895600"/>
            <a:ext cx="8534400" cy="3581400"/>
          </a:xfrm>
        </p:spPr>
        <p:txBody>
          <a:bodyPr/>
          <a:lstStyle/>
          <a:p>
            <a:r>
              <a:rPr lang="en-US" altLang="zh-CN" b="1" dirty="0">
                <a:solidFill>
                  <a:srgbClr val="0000FF"/>
                </a:solidFill>
              </a:rPr>
              <a:t>General Case</a:t>
            </a:r>
            <a:br>
              <a:rPr lang="en-US" altLang="zh-CN" b="1" dirty="0">
                <a:solidFill>
                  <a:srgbClr val="0000FF"/>
                </a:solidFill>
              </a:rPr>
            </a:br>
            <a:r>
              <a:rPr lang="en-US" altLang="zh-CN" dirty="0"/>
              <a:t>Given matrices </a:t>
            </a:r>
            <a:r>
              <a:rPr lang="en-US" altLang="zh-CN" i="1" dirty="0"/>
              <a:t>A</a:t>
            </a:r>
            <a:r>
              <a:rPr lang="en-US" altLang="zh-CN" dirty="0"/>
              <a:t>(</a:t>
            </a:r>
            <a:r>
              <a:rPr lang="en-US" altLang="zh-CN" i="1" dirty="0" err="1"/>
              <a:t>m</a:t>
            </a:r>
            <a:r>
              <a:rPr lang="en-US" altLang="zh-CN" dirty="0" err="1"/>
              <a:t>x</a:t>
            </a:r>
            <a:r>
              <a:rPr lang="en-US" altLang="zh-CN" i="1" dirty="0" err="1"/>
              <a:t>n</a:t>
            </a:r>
            <a:r>
              <a:rPr lang="en-US" altLang="zh-CN" dirty="0"/>
              <a:t>), </a:t>
            </a:r>
            <a:r>
              <a:rPr lang="en-US" altLang="zh-CN" i="1" dirty="0"/>
              <a:t>B</a:t>
            </a:r>
            <a:r>
              <a:rPr lang="en-US" altLang="zh-CN" dirty="0"/>
              <a:t>(</a:t>
            </a:r>
            <a:r>
              <a:rPr lang="en-US" altLang="zh-CN" i="1" dirty="0" err="1"/>
              <a:t>n</a:t>
            </a:r>
            <a:r>
              <a:rPr lang="en-US" altLang="zh-CN" dirty="0" err="1"/>
              <a:t>x</a:t>
            </a:r>
            <a:r>
              <a:rPr lang="en-US" altLang="zh-CN" i="1" dirty="0" err="1"/>
              <a:t>p</a:t>
            </a:r>
            <a:r>
              <a:rPr lang="en-US" altLang="zh-CN" dirty="0"/>
              <a:t>) compute product </a:t>
            </a:r>
            <a:r>
              <a:rPr lang="en-US" altLang="zh-CN" i="1" dirty="0"/>
              <a:t>C</a:t>
            </a:r>
            <a:r>
              <a:rPr lang="en-US" altLang="zh-CN" dirty="0"/>
              <a:t>(</a:t>
            </a:r>
            <a:r>
              <a:rPr lang="en-US" altLang="zh-CN" i="1" dirty="0" err="1"/>
              <a:t>m</a:t>
            </a:r>
            <a:r>
              <a:rPr lang="en-US" altLang="zh-CN" dirty="0" err="1"/>
              <a:t>x</a:t>
            </a:r>
            <a:r>
              <a:rPr lang="en-US" altLang="zh-CN" i="1" dirty="0" err="1"/>
              <a:t>p</a:t>
            </a:r>
            <a:r>
              <a:rPr lang="en-US" altLang="zh-CN" dirty="0"/>
              <a:t>). How many scalar multiplications are needed?</a:t>
            </a:r>
            <a:endParaRPr lang="en-US" altLang="zh-CN" dirty="0">
              <a:solidFill>
                <a:srgbClr val="000000"/>
              </a:solidFill>
            </a:endParaRPr>
          </a:p>
          <a:p>
            <a:endParaRPr lang="en-US" altLang="zh-CN" dirty="0">
              <a:solidFill>
                <a:srgbClr val="000000"/>
              </a:solidFill>
            </a:endParaRPr>
          </a:p>
          <a:p>
            <a:endParaRPr lang="en-US" altLang="zh-CN" sz="2000" dirty="0"/>
          </a:p>
          <a:p>
            <a:pPr algn="just">
              <a:buNone/>
            </a:pPr>
            <a:endParaRPr lang="en-US" altLang="zh-CN" sz="2000" dirty="0"/>
          </a:p>
          <a:p>
            <a:pPr algn="just">
              <a:buNone/>
            </a:pPr>
            <a:endParaRPr lang="en-US" altLang="zh-CN" sz="2000" dirty="0">
              <a:solidFill>
                <a:srgbClr val="0000FF"/>
              </a:solidFill>
            </a:endParaRPr>
          </a:p>
        </p:txBody>
      </p:sp>
    </p:spTree>
    <p:extLst>
      <p:ext uri="{BB962C8B-B14F-4D97-AF65-F5344CB8AC3E}">
        <p14:creationId xmlns:p14="http://schemas.microsoft.com/office/powerpoint/2010/main" val="3751449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tx1"/>
                </a:solidFill>
              </a:rPr>
              <a:t>Matrix Multiplication Pseudocode</a:t>
            </a:r>
            <a:endParaRPr lang="zh-CN" altLang="en-US" dirty="0">
              <a:solidFill>
                <a:schemeClr val="tx1"/>
              </a:solidFill>
            </a:endParaRPr>
          </a:p>
        </p:txBody>
      </p:sp>
      <p:sp>
        <p:nvSpPr>
          <p:cNvPr id="3" name="内容占位符 2"/>
          <p:cNvSpPr>
            <a:spLocks noGrp="1"/>
          </p:cNvSpPr>
          <p:nvPr>
            <p:ph idx="1"/>
          </p:nvPr>
        </p:nvSpPr>
        <p:spPr>
          <a:xfrm>
            <a:off x="228600" y="1295400"/>
            <a:ext cx="8686800" cy="5562600"/>
          </a:xfrm>
        </p:spPr>
        <p:txBody>
          <a:bodyPr/>
          <a:lstStyle/>
          <a:p>
            <a:pPr marL="0" indent="0">
              <a:buNone/>
            </a:pPr>
            <a:r>
              <a:rPr lang="en-US" altLang="zh-CN" sz="2200" dirty="0"/>
              <a:t>Consider the following algorithm for matrix multiplication:</a:t>
            </a:r>
          </a:p>
          <a:p>
            <a:pPr marL="800100" lvl="2" indent="0">
              <a:buNone/>
            </a:pPr>
            <a:r>
              <a:rPr lang="en-US" altLang="zh-CN" dirty="0">
                <a:latin typeface="Courier" pitchFamily="2" charset="0"/>
              </a:rPr>
              <a:t>for </a:t>
            </a:r>
            <a:r>
              <a:rPr lang="en-US" altLang="zh-CN" i="1" dirty="0" err="1">
                <a:latin typeface="Courier" pitchFamily="2" charset="0"/>
              </a:rPr>
              <a:t>i</a:t>
            </a:r>
            <a:r>
              <a:rPr lang="en-US" altLang="zh-CN" dirty="0">
                <a:latin typeface="Courier" pitchFamily="2" charset="0"/>
              </a:rPr>
              <a:t> = 1 to </a:t>
            </a:r>
            <a:r>
              <a:rPr lang="en-US" altLang="zh-CN" i="1" dirty="0">
                <a:latin typeface="Courier" pitchFamily="2" charset="0"/>
              </a:rPr>
              <a:t>m</a:t>
            </a:r>
          </a:p>
          <a:p>
            <a:pPr marL="800100" lvl="2" indent="0">
              <a:buNone/>
            </a:pPr>
            <a:r>
              <a:rPr lang="en-US" altLang="zh-CN" dirty="0">
                <a:latin typeface="Courier" pitchFamily="2" charset="0"/>
              </a:rPr>
              <a:t>		for </a:t>
            </a:r>
            <a:r>
              <a:rPr lang="en-US" altLang="zh-CN" i="1" dirty="0">
                <a:latin typeface="Courier" pitchFamily="2" charset="0"/>
              </a:rPr>
              <a:t>j</a:t>
            </a:r>
            <a:r>
              <a:rPr lang="en-US" altLang="zh-CN" dirty="0">
                <a:latin typeface="Courier" pitchFamily="2" charset="0"/>
              </a:rPr>
              <a:t> = 1 to </a:t>
            </a:r>
            <a:r>
              <a:rPr lang="en-US" altLang="zh-CN" i="1" dirty="0">
                <a:latin typeface="Courier" pitchFamily="2" charset="0"/>
              </a:rPr>
              <a:t>n</a:t>
            </a:r>
          </a:p>
          <a:p>
            <a:pPr marL="800100" lvl="2" indent="0">
              <a:buNone/>
            </a:pPr>
            <a:r>
              <a:rPr lang="en-US" altLang="zh-CN" dirty="0">
                <a:latin typeface="Courier" pitchFamily="2" charset="0"/>
              </a:rPr>
              <a:t>			</a:t>
            </a:r>
            <a:r>
              <a:rPr lang="en-US" altLang="zh-CN" i="1" dirty="0">
                <a:latin typeface="Courier" pitchFamily="2" charset="0"/>
              </a:rPr>
              <a:t>s</a:t>
            </a:r>
            <a:r>
              <a:rPr lang="en-US" altLang="zh-CN" dirty="0">
                <a:latin typeface="Courier" pitchFamily="2" charset="0"/>
              </a:rPr>
              <a:t> = 0</a:t>
            </a:r>
          </a:p>
          <a:p>
            <a:pPr marL="800100" lvl="2" indent="0">
              <a:buNone/>
            </a:pPr>
            <a:r>
              <a:rPr lang="en-US" altLang="zh-CN" dirty="0">
                <a:latin typeface="Courier" pitchFamily="2" charset="0"/>
              </a:rPr>
              <a:t>			for </a:t>
            </a:r>
            <a:r>
              <a:rPr lang="en-US" altLang="zh-CN" i="1" dirty="0">
                <a:latin typeface="Courier" pitchFamily="2" charset="0"/>
              </a:rPr>
              <a:t>k</a:t>
            </a:r>
            <a:r>
              <a:rPr lang="en-US" altLang="zh-CN" dirty="0">
                <a:latin typeface="Courier" pitchFamily="2" charset="0"/>
              </a:rPr>
              <a:t> = 1 to </a:t>
            </a:r>
            <a:r>
              <a:rPr lang="en-US" altLang="zh-CN" i="1" dirty="0">
                <a:latin typeface="Courier" pitchFamily="2" charset="0"/>
              </a:rPr>
              <a:t>p</a:t>
            </a:r>
          </a:p>
          <a:p>
            <a:pPr marL="800100" lvl="2" indent="0">
              <a:buNone/>
            </a:pPr>
            <a:r>
              <a:rPr lang="en-US" altLang="zh-CN" dirty="0">
                <a:latin typeface="Courier" pitchFamily="2" charset="0"/>
              </a:rPr>
              <a:t>				</a:t>
            </a:r>
            <a:r>
              <a:rPr lang="en-US" altLang="zh-CN" i="1" dirty="0">
                <a:latin typeface="Courier" pitchFamily="2" charset="0"/>
              </a:rPr>
              <a:t>s</a:t>
            </a:r>
            <a:r>
              <a:rPr lang="en-US" altLang="zh-CN" dirty="0">
                <a:latin typeface="Courier" pitchFamily="2" charset="0"/>
              </a:rPr>
              <a:t> = </a:t>
            </a:r>
            <a:r>
              <a:rPr lang="en-US" altLang="zh-CN" i="1" dirty="0">
                <a:latin typeface="Courier" pitchFamily="2" charset="0"/>
              </a:rPr>
              <a:t>s</a:t>
            </a:r>
            <a:r>
              <a:rPr lang="en-US" altLang="zh-CN" dirty="0">
                <a:latin typeface="Courier" pitchFamily="2" charset="0"/>
              </a:rPr>
              <a:t> + </a:t>
            </a:r>
            <a:r>
              <a:rPr lang="en-US" altLang="zh-CN" i="1" dirty="0">
                <a:solidFill>
                  <a:srgbClr val="FF3300"/>
                </a:solidFill>
                <a:latin typeface="Courier" pitchFamily="2" charset="0"/>
              </a:rPr>
              <a:t>A</a:t>
            </a:r>
            <a:r>
              <a:rPr lang="en-US" altLang="zh-CN" dirty="0">
                <a:solidFill>
                  <a:srgbClr val="FF3300"/>
                </a:solidFill>
                <a:latin typeface="Courier" pitchFamily="2" charset="0"/>
              </a:rPr>
              <a:t>[</a:t>
            </a:r>
            <a:r>
              <a:rPr lang="en-US" altLang="zh-CN" i="1" dirty="0" err="1">
                <a:solidFill>
                  <a:srgbClr val="FF3300"/>
                </a:solidFill>
                <a:latin typeface="Courier" pitchFamily="2" charset="0"/>
              </a:rPr>
              <a:t>i</a:t>
            </a:r>
            <a:r>
              <a:rPr lang="en-US" altLang="zh-CN" dirty="0">
                <a:solidFill>
                  <a:srgbClr val="FF3300"/>
                </a:solidFill>
                <a:latin typeface="Courier" pitchFamily="2" charset="0"/>
              </a:rPr>
              <a:t>, </a:t>
            </a:r>
            <a:r>
              <a:rPr lang="en-US" altLang="zh-CN" i="1" dirty="0">
                <a:solidFill>
                  <a:srgbClr val="FF3300"/>
                </a:solidFill>
                <a:latin typeface="Courier" pitchFamily="2" charset="0"/>
              </a:rPr>
              <a:t>k</a:t>
            </a:r>
            <a:r>
              <a:rPr lang="en-US" altLang="zh-CN" dirty="0">
                <a:solidFill>
                  <a:srgbClr val="FF3300"/>
                </a:solidFill>
                <a:latin typeface="Courier" pitchFamily="2" charset="0"/>
              </a:rPr>
              <a:t>] x </a:t>
            </a:r>
            <a:r>
              <a:rPr lang="en-US" altLang="zh-CN" i="1" dirty="0">
                <a:solidFill>
                  <a:srgbClr val="FF3300"/>
                </a:solidFill>
                <a:latin typeface="Courier" pitchFamily="2" charset="0"/>
              </a:rPr>
              <a:t>B</a:t>
            </a:r>
            <a:r>
              <a:rPr lang="en-US" altLang="zh-CN" dirty="0">
                <a:solidFill>
                  <a:srgbClr val="FF3300"/>
                </a:solidFill>
                <a:latin typeface="Courier" pitchFamily="2" charset="0"/>
              </a:rPr>
              <a:t>[</a:t>
            </a:r>
            <a:r>
              <a:rPr lang="en-US" altLang="zh-CN" i="1" dirty="0">
                <a:solidFill>
                  <a:srgbClr val="FF3300"/>
                </a:solidFill>
                <a:latin typeface="Courier" pitchFamily="2" charset="0"/>
              </a:rPr>
              <a:t>k</a:t>
            </a:r>
            <a:r>
              <a:rPr lang="en-US" altLang="zh-CN" dirty="0">
                <a:solidFill>
                  <a:srgbClr val="FF3300"/>
                </a:solidFill>
                <a:latin typeface="Courier" pitchFamily="2" charset="0"/>
              </a:rPr>
              <a:t>, </a:t>
            </a:r>
            <a:r>
              <a:rPr lang="en-US" altLang="zh-CN" i="1" dirty="0">
                <a:solidFill>
                  <a:srgbClr val="FF3300"/>
                </a:solidFill>
                <a:latin typeface="Courier" pitchFamily="2" charset="0"/>
              </a:rPr>
              <a:t>j</a:t>
            </a:r>
            <a:r>
              <a:rPr lang="en-US" altLang="zh-CN" dirty="0">
                <a:solidFill>
                  <a:srgbClr val="FF3300"/>
                </a:solidFill>
                <a:latin typeface="Courier" pitchFamily="2" charset="0"/>
              </a:rPr>
              <a:t>]</a:t>
            </a:r>
          </a:p>
          <a:p>
            <a:pPr marL="800100" lvl="2" indent="0">
              <a:buNone/>
            </a:pPr>
            <a:r>
              <a:rPr lang="en-US" altLang="zh-CN" dirty="0">
                <a:latin typeface="Courier" pitchFamily="2" charset="0"/>
              </a:rPr>
              <a:t>		</a:t>
            </a:r>
            <a:r>
              <a:rPr lang="en-US" altLang="zh-CN" i="1" dirty="0">
                <a:latin typeface="Courier" pitchFamily="2" charset="0"/>
              </a:rPr>
              <a:t> 	C</a:t>
            </a:r>
            <a:r>
              <a:rPr lang="en-US" altLang="zh-CN" dirty="0">
                <a:latin typeface="Courier" pitchFamily="2" charset="0"/>
              </a:rPr>
              <a:t>[</a:t>
            </a:r>
            <a:r>
              <a:rPr lang="en-US" altLang="zh-CN" i="1" dirty="0" err="1">
                <a:latin typeface="Courier" pitchFamily="2" charset="0"/>
              </a:rPr>
              <a:t>i</a:t>
            </a:r>
            <a:r>
              <a:rPr lang="en-US" altLang="zh-CN" dirty="0">
                <a:latin typeface="Courier" pitchFamily="2" charset="0"/>
              </a:rPr>
              <a:t>, </a:t>
            </a:r>
            <a:r>
              <a:rPr lang="en-US" altLang="zh-CN" i="1" dirty="0">
                <a:latin typeface="Courier" pitchFamily="2" charset="0"/>
              </a:rPr>
              <a:t>j</a:t>
            </a:r>
            <a:r>
              <a:rPr lang="en-US" altLang="zh-CN" dirty="0">
                <a:latin typeface="Courier" pitchFamily="2" charset="0"/>
              </a:rPr>
              <a:t>] = s</a:t>
            </a:r>
          </a:p>
          <a:p>
            <a:pPr marL="800100" lvl="2" indent="0">
              <a:buNone/>
            </a:pPr>
            <a:r>
              <a:rPr lang="en-US" altLang="zh-CN" dirty="0">
                <a:latin typeface="Courier" pitchFamily="2" charset="0"/>
              </a:rPr>
              <a:t>		end for</a:t>
            </a:r>
          </a:p>
          <a:p>
            <a:pPr marL="800100" lvl="2" indent="0">
              <a:buNone/>
            </a:pPr>
            <a:r>
              <a:rPr lang="en-US" altLang="zh-CN" dirty="0">
                <a:latin typeface="Courier" pitchFamily="2" charset="0"/>
              </a:rPr>
              <a:t>end for</a:t>
            </a:r>
          </a:p>
          <a:p>
            <a:pPr marL="0" indent="0">
              <a:buNone/>
            </a:pPr>
            <a:r>
              <a:rPr lang="en-US" altLang="zh-CN" sz="2400" dirty="0"/>
              <a:t>How many multiplications are executed?</a:t>
            </a:r>
          </a:p>
          <a:p>
            <a:pPr marL="0" indent="0">
              <a:buNone/>
            </a:pPr>
            <a:endParaRPr lang="en-US" altLang="zh-CN" dirty="0"/>
          </a:p>
        </p:txBody>
      </p:sp>
      <p:sp>
        <p:nvSpPr>
          <p:cNvPr id="5" name="Slide Number Placeholder 4"/>
          <p:cNvSpPr>
            <a:spLocks noGrp="1"/>
          </p:cNvSpPr>
          <p:nvPr>
            <p:ph type="sldNum" sz="quarter" idx="12"/>
          </p:nvPr>
        </p:nvSpPr>
        <p:spPr/>
        <p:txBody>
          <a:bodyPr/>
          <a:lstStyle/>
          <a:p>
            <a:fld id="{5EC735E3-5B29-4F54-8FB9-022B0DB6C884}" type="slidenum">
              <a:rPr lang="en-US" smtClean="0"/>
              <a:pPr/>
              <a:t>9</a:t>
            </a:fld>
            <a:endParaRPr lang="en-US"/>
          </a:p>
        </p:txBody>
      </p:sp>
    </p:spTree>
    <p:extLst>
      <p:ext uri="{BB962C8B-B14F-4D97-AF65-F5344CB8AC3E}">
        <p14:creationId xmlns:p14="http://schemas.microsoft.com/office/powerpoint/2010/main" val="2007554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382000" cy="715962"/>
          </a:xfrm>
        </p:spPr>
        <p:txBody>
          <a:bodyPr/>
          <a:lstStyle/>
          <a:p>
            <a:r>
              <a:rPr lang="en-US" b="1" dirty="0">
                <a:solidFill>
                  <a:schemeClr val="tx1"/>
                </a:solidFill>
              </a:rPr>
              <a:t>Solution:</a:t>
            </a:r>
          </a:p>
        </p:txBody>
      </p:sp>
      <p:sp>
        <p:nvSpPr>
          <p:cNvPr id="3" name="Content Placeholder 2"/>
          <p:cNvSpPr>
            <a:spLocks noGrp="1"/>
          </p:cNvSpPr>
          <p:nvPr>
            <p:ph idx="1"/>
          </p:nvPr>
        </p:nvSpPr>
        <p:spPr>
          <a:xfrm>
            <a:off x="228600" y="990600"/>
            <a:ext cx="8686800" cy="5257800"/>
          </a:xfrm>
        </p:spPr>
        <p:txBody>
          <a:bodyPr/>
          <a:lstStyle/>
          <a:p>
            <a:pPr algn="just">
              <a:buClr>
                <a:schemeClr val="bg1"/>
              </a:buClr>
            </a:pPr>
            <a:r>
              <a:rPr lang="en-US" sz="2400" dirty="0"/>
              <a:t>The multiplication operation is in the “loop k”, so it will be executed as many times as the total number of iterations the program will enter “loop k” :</a:t>
            </a:r>
          </a:p>
          <a:p>
            <a:pPr algn="just">
              <a:buClr>
                <a:schemeClr val="bg1"/>
              </a:buClr>
            </a:pPr>
            <a:r>
              <a:rPr lang="en-US" sz="2400" dirty="0"/>
              <a:t>For </a:t>
            </a:r>
            <a:r>
              <a:rPr lang="en-US" sz="2400" b="1" dirty="0">
                <a:solidFill>
                  <a:srgbClr val="FF0000"/>
                </a:solidFill>
              </a:rPr>
              <a:t>a fixed j value</a:t>
            </a:r>
            <a:r>
              <a:rPr lang="en-US" sz="2400" dirty="0"/>
              <a:t>, the program loops through </a:t>
            </a:r>
            <a:r>
              <a:rPr lang="en-US" sz="2400" i="1" dirty="0"/>
              <a:t>“loop k”</a:t>
            </a:r>
            <a:r>
              <a:rPr lang="en-US" sz="2400" dirty="0"/>
              <a:t>  </a:t>
            </a:r>
            <a:r>
              <a:rPr lang="en-US" sz="2400" i="1" dirty="0"/>
              <a:t>p</a:t>
            </a:r>
            <a:r>
              <a:rPr lang="en-US" sz="2400" dirty="0"/>
              <a:t> times, performing the multiplication operation </a:t>
            </a:r>
            <a:r>
              <a:rPr lang="en-US" sz="2400" b="1" i="1" dirty="0">
                <a:solidFill>
                  <a:srgbClr val="FF0000"/>
                </a:solidFill>
              </a:rPr>
              <a:t>p</a:t>
            </a:r>
            <a:r>
              <a:rPr lang="en-US" sz="2400" b="1" dirty="0">
                <a:solidFill>
                  <a:srgbClr val="FF0000"/>
                </a:solidFill>
              </a:rPr>
              <a:t> times</a:t>
            </a:r>
            <a:r>
              <a:rPr lang="en-US" sz="2400" dirty="0"/>
              <a:t>. </a:t>
            </a:r>
          </a:p>
          <a:p>
            <a:pPr algn="just">
              <a:buClr>
                <a:schemeClr val="bg1"/>
              </a:buClr>
            </a:pPr>
            <a:r>
              <a:rPr lang="en-US" sz="2400" dirty="0"/>
              <a:t>Since there are </a:t>
            </a:r>
            <a:r>
              <a:rPr lang="en-US" sz="2400" b="1" i="1" dirty="0">
                <a:solidFill>
                  <a:srgbClr val="FF0000"/>
                </a:solidFill>
              </a:rPr>
              <a:t>n</a:t>
            </a:r>
            <a:r>
              <a:rPr lang="en-US" sz="2400" b="1" dirty="0">
                <a:solidFill>
                  <a:srgbClr val="FF0000"/>
                </a:solidFill>
              </a:rPr>
              <a:t> </a:t>
            </a:r>
            <a:r>
              <a:rPr lang="en-US" sz="2400" dirty="0"/>
              <a:t>different </a:t>
            </a:r>
            <a:r>
              <a:rPr lang="en-US" sz="2400" i="1" dirty="0"/>
              <a:t>j</a:t>
            </a:r>
            <a:r>
              <a:rPr lang="en-US" sz="2400" dirty="0"/>
              <a:t> values, the multiplication operation is performed </a:t>
            </a:r>
            <a:r>
              <a:rPr lang="en-US" b="1" i="1" dirty="0" err="1">
                <a:solidFill>
                  <a:srgbClr val="FF0000"/>
                </a:solidFill>
              </a:rPr>
              <a:t>n</a:t>
            </a:r>
            <a:r>
              <a:rPr lang="en-US" b="1" dirty="0" err="1">
                <a:solidFill>
                  <a:srgbClr val="FF0000"/>
                </a:solidFill>
                <a:sym typeface="Symbol" panose="05050102010706020507" pitchFamily="18" charset="2"/>
              </a:rPr>
              <a:t></a:t>
            </a:r>
            <a:r>
              <a:rPr lang="en-US" b="1" i="1" dirty="0" err="1">
                <a:solidFill>
                  <a:srgbClr val="FF0000"/>
                </a:solidFill>
              </a:rPr>
              <a:t>p</a:t>
            </a:r>
            <a:r>
              <a:rPr lang="en-US" sz="2400" b="1" dirty="0">
                <a:solidFill>
                  <a:srgbClr val="FF0000"/>
                </a:solidFill>
              </a:rPr>
              <a:t> times , </a:t>
            </a:r>
            <a:r>
              <a:rPr lang="en-US" sz="2400" dirty="0"/>
              <a:t>considering the </a:t>
            </a:r>
            <a:r>
              <a:rPr lang="en-US" sz="2400" i="1" dirty="0"/>
              <a:t>“loop j” and “loop k”</a:t>
            </a:r>
            <a:r>
              <a:rPr lang="en-US" sz="2400" dirty="0"/>
              <a:t>.  </a:t>
            </a:r>
          </a:p>
          <a:p>
            <a:pPr algn="just">
              <a:buClr>
                <a:schemeClr val="bg1"/>
              </a:buClr>
            </a:pPr>
            <a:r>
              <a:rPr lang="en-US" sz="2400" dirty="0"/>
              <a:t>Taking into account </a:t>
            </a:r>
            <a:r>
              <a:rPr lang="en-US" sz="2400" i="1" dirty="0"/>
              <a:t>“loop </a:t>
            </a:r>
            <a:r>
              <a:rPr lang="en-US" sz="2400" i="1" dirty="0" err="1"/>
              <a:t>i</a:t>
            </a:r>
            <a:r>
              <a:rPr lang="en-US" sz="2400" i="1" dirty="0"/>
              <a:t>”</a:t>
            </a:r>
            <a:r>
              <a:rPr lang="en-US" sz="2400" dirty="0"/>
              <a:t>, </a:t>
            </a:r>
            <a:r>
              <a:rPr lang="en-US" sz="2400" b="1" dirty="0">
                <a:solidFill>
                  <a:srgbClr val="FF0000"/>
                </a:solidFill>
              </a:rPr>
              <a:t>for each fixed value</a:t>
            </a:r>
            <a:r>
              <a:rPr lang="en-US" sz="2400" b="1" i="1" dirty="0">
                <a:solidFill>
                  <a:srgbClr val="FF0000"/>
                </a:solidFill>
              </a:rPr>
              <a:t> </a:t>
            </a:r>
            <a:r>
              <a:rPr lang="en-US" sz="2400" b="1" i="1" dirty="0" err="1">
                <a:solidFill>
                  <a:srgbClr val="FF0000"/>
                </a:solidFill>
              </a:rPr>
              <a:t>i</a:t>
            </a:r>
            <a:r>
              <a:rPr lang="en-US" sz="2400" dirty="0"/>
              <a:t>, the program iterates through the big </a:t>
            </a:r>
            <a:r>
              <a:rPr lang="en-US" sz="2400" i="1" dirty="0"/>
              <a:t>“loop j” and “loop k”</a:t>
            </a:r>
            <a:r>
              <a:rPr lang="en-US" sz="2400" dirty="0"/>
              <a:t> once (i.e. performing n*p multiplications). Since there are </a:t>
            </a:r>
            <a:r>
              <a:rPr lang="en-US" sz="2400" b="1" i="1" dirty="0">
                <a:solidFill>
                  <a:srgbClr val="FF0000"/>
                </a:solidFill>
              </a:rPr>
              <a:t>m</a:t>
            </a:r>
            <a:r>
              <a:rPr lang="en-US" sz="2400" dirty="0"/>
              <a:t> values for </a:t>
            </a:r>
            <a:r>
              <a:rPr lang="en-US" sz="2400" i="1" dirty="0" err="1"/>
              <a:t>i</a:t>
            </a:r>
            <a:r>
              <a:rPr lang="en-US" sz="2400" dirty="0"/>
              <a:t>, therefore in total the multiplication is performed </a:t>
            </a:r>
            <a:r>
              <a:rPr lang="en-US" sz="2400" b="1" i="1" dirty="0" err="1">
                <a:solidFill>
                  <a:srgbClr val="FF0000"/>
                </a:solidFill>
              </a:rPr>
              <a:t>m</a:t>
            </a:r>
            <a:r>
              <a:rPr lang="en-US" sz="2400" b="1" dirty="0" err="1">
                <a:solidFill>
                  <a:srgbClr val="FF0000"/>
                </a:solidFill>
                <a:sym typeface="Symbol" panose="05050102010706020507" pitchFamily="18" charset="2"/>
              </a:rPr>
              <a:t></a:t>
            </a:r>
            <a:r>
              <a:rPr lang="en-US" sz="2400" b="1" i="1" dirty="0" err="1">
                <a:solidFill>
                  <a:srgbClr val="FF0000"/>
                </a:solidFill>
              </a:rPr>
              <a:t>n</a:t>
            </a:r>
            <a:r>
              <a:rPr lang="en-US" sz="2400" b="1" dirty="0" err="1">
                <a:solidFill>
                  <a:srgbClr val="FF0000"/>
                </a:solidFill>
                <a:sym typeface="Symbol" panose="05050102010706020507" pitchFamily="18" charset="2"/>
              </a:rPr>
              <a:t></a:t>
            </a:r>
            <a:r>
              <a:rPr lang="en-US" sz="2400" b="1" i="1" dirty="0" err="1">
                <a:solidFill>
                  <a:srgbClr val="FF0000"/>
                </a:solidFill>
              </a:rPr>
              <a:t>p</a:t>
            </a:r>
            <a:r>
              <a:rPr lang="en-US" sz="2400" b="1" dirty="0">
                <a:solidFill>
                  <a:srgbClr val="FF0000"/>
                </a:solidFill>
              </a:rPr>
              <a:t> times</a:t>
            </a:r>
            <a:r>
              <a:rPr lang="en-US" sz="2400" dirty="0"/>
              <a:t>.</a:t>
            </a:r>
          </a:p>
          <a:p>
            <a:pPr algn="just"/>
            <a:endParaRPr lang="en-US" sz="2000" dirty="0"/>
          </a:p>
        </p:txBody>
      </p:sp>
      <p:sp>
        <p:nvSpPr>
          <p:cNvPr id="4" name="Slide Number Placeholder 3"/>
          <p:cNvSpPr>
            <a:spLocks noGrp="1"/>
          </p:cNvSpPr>
          <p:nvPr>
            <p:ph type="sldNum" sz="quarter" idx="12"/>
          </p:nvPr>
        </p:nvSpPr>
        <p:spPr/>
        <p:txBody>
          <a:bodyPr/>
          <a:lstStyle/>
          <a:p>
            <a:fld id="{5EC735E3-5B29-4F54-8FB9-022B0DB6C884}" type="slidenum">
              <a:rPr lang="en-US" smtClean="0"/>
              <a:pPr/>
              <a:t>10</a:t>
            </a:fld>
            <a:endParaRPr lang="en-US"/>
          </a:p>
        </p:txBody>
      </p:sp>
    </p:spTree>
    <p:extLst>
      <p:ext uri="{BB962C8B-B14F-4D97-AF65-F5344CB8AC3E}">
        <p14:creationId xmlns:p14="http://schemas.microsoft.com/office/powerpoint/2010/main" val="2557921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solidFill>
                  <a:schemeClr val="tx1"/>
                </a:solidFill>
              </a:rPr>
              <a:t>Example</a:t>
            </a:r>
            <a:endParaRPr lang="en-US" dirty="0">
              <a:solidFill>
                <a:schemeClr val="tx1"/>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8600" y="1143000"/>
                <a:ext cx="8686800" cy="5105400"/>
              </a:xfrm>
            </p:spPr>
            <p:txBody>
              <a:bodyPr/>
              <a:lstStyle/>
              <a:p>
                <a:r>
                  <a:rPr lang="en-US" altLang="zh-CN" sz="2400" b="1" dirty="0">
                    <a:solidFill>
                      <a:srgbClr val="0000FF"/>
                    </a:solidFill>
                  </a:rPr>
                  <a:t>Example </a:t>
                </a:r>
                <a:br>
                  <a:rPr lang="en-US" altLang="zh-CN" sz="2400" b="1" dirty="0">
                    <a:solidFill>
                      <a:srgbClr val="0000FF"/>
                    </a:solidFill>
                  </a:rPr>
                </a:br>
                <a:r>
                  <a:rPr lang="en-US" altLang="zh-CN" sz="2400" dirty="0"/>
                  <a:t>Let </a:t>
                </a:r>
                <a14:m>
                  <m:oMath xmlns:m="http://schemas.openxmlformats.org/officeDocument/2006/math">
                    <m:r>
                      <a:rPr lang="en-US" altLang="zh-CN" sz="2400" i="1" dirty="0" smtClean="0">
                        <a:latin typeface="Cambria Math" panose="02040503050406030204" pitchFamily="18" charset="0"/>
                      </a:rPr>
                      <m:t>𝑆</m:t>
                    </m:r>
                  </m:oMath>
                </a14:m>
                <a:r>
                  <a:rPr lang="en-US" altLang="zh-CN" sz="2400" dirty="0"/>
                  <a:t> be a finite set of cardinality </a:t>
                </a:r>
                <a14:m>
                  <m:oMath xmlns:m="http://schemas.openxmlformats.org/officeDocument/2006/math">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𝑆</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𝑛</m:t>
                    </m:r>
                    <m:r>
                      <a:rPr lang="en-US" altLang="zh-CN" sz="2400" i="1" dirty="0" smtClean="0">
                        <a:latin typeface="Cambria Math" panose="02040503050406030204" pitchFamily="18" charset="0"/>
                      </a:rPr>
                      <m:t>&gt;0</m:t>
                    </m:r>
                  </m:oMath>
                </a14:m>
                <a:r>
                  <a:rPr lang="en-US" altLang="zh-CN" sz="2400" dirty="0"/>
                  <a:t>. How many different subsets of </a:t>
                </a:r>
                <a14:m>
                  <m:oMath xmlns:m="http://schemas.openxmlformats.org/officeDocument/2006/math">
                    <m:r>
                      <a:rPr lang="en-US" altLang="zh-CN" sz="2400" i="1" dirty="0" smtClean="0">
                        <a:latin typeface="Cambria Math" panose="02040503050406030204" pitchFamily="18" charset="0"/>
                      </a:rPr>
                      <m:t>𝑆</m:t>
                    </m:r>
                  </m:oMath>
                </a14:m>
                <a:r>
                  <a:rPr lang="en-US" altLang="zh-CN" sz="2400" dirty="0"/>
                  <a:t> are there? </a:t>
                </a:r>
                <a:r>
                  <a:rPr lang="en-US" altLang="zh-CN" sz="2400" i="1" dirty="0">
                    <a:solidFill>
                      <a:schemeClr val="bg1">
                        <a:lumMod val="50000"/>
                      </a:schemeClr>
                    </a:solidFill>
                  </a:rPr>
                  <a:t>(what is the cardinality of the powerset of </a:t>
                </a:r>
                <a14:m>
                  <m:oMath xmlns:m="http://schemas.openxmlformats.org/officeDocument/2006/math">
                    <m:r>
                      <a:rPr lang="en-US" altLang="zh-CN" i="1" dirty="0">
                        <a:solidFill>
                          <a:schemeClr val="bg1">
                            <a:lumMod val="50000"/>
                          </a:schemeClr>
                        </a:solidFill>
                        <a:latin typeface="Cambria Math" panose="02040503050406030204" pitchFamily="18" charset="0"/>
                      </a:rPr>
                      <m:t>𝑆</m:t>
                    </m:r>
                  </m:oMath>
                </a14:m>
                <a:r>
                  <a:rPr lang="en-US" altLang="zh-CN" sz="2400" i="1" dirty="0">
                    <a:solidFill>
                      <a:schemeClr val="bg1">
                        <a:lumMod val="50000"/>
                      </a:schemeClr>
                    </a:solidFill>
                  </a:rPr>
                  <a:t>?)</a:t>
                </a:r>
                <a:endParaRPr lang="en-US" altLang="zh-CN" sz="2400" i="1" dirty="0"/>
              </a:p>
              <a:p>
                <a:pPr marL="0" indent="0" algn="just">
                  <a:buNone/>
                </a:pPr>
                <a:endParaRPr lang="en-US" altLang="zh-CN" sz="2400" dirty="0"/>
              </a:p>
              <a:p>
                <a:pPr algn="just"/>
                <a:r>
                  <a:rPr lang="en-US" altLang="zh-CN" sz="2400" b="1" dirty="0">
                    <a:solidFill>
                      <a:srgbClr val="FF0000"/>
                    </a:solidFill>
                  </a:rPr>
                  <a:t>How to count subsets?</a:t>
                </a:r>
              </a:p>
              <a:p>
                <a:r>
                  <a:rPr lang="en-US" sz="2400" b="1" dirty="0">
                    <a:solidFill>
                      <a:srgbClr val="0000FF"/>
                    </a:solidFill>
                  </a:rPr>
                  <a:t>Idea: </a:t>
                </a:r>
                <a:r>
                  <a:rPr lang="en-US" sz="2400" dirty="0"/>
                  <a:t>There is a </a:t>
                </a:r>
                <a:r>
                  <a:rPr lang="en-US" sz="2400" i="1" dirty="0"/>
                  <a:t>one-to-one correspondence </a:t>
                </a:r>
                <a:r>
                  <a:rPr lang="en-US" sz="2400" dirty="0"/>
                  <a:t>between subsets of </a:t>
                </a:r>
                <a14:m>
                  <m:oMath xmlns:m="http://schemas.openxmlformats.org/officeDocument/2006/math">
                    <m:r>
                      <a:rPr lang="en-US" sz="2400" i="1" dirty="0" smtClean="0">
                        <a:latin typeface="Cambria Math" panose="02040503050406030204" pitchFamily="18" charset="0"/>
                      </a:rPr>
                      <m:t>𝑆</m:t>
                    </m:r>
                  </m:oMath>
                </a14:m>
                <a:r>
                  <a:rPr lang="en-US" sz="2400" dirty="0"/>
                  <a:t> and bit strings of length </a:t>
                </a:r>
                <a14:m>
                  <m:oMath xmlns:m="http://schemas.openxmlformats.org/officeDocument/2006/math">
                    <m:r>
                      <a:rPr lang="en-US" sz="2400" i="1" dirty="0" smtClean="0">
                        <a:latin typeface="Cambria Math" panose="02040503050406030204" pitchFamily="18" charset="0"/>
                      </a:rPr>
                      <m:t>|</m:t>
                    </m:r>
                    <m:r>
                      <a:rPr lang="en-US" sz="2400" i="1" dirty="0" smtClean="0">
                        <a:latin typeface="Cambria Math" panose="02040503050406030204" pitchFamily="18" charset="0"/>
                      </a:rPr>
                      <m:t>𝑆</m:t>
                    </m:r>
                    <m:r>
                      <a:rPr lang="en-US" sz="2400" i="1" dirty="0" smtClean="0">
                        <a:latin typeface="Cambria Math" panose="02040503050406030204" pitchFamily="18" charset="0"/>
                      </a:rPr>
                      <m:t>|</m:t>
                    </m:r>
                  </m:oMath>
                </a14:m>
                <a:r>
                  <a:rPr lang="en-US" sz="2400" dirty="0"/>
                  <a:t>. </a:t>
                </a:r>
                <a:br>
                  <a:rPr lang="en-US" sz="2400" dirty="0"/>
                </a:br>
                <a:r>
                  <a:rPr lang="en-US" sz="2400" dirty="0"/>
                  <a:t>Therefore, we can count the number of bit strings of length </a:t>
                </a:r>
                <a14:m>
                  <m:oMath xmlns:m="http://schemas.openxmlformats.org/officeDocument/2006/math">
                    <m:r>
                      <a:rPr lang="en-US" sz="2400" i="1" dirty="0" smtClean="0">
                        <a:latin typeface="Cambria Math" panose="02040503050406030204" pitchFamily="18" charset="0"/>
                      </a:rPr>
                      <m:t>|</m:t>
                    </m:r>
                    <m:r>
                      <a:rPr lang="en-US" sz="2400" i="1" dirty="0" smtClean="0">
                        <a:latin typeface="Cambria Math" panose="02040503050406030204" pitchFamily="18" charset="0"/>
                      </a:rPr>
                      <m:t>𝑆</m:t>
                    </m:r>
                    <m:r>
                      <a:rPr lang="en-US" sz="2400" i="1" dirty="0" smtClean="0">
                        <a:latin typeface="Cambria Math" panose="02040503050406030204" pitchFamily="18" charset="0"/>
                      </a:rPr>
                      <m:t>|</m:t>
                    </m:r>
                  </m:oMath>
                </a14:m>
                <a:r>
                  <a:rPr lang="en-US" sz="2400" dirty="0"/>
                  <a:t> instead.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8600" y="1143000"/>
                <a:ext cx="8686800" cy="5105400"/>
              </a:xfrm>
              <a:blipFill>
                <a:blip r:embed="rId2"/>
                <a:stretch>
                  <a:fillRect l="-876" t="-99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11</a:t>
            </a:fld>
            <a:endParaRPr lang="en-US" dirty="0"/>
          </a:p>
        </p:txBody>
      </p:sp>
    </p:spTree>
    <p:extLst>
      <p:ext uri="{BB962C8B-B14F-4D97-AF65-F5344CB8AC3E}">
        <p14:creationId xmlns:p14="http://schemas.microsoft.com/office/powerpoint/2010/main" val="1824248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Solution (cont’d)</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sz="2400" dirty="0"/>
                  <a:t>Let the elements of </a:t>
                </a:r>
                <a14:m>
                  <m:oMath xmlns:m="http://schemas.openxmlformats.org/officeDocument/2006/math">
                    <m:r>
                      <a:rPr lang="en-US" sz="2400" i="1" dirty="0" smtClean="0">
                        <a:latin typeface="Cambria Math" panose="02040503050406030204" pitchFamily="18" charset="0"/>
                      </a:rPr>
                      <m:t>𝑆</m:t>
                    </m:r>
                  </m:oMath>
                </a14:m>
                <a:r>
                  <a:rPr lang="en-US" sz="2400" dirty="0"/>
                  <a:t> be indexed from </a:t>
                </a:r>
                <a14:m>
                  <m:oMath xmlns:m="http://schemas.openxmlformats.org/officeDocument/2006/math">
                    <m:r>
                      <a:rPr lang="en-US" sz="2400" i="1" dirty="0" smtClean="0">
                        <a:latin typeface="Cambria Math" panose="02040503050406030204" pitchFamily="18" charset="0"/>
                      </a:rPr>
                      <m:t>1</m:t>
                    </m:r>
                  </m:oMath>
                </a14:m>
                <a:r>
                  <a:rPr lang="en-US" sz="2400" dirty="0"/>
                  <a:t> to </a:t>
                </a:r>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𝑆</m:t>
                    </m:r>
                    <m:r>
                      <a:rPr lang="en-US" i="1" dirty="0">
                        <a:latin typeface="Cambria Math" panose="02040503050406030204" pitchFamily="18" charset="0"/>
                      </a:rPr>
                      <m:t>|</m:t>
                    </m:r>
                  </m:oMath>
                </a14:m>
                <a:r>
                  <a:rPr lang="en-US" sz="2400" dirty="0"/>
                  <a:t>.</a:t>
                </a:r>
              </a:p>
              <a:p>
                <a:r>
                  <a:rPr lang="en-US" sz="2400" dirty="0"/>
                  <a:t>Each element of </a:t>
                </a:r>
                <a14:m>
                  <m:oMath xmlns:m="http://schemas.openxmlformats.org/officeDocument/2006/math">
                    <m:r>
                      <a:rPr lang="en-US" sz="2400" i="1" dirty="0" smtClean="0">
                        <a:latin typeface="Cambria Math" panose="02040503050406030204" pitchFamily="18" charset="0"/>
                      </a:rPr>
                      <m:t>𝑆</m:t>
                    </m:r>
                  </m:oMath>
                </a14:m>
                <a:r>
                  <a:rPr lang="en-US" sz="2400" dirty="0"/>
                  <a:t> could be either included or not included in a subset. </a:t>
                </a:r>
              </a:p>
              <a:p>
                <a:r>
                  <a:rPr lang="en-US" sz="2400" dirty="0"/>
                  <a:t>A subset of </a:t>
                </a:r>
                <a14:m>
                  <m:oMath xmlns:m="http://schemas.openxmlformats.org/officeDocument/2006/math">
                    <m:r>
                      <a:rPr lang="en-US" sz="2400" i="1" dirty="0" smtClean="0">
                        <a:latin typeface="Cambria Math" panose="02040503050406030204" pitchFamily="18" charset="0"/>
                      </a:rPr>
                      <m:t>𝑆</m:t>
                    </m:r>
                  </m:oMath>
                </a14:m>
                <a:r>
                  <a:rPr lang="en-US" sz="2400" dirty="0"/>
                  <a:t> is associated with the bit string with a “</a:t>
                </a:r>
                <a14:m>
                  <m:oMath xmlns:m="http://schemas.openxmlformats.org/officeDocument/2006/math">
                    <m:r>
                      <a:rPr lang="en-US" sz="2400" i="1" dirty="0" smtClean="0">
                        <a:latin typeface="Cambria Math" panose="02040503050406030204" pitchFamily="18" charset="0"/>
                      </a:rPr>
                      <m:t>1</m:t>
                    </m:r>
                  </m:oMath>
                </a14:m>
                <a:r>
                  <a:rPr lang="en-US" sz="2400" dirty="0"/>
                  <a:t>” in the </a:t>
                </a:r>
                <a14:m>
                  <m:oMath xmlns:m="http://schemas.openxmlformats.org/officeDocument/2006/math">
                    <m:r>
                      <a:rPr lang="en-US" sz="2400" i="1" dirty="0" smtClean="0">
                        <a:latin typeface="Cambria Math" panose="02040503050406030204" pitchFamily="18" charset="0"/>
                      </a:rPr>
                      <m:t>𝑖</m:t>
                    </m:r>
                  </m:oMath>
                </a14:m>
                <a:r>
                  <a:rPr lang="en-US" sz="2400" dirty="0"/>
                  <a:t>-</a:t>
                </a:r>
                <a:r>
                  <a:rPr lang="en-US" sz="2400" dirty="0" err="1"/>
                  <a:t>th</a:t>
                </a:r>
                <a:r>
                  <a:rPr lang="en-US" sz="2400" dirty="0"/>
                  <a:t> position if the </a:t>
                </a:r>
                <a14:m>
                  <m:oMath xmlns:m="http://schemas.openxmlformats.org/officeDocument/2006/math">
                    <m:r>
                      <a:rPr lang="en-US" sz="2400" i="1" dirty="0" smtClean="0">
                        <a:latin typeface="Cambria Math" panose="02040503050406030204" pitchFamily="18" charset="0"/>
                      </a:rPr>
                      <m:t>𝑖</m:t>
                    </m:r>
                  </m:oMath>
                </a14:m>
                <a:r>
                  <a:rPr lang="en-US" sz="2400" dirty="0"/>
                  <a:t>-</a:t>
                </a:r>
                <a:r>
                  <a:rPr lang="en-US" sz="2400" dirty="0" err="1"/>
                  <a:t>th</a:t>
                </a:r>
                <a:r>
                  <a:rPr lang="en-US" sz="2400" dirty="0"/>
                  <a:t> element is in the subset, and 0 in this position otherwise. </a:t>
                </a:r>
              </a:p>
              <a:p>
                <a:r>
                  <a:rPr lang="en-US" sz="2400" dirty="0"/>
                  <a:t>By the </a:t>
                </a:r>
                <a:r>
                  <a:rPr lang="en-US" sz="2400" i="1" dirty="0"/>
                  <a:t>product rule</a:t>
                </a:r>
                <a:r>
                  <a:rPr lang="en-US" sz="2400" dirty="0"/>
                  <a:t>, there are </a:t>
                </a:r>
                <a14:m>
                  <m:oMath xmlns:m="http://schemas.openxmlformats.org/officeDocument/2006/math">
                    <m:sSup>
                      <m:sSupPr>
                        <m:ctrlPr>
                          <a:rPr lang="en-US" sz="2400" i="1" dirty="0" smtClean="0">
                            <a:latin typeface="Cambria Math" panose="02040503050406030204" pitchFamily="18" charset="0"/>
                          </a:rPr>
                        </m:ctrlPr>
                      </m:sSupPr>
                      <m:e>
                        <m:r>
                          <a:rPr lang="en-US" sz="2400" i="1" dirty="0" smtClean="0">
                            <a:latin typeface="Cambria Math" panose="02040503050406030204" pitchFamily="18" charset="0"/>
                          </a:rPr>
                          <m:t>2</m:t>
                        </m:r>
                      </m:e>
                      <m:sup>
                        <m:r>
                          <a:rPr lang="en-US" sz="2400" b="0" i="1" dirty="0" smtClean="0">
                            <a:latin typeface="Cambria Math" panose="02040503050406030204" pitchFamily="18" charset="0"/>
                          </a:rPr>
                          <m:t>|</m:t>
                        </m:r>
                        <m:r>
                          <a:rPr lang="en-US" sz="2400" b="0" i="1" dirty="0" smtClean="0">
                            <a:latin typeface="Cambria Math" panose="02040503050406030204" pitchFamily="18" charset="0"/>
                          </a:rPr>
                          <m:t>𝑆</m:t>
                        </m:r>
                        <m:r>
                          <a:rPr lang="en-US" sz="2400" b="0" i="1" dirty="0" smtClean="0">
                            <a:latin typeface="Cambria Math" panose="02040503050406030204" pitchFamily="18" charset="0"/>
                          </a:rPr>
                          <m:t>|</m:t>
                        </m:r>
                      </m:sup>
                    </m:sSup>
                  </m:oMath>
                </a14:m>
                <a:r>
                  <a:rPr lang="en-US" sz="2400" baseline="30000" dirty="0"/>
                  <a:t>  </a:t>
                </a:r>
                <a:r>
                  <a:rPr lang="en-US" sz="2400" dirty="0"/>
                  <a:t>bit strings of length </a:t>
                </a:r>
                <a14:m>
                  <m:oMath xmlns:m="http://schemas.openxmlformats.org/officeDocument/2006/math">
                    <m:r>
                      <a:rPr lang="en-US" sz="2400" i="1" dirty="0" smtClean="0">
                        <a:latin typeface="Cambria Math" panose="02040503050406030204" pitchFamily="18" charset="0"/>
                      </a:rPr>
                      <m:t>|</m:t>
                    </m:r>
                    <m:r>
                      <a:rPr lang="en-US" sz="2400" i="1" dirty="0" smtClean="0">
                        <a:latin typeface="Cambria Math" panose="02040503050406030204" pitchFamily="18" charset="0"/>
                      </a:rPr>
                      <m:t>𝑆</m:t>
                    </m:r>
                    <m:r>
                      <a:rPr lang="en-US" sz="2400" i="1" dirty="0" smtClean="0">
                        <a:latin typeface="Cambria Math" panose="02040503050406030204" pitchFamily="18" charset="0"/>
                      </a:rPr>
                      <m:t>|</m:t>
                    </m:r>
                  </m:oMath>
                </a14:m>
                <a:r>
                  <a:rPr lang="en-US" sz="2400" dirty="0"/>
                  <a:t>. Therefore, there are </a:t>
                </a:r>
                <a14:m>
                  <m:oMath xmlns:m="http://schemas.openxmlformats.org/officeDocument/2006/math">
                    <m:sSup>
                      <m:sSupPr>
                        <m:ctrlPr>
                          <a:rPr lang="en-US" i="1" dirty="0">
                            <a:latin typeface="Cambria Math" panose="02040503050406030204" pitchFamily="18" charset="0"/>
                          </a:rPr>
                        </m:ctrlPr>
                      </m:sSupPr>
                      <m:e>
                        <m:r>
                          <a:rPr lang="en-US" i="1" dirty="0">
                            <a:latin typeface="Cambria Math" panose="02040503050406030204" pitchFamily="18" charset="0"/>
                          </a:rPr>
                          <m:t>2</m:t>
                        </m:r>
                      </m:e>
                      <m:sup>
                        <m:r>
                          <a:rPr lang="en-US" i="1" dirty="0">
                            <a:latin typeface="Cambria Math" panose="02040503050406030204" pitchFamily="18" charset="0"/>
                          </a:rPr>
                          <m:t>|</m:t>
                        </m:r>
                        <m:r>
                          <a:rPr lang="en-US" i="1" dirty="0">
                            <a:latin typeface="Cambria Math" panose="02040503050406030204" pitchFamily="18" charset="0"/>
                          </a:rPr>
                          <m:t>𝑆</m:t>
                        </m:r>
                        <m:r>
                          <a:rPr lang="en-US" i="1" dirty="0">
                            <a:latin typeface="Cambria Math" panose="02040503050406030204" pitchFamily="18" charset="0"/>
                          </a:rPr>
                          <m:t>|</m:t>
                        </m:r>
                      </m:sup>
                    </m:sSup>
                  </m:oMath>
                </a14:m>
                <a:r>
                  <a:rPr lang="en-US" sz="2400" dirty="0"/>
                  <a:t> subsets. </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22" t="-136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12</a:t>
            </a:fld>
            <a:endParaRPr lang="en-US"/>
          </a:p>
        </p:txBody>
      </p:sp>
    </p:spTree>
    <p:extLst>
      <p:ext uri="{BB962C8B-B14F-4D97-AF65-F5344CB8AC3E}">
        <p14:creationId xmlns:p14="http://schemas.microsoft.com/office/powerpoint/2010/main" val="4049923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00FF"/>
                </a:solidFill>
              </a:rPr>
              <a:t>Exercise</a:t>
            </a:r>
            <a:r>
              <a:rPr lang="en-US" altLang="zh-CN" dirty="0">
                <a:solidFill>
                  <a:schemeClr val="tx1"/>
                </a:solidFill>
              </a:rPr>
              <a:t> on License Plates</a:t>
            </a:r>
            <a:endParaRPr lang="zh-CN" altLang="en-US" dirty="0">
              <a:solidFill>
                <a:schemeClr val="tx1"/>
              </a:solidFill>
            </a:endParaRPr>
          </a:p>
        </p:txBody>
      </p:sp>
      <p:sp>
        <p:nvSpPr>
          <p:cNvPr id="3" name="内容占位符 2"/>
          <p:cNvSpPr>
            <a:spLocks noGrp="1"/>
          </p:cNvSpPr>
          <p:nvPr>
            <p:ph idx="1"/>
          </p:nvPr>
        </p:nvSpPr>
        <p:spPr>
          <a:xfrm>
            <a:off x="228600" y="1219200"/>
            <a:ext cx="8686800" cy="5486400"/>
          </a:xfrm>
        </p:spPr>
        <p:txBody>
          <a:bodyPr/>
          <a:lstStyle/>
          <a:p>
            <a:r>
              <a:rPr lang="en-US" altLang="zh-CN" sz="2400" dirty="0"/>
              <a:t>Assume each car has a license plate that starts with 3 uppercase English letters, followed by 4 decimal digits. The first digit cannot be zero. How many different license plates can exist?</a:t>
            </a:r>
          </a:p>
          <a:p>
            <a:r>
              <a:rPr lang="en-US" altLang="zh-CN" dirty="0"/>
              <a:t>Hint: the license plate has the form </a:t>
            </a:r>
            <a:r>
              <a:rPr lang="en-US" altLang="zh-CN" i="1" dirty="0"/>
              <a:t>LLL</a:t>
            </a:r>
            <a:r>
              <a:rPr lang="en-US" altLang="zh-CN" i="1" dirty="0">
                <a:solidFill>
                  <a:srgbClr val="0000FF"/>
                </a:solidFill>
              </a:rPr>
              <a:t>D</a:t>
            </a:r>
            <a:r>
              <a:rPr lang="en-US" altLang="zh-CN" i="1" dirty="0"/>
              <a:t>DDD</a:t>
            </a:r>
            <a:r>
              <a:rPr lang="en-US" altLang="zh-CN" dirty="0"/>
              <a:t>, where </a:t>
            </a:r>
            <a:r>
              <a:rPr lang="en-US" altLang="zh-CN" i="1" dirty="0"/>
              <a:t>L</a:t>
            </a:r>
            <a:r>
              <a:rPr lang="en-US" altLang="zh-CN" dirty="0"/>
              <a:t> must be one of 26 letters (A,B,..,Z), and </a:t>
            </a:r>
            <a:r>
              <a:rPr lang="en-US" altLang="zh-CN" i="1" dirty="0"/>
              <a:t>D</a:t>
            </a:r>
            <a:r>
              <a:rPr lang="en-US" altLang="zh-CN" dirty="0"/>
              <a:t> must be one of 10 digits (0,1,..,9), </a:t>
            </a:r>
            <a:r>
              <a:rPr lang="en-US" altLang="zh-CN" dirty="0">
                <a:solidFill>
                  <a:srgbClr val="0000FF"/>
                </a:solidFill>
              </a:rPr>
              <a:t>except for the first digit ≠0</a:t>
            </a:r>
            <a:r>
              <a:rPr lang="en-US" altLang="zh-CN" dirty="0"/>
              <a:t>. </a:t>
            </a:r>
          </a:p>
          <a:p>
            <a:r>
              <a:rPr lang="en-US" altLang="zh-CN" dirty="0"/>
              <a:t>There are 26 options for each letter, 9 options for the first digit, and 10 options for the remaining 3 digits.</a:t>
            </a:r>
          </a:p>
          <a:p>
            <a:r>
              <a:rPr lang="en-US" altLang="zh-CN" dirty="0"/>
              <a:t>Total number of options 26</a:t>
            </a:r>
            <a:r>
              <a:rPr lang="en-US" altLang="zh-CN" baseline="30000" dirty="0"/>
              <a:t>3</a:t>
            </a:r>
            <a:r>
              <a:rPr lang="en-US" altLang="zh-CN" dirty="0">
                <a:sym typeface="Symbol" panose="05050102010706020507" pitchFamily="18" charset="2"/>
              </a:rPr>
              <a:t></a:t>
            </a:r>
            <a:r>
              <a:rPr lang="en-US" altLang="zh-CN" dirty="0"/>
              <a:t>9</a:t>
            </a:r>
            <a:r>
              <a:rPr lang="en-US" altLang="zh-CN" dirty="0">
                <a:sym typeface="Symbol" panose="05050102010706020507" pitchFamily="18" charset="2"/>
              </a:rPr>
              <a:t></a:t>
            </a:r>
            <a:r>
              <a:rPr lang="en-US" altLang="zh-CN" dirty="0"/>
              <a:t>10</a:t>
            </a:r>
            <a:r>
              <a:rPr lang="en-US" altLang="zh-CN" baseline="30000" dirty="0"/>
              <a:t>3</a:t>
            </a:r>
            <a:r>
              <a:rPr lang="en-US" altLang="zh-CN" dirty="0">
                <a:sym typeface="Symbol" panose="05050102010706020507" pitchFamily="18" charset="2"/>
              </a:rPr>
              <a:t></a:t>
            </a:r>
            <a:endParaRPr lang="en-US" altLang="zh-CN" dirty="0"/>
          </a:p>
          <a:p>
            <a:pPr marL="0" indent="0" algn="just">
              <a:buNone/>
            </a:pPr>
            <a:endParaRPr lang="en-US" altLang="zh-CN" sz="2000" dirty="0"/>
          </a:p>
        </p:txBody>
      </p:sp>
      <p:sp>
        <p:nvSpPr>
          <p:cNvPr id="5" name="Slide Number Placeholder 4"/>
          <p:cNvSpPr>
            <a:spLocks noGrp="1"/>
          </p:cNvSpPr>
          <p:nvPr>
            <p:ph type="sldNum" sz="quarter" idx="12"/>
          </p:nvPr>
        </p:nvSpPr>
        <p:spPr/>
        <p:txBody>
          <a:bodyPr/>
          <a:lstStyle/>
          <a:p>
            <a:fld id="{5EC735E3-5B29-4F54-8FB9-022B0DB6C884}" type="slidenum">
              <a:rPr lang="en-US" smtClean="0"/>
              <a:pPr/>
              <a:t>13</a:t>
            </a:fld>
            <a:endParaRPr lang="en-US"/>
          </a:p>
        </p:txBody>
      </p:sp>
    </p:spTree>
    <p:extLst>
      <p:ext uri="{BB962C8B-B14F-4D97-AF65-F5344CB8AC3E}">
        <p14:creationId xmlns:p14="http://schemas.microsoft.com/office/powerpoint/2010/main" val="307497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solidFill>
                  <a:srgbClr val="0000FF"/>
                </a:solidFill>
              </a:rPr>
              <a:t>Exercise</a:t>
            </a:r>
            <a:r>
              <a:rPr lang="en-US" altLang="zh-CN" dirty="0">
                <a:solidFill>
                  <a:schemeClr val="tx1"/>
                </a:solidFill>
              </a:rPr>
              <a:t> on Dice</a:t>
            </a:r>
            <a:endParaRPr lang="en-US" dirty="0"/>
          </a:p>
        </p:txBody>
      </p:sp>
      <p:sp>
        <p:nvSpPr>
          <p:cNvPr id="3" name="Content Placeholder 2"/>
          <p:cNvSpPr>
            <a:spLocks noGrp="1"/>
          </p:cNvSpPr>
          <p:nvPr>
            <p:ph idx="1"/>
          </p:nvPr>
        </p:nvSpPr>
        <p:spPr>
          <a:xfrm>
            <a:off x="0" y="990600"/>
            <a:ext cx="8763000" cy="5181600"/>
          </a:xfrm>
        </p:spPr>
        <p:txBody>
          <a:bodyPr/>
          <a:lstStyle/>
          <a:p>
            <a:pPr lvl="0"/>
            <a:r>
              <a:rPr lang="en-US" dirty="0"/>
              <a:t>How many ways are there to roll 2 different dice such that the product is an odd number?</a:t>
            </a:r>
          </a:p>
          <a:p>
            <a:r>
              <a:rPr lang="en-US" dirty="0"/>
              <a:t>Solution: For the product to be odd, both numbers should be odd. There are 3x3=9 ways for both dice to be odd. </a:t>
            </a:r>
          </a:p>
          <a:p>
            <a:r>
              <a:rPr lang="en-US" dirty="0"/>
              <a:t>How many ways are there to roll 2 different dice such that the product is an even number?</a:t>
            </a:r>
          </a:p>
          <a:p>
            <a:r>
              <a:rPr lang="en-US" dirty="0"/>
              <a:t>There is a total of 36 combinations. 36-9=27 have even product.</a:t>
            </a:r>
          </a:p>
          <a:p>
            <a:endParaRPr lang="en-US" dirty="0"/>
          </a:p>
        </p:txBody>
      </p:sp>
      <p:sp>
        <p:nvSpPr>
          <p:cNvPr id="4" name="Slide Number Placeholder 3"/>
          <p:cNvSpPr>
            <a:spLocks noGrp="1"/>
          </p:cNvSpPr>
          <p:nvPr>
            <p:ph type="sldNum" sz="quarter" idx="12"/>
          </p:nvPr>
        </p:nvSpPr>
        <p:spPr/>
        <p:txBody>
          <a:bodyPr/>
          <a:lstStyle/>
          <a:p>
            <a:fld id="{5EC735E3-5B29-4F54-8FB9-022B0DB6C884}" type="slidenum">
              <a:rPr lang="en-US" smtClean="0"/>
              <a:pPr/>
              <a:t>14</a:t>
            </a:fld>
            <a:endParaRPr lang="en-US"/>
          </a:p>
        </p:txBody>
      </p:sp>
    </p:spTree>
    <p:extLst>
      <p:ext uri="{BB962C8B-B14F-4D97-AF65-F5344CB8AC3E}">
        <p14:creationId xmlns:p14="http://schemas.microsoft.com/office/powerpoint/2010/main" val="1001394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00FF"/>
                </a:solidFill>
              </a:rPr>
              <a:t>Sum Rule</a:t>
            </a:r>
            <a:endParaRPr lang="zh-CN" altLang="en-US" dirty="0">
              <a:solidFill>
                <a:srgbClr val="0000FF"/>
              </a:solidFill>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228600" y="1600200"/>
                <a:ext cx="8686800" cy="3352800"/>
              </a:xfrm>
            </p:spPr>
            <p:txBody>
              <a:bodyPr/>
              <a:lstStyle/>
              <a:p>
                <a:pPr marL="0" indent="0">
                  <a:buNone/>
                </a:pPr>
                <a:r>
                  <a:rPr lang="en-US" altLang="zh-CN" dirty="0"/>
                  <a:t>Suppose a procedure can be carried out by </a:t>
                </a:r>
                <a:r>
                  <a:rPr lang="en-US" altLang="zh-CN" dirty="0">
                    <a:solidFill>
                      <a:srgbClr val="FF0000"/>
                    </a:solidFill>
                  </a:rPr>
                  <a:t>one</a:t>
                </a:r>
                <a:r>
                  <a:rPr lang="en-US" altLang="zh-CN" dirty="0"/>
                  <a:t> of </a:t>
                </a:r>
                <a14:m>
                  <m:oMath xmlns:m="http://schemas.openxmlformats.org/officeDocument/2006/math">
                    <m:r>
                      <a:rPr lang="en-US" altLang="zh-CN" i="1" dirty="0" smtClean="0">
                        <a:latin typeface="Cambria Math" panose="02040503050406030204" pitchFamily="18" charset="0"/>
                      </a:rPr>
                      <m:t>𝑚</m:t>
                    </m:r>
                    <m:r>
                      <a:rPr lang="en-US" altLang="zh-CN" i="1" dirty="0" smtClean="0">
                        <a:latin typeface="Cambria Math" panose="02040503050406030204" pitchFamily="18" charset="0"/>
                      </a:rPr>
                      <m:t>&gt;1</m:t>
                    </m:r>
                  </m:oMath>
                </a14:m>
                <a:r>
                  <a:rPr lang="en-US" altLang="zh-CN" dirty="0"/>
                  <a:t> </a:t>
                </a:r>
                <a:r>
                  <a:rPr lang="en-US" altLang="zh-CN" b="1" dirty="0"/>
                  <a:t>different</a:t>
                </a:r>
                <a:r>
                  <a:rPr lang="en-US" altLang="zh-CN" dirty="0"/>
                  <a:t> methods,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𝑇</m:t>
                        </m:r>
                      </m:e>
                      <m:sub>
                        <m:r>
                          <a:rPr lang="en-US" altLang="zh-CN" b="0" i="1" dirty="0" smtClean="0">
                            <a:latin typeface="Cambria Math" panose="02040503050406030204" pitchFamily="18" charset="0"/>
                          </a:rPr>
                          <m:t>1</m:t>
                        </m:r>
                      </m:sub>
                    </m:sSub>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𝑇</m:t>
                        </m:r>
                      </m:e>
                      <m:sub>
                        <m:r>
                          <a:rPr lang="en-US" altLang="zh-CN" b="0" i="1" dirty="0" smtClean="0">
                            <a:latin typeface="Cambria Math" panose="02040503050406030204" pitchFamily="18" charset="0"/>
                          </a:rPr>
                          <m:t>2</m:t>
                        </m:r>
                      </m:sub>
                    </m:sSub>
                    <m:r>
                      <a:rPr lang="en-US" altLang="zh-CN" i="1" dirty="0">
                        <a:latin typeface="Cambria Math" panose="02040503050406030204" pitchFamily="18" charset="0"/>
                      </a:rPr>
                      <m:t>, … ,</m:t>
                    </m:r>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𝑇</m:t>
                        </m:r>
                      </m:e>
                      <m:sub>
                        <m:r>
                          <a:rPr lang="en-US" altLang="zh-CN" b="0" i="1" dirty="0" smtClean="0">
                            <a:latin typeface="Cambria Math" panose="02040503050406030204" pitchFamily="18" charset="0"/>
                          </a:rPr>
                          <m:t>𝑚</m:t>
                        </m:r>
                      </m:sub>
                    </m:sSub>
                  </m:oMath>
                </a14:m>
                <a:r>
                  <a:rPr lang="en-US" altLang="zh-CN" dirty="0"/>
                  <a:t>. If each method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𝑇</m:t>
                        </m:r>
                      </m:e>
                      <m:sub>
                        <m:r>
                          <a:rPr lang="en-US" altLang="zh-CN" b="0" i="1" dirty="0" smtClean="0">
                            <a:latin typeface="Cambria Math" panose="02040503050406030204" pitchFamily="18" charset="0"/>
                          </a:rPr>
                          <m:t>𝑖</m:t>
                        </m:r>
                      </m:sub>
                    </m:sSub>
                  </m:oMath>
                </a14:m>
                <a:r>
                  <a:rPr lang="en-US" altLang="zh-CN" dirty="0"/>
                  <a:t> can be done in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𝑛</m:t>
                        </m:r>
                      </m:e>
                      <m:sub>
                        <m:r>
                          <a:rPr lang="en-US" altLang="zh-CN" b="0" i="1" dirty="0" smtClean="0">
                            <a:latin typeface="Cambria Math" panose="02040503050406030204" pitchFamily="18" charset="0"/>
                          </a:rPr>
                          <m:t>𝑖</m:t>
                        </m:r>
                      </m:sub>
                    </m:sSub>
                  </m:oMath>
                </a14:m>
                <a:r>
                  <a:rPr lang="en-US" altLang="zh-CN" dirty="0"/>
                  <a:t> ways and no two methods share at least one way (i.e., the methods are disjoint), then there are totally </a:t>
                </a:r>
                <a14:m>
                  <m:oMath xmlns:m="http://schemas.openxmlformats.org/officeDocument/2006/math">
                    <m:nary>
                      <m:naryPr>
                        <m:chr m:val="∑"/>
                        <m:limLoc m:val="subSup"/>
                        <m:ctrlPr>
                          <a:rPr lang="en-US" altLang="zh-CN" b="1" i="1" smtClean="0">
                            <a:solidFill>
                              <a:srgbClr val="FF0000"/>
                            </a:solidFill>
                            <a:latin typeface="Cambria Math" panose="02040503050406030204" pitchFamily="18" charset="0"/>
                          </a:rPr>
                        </m:ctrlPr>
                      </m:naryPr>
                      <m:sub>
                        <m:r>
                          <m:rPr>
                            <m:brk m:alnAt="25"/>
                          </m:rPr>
                          <a:rPr lang="en-US" altLang="zh-CN" b="1" i="1" smtClean="0">
                            <a:solidFill>
                              <a:srgbClr val="FF0000"/>
                            </a:solidFill>
                            <a:latin typeface="Cambria Math" panose="02040503050406030204" pitchFamily="18" charset="0"/>
                          </a:rPr>
                          <m:t>𝒊</m:t>
                        </m:r>
                        <m: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𝟏</m:t>
                        </m:r>
                      </m:sub>
                      <m:sup>
                        <m:r>
                          <a:rPr lang="en-US" altLang="zh-CN" b="1" i="1" smtClean="0">
                            <a:solidFill>
                              <a:srgbClr val="FF0000"/>
                            </a:solidFill>
                            <a:latin typeface="Cambria Math" panose="02040503050406030204" pitchFamily="18" charset="0"/>
                          </a:rPr>
                          <m:t>𝒎</m:t>
                        </m:r>
                      </m:sup>
                      <m:e>
                        <m:sSub>
                          <m:sSubPr>
                            <m:ctrlPr>
                              <a:rPr lang="en-US" altLang="zh-CN" b="1" i="1" smtClean="0">
                                <a:solidFill>
                                  <a:srgbClr val="FF0000"/>
                                </a:solidFill>
                                <a:latin typeface="Cambria Math" panose="02040503050406030204" pitchFamily="18" charset="0"/>
                              </a:rPr>
                            </m:ctrlPr>
                          </m:sSubPr>
                          <m:e>
                            <m:r>
                              <a:rPr lang="en-US" altLang="zh-CN" b="1" i="1" smtClean="0">
                                <a:solidFill>
                                  <a:srgbClr val="FF0000"/>
                                </a:solidFill>
                                <a:latin typeface="Cambria Math" panose="02040503050406030204" pitchFamily="18" charset="0"/>
                              </a:rPr>
                              <m:t>𝒏</m:t>
                            </m:r>
                          </m:e>
                          <m:sub>
                            <m:r>
                              <a:rPr lang="en-US" altLang="zh-CN" b="1" i="1" smtClean="0">
                                <a:solidFill>
                                  <a:srgbClr val="FF0000"/>
                                </a:solidFill>
                                <a:latin typeface="Cambria Math" panose="02040503050406030204" pitchFamily="18" charset="0"/>
                              </a:rPr>
                              <m:t>𝒊</m:t>
                            </m:r>
                          </m:sub>
                        </m:sSub>
                      </m:e>
                    </m:nary>
                  </m:oMath>
                </a14:m>
                <a:r>
                  <a:rPr lang="en-US" altLang="zh-CN" dirty="0"/>
                  <a:t> different ways to carry out the procedure.</a:t>
                </a:r>
              </a:p>
              <a:p>
                <a:pPr marL="0" indent="0">
                  <a:buNone/>
                </a:pPr>
                <a:endParaRPr lang="en-US" altLang="zh-CN" dirty="0"/>
              </a:p>
              <a:p>
                <a:pPr marL="0" indent="0">
                  <a:buNone/>
                </a:pPr>
                <a:r>
                  <a:rPr lang="en-US" altLang="zh-CN" dirty="0"/>
                  <a:t>Note that the sum rule can only be applied if the methods are different (non-overlapping). Otherwise, we need to apply the </a:t>
                </a:r>
                <a:r>
                  <a:rPr lang="en-US" altLang="zh-CN" b="1" dirty="0"/>
                  <a:t>inclusion-exclusion principle</a:t>
                </a:r>
                <a:r>
                  <a:rPr lang="en-US" altLang="zh-CN" dirty="0"/>
                  <a:t> which will be studied later.</a:t>
                </a:r>
              </a:p>
              <a:p>
                <a:pPr marL="0" indent="0">
                  <a:buNone/>
                </a:pPr>
                <a:endParaRPr lang="en-US" altLang="zh-CN"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228600" y="1600200"/>
                <a:ext cx="8686800" cy="3352800"/>
              </a:xfrm>
              <a:blipFill>
                <a:blip r:embed="rId2"/>
                <a:stretch>
                  <a:fillRect l="-5547" t="-1887" r="-1314" b="-20000"/>
                </a:stretch>
              </a:blipFill>
            </p:spPr>
            <p:txBody>
              <a:bodyPr/>
              <a:lstStyle/>
              <a:p>
                <a:r>
                  <a:rPr lang="en-US">
                    <a:noFill/>
                  </a:rPr>
                  <a:t> </a:t>
                </a:r>
              </a:p>
            </p:txBody>
          </p:sp>
        </mc:Fallback>
      </mc:AlternateContent>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3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35"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37"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Slide Number Placeholder 4"/>
          <p:cNvSpPr>
            <a:spLocks noGrp="1"/>
          </p:cNvSpPr>
          <p:nvPr>
            <p:ph type="sldNum" sz="quarter" idx="12"/>
          </p:nvPr>
        </p:nvSpPr>
        <p:spPr/>
        <p:txBody>
          <a:bodyPr/>
          <a:lstStyle/>
          <a:p>
            <a:fld id="{5EC735E3-5B29-4F54-8FB9-022B0DB6C884}"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tx1"/>
                </a:solidFill>
              </a:rPr>
              <a:t>Example</a:t>
            </a:r>
            <a:endParaRPr lang="zh-CN" altLang="en-US" dirty="0">
              <a:solidFill>
                <a:schemeClr val="tx1"/>
              </a:solidFill>
            </a:endParaRPr>
          </a:p>
        </p:txBody>
      </p:sp>
      <p:sp>
        <p:nvSpPr>
          <p:cNvPr id="3" name="内容占位符 2"/>
          <p:cNvSpPr>
            <a:spLocks noGrp="1"/>
          </p:cNvSpPr>
          <p:nvPr>
            <p:ph idx="1"/>
          </p:nvPr>
        </p:nvSpPr>
        <p:spPr>
          <a:xfrm>
            <a:off x="152400" y="956187"/>
            <a:ext cx="8686800" cy="5334000"/>
          </a:xfrm>
        </p:spPr>
        <p:txBody>
          <a:bodyPr/>
          <a:lstStyle/>
          <a:p>
            <a:pPr marL="0" indent="0">
              <a:buNone/>
            </a:pPr>
            <a:r>
              <a:rPr lang="en-US" altLang="zh-CN" dirty="0"/>
              <a:t>There are 15 boys and 18 girls in a class. How many ways are there to </a:t>
            </a:r>
            <a:r>
              <a:rPr lang="en-US" altLang="zh-CN"/>
              <a:t>choose one </a:t>
            </a:r>
            <a:r>
              <a:rPr lang="en-US" altLang="zh-CN" dirty="0"/>
              <a:t>representative (boy or girl) for the class?   </a:t>
            </a:r>
            <a:endParaRPr lang="en-US" altLang="zh-CN" b="1" dirty="0">
              <a:solidFill>
                <a:srgbClr val="0000FF"/>
              </a:solidFill>
            </a:endParaRPr>
          </a:p>
          <a:p>
            <a:r>
              <a:rPr lang="en-US" altLang="zh-CN" b="1" dirty="0">
                <a:solidFill>
                  <a:srgbClr val="0000FF"/>
                </a:solidFill>
              </a:rPr>
              <a:t>Solution</a:t>
            </a:r>
          </a:p>
          <a:p>
            <a:pPr lvl="1"/>
            <a:r>
              <a:rPr lang="en-US" altLang="zh-CN" dirty="0"/>
              <a:t>There are 15 ways to choose a boy representative and 18 ways to choose a girl representative. </a:t>
            </a:r>
          </a:p>
          <a:p>
            <a:pPr lvl="1"/>
            <a:r>
              <a:rPr lang="en-US" altLang="zh-CN" dirty="0"/>
              <a:t>No one is both a boy and a girl.</a:t>
            </a:r>
          </a:p>
          <a:p>
            <a:pPr lvl="1"/>
            <a:r>
              <a:rPr lang="en-US" altLang="zh-CN" dirty="0"/>
              <a:t>By the sum rule it follows that there are 15+18=33 possible ways to pick the representative.</a:t>
            </a:r>
          </a:p>
          <a:p>
            <a:pPr marL="0" indent="0">
              <a:buNone/>
            </a:pPr>
            <a:r>
              <a:rPr lang="en-US" altLang="zh-CN" dirty="0"/>
              <a:t>How many ways are there to choose a boy and a girl representative for the class?</a:t>
            </a:r>
          </a:p>
          <a:p>
            <a:r>
              <a:rPr lang="en-US" altLang="zh-CN" dirty="0"/>
              <a:t>15</a:t>
            </a:r>
            <a:r>
              <a:rPr lang="en-US" altLang="zh-CN" dirty="0">
                <a:sym typeface="Symbol" panose="05050102010706020507" pitchFamily="18" charset="2"/>
              </a:rPr>
              <a:t>18, by the product rule.</a:t>
            </a:r>
            <a:endParaRPr lang="en-US" altLang="zh-CN" dirty="0"/>
          </a:p>
          <a:p>
            <a:pPr algn="just">
              <a:buNone/>
            </a:pPr>
            <a:endParaRPr lang="en-US" altLang="zh-CN" dirty="0"/>
          </a:p>
          <a:p>
            <a:pPr algn="just">
              <a:buNone/>
            </a:pPr>
            <a:endParaRPr lang="en-US" altLang="zh-CN" dirty="0"/>
          </a:p>
          <a:p>
            <a:pPr algn="just">
              <a:buNone/>
            </a:pPr>
            <a:endParaRPr lang="en-US" altLang="zh-CN" dirty="0"/>
          </a:p>
          <a:p>
            <a:pPr algn="just">
              <a:buNone/>
            </a:pPr>
            <a:endParaRPr lang="en-US" altLang="zh-CN" dirty="0"/>
          </a:p>
        </p:txBody>
      </p:sp>
      <p:sp>
        <p:nvSpPr>
          <p:cNvPr id="5" name="Slide Number Placeholder 4"/>
          <p:cNvSpPr>
            <a:spLocks noGrp="1"/>
          </p:cNvSpPr>
          <p:nvPr>
            <p:ph type="sldNum" sz="quarter" idx="12"/>
          </p:nvPr>
        </p:nvSpPr>
        <p:spPr/>
        <p:txBody>
          <a:bodyPr/>
          <a:lstStyle/>
          <a:p>
            <a:fld id="{5EC735E3-5B29-4F54-8FB9-022B0DB6C884}" type="slidenum">
              <a:rPr lang="en-US" smtClean="0"/>
              <a:pPr/>
              <a:t>16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tx1"/>
                </a:solidFill>
              </a:rPr>
              <a:t>Example</a:t>
            </a:r>
            <a:endParaRPr lang="zh-CN" altLang="en-US" dirty="0">
              <a:solidFill>
                <a:schemeClr val="tx1"/>
              </a:solidFill>
            </a:endParaRPr>
          </a:p>
        </p:txBody>
      </p:sp>
      <p:sp>
        <p:nvSpPr>
          <p:cNvPr id="3" name="内容占位符 2"/>
          <p:cNvSpPr>
            <a:spLocks noGrp="1"/>
          </p:cNvSpPr>
          <p:nvPr>
            <p:ph idx="1"/>
          </p:nvPr>
        </p:nvSpPr>
        <p:spPr>
          <a:xfrm>
            <a:off x="228600" y="1273629"/>
            <a:ext cx="8686800" cy="4876800"/>
          </a:xfrm>
        </p:spPr>
        <p:txBody>
          <a:bodyPr/>
          <a:lstStyle/>
          <a:p>
            <a:r>
              <a:rPr lang="en-US" altLang="zh-CN" b="1" dirty="0">
                <a:solidFill>
                  <a:srgbClr val="0000FF"/>
                </a:solidFill>
              </a:rPr>
              <a:t>Example</a:t>
            </a:r>
          </a:p>
          <a:p>
            <a:pPr>
              <a:buClr>
                <a:schemeClr val="bg1"/>
              </a:buClr>
            </a:pPr>
            <a:r>
              <a:rPr lang="en-US" sz="2400" dirty="0"/>
              <a:t>Consider the following </a:t>
            </a:r>
            <a:r>
              <a:rPr lang="en-US" sz="2400" dirty="0">
                <a:solidFill>
                  <a:srgbClr val="FF3300"/>
                </a:solidFill>
              </a:rPr>
              <a:t>selection sort</a:t>
            </a:r>
            <a:r>
              <a:rPr lang="en-US" sz="2400" dirty="0"/>
              <a:t> algorithm:</a:t>
            </a:r>
          </a:p>
          <a:p>
            <a:pPr>
              <a:buClr>
                <a:schemeClr val="bg1"/>
              </a:buClr>
            </a:pPr>
            <a:r>
              <a:rPr lang="en-US" sz="2400" dirty="0">
                <a:latin typeface="Courier" pitchFamily="2" charset="0"/>
              </a:rPr>
              <a:t>(1) for </a:t>
            </a:r>
            <a:r>
              <a:rPr lang="en-US" sz="2400" dirty="0" err="1">
                <a:latin typeface="Courier" pitchFamily="2" charset="0"/>
              </a:rPr>
              <a:t>i</a:t>
            </a:r>
            <a:r>
              <a:rPr lang="en-US" sz="2400" dirty="0">
                <a:latin typeface="Courier" pitchFamily="2" charset="0"/>
              </a:rPr>
              <a:t> = 1 to n - 1</a:t>
            </a:r>
          </a:p>
          <a:p>
            <a:pPr>
              <a:buClr>
                <a:schemeClr val="bg1"/>
              </a:buClr>
            </a:pPr>
            <a:r>
              <a:rPr lang="en-US" sz="2400" dirty="0">
                <a:latin typeface="Courier" pitchFamily="2" charset="0"/>
              </a:rPr>
              <a:t>(2)	  for j = </a:t>
            </a:r>
            <a:r>
              <a:rPr lang="en-US" sz="2400" dirty="0" err="1">
                <a:latin typeface="Courier" pitchFamily="2" charset="0"/>
              </a:rPr>
              <a:t>i</a:t>
            </a:r>
            <a:r>
              <a:rPr lang="en-US" sz="2400" dirty="0">
                <a:latin typeface="Courier" pitchFamily="2" charset="0"/>
              </a:rPr>
              <a:t> + 1 to n</a:t>
            </a:r>
          </a:p>
          <a:p>
            <a:pPr>
              <a:buClr>
                <a:schemeClr val="bg1"/>
              </a:buClr>
            </a:pPr>
            <a:r>
              <a:rPr lang="en-US" sz="2400" dirty="0">
                <a:latin typeface="Courier" pitchFamily="2" charset="0"/>
              </a:rPr>
              <a:t>(3)	      if ( A[</a:t>
            </a:r>
            <a:r>
              <a:rPr lang="en-US" sz="2400" dirty="0" err="1">
                <a:latin typeface="Courier" pitchFamily="2" charset="0"/>
              </a:rPr>
              <a:t>i</a:t>
            </a:r>
            <a:r>
              <a:rPr lang="en-US" sz="2400" dirty="0">
                <a:latin typeface="Courier" pitchFamily="2" charset="0"/>
              </a:rPr>
              <a:t>] &gt; A[j] )		</a:t>
            </a:r>
          </a:p>
          <a:p>
            <a:pPr>
              <a:buClr>
                <a:schemeClr val="bg1"/>
              </a:buClr>
            </a:pPr>
            <a:r>
              <a:rPr lang="en-US" sz="2400" dirty="0">
                <a:latin typeface="Courier" pitchFamily="2" charset="0"/>
              </a:rPr>
              <a:t>(4)			swap A[</a:t>
            </a:r>
            <a:r>
              <a:rPr lang="en-US" sz="2400" dirty="0" err="1">
                <a:latin typeface="Courier" pitchFamily="2" charset="0"/>
              </a:rPr>
              <a:t>i</a:t>
            </a:r>
            <a:r>
              <a:rPr lang="en-US" sz="2400" dirty="0">
                <a:latin typeface="Courier" pitchFamily="2" charset="0"/>
              </a:rPr>
              <a:t>] and A[j] </a:t>
            </a:r>
          </a:p>
          <a:p>
            <a:pPr>
              <a:buClr>
                <a:schemeClr val="bg1"/>
              </a:buClr>
            </a:pPr>
            <a:r>
              <a:rPr lang="en-US" sz="2400" dirty="0">
                <a:latin typeface="Courier" pitchFamily="2" charset="0"/>
              </a:rPr>
              <a:t>(5)         </a:t>
            </a:r>
            <a:r>
              <a:rPr lang="en-US" sz="2400" dirty="0" err="1">
                <a:latin typeface="Courier" pitchFamily="2" charset="0"/>
              </a:rPr>
              <a:t>endif</a:t>
            </a:r>
            <a:endParaRPr lang="en-US" sz="2400" dirty="0">
              <a:latin typeface="Courier" pitchFamily="2" charset="0"/>
            </a:endParaRPr>
          </a:p>
          <a:p>
            <a:pPr>
              <a:buClr>
                <a:schemeClr val="bg1"/>
              </a:buClr>
            </a:pPr>
            <a:r>
              <a:rPr lang="en-US" sz="2400" dirty="0">
                <a:latin typeface="Courier" pitchFamily="2" charset="0"/>
              </a:rPr>
              <a:t>(6)     </a:t>
            </a:r>
            <a:r>
              <a:rPr lang="en-US" sz="2400" dirty="0" err="1">
                <a:latin typeface="Courier" pitchFamily="2" charset="0"/>
              </a:rPr>
              <a:t>endfor</a:t>
            </a:r>
            <a:endParaRPr lang="en-US" sz="2400" dirty="0">
              <a:latin typeface="Courier" pitchFamily="2" charset="0"/>
            </a:endParaRPr>
          </a:p>
          <a:p>
            <a:pPr>
              <a:buClr>
                <a:schemeClr val="bg1"/>
              </a:buClr>
            </a:pPr>
            <a:r>
              <a:rPr lang="en-US" sz="2400" dirty="0">
                <a:latin typeface="Courier" pitchFamily="2" charset="0"/>
              </a:rPr>
              <a:t>(7)  </a:t>
            </a:r>
            <a:r>
              <a:rPr lang="en-US" sz="2400" dirty="0" err="1">
                <a:latin typeface="Courier" pitchFamily="2" charset="0"/>
              </a:rPr>
              <a:t>endfor</a:t>
            </a:r>
            <a:endParaRPr lang="en-US" sz="2400" dirty="0">
              <a:latin typeface="Courier" pitchFamily="2" charset="0"/>
            </a:endParaRPr>
          </a:p>
          <a:p>
            <a:pPr>
              <a:buClr>
                <a:schemeClr val="bg1"/>
              </a:buClr>
            </a:pPr>
            <a:r>
              <a:rPr lang="en-US" sz="2400" dirty="0"/>
              <a:t>How many times the comparison in line (3) is executed?</a:t>
            </a:r>
          </a:p>
        </p:txBody>
      </p:sp>
      <p:sp>
        <p:nvSpPr>
          <p:cNvPr id="5" name="Slide Number Placeholder 4"/>
          <p:cNvSpPr>
            <a:spLocks noGrp="1"/>
          </p:cNvSpPr>
          <p:nvPr>
            <p:ph type="sldNum" sz="quarter" idx="12"/>
          </p:nvPr>
        </p:nvSpPr>
        <p:spPr/>
        <p:txBody>
          <a:bodyPr/>
          <a:lstStyle/>
          <a:p>
            <a:fld id="{5EC735E3-5B29-4F54-8FB9-022B0DB6C884}" type="slidenum">
              <a:rPr lang="en-US" smtClean="0"/>
              <a:pPr/>
              <a:t>17</a:t>
            </a:fld>
            <a:endParaRPr lang="en-US"/>
          </a:p>
        </p:txBody>
      </p:sp>
    </p:spTree>
    <p:extLst>
      <p:ext uri="{BB962C8B-B14F-4D97-AF65-F5344CB8AC3E}">
        <p14:creationId xmlns:p14="http://schemas.microsoft.com/office/powerpoint/2010/main" val="18223656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28600" y="1295400"/>
                <a:ext cx="8686800" cy="4953000"/>
              </a:xfrm>
            </p:spPr>
            <p:txBody>
              <a:bodyPr/>
              <a:lstStyle/>
              <a:p>
                <a:pPr algn="just">
                  <a:buClr>
                    <a:schemeClr val="bg1"/>
                  </a:buClr>
                </a:pPr>
                <a:r>
                  <a:rPr lang="en-US" sz="2400" dirty="0"/>
                  <a:t>When </a:t>
                </a:r>
                <a:r>
                  <a:rPr lang="en-US" sz="2400" dirty="0" err="1"/>
                  <a:t>i</a:t>
                </a:r>
                <a:r>
                  <a:rPr lang="en-US" sz="2400" dirty="0"/>
                  <a:t> = 1, the index j iterates from 2 to n, making a total of </a:t>
                </a:r>
                <a14:m>
                  <m:oMath xmlns:m="http://schemas.openxmlformats.org/officeDocument/2006/math">
                    <m:r>
                      <a:rPr lang="en-US" sz="2400" b="1" i="1" dirty="0" smtClean="0">
                        <a:latin typeface="Cambria Math" panose="02040503050406030204" pitchFamily="18" charset="0"/>
                      </a:rPr>
                      <m:t>𝒏</m:t>
                    </m:r>
                    <m:r>
                      <a:rPr lang="en-US" sz="2400" b="1" i="1" dirty="0" smtClean="0">
                        <a:latin typeface="Cambria Math" panose="02040503050406030204" pitchFamily="18" charset="0"/>
                      </a:rPr>
                      <m:t>−</m:t>
                    </m:r>
                    <m:r>
                      <a:rPr lang="en-US" sz="2400" b="1" i="1" dirty="0" smtClean="0">
                        <a:latin typeface="Cambria Math" panose="02040503050406030204" pitchFamily="18" charset="0"/>
                      </a:rPr>
                      <m:t>𝟏</m:t>
                    </m:r>
                  </m:oMath>
                </a14:m>
                <a:r>
                  <a:rPr lang="en-US" sz="2400" b="1" dirty="0"/>
                  <a:t> comparisons</a:t>
                </a:r>
                <a:r>
                  <a:rPr lang="en-US" sz="2400" dirty="0"/>
                  <a:t>. Whenever the element in A[j] is smaller than in A[1], A[j] is swapped with A[1], keeping the smaller element in A[1]. </a:t>
                </a:r>
              </a:p>
              <a:p>
                <a:pPr algn="just">
                  <a:buClr>
                    <a:schemeClr val="bg1"/>
                  </a:buClr>
                </a:pPr>
                <a:r>
                  <a:rPr lang="en-US" sz="2400" dirty="0"/>
                  <a:t>After these comparisons, A[1] contains the smallest element in the array A[1,..,n].</a:t>
                </a:r>
              </a:p>
              <a:p>
                <a:pPr algn="just">
                  <a:buClr>
                    <a:schemeClr val="bg1"/>
                  </a:buClr>
                </a:pPr>
                <a:endParaRPr lang="en-US" sz="2000" dirty="0"/>
              </a:p>
              <a:p>
                <a:pPr algn="just">
                  <a:buClr>
                    <a:schemeClr val="bg1"/>
                  </a:buClr>
                </a:pPr>
                <a:r>
                  <a:rPr lang="en-US" sz="2000" dirty="0"/>
                  <a:t>                                                                       # of comparisons</a:t>
                </a:r>
              </a:p>
              <a:p>
                <a:pPr algn="just">
                  <a:buClr>
                    <a:schemeClr val="bg1"/>
                  </a:buClr>
                </a:pPr>
                <a:endParaRPr lang="en-US" sz="2000" dirty="0"/>
              </a:p>
              <a:p>
                <a:pPr>
                  <a:buClr>
                    <a:schemeClr val="bg1"/>
                  </a:buClr>
                </a:pPr>
                <a:r>
                  <a:rPr lang="en-US" sz="2000" dirty="0"/>
                  <a:t>     </a:t>
                </a:r>
                <a:r>
                  <a:rPr lang="en-US" sz="2000" dirty="0" err="1"/>
                  <a:t>i</a:t>
                </a:r>
                <a:r>
                  <a:rPr lang="en-US" sz="2000" dirty="0"/>
                  <a:t> = 1:                                                                    </a:t>
                </a:r>
                <a14:m>
                  <m:oMath xmlns:m="http://schemas.openxmlformats.org/officeDocument/2006/math">
                    <m:r>
                      <a:rPr lang="en-US" sz="2000" i="1" dirty="0" smtClean="0">
                        <a:solidFill>
                          <a:srgbClr val="FF0000"/>
                        </a:solidFill>
                        <a:latin typeface="Cambria Math" panose="02040503050406030204" pitchFamily="18" charset="0"/>
                      </a:rPr>
                      <m:t>𝑛</m:t>
                    </m:r>
                    <m:r>
                      <a:rPr lang="en-US" sz="2000" i="1" dirty="0" smtClean="0">
                        <a:solidFill>
                          <a:srgbClr val="FF0000"/>
                        </a:solidFill>
                        <a:latin typeface="Cambria Math" panose="02040503050406030204" pitchFamily="18" charset="0"/>
                      </a:rPr>
                      <m:t>−1</m:t>
                    </m:r>
                  </m:oMath>
                </a14:m>
                <a:endParaRPr lang="en-US" sz="2000" dirty="0">
                  <a:solidFill>
                    <a:srgbClr val="FF0000"/>
                  </a:solidFill>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28600" y="1295400"/>
                <a:ext cx="8686800" cy="4953000"/>
              </a:xfrm>
              <a:blipFill>
                <a:blip r:embed="rId2"/>
                <a:stretch>
                  <a:fillRect l="-1022" t="-1279" r="-102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18</a:t>
            </a:fld>
            <a:endParaRPr lang="en-US" dirty="0"/>
          </a:p>
        </p:txBody>
      </p:sp>
      <p:grpSp>
        <p:nvGrpSpPr>
          <p:cNvPr id="5" name="组合 10"/>
          <p:cNvGrpSpPr/>
          <p:nvPr/>
        </p:nvGrpSpPr>
        <p:grpSpPr bwMode="auto">
          <a:xfrm>
            <a:off x="2743200" y="4267200"/>
            <a:ext cx="3352800" cy="1127126"/>
            <a:chOff x="1104900" y="762000"/>
            <a:chExt cx="3352800" cy="1127126"/>
          </a:xfrm>
        </p:grpSpPr>
        <p:grpSp>
          <p:nvGrpSpPr>
            <p:cNvPr id="6" name="组合 56"/>
            <p:cNvGrpSpPr>
              <a:grpSpLocks/>
            </p:cNvGrpSpPr>
            <p:nvPr/>
          </p:nvGrpSpPr>
          <p:grpSpPr bwMode="auto">
            <a:xfrm>
              <a:off x="1104900" y="1431926"/>
              <a:ext cx="3352800" cy="393699"/>
              <a:chOff x="1104900" y="1431926"/>
              <a:chExt cx="3352800" cy="394807"/>
            </a:xfrm>
          </p:grpSpPr>
          <p:grpSp>
            <p:nvGrpSpPr>
              <p:cNvPr id="12" name="组合 54"/>
              <p:cNvGrpSpPr>
                <a:grpSpLocks/>
              </p:cNvGrpSpPr>
              <p:nvPr/>
            </p:nvGrpSpPr>
            <p:grpSpPr bwMode="auto">
              <a:xfrm>
                <a:off x="1104900" y="1431926"/>
                <a:ext cx="3352800" cy="394807"/>
                <a:chOff x="1104900" y="1431926"/>
                <a:chExt cx="3352800" cy="394807"/>
              </a:xfrm>
            </p:grpSpPr>
            <p:grpSp>
              <p:nvGrpSpPr>
                <p:cNvPr id="14" name="组合 17"/>
                <p:cNvGrpSpPr>
                  <a:grpSpLocks/>
                </p:cNvGrpSpPr>
                <p:nvPr/>
              </p:nvGrpSpPr>
              <p:grpSpPr bwMode="auto">
                <a:xfrm>
                  <a:off x="1104900" y="1431926"/>
                  <a:ext cx="3352800" cy="386849"/>
                  <a:chOff x="1104900" y="1431926"/>
                  <a:chExt cx="3352800" cy="386849"/>
                </a:xfrm>
              </p:grpSpPr>
              <p:sp>
                <p:nvSpPr>
                  <p:cNvPr id="20" name="矩形 18"/>
                  <p:cNvSpPr/>
                  <p:nvPr/>
                </p:nvSpPr>
                <p:spPr>
                  <a:xfrm>
                    <a:off x="1104900" y="1438294"/>
                    <a:ext cx="3352800" cy="38048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en-US"/>
                  </a:p>
                </p:txBody>
              </p:sp>
              <p:cxnSp>
                <p:nvCxnSpPr>
                  <p:cNvPr id="21" name="直接连接符 19"/>
                  <p:cNvCxnSpPr/>
                  <p:nvPr/>
                </p:nvCxnSpPr>
                <p:spPr>
                  <a:xfrm>
                    <a:off x="1485900" y="1438294"/>
                    <a:ext cx="0" cy="38048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直接连接符 20"/>
                  <p:cNvCxnSpPr/>
                  <p:nvPr/>
                </p:nvCxnSpPr>
                <p:spPr>
                  <a:xfrm>
                    <a:off x="1881188" y="1438294"/>
                    <a:ext cx="0" cy="38048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接连接符 21"/>
                  <p:cNvCxnSpPr/>
                  <p:nvPr/>
                </p:nvCxnSpPr>
                <p:spPr>
                  <a:xfrm>
                    <a:off x="2247900" y="1438294"/>
                    <a:ext cx="0" cy="38048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接连接符 22"/>
                  <p:cNvCxnSpPr/>
                  <p:nvPr/>
                </p:nvCxnSpPr>
                <p:spPr>
                  <a:xfrm>
                    <a:off x="2628900" y="1438294"/>
                    <a:ext cx="0" cy="38048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接连接符 23"/>
                  <p:cNvCxnSpPr/>
                  <p:nvPr/>
                </p:nvCxnSpPr>
                <p:spPr>
                  <a:xfrm>
                    <a:off x="4076700" y="1438294"/>
                    <a:ext cx="0" cy="38048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接连接符 24"/>
                  <p:cNvCxnSpPr/>
                  <p:nvPr/>
                </p:nvCxnSpPr>
                <p:spPr>
                  <a:xfrm>
                    <a:off x="3695700" y="1431926"/>
                    <a:ext cx="0" cy="380481"/>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5" name="TextBox 49"/>
                <p:cNvSpPr txBox="1">
                  <a:spLocks noChangeArrowheads="1"/>
                </p:cNvSpPr>
                <p:nvPr/>
              </p:nvSpPr>
              <p:spPr bwMode="auto">
                <a:xfrm>
                  <a:off x="1179095" y="1455989"/>
                  <a:ext cx="228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fontAlgn="base">
                    <a:spcBef>
                      <a:spcPts val="0"/>
                    </a:spcBef>
                    <a:spcAft>
                      <a:spcPts val="0"/>
                    </a:spcAft>
                  </a:pPr>
                  <a:r>
                    <a:rPr lang="en-US" sz="1800" kern="12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1</a:t>
                  </a:r>
                  <a:endParaRPr lang="en-US" sz="1200">
                    <a:effectLst/>
                    <a:latin typeface="Times New Roman" panose="02020603050405020304" pitchFamily="18" charset="0"/>
                    <a:ea typeface="Times New Roman" panose="02020603050405020304" pitchFamily="18" charset="0"/>
                  </a:endParaRPr>
                </a:p>
              </p:txBody>
            </p:sp>
            <p:sp>
              <p:nvSpPr>
                <p:cNvPr id="16" name="TextBox 50"/>
                <p:cNvSpPr txBox="1">
                  <a:spLocks noChangeArrowheads="1"/>
                </p:cNvSpPr>
                <p:nvPr/>
              </p:nvSpPr>
              <p:spPr bwMode="auto">
                <a:xfrm>
                  <a:off x="1540043" y="1444157"/>
                  <a:ext cx="228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fontAlgn="base">
                    <a:spcBef>
                      <a:spcPts val="0"/>
                    </a:spcBef>
                    <a:spcAft>
                      <a:spcPts val="0"/>
                    </a:spcAft>
                  </a:pPr>
                  <a:r>
                    <a:rPr lang="en-US" sz="1800" kern="12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2</a:t>
                  </a:r>
                  <a:endParaRPr lang="en-US" sz="1200">
                    <a:effectLst/>
                    <a:latin typeface="Times New Roman" panose="02020603050405020304" pitchFamily="18" charset="0"/>
                    <a:ea typeface="Times New Roman" panose="02020603050405020304" pitchFamily="18" charset="0"/>
                  </a:endParaRPr>
                </a:p>
              </p:txBody>
            </p:sp>
            <p:sp>
              <p:nvSpPr>
                <p:cNvPr id="17" name="TextBox 51"/>
                <p:cNvSpPr txBox="1">
                  <a:spLocks noChangeArrowheads="1"/>
                </p:cNvSpPr>
                <p:nvPr/>
              </p:nvSpPr>
              <p:spPr bwMode="auto">
                <a:xfrm>
                  <a:off x="1887905" y="1457401"/>
                  <a:ext cx="228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fontAlgn="base">
                    <a:spcBef>
                      <a:spcPts val="0"/>
                    </a:spcBef>
                    <a:spcAft>
                      <a:spcPts val="0"/>
                    </a:spcAft>
                  </a:pPr>
                  <a:r>
                    <a:rPr lang="en-US" sz="1800" kern="12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3</a:t>
                  </a:r>
                  <a:endParaRPr lang="en-US" sz="1200">
                    <a:effectLst/>
                    <a:latin typeface="Times New Roman" panose="02020603050405020304" pitchFamily="18" charset="0"/>
                    <a:ea typeface="Times New Roman" panose="02020603050405020304" pitchFamily="18" charset="0"/>
                  </a:endParaRPr>
                </a:p>
              </p:txBody>
            </p:sp>
            <p:sp>
              <p:nvSpPr>
                <p:cNvPr id="18" name="TextBox 52"/>
                <p:cNvSpPr txBox="1">
                  <a:spLocks noChangeArrowheads="1"/>
                </p:cNvSpPr>
                <p:nvPr/>
              </p:nvSpPr>
              <p:spPr bwMode="auto">
                <a:xfrm>
                  <a:off x="4076700" y="1443593"/>
                  <a:ext cx="228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fontAlgn="base">
                    <a:spcBef>
                      <a:spcPts val="0"/>
                    </a:spcBef>
                    <a:spcAft>
                      <a:spcPts val="0"/>
                    </a:spcAft>
                  </a:pPr>
                  <a:r>
                    <a:rPr lang="en-US" sz="1800" kern="12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n</a:t>
                  </a:r>
                  <a:endParaRPr lang="en-US" sz="1200">
                    <a:effectLst/>
                    <a:latin typeface="Times New Roman" panose="02020603050405020304" pitchFamily="18" charset="0"/>
                    <a:ea typeface="Times New Roman" panose="02020603050405020304" pitchFamily="18" charset="0"/>
                  </a:endParaRPr>
                </a:p>
              </p:txBody>
            </p:sp>
            <p:sp>
              <p:nvSpPr>
                <p:cNvPr id="19" name="TextBox 53"/>
                <p:cNvSpPr txBox="1">
                  <a:spLocks noChangeArrowheads="1"/>
                </p:cNvSpPr>
                <p:nvPr/>
              </p:nvSpPr>
              <p:spPr bwMode="auto">
                <a:xfrm>
                  <a:off x="2731168" y="1457401"/>
                  <a:ext cx="7359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fontAlgn="base">
                    <a:spcBef>
                      <a:spcPts val="0"/>
                    </a:spcBef>
                    <a:spcAft>
                      <a:spcPts val="0"/>
                    </a:spcAft>
                  </a:pPr>
                  <a:r>
                    <a:rPr lang="en-US" sz="1800" kern="12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endParaRPr>
                </a:p>
              </p:txBody>
            </p:sp>
          </p:grpSp>
          <p:sp>
            <p:nvSpPr>
              <p:cNvPr id="13" name="TextBox 55"/>
              <p:cNvSpPr txBox="1">
                <a:spLocks noChangeArrowheads="1"/>
              </p:cNvSpPr>
              <p:nvPr/>
            </p:nvSpPr>
            <p:spPr bwMode="auto">
              <a:xfrm>
                <a:off x="3639556" y="1444157"/>
                <a:ext cx="6327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fontAlgn="base">
                  <a:spcBef>
                    <a:spcPts val="0"/>
                  </a:spcBef>
                  <a:spcAft>
                    <a:spcPts val="0"/>
                  </a:spcAft>
                </a:pPr>
                <a:r>
                  <a:rPr lang="en-US" sz="1800" kern="12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n-1</a:t>
                </a:r>
                <a:endParaRPr lang="en-US" sz="1200">
                  <a:effectLst/>
                  <a:latin typeface="Times New Roman" panose="02020603050405020304" pitchFamily="18" charset="0"/>
                  <a:ea typeface="Times New Roman" panose="02020603050405020304" pitchFamily="18" charset="0"/>
                </a:endParaRPr>
              </a:p>
            </p:txBody>
          </p:sp>
        </p:grpSp>
        <p:sp>
          <p:nvSpPr>
            <p:cNvPr id="7" name="弧形 7"/>
            <p:cNvSpPr/>
            <p:nvPr/>
          </p:nvSpPr>
          <p:spPr>
            <a:xfrm>
              <a:off x="1241425" y="1309688"/>
              <a:ext cx="341313" cy="290512"/>
            </a:xfrm>
            <a:prstGeom prst="arc">
              <a:avLst>
                <a:gd name="adj1" fmla="val 11142638"/>
                <a:gd name="adj2" fmla="val 0"/>
              </a:avLst>
            </a:prstGeom>
            <a:ln w="28575"/>
          </p:spPr>
          <p:style>
            <a:lnRef idx="1">
              <a:schemeClr val="accent1"/>
            </a:lnRef>
            <a:fillRef idx="0">
              <a:schemeClr val="accent1"/>
            </a:fillRef>
            <a:effectRef idx="0">
              <a:schemeClr val="accent1"/>
            </a:effectRef>
            <a:fontRef idx="minor">
              <a:schemeClr val="tx1"/>
            </a:fontRef>
          </p:style>
          <p:txBody>
            <a:bodyPr anchor="ctr"/>
            <a:lstStyle/>
            <a:p>
              <a:endParaRPr lang="en-US"/>
            </a:p>
          </p:txBody>
        </p:sp>
        <p:sp>
          <p:nvSpPr>
            <p:cNvPr id="8" name="弧形 8"/>
            <p:cNvSpPr/>
            <p:nvPr/>
          </p:nvSpPr>
          <p:spPr>
            <a:xfrm>
              <a:off x="1241425" y="1096963"/>
              <a:ext cx="792163" cy="703263"/>
            </a:xfrm>
            <a:prstGeom prst="arc">
              <a:avLst>
                <a:gd name="adj1" fmla="val 10719451"/>
                <a:gd name="adj2" fmla="val 0"/>
              </a:avLst>
            </a:prstGeom>
            <a:ln w="28575"/>
          </p:spPr>
          <p:style>
            <a:lnRef idx="1">
              <a:schemeClr val="accent1"/>
            </a:lnRef>
            <a:fillRef idx="0">
              <a:schemeClr val="accent1"/>
            </a:fillRef>
            <a:effectRef idx="0">
              <a:schemeClr val="accent1"/>
            </a:effectRef>
            <a:fontRef idx="minor">
              <a:schemeClr val="tx1"/>
            </a:fontRef>
          </p:style>
          <p:txBody>
            <a:bodyPr anchor="ctr"/>
            <a:lstStyle/>
            <a:p>
              <a:endParaRPr lang="en-US"/>
            </a:p>
          </p:txBody>
        </p:sp>
        <p:sp>
          <p:nvSpPr>
            <p:cNvPr id="9" name="弧形 9"/>
            <p:cNvSpPr/>
            <p:nvPr/>
          </p:nvSpPr>
          <p:spPr>
            <a:xfrm>
              <a:off x="1241425" y="974725"/>
              <a:ext cx="1220788" cy="914401"/>
            </a:xfrm>
            <a:prstGeom prst="arc">
              <a:avLst>
                <a:gd name="adj1" fmla="val 10940963"/>
                <a:gd name="adj2" fmla="val 0"/>
              </a:avLst>
            </a:prstGeom>
            <a:ln w="28575"/>
          </p:spPr>
          <p:style>
            <a:lnRef idx="1">
              <a:schemeClr val="accent1"/>
            </a:lnRef>
            <a:fillRef idx="0">
              <a:schemeClr val="accent1"/>
            </a:fillRef>
            <a:effectRef idx="0">
              <a:schemeClr val="accent1"/>
            </a:effectRef>
            <a:fontRef idx="minor">
              <a:schemeClr val="tx1"/>
            </a:fontRef>
          </p:style>
          <p:txBody>
            <a:bodyPr anchor="ctr"/>
            <a:lstStyle/>
            <a:p>
              <a:endParaRPr lang="en-US"/>
            </a:p>
          </p:txBody>
        </p:sp>
        <p:sp>
          <p:nvSpPr>
            <p:cNvPr id="10" name="弧形 81"/>
            <p:cNvSpPr/>
            <p:nvPr/>
          </p:nvSpPr>
          <p:spPr>
            <a:xfrm>
              <a:off x="1241425" y="847725"/>
              <a:ext cx="2606675" cy="1041401"/>
            </a:xfrm>
            <a:prstGeom prst="arc">
              <a:avLst>
                <a:gd name="adj1" fmla="val 10651320"/>
                <a:gd name="adj2" fmla="val 190176"/>
              </a:avLst>
            </a:prstGeom>
            <a:ln w="28575"/>
          </p:spPr>
          <p:style>
            <a:lnRef idx="1">
              <a:schemeClr val="accent1"/>
            </a:lnRef>
            <a:fillRef idx="0">
              <a:schemeClr val="accent1"/>
            </a:fillRef>
            <a:effectRef idx="0">
              <a:schemeClr val="accent1"/>
            </a:effectRef>
            <a:fontRef idx="minor">
              <a:schemeClr val="tx1"/>
            </a:fontRef>
          </p:style>
          <p:txBody>
            <a:bodyPr anchor="ctr"/>
            <a:lstStyle/>
            <a:p>
              <a:endParaRPr lang="en-US"/>
            </a:p>
          </p:txBody>
        </p:sp>
        <p:sp>
          <p:nvSpPr>
            <p:cNvPr id="11" name="弧形 90"/>
            <p:cNvSpPr/>
            <p:nvPr/>
          </p:nvSpPr>
          <p:spPr>
            <a:xfrm>
              <a:off x="1211263" y="762000"/>
              <a:ext cx="3011487" cy="1127126"/>
            </a:xfrm>
            <a:prstGeom prst="arc">
              <a:avLst>
                <a:gd name="adj1" fmla="val 10608138"/>
                <a:gd name="adj2" fmla="val 320934"/>
              </a:avLst>
            </a:prstGeom>
            <a:ln w="28575"/>
          </p:spPr>
          <p:style>
            <a:lnRef idx="1">
              <a:schemeClr val="accent1"/>
            </a:lnRef>
            <a:fillRef idx="0">
              <a:schemeClr val="accent1"/>
            </a:fillRef>
            <a:effectRef idx="0">
              <a:schemeClr val="accent1"/>
            </a:effectRef>
            <a:fontRef idx="minor">
              <a:schemeClr val="tx1"/>
            </a:fontRef>
          </p:style>
          <p:txBody>
            <a:bodyPr anchor="ctr"/>
            <a:lstStyle/>
            <a:p>
              <a:endParaRPr lang="en-US"/>
            </a:p>
          </p:txBody>
        </p:sp>
      </p:grpSp>
      <p:sp>
        <p:nvSpPr>
          <p:cNvPr id="27" name="Title 26"/>
          <p:cNvSpPr>
            <a:spLocks noGrp="1"/>
          </p:cNvSpPr>
          <p:nvPr>
            <p:ph type="title"/>
          </p:nvPr>
        </p:nvSpPr>
        <p:spPr/>
        <p:txBody>
          <a:bodyPr/>
          <a:lstStyle/>
          <a:p>
            <a:r>
              <a:rPr lang="en-US" dirty="0">
                <a:solidFill>
                  <a:schemeClr val="tx1"/>
                </a:solidFill>
              </a:rPr>
              <a:t>Solution:</a:t>
            </a:r>
          </a:p>
        </p:txBody>
      </p:sp>
    </p:spTree>
    <p:extLst>
      <p:ext uri="{BB962C8B-B14F-4D97-AF65-F5344CB8AC3E}">
        <p14:creationId xmlns:p14="http://schemas.microsoft.com/office/powerpoint/2010/main" val="3623070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Solution (cont’d):</a:t>
            </a:r>
            <a:r>
              <a:rPr lang="en-US" dirty="0">
                <a:solidFill>
                  <a:srgbClr val="0000FF"/>
                </a:solidFill>
              </a:rPr>
              <a:t> </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28600" y="914400"/>
                <a:ext cx="8686800" cy="5334000"/>
              </a:xfrm>
            </p:spPr>
            <p:txBody>
              <a:bodyPr/>
              <a:lstStyle/>
              <a:p>
                <a:pPr>
                  <a:buClr>
                    <a:schemeClr val="bg1"/>
                  </a:buClr>
                </a:pPr>
                <a:r>
                  <a:rPr lang="en-US" sz="2400" dirty="0"/>
                  <a:t>When </a:t>
                </a:r>
                <a:r>
                  <a:rPr lang="en-US" sz="2400" dirty="0" err="1"/>
                  <a:t>i</a:t>
                </a:r>
                <a:r>
                  <a:rPr lang="en-US" sz="2400" dirty="0"/>
                  <a:t> = 2, index j iterates from 3 to n (i.e.</a:t>
                </a:r>
                <a:r>
                  <a:rPr lang="en-US" sz="2400" b="1" dirty="0"/>
                  <a:t> n-2 comparisons</a:t>
                </a:r>
                <a:r>
                  <a:rPr lang="en-US" sz="2400" dirty="0"/>
                  <a:t>), effectively comparing all the elements in A[2,…,n] and resulting in the smallest element of A[2,..,n] being kept in A[2]. </a:t>
                </a:r>
              </a:p>
              <a:p>
                <a:pPr>
                  <a:buClr>
                    <a:schemeClr val="bg1"/>
                  </a:buClr>
                </a:pPr>
                <a:r>
                  <a:rPr lang="en-US" sz="2400" dirty="0"/>
                  <a:t>Therefore, A[2] contains the second smallest element in A[1,…,n] (while A[1] contains the smallest).</a:t>
                </a:r>
              </a:p>
              <a:p>
                <a:pPr algn="just">
                  <a:buClr>
                    <a:schemeClr val="bg1"/>
                  </a:buClr>
                </a:pPr>
                <a:endParaRPr lang="en-US" sz="2400" dirty="0"/>
              </a:p>
              <a:p>
                <a:pPr algn="just">
                  <a:buClr>
                    <a:schemeClr val="bg1"/>
                  </a:buClr>
                </a:pPr>
                <a:r>
                  <a:rPr lang="en-US" sz="2000" dirty="0"/>
                  <a:t>                                                                       # of comparisons</a:t>
                </a:r>
              </a:p>
              <a:p>
                <a:pPr algn="just">
                  <a:buClr>
                    <a:schemeClr val="bg1"/>
                  </a:buClr>
                </a:pPr>
                <a:endParaRPr lang="en-US" sz="2000" dirty="0"/>
              </a:p>
              <a:p>
                <a:pPr>
                  <a:buClr>
                    <a:schemeClr val="bg1"/>
                  </a:buClr>
                </a:pPr>
                <a:r>
                  <a:rPr lang="en-US" sz="2000" dirty="0"/>
                  <a:t>     </a:t>
                </a:r>
                <a:r>
                  <a:rPr lang="en-US" sz="2000" dirty="0" err="1"/>
                  <a:t>i</a:t>
                </a:r>
                <a:r>
                  <a:rPr lang="en-US" sz="2000" dirty="0"/>
                  <a:t> = 2:                                                                    </a:t>
                </a:r>
                <a14:m>
                  <m:oMath xmlns:m="http://schemas.openxmlformats.org/officeDocument/2006/math">
                    <m:r>
                      <a:rPr lang="en-US" sz="2000" i="1" dirty="0" smtClean="0">
                        <a:solidFill>
                          <a:srgbClr val="FF0000"/>
                        </a:solidFill>
                        <a:latin typeface="Cambria Math" panose="02040503050406030204" pitchFamily="18" charset="0"/>
                      </a:rPr>
                      <m:t>𝑛</m:t>
                    </m:r>
                    <m:r>
                      <a:rPr lang="en-US" sz="2000" i="1" dirty="0" smtClean="0">
                        <a:solidFill>
                          <a:srgbClr val="FF0000"/>
                        </a:solidFill>
                        <a:latin typeface="Cambria Math" panose="02040503050406030204" pitchFamily="18" charset="0"/>
                      </a:rPr>
                      <m:t>−2</m:t>
                    </m:r>
                  </m:oMath>
                </a14:m>
                <a:endParaRPr lang="en-US" sz="2000" dirty="0">
                  <a:solidFill>
                    <a:srgbClr val="FF0000"/>
                  </a:solidFill>
                </a:endParaRPr>
              </a:p>
              <a:p>
                <a:pPr>
                  <a:buClr>
                    <a:schemeClr val="bg1"/>
                  </a:buClr>
                </a:pPr>
                <a:endParaRPr lang="en-US" sz="2000" dirty="0"/>
              </a:p>
              <a:p>
                <a:endParaRPr lang="en-US" sz="20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28600" y="914400"/>
                <a:ext cx="8686800" cy="5334000"/>
              </a:xfrm>
              <a:blipFill>
                <a:blip r:embed="rId2"/>
                <a:stretch>
                  <a:fillRect l="-1022" t="-1188"/>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19</a:t>
            </a:fld>
            <a:endParaRPr lang="en-US"/>
          </a:p>
        </p:txBody>
      </p:sp>
      <p:grpSp>
        <p:nvGrpSpPr>
          <p:cNvPr id="6" name="组合 11"/>
          <p:cNvGrpSpPr/>
          <p:nvPr/>
        </p:nvGrpSpPr>
        <p:grpSpPr bwMode="auto">
          <a:xfrm>
            <a:off x="2743200" y="4495800"/>
            <a:ext cx="3352800" cy="925193"/>
            <a:chOff x="1104900" y="2147888"/>
            <a:chExt cx="3352800" cy="926264"/>
          </a:xfrm>
        </p:grpSpPr>
        <p:grpSp>
          <p:nvGrpSpPr>
            <p:cNvPr id="7" name="组合 57"/>
            <p:cNvGrpSpPr>
              <a:grpSpLocks/>
            </p:cNvGrpSpPr>
            <p:nvPr/>
          </p:nvGrpSpPr>
          <p:grpSpPr bwMode="auto">
            <a:xfrm>
              <a:off x="1104900" y="2591164"/>
              <a:ext cx="3352800" cy="395574"/>
              <a:chOff x="1104900" y="2591160"/>
              <a:chExt cx="3352800" cy="395093"/>
            </a:xfrm>
          </p:grpSpPr>
          <p:grpSp>
            <p:nvGrpSpPr>
              <p:cNvPr id="12" name="组合 58"/>
              <p:cNvGrpSpPr>
                <a:grpSpLocks/>
              </p:cNvGrpSpPr>
              <p:nvPr/>
            </p:nvGrpSpPr>
            <p:grpSpPr bwMode="auto">
              <a:xfrm>
                <a:off x="1104900" y="2591160"/>
                <a:ext cx="3352800" cy="395093"/>
                <a:chOff x="1104900" y="2591160"/>
                <a:chExt cx="3352800" cy="395093"/>
              </a:xfrm>
            </p:grpSpPr>
            <p:grpSp>
              <p:nvGrpSpPr>
                <p:cNvPr id="14" name="组合 60"/>
                <p:cNvGrpSpPr>
                  <a:grpSpLocks/>
                </p:cNvGrpSpPr>
                <p:nvPr/>
              </p:nvGrpSpPr>
              <p:grpSpPr bwMode="auto">
                <a:xfrm>
                  <a:off x="1104900" y="2591160"/>
                  <a:ext cx="3352800" cy="387194"/>
                  <a:chOff x="1104900" y="2591160"/>
                  <a:chExt cx="3352800" cy="387194"/>
                </a:xfrm>
              </p:grpSpPr>
              <p:sp>
                <p:nvSpPr>
                  <p:cNvPr id="20" name="矩形 66"/>
                  <p:cNvSpPr/>
                  <p:nvPr/>
                </p:nvSpPr>
                <p:spPr>
                  <a:xfrm>
                    <a:off x="1104900" y="2597508"/>
                    <a:ext cx="3352800" cy="38084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en-US"/>
                  </a:p>
                </p:txBody>
              </p:sp>
              <p:cxnSp>
                <p:nvCxnSpPr>
                  <p:cNvPr id="21" name="直接连接符 67"/>
                  <p:cNvCxnSpPr/>
                  <p:nvPr/>
                </p:nvCxnSpPr>
                <p:spPr>
                  <a:xfrm>
                    <a:off x="1485900" y="2597508"/>
                    <a:ext cx="0" cy="38084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直接连接符 68"/>
                  <p:cNvCxnSpPr/>
                  <p:nvPr/>
                </p:nvCxnSpPr>
                <p:spPr>
                  <a:xfrm>
                    <a:off x="1881188" y="2597508"/>
                    <a:ext cx="0" cy="38084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接连接符 69"/>
                  <p:cNvCxnSpPr/>
                  <p:nvPr/>
                </p:nvCxnSpPr>
                <p:spPr>
                  <a:xfrm>
                    <a:off x="2247900" y="2597508"/>
                    <a:ext cx="0" cy="38084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接连接符 70"/>
                  <p:cNvCxnSpPr/>
                  <p:nvPr/>
                </p:nvCxnSpPr>
                <p:spPr>
                  <a:xfrm>
                    <a:off x="2628900" y="2597508"/>
                    <a:ext cx="0" cy="38084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接连接符 71"/>
                  <p:cNvCxnSpPr/>
                  <p:nvPr/>
                </p:nvCxnSpPr>
                <p:spPr>
                  <a:xfrm>
                    <a:off x="4076700" y="2597508"/>
                    <a:ext cx="0" cy="38084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接连接符 72"/>
                  <p:cNvCxnSpPr/>
                  <p:nvPr/>
                </p:nvCxnSpPr>
                <p:spPr>
                  <a:xfrm>
                    <a:off x="3695700" y="2591160"/>
                    <a:ext cx="0" cy="380846"/>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5" name="TextBox 61"/>
                <p:cNvSpPr txBox="1">
                  <a:spLocks noChangeArrowheads="1"/>
                </p:cNvSpPr>
                <p:nvPr/>
              </p:nvSpPr>
              <p:spPr bwMode="auto">
                <a:xfrm>
                  <a:off x="1179095" y="2615509"/>
                  <a:ext cx="228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fontAlgn="base">
                    <a:spcBef>
                      <a:spcPts val="0"/>
                    </a:spcBef>
                    <a:spcAft>
                      <a:spcPts val="0"/>
                    </a:spcAft>
                  </a:pPr>
                  <a:r>
                    <a:rPr lang="en-US" sz="1800" kern="12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1</a:t>
                  </a:r>
                  <a:endParaRPr lang="en-US" sz="1200">
                    <a:effectLst/>
                    <a:latin typeface="Times New Roman" panose="02020603050405020304" pitchFamily="18" charset="0"/>
                    <a:ea typeface="Times New Roman" panose="02020603050405020304" pitchFamily="18" charset="0"/>
                  </a:endParaRPr>
                </a:p>
              </p:txBody>
            </p:sp>
            <p:sp>
              <p:nvSpPr>
                <p:cNvPr id="16" name="TextBox 62"/>
                <p:cNvSpPr txBox="1">
                  <a:spLocks noChangeArrowheads="1"/>
                </p:cNvSpPr>
                <p:nvPr/>
              </p:nvSpPr>
              <p:spPr bwMode="auto">
                <a:xfrm>
                  <a:off x="1540043" y="2603677"/>
                  <a:ext cx="228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fontAlgn="base">
                    <a:spcBef>
                      <a:spcPts val="0"/>
                    </a:spcBef>
                    <a:spcAft>
                      <a:spcPts val="0"/>
                    </a:spcAft>
                  </a:pPr>
                  <a:r>
                    <a:rPr lang="en-US" sz="1800" kern="12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2</a:t>
                  </a:r>
                  <a:endParaRPr lang="en-US" sz="1200">
                    <a:effectLst/>
                    <a:latin typeface="Times New Roman" panose="02020603050405020304" pitchFamily="18" charset="0"/>
                    <a:ea typeface="Times New Roman" panose="02020603050405020304" pitchFamily="18" charset="0"/>
                  </a:endParaRPr>
                </a:p>
              </p:txBody>
            </p:sp>
            <p:sp>
              <p:nvSpPr>
                <p:cNvPr id="17" name="TextBox 63"/>
                <p:cNvSpPr txBox="1">
                  <a:spLocks noChangeArrowheads="1"/>
                </p:cNvSpPr>
                <p:nvPr/>
              </p:nvSpPr>
              <p:spPr bwMode="auto">
                <a:xfrm>
                  <a:off x="1887905" y="2616921"/>
                  <a:ext cx="228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fontAlgn="base">
                    <a:spcBef>
                      <a:spcPts val="0"/>
                    </a:spcBef>
                    <a:spcAft>
                      <a:spcPts val="0"/>
                    </a:spcAft>
                  </a:pPr>
                  <a:r>
                    <a:rPr lang="en-US" sz="1800" kern="12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3</a:t>
                  </a:r>
                  <a:endParaRPr lang="en-US" sz="1200">
                    <a:effectLst/>
                    <a:latin typeface="Times New Roman" panose="02020603050405020304" pitchFamily="18" charset="0"/>
                    <a:ea typeface="Times New Roman" panose="02020603050405020304" pitchFamily="18" charset="0"/>
                  </a:endParaRPr>
                </a:p>
              </p:txBody>
            </p:sp>
            <p:sp>
              <p:nvSpPr>
                <p:cNvPr id="18" name="TextBox 64"/>
                <p:cNvSpPr txBox="1">
                  <a:spLocks noChangeArrowheads="1"/>
                </p:cNvSpPr>
                <p:nvPr/>
              </p:nvSpPr>
              <p:spPr bwMode="auto">
                <a:xfrm>
                  <a:off x="4076700" y="2603113"/>
                  <a:ext cx="228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fontAlgn="base">
                    <a:spcBef>
                      <a:spcPts val="0"/>
                    </a:spcBef>
                    <a:spcAft>
                      <a:spcPts val="0"/>
                    </a:spcAft>
                  </a:pPr>
                  <a:r>
                    <a:rPr lang="en-US" sz="1800" kern="12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n</a:t>
                  </a:r>
                  <a:endParaRPr lang="en-US" sz="1200">
                    <a:effectLst/>
                    <a:latin typeface="Times New Roman" panose="02020603050405020304" pitchFamily="18" charset="0"/>
                    <a:ea typeface="Times New Roman" panose="02020603050405020304" pitchFamily="18" charset="0"/>
                  </a:endParaRPr>
                </a:p>
              </p:txBody>
            </p:sp>
            <p:sp>
              <p:nvSpPr>
                <p:cNvPr id="19" name="TextBox 65"/>
                <p:cNvSpPr txBox="1">
                  <a:spLocks noChangeArrowheads="1"/>
                </p:cNvSpPr>
                <p:nvPr/>
              </p:nvSpPr>
              <p:spPr bwMode="auto">
                <a:xfrm>
                  <a:off x="2731168" y="2616921"/>
                  <a:ext cx="7359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fontAlgn="base">
                    <a:spcBef>
                      <a:spcPts val="0"/>
                    </a:spcBef>
                    <a:spcAft>
                      <a:spcPts val="0"/>
                    </a:spcAft>
                  </a:pPr>
                  <a:r>
                    <a:rPr lang="en-US" sz="1800" kern="12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endParaRPr>
                </a:p>
              </p:txBody>
            </p:sp>
          </p:grpSp>
          <p:sp>
            <p:nvSpPr>
              <p:cNvPr id="13" name="TextBox 59"/>
              <p:cNvSpPr txBox="1">
                <a:spLocks noChangeArrowheads="1"/>
              </p:cNvSpPr>
              <p:nvPr/>
            </p:nvSpPr>
            <p:spPr bwMode="auto">
              <a:xfrm>
                <a:off x="3639556" y="2603677"/>
                <a:ext cx="6327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fontAlgn="base">
                  <a:spcBef>
                    <a:spcPts val="0"/>
                  </a:spcBef>
                  <a:spcAft>
                    <a:spcPts val="0"/>
                  </a:spcAft>
                </a:pPr>
                <a:r>
                  <a:rPr lang="en-US" sz="1800" kern="12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n-1</a:t>
                </a:r>
                <a:endParaRPr lang="en-US" sz="1200">
                  <a:effectLst/>
                  <a:latin typeface="Times New Roman" panose="02020603050405020304" pitchFamily="18" charset="0"/>
                  <a:ea typeface="Times New Roman" panose="02020603050405020304" pitchFamily="18" charset="0"/>
                </a:endParaRPr>
              </a:p>
            </p:txBody>
          </p:sp>
        </p:grpSp>
        <p:sp>
          <p:nvSpPr>
            <p:cNvPr id="8" name="弧形 74"/>
            <p:cNvSpPr/>
            <p:nvPr/>
          </p:nvSpPr>
          <p:spPr>
            <a:xfrm>
              <a:off x="1682750" y="2452936"/>
              <a:ext cx="341313" cy="289160"/>
            </a:xfrm>
            <a:prstGeom prst="arc">
              <a:avLst>
                <a:gd name="adj1" fmla="val 11142638"/>
                <a:gd name="adj2" fmla="val 0"/>
              </a:avLst>
            </a:prstGeom>
            <a:ln w="28575"/>
          </p:spPr>
          <p:style>
            <a:lnRef idx="1">
              <a:schemeClr val="accent1"/>
            </a:lnRef>
            <a:fillRef idx="0">
              <a:schemeClr val="accent1"/>
            </a:fillRef>
            <a:effectRef idx="0">
              <a:schemeClr val="accent1"/>
            </a:effectRef>
            <a:fontRef idx="minor">
              <a:schemeClr val="tx1"/>
            </a:fontRef>
          </p:style>
          <p:txBody>
            <a:bodyPr anchor="ctr"/>
            <a:lstStyle/>
            <a:p>
              <a:endParaRPr lang="en-US"/>
            </a:p>
          </p:txBody>
        </p:sp>
        <p:sp>
          <p:nvSpPr>
            <p:cNvPr id="9" name="弧形 77"/>
            <p:cNvSpPr/>
            <p:nvPr/>
          </p:nvSpPr>
          <p:spPr>
            <a:xfrm>
              <a:off x="1668463" y="2240038"/>
              <a:ext cx="793750" cy="702245"/>
            </a:xfrm>
            <a:prstGeom prst="arc">
              <a:avLst>
                <a:gd name="adj1" fmla="val 10719451"/>
                <a:gd name="adj2" fmla="val 0"/>
              </a:avLst>
            </a:prstGeom>
            <a:ln w="28575"/>
          </p:spPr>
          <p:style>
            <a:lnRef idx="1">
              <a:schemeClr val="accent1"/>
            </a:lnRef>
            <a:fillRef idx="0">
              <a:schemeClr val="accent1"/>
            </a:fillRef>
            <a:effectRef idx="0">
              <a:schemeClr val="accent1"/>
            </a:effectRef>
            <a:fontRef idx="minor">
              <a:schemeClr val="tx1"/>
            </a:fontRef>
          </p:style>
          <p:txBody>
            <a:bodyPr anchor="ctr"/>
            <a:lstStyle/>
            <a:p>
              <a:endParaRPr lang="en-US"/>
            </a:p>
          </p:txBody>
        </p:sp>
        <p:sp>
          <p:nvSpPr>
            <p:cNvPr id="10" name="弧形 79"/>
            <p:cNvSpPr/>
            <p:nvPr/>
          </p:nvSpPr>
          <p:spPr>
            <a:xfrm>
              <a:off x="1654175" y="2159009"/>
              <a:ext cx="2276475" cy="915143"/>
            </a:xfrm>
            <a:prstGeom prst="arc">
              <a:avLst>
                <a:gd name="adj1" fmla="val 10940963"/>
                <a:gd name="adj2" fmla="val 0"/>
              </a:avLst>
            </a:prstGeom>
            <a:ln w="28575"/>
          </p:spPr>
          <p:style>
            <a:lnRef idx="1">
              <a:schemeClr val="accent1"/>
            </a:lnRef>
            <a:fillRef idx="0">
              <a:schemeClr val="accent1"/>
            </a:fillRef>
            <a:effectRef idx="0">
              <a:schemeClr val="accent1"/>
            </a:effectRef>
            <a:fontRef idx="minor">
              <a:schemeClr val="tx1"/>
            </a:fontRef>
          </p:style>
          <p:txBody>
            <a:bodyPr anchor="ctr"/>
            <a:lstStyle/>
            <a:p>
              <a:endParaRPr lang="en-US"/>
            </a:p>
          </p:txBody>
        </p:sp>
        <p:sp>
          <p:nvSpPr>
            <p:cNvPr id="11" name="弧形 80"/>
            <p:cNvSpPr/>
            <p:nvPr/>
          </p:nvSpPr>
          <p:spPr>
            <a:xfrm>
              <a:off x="1660525" y="2147888"/>
              <a:ext cx="2611438" cy="926264"/>
            </a:xfrm>
            <a:prstGeom prst="arc">
              <a:avLst>
                <a:gd name="adj1" fmla="val 10940963"/>
                <a:gd name="adj2" fmla="val 0"/>
              </a:avLst>
            </a:prstGeom>
            <a:ln w="28575"/>
          </p:spPr>
          <p:style>
            <a:lnRef idx="1">
              <a:schemeClr val="accent1"/>
            </a:lnRef>
            <a:fillRef idx="0">
              <a:schemeClr val="accent1"/>
            </a:fillRef>
            <a:effectRef idx="0">
              <a:schemeClr val="accent1"/>
            </a:effectRef>
            <a:fontRef idx="minor">
              <a:schemeClr val="tx1"/>
            </a:fontRef>
          </p:style>
          <p:txBody>
            <a:bodyPr anchor="ctr"/>
            <a:lstStyle/>
            <a:p>
              <a:endParaRPr lang="en-US"/>
            </a:p>
          </p:txBody>
        </p:sp>
      </p:grpSp>
    </p:spTree>
    <p:extLst>
      <p:ext uri="{BB962C8B-B14F-4D97-AF65-F5344CB8AC3E}">
        <p14:creationId xmlns:p14="http://schemas.microsoft.com/office/powerpoint/2010/main" val="16164365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Solution (cont’d):</a:t>
            </a:r>
            <a:r>
              <a:rPr lang="en-US" dirty="0">
                <a:solidFill>
                  <a:srgbClr val="0000FF"/>
                </a:solidFill>
              </a:rPr>
              <a:t> </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28600" y="1295400"/>
                <a:ext cx="8763000" cy="5029200"/>
              </a:xfrm>
            </p:spPr>
            <p:txBody>
              <a:bodyPr/>
              <a:lstStyle/>
              <a:p>
                <a:pPr>
                  <a:buClr>
                    <a:schemeClr val="bg1"/>
                  </a:buClr>
                </a:pPr>
                <a:endParaRPr lang="en-US" sz="2000" dirty="0"/>
              </a:p>
              <a:p>
                <a:pPr>
                  <a:buClr>
                    <a:schemeClr val="bg1"/>
                  </a:buClr>
                </a:pPr>
                <a:r>
                  <a:rPr lang="en-US" sz="2400" dirty="0"/>
                  <a:t>When </a:t>
                </a:r>
                <a:r>
                  <a:rPr lang="en-US" sz="2400" dirty="0" err="1"/>
                  <a:t>i</a:t>
                </a:r>
                <a:r>
                  <a:rPr lang="en-US" sz="2400" dirty="0"/>
                  <a:t> = n-1, j iterates once, from n to n (i.e. </a:t>
                </a:r>
                <a:r>
                  <a:rPr lang="en-US" sz="2400" b="1" dirty="0"/>
                  <a:t>1 comparison</a:t>
                </a:r>
                <a:r>
                  <a:rPr lang="en-US" sz="2400" dirty="0"/>
                  <a:t>). </a:t>
                </a:r>
              </a:p>
              <a:p>
                <a:pPr>
                  <a:buClr>
                    <a:schemeClr val="bg1"/>
                  </a:buClr>
                </a:pPr>
                <a:r>
                  <a:rPr lang="en-US" sz="2400" dirty="0"/>
                  <a:t>A[n-1] will contain the (n-1)</a:t>
                </a:r>
                <a:r>
                  <a:rPr lang="en-US" sz="2400" baseline="30000" dirty="0"/>
                  <a:t>th</a:t>
                </a:r>
                <a:r>
                  <a:rPr lang="en-US" sz="2400" dirty="0"/>
                  <a:t> smallest number of the array A[1,…,n].</a:t>
                </a:r>
              </a:p>
              <a:p>
                <a:pPr marL="0" indent="0" algn="just">
                  <a:buClr>
                    <a:schemeClr val="bg1"/>
                  </a:buClr>
                  <a:buNone/>
                </a:pPr>
                <a:endParaRPr lang="en-US" sz="2000" dirty="0"/>
              </a:p>
              <a:p>
                <a:pPr marL="0" indent="0" algn="just">
                  <a:buClr>
                    <a:schemeClr val="bg1"/>
                  </a:buClr>
                  <a:buNone/>
                </a:pPr>
                <a:endParaRPr lang="en-US" sz="2000" dirty="0"/>
              </a:p>
              <a:p>
                <a:pPr algn="just">
                  <a:buClr>
                    <a:schemeClr val="bg1"/>
                  </a:buClr>
                </a:pPr>
                <a:r>
                  <a:rPr lang="en-US" sz="2000" dirty="0"/>
                  <a:t>                                                                       # of comparisons</a:t>
                </a:r>
              </a:p>
              <a:p>
                <a:pPr algn="just">
                  <a:buClr>
                    <a:schemeClr val="bg1"/>
                  </a:buClr>
                </a:pPr>
                <a:endParaRPr lang="en-US" sz="2000" dirty="0"/>
              </a:p>
              <a:p>
                <a:pPr>
                  <a:buClr>
                    <a:schemeClr val="bg1"/>
                  </a:buClr>
                </a:pPr>
                <a:r>
                  <a:rPr lang="en-US" sz="2000" dirty="0"/>
                  <a:t>     </a:t>
                </a:r>
                <a:r>
                  <a:rPr lang="en-US" sz="2000" dirty="0" err="1"/>
                  <a:t>i</a:t>
                </a:r>
                <a:r>
                  <a:rPr lang="en-US" sz="2000" dirty="0"/>
                  <a:t> = n-1:                                                                    </a:t>
                </a:r>
                <a14:m>
                  <m:oMath xmlns:m="http://schemas.openxmlformats.org/officeDocument/2006/math">
                    <m:r>
                      <a:rPr lang="en-US" sz="2000" i="1" dirty="0" smtClean="0">
                        <a:solidFill>
                          <a:srgbClr val="FF0000"/>
                        </a:solidFill>
                        <a:latin typeface="Cambria Math" panose="02040503050406030204" pitchFamily="18" charset="0"/>
                      </a:rPr>
                      <m:t>1</m:t>
                    </m:r>
                  </m:oMath>
                </a14:m>
                <a:endParaRPr lang="en-US" sz="2000" dirty="0">
                  <a:solidFill>
                    <a:srgbClr val="FF0000"/>
                  </a:solidFill>
                </a:endParaRPr>
              </a:p>
              <a:p>
                <a:pPr>
                  <a:buClr>
                    <a:schemeClr val="bg1"/>
                  </a:buClr>
                </a:pPr>
                <a:endParaRPr lang="en-US" sz="2000" dirty="0"/>
              </a:p>
              <a:p>
                <a:r>
                  <a:rPr lang="en-US" sz="2000" dirty="0"/>
                  <a:t>Therefore total # of comparisons = </a:t>
                </a:r>
                <a14:m>
                  <m:oMath xmlns:m="http://schemas.openxmlformats.org/officeDocument/2006/math">
                    <m:r>
                      <a:rPr lang="en-US" sz="2000" b="1" i="1" dirty="0" smtClean="0">
                        <a:solidFill>
                          <a:srgbClr val="FF0000"/>
                        </a:solidFill>
                        <a:latin typeface="Cambria Math" panose="02040503050406030204" pitchFamily="18" charset="0"/>
                      </a:rPr>
                      <m:t>(</m:t>
                    </m:r>
                    <m:r>
                      <a:rPr lang="en-US" sz="2000" b="1" i="1" dirty="0" smtClean="0">
                        <a:solidFill>
                          <a:srgbClr val="FF0000"/>
                        </a:solidFill>
                        <a:latin typeface="Cambria Math" panose="02040503050406030204" pitchFamily="18" charset="0"/>
                      </a:rPr>
                      <m:t>𝒏</m:t>
                    </m:r>
                    <m:r>
                      <a:rPr lang="en-US" sz="2000" b="1" i="1" dirty="0" smtClean="0">
                        <a:solidFill>
                          <a:srgbClr val="FF0000"/>
                        </a:solidFill>
                        <a:latin typeface="Cambria Math" panose="02040503050406030204" pitchFamily="18" charset="0"/>
                      </a:rPr>
                      <m:t>−</m:t>
                    </m:r>
                    <m:r>
                      <a:rPr lang="en-US" sz="2000" b="1" i="1" dirty="0" smtClean="0">
                        <a:solidFill>
                          <a:srgbClr val="FF0000"/>
                        </a:solidFill>
                        <a:latin typeface="Cambria Math" panose="02040503050406030204" pitchFamily="18" charset="0"/>
                      </a:rPr>
                      <m:t>𝟏</m:t>
                    </m:r>
                    <m:r>
                      <a:rPr lang="en-US" sz="2000" b="1" i="1" dirty="0" smtClean="0">
                        <a:solidFill>
                          <a:srgbClr val="FF0000"/>
                        </a:solidFill>
                        <a:latin typeface="Cambria Math" panose="02040503050406030204" pitchFamily="18" charset="0"/>
                      </a:rPr>
                      <m:t>)+(</m:t>
                    </m:r>
                    <m:r>
                      <a:rPr lang="en-US" sz="2000" b="1" i="1" dirty="0" smtClean="0">
                        <a:solidFill>
                          <a:srgbClr val="FF0000"/>
                        </a:solidFill>
                        <a:latin typeface="Cambria Math" panose="02040503050406030204" pitchFamily="18" charset="0"/>
                      </a:rPr>
                      <m:t>𝒏</m:t>
                    </m:r>
                    <m:r>
                      <a:rPr lang="en-US" sz="2000" b="1" i="1" dirty="0" smtClean="0">
                        <a:solidFill>
                          <a:srgbClr val="FF0000"/>
                        </a:solidFill>
                        <a:latin typeface="Cambria Math" panose="02040503050406030204" pitchFamily="18" charset="0"/>
                      </a:rPr>
                      <m:t>−</m:t>
                    </m:r>
                    <m:r>
                      <a:rPr lang="en-US" sz="2000" b="1" i="1" dirty="0" smtClean="0">
                        <a:solidFill>
                          <a:srgbClr val="FF0000"/>
                        </a:solidFill>
                        <a:latin typeface="Cambria Math" panose="02040503050406030204" pitchFamily="18" charset="0"/>
                      </a:rPr>
                      <m:t>𝟐</m:t>
                    </m:r>
                    <m:r>
                      <a:rPr lang="en-US" sz="2000" b="1" i="1" dirty="0" smtClean="0">
                        <a:solidFill>
                          <a:srgbClr val="FF0000"/>
                        </a:solidFill>
                        <a:latin typeface="Cambria Math" panose="02040503050406030204" pitchFamily="18" charset="0"/>
                      </a:rPr>
                      <m:t>)+…+</m:t>
                    </m:r>
                    <m:r>
                      <a:rPr lang="en-US" sz="2000" b="1" i="1" dirty="0" smtClean="0">
                        <a:solidFill>
                          <a:srgbClr val="FF0000"/>
                        </a:solidFill>
                        <a:latin typeface="Cambria Math" panose="02040503050406030204" pitchFamily="18" charset="0"/>
                      </a:rPr>
                      <m:t>𝟏</m:t>
                    </m:r>
                  </m:oMath>
                </a14:m>
                <a:endParaRPr lang="en-US" sz="2000" b="1" dirty="0">
                  <a:solidFill>
                    <a:srgbClr val="FF0000"/>
                  </a:solidFill>
                </a:endParaRPr>
              </a:p>
              <a:p>
                <a:pPr>
                  <a:buClr>
                    <a:schemeClr val="bg1"/>
                  </a:buClr>
                </a:pPr>
                <a:r>
                  <a:rPr lang="en-US" sz="2000" dirty="0"/>
                  <a:t>                                                    = </a:t>
                </a:r>
                <a14:m>
                  <m:oMath xmlns:m="http://schemas.openxmlformats.org/officeDocument/2006/math">
                    <m:r>
                      <a:rPr lang="en-US" sz="2000" b="1" i="1" dirty="0" smtClean="0">
                        <a:solidFill>
                          <a:srgbClr val="FF0000"/>
                        </a:solidFill>
                        <a:latin typeface="Cambria Math" panose="02040503050406030204" pitchFamily="18" charset="0"/>
                      </a:rPr>
                      <m:t>𝒏</m:t>
                    </m:r>
                    <m:r>
                      <a:rPr lang="en-US" sz="2000" b="1" i="1" dirty="0" smtClean="0">
                        <a:solidFill>
                          <a:srgbClr val="FF0000"/>
                        </a:solidFill>
                        <a:latin typeface="Cambria Math" panose="02040503050406030204" pitchFamily="18" charset="0"/>
                      </a:rPr>
                      <m:t>(</m:t>
                    </m:r>
                    <m:r>
                      <a:rPr lang="en-US" sz="2000" b="1" i="1" dirty="0" smtClean="0">
                        <a:solidFill>
                          <a:srgbClr val="FF0000"/>
                        </a:solidFill>
                        <a:latin typeface="Cambria Math" panose="02040503050406030204" pitchFamily="18" charset="0"/>
                      </a:rPr>
                      <m:t>𝒏</m:t>
                    </m:r>
                    <m:r>
                      <a:rPr lang="en-US" sz="2000" b="1" i="1" dirty="0" smtClean="0">
                        <a:solidFill>
                          <a:srgbClr val="FF0000"/>
                        </a:solidFill>
                        <a:latin typeface="Cambria Math" panose="02040503050406030204" pitchFamily="18" charset="0"/>
                      </a:rPr>
                      <m:t>−</m:t>
                    </m:r>
                    <m:r>
                      <a:rPr lang="en-US" sz="2000" b="1" i="1" dirty="0" smtClean="0">
                        <a:solidFill>
                          <a:srgbClr val="FF0000"/>
                        </a:solidFill>
                        <a:latin typeface="Cambria Math" panose="02040503050406030204" pitchFamily="18" charset="0"/>
                      </a:rPr>
                      <m:t>𝟏</m:t>
                    </m:r>
                    <m:r>
                      <a:rPr lang="en-US" sz="2000" b="1" i="1" dirty="0" smtClean="0">
                        <a:solidFill>
                          <a:srgbClr val="FF0000"/>
                        </a:solidFill>
                        <a:latin typeface="Cambria Math" panose="02040503050406030204" pitchFamily="18" charset="0"/>
                      </a:rPr>
                      <m:t>)/</m:t>
                    </m:r>
                    <m:r>
                      <a:rPr lang="en-US" sz="2000" b="1" i="1" dirty="0" smtClean="0">
                        <a:solidFill>
                          <a:srgbClr val="FF0000"/>
                        </a:solidFill>
                        <a:latin typeface="Cambria Math" panose="02040503050406030204" pitchFamily="18" charset="0"/>
                      </a:rPr>
                      <m:t>𝟐</m:t>
                    </m:r>
                    <m:r>
                      <a:rPr lang="en-US" sz="2000" b="1" i="1" dirty="0" smtClean="0">
                        <a:solidFill>
                          <a:srgbClr val="FF0000"/>
                        </a:solidFill>
                        <a:latin typeface="Cambria Math" panose="02040503050406030204" pitchFamily="18" charset="0"/>
                      </a:rPr>
                      <m:t> </m:t>
                    </m:r>
                  </m:oMath>
                </a14:m>
                <a:endParaRPr lang="en-US" sz="2000" b="1" dirty="0">
                  <a:solidFill>
                    <a:srgbClr val="FF0000"/>
                  </a:solidFill>
                </a:endParaRPr>
              </a:p>
              <a:p>
                <a:pPr>
                  <a:buClr>
                    <a:schemeClr val="bg1"/>
                  </a:buClr>
                </a:pPr>
                <a:endParaRPr lang="en-US" sz="2000" dirty="0"/>
              </a:p>
              <a:p>
                <a:endParaRPr lang="en-US" sz="2000" dirty="0"/>
              </a:p>
              <a:p>
                <a:pPr>
                  <a:buClr>
                    <a:schemeClr val="bg1"/>
                  </a:buClr>
                </a:pPr>
                <a:endParaRPr lang="en-US" sz="2000" dirty="0"/>
              </a:p>
              <a:p>
                <a:pPr>
                  <a:buClr>
                    <a:schemeClr val="bg1"/>
                  </a:buClr>
                </a:pPr>
                <a:endParaRPr lang="en-US" sz="2000" dirty="0"/>
              </a:p>
              <a:p>
                <a:pPr>
                  <a:buClr>
                    <a:schemeClr val="bg1"/>
                  </a:buClr>
                </a:pPr>
                <a:endParaRPr lang="en-US" sz="2000" dirty="0"/>
              </a:p>
              <a:p>
                <a:pPr algn="just"/>
                <a:endParaRPr lang="en-US" sz="2000" dirty="0"/>
              </a:p>
              <a:p>
                <a:endParaRPr lang="en-US" sz="20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28600" y="1295400"/>
                <a:ext cx="8763000" cy="5029200"/>
              </a:xfrm>
              <a:blipFill>
                <a:blip r:embed="rId2"/>
                <a:stretch>
                  <a:fillRect l="-1014"/>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20</a:t>
            </a:fld>
            <a:endParaRPr lang="en-US"/>
          </a:p>
        </p:txBody>
      </p:sp>
      <p:grpSp>
        <p:nvGrpSpPr>
          <p:cNvPr id="5" name="组合 12"/>
          <p:cNvGrpSpPr/>
          <p:nvPr/>
        </p:nvGrpSpPr>
        <p:grpSpPr bwMode="auto">
          <a:xfrm>
            <a:off x="2743200" y="4800600"/>
            <a:ext cx="3352800" cy="539749"/>
            <a:chOff x="1136650" y="4732338"/>
            <a:chExt cx="3352800" cy="540373"/>
          </a:xfrm>
        </p:grpSpPr>
        <p:grpSp>
          <p:nvGrpSpPr>
            <p:cNvPr id="6" name="组合 89"/>
            <p:cNvGrpSpPr>
              <a:grpSpLocks/>
            </p:cNvGrpSpPr>
            <p:nvPr/>
          </p:nvGrpSpPr>
          <p:grpSpPr bwMode="auto">
            <a:xfrm>
              <a:off x="1136650" y="4876971"/>
              <a:ext cx="3352800" cy="395740"/>
              <a:chOff x="1136650" y="4876966"/>
              <a:chExt cx="3352800" cy="395259"/>
            </a:xfrm>
          </p:grpSpPr>
          <p:grpSp>
            <p:nvGrpSpPr>
              <p:cNvPr id="8" name="组合 90"/>
              <p:cNvGrpSpPr>
                <a:grpSpLocks/>
              </p:cNvGrpSpPr>
              <p:nvPr/>
            </p:nvGrpSpPr>
            <p:grpSpPr bwMode="auto">
              <a:xfrm>
                <a:off x="1136650" y="4876966"/>
                <a:ext cx="3352800" cy="395259"/>
                <a:chOff x="1136650" y="4876966"/>
                <a:chExt cx="3352800" cy="395259"/>
              </a:xfrm>
            </p:grpSpPr>
            <p:grpSp>
              <p:nvGrpSpPr>
                <p:cNvPr id="10" name="组合 92"/>
                <p:cNvGrpSpPr>
                  <a:grpSpLocks/>
                </p:cNvGrpSpPr>
                <p:nvPr/>
              </p:nvGrpSpPr>
              <p:grpSpPr bwMode="auto">
                <a:xfrm>
                  <a:off x="1136650" y="4876966"/>
                  <a:ext cx="3352800" cy="387322"/>
                  <a:chOff x="1136650" y="4876966"/>
                  <a:chExt cx="3352800" cy="387322"/>
                </a:xfrm>
              </p:grpSpPr>
              <p:sp>
                <p:nvSpPr>
                  <p:cNvPr id="16" name="矩形 98"/>
                  <p:cNvSpPr/>
                  <p:nvPr/>
                </p:nvSpPr>
                <p:spPr>
                  <a:xfrm>
                    <a:off x="1136650" y="4883316"/>
                    <a:ext cx="3352800" cy="3809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en-US"/>
                  </a:p>
                </p:txBody>
              </p:sp>
              <p:cxnSp>
                <p:nvCxnSpPr>
                  <p:cNvPr id="17" name="直接连接符 99"/>
                  <p:cNvCxnSpPr/>
                  <p:nvPr/>
                </p:nvCxnSpPr>
                <p:spPr>
                  <a:xfrm>
                    <a:off x="1517650" y="4883316"/>
                    <a:ext cx="0" cy="38097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直接连接符 100"/>
                  <p:cNvCxnSpPr/>
                  <p:nvPr/>
                </p:nvCxnSpPr>
                <p:spPr>
                  <a:xfrm>
                    <a:off x="1912938" y="4883316"/>
                    <a:ext cx="0" cy="38097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直接连接符 101"/>
                  <p:cNvCxnSpPr/>
                  <p:nvPr/>
                </p:nvCxnSpPr>
                <p:spPr>
                  <a:xfrm>
                    <a:off x="2279650" y="4883316"/>
                    <a:ext cx="0" cy="38097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直接连接符 102"/>
                  <p:cNvCxnSpPr/>
                  <p:nvPr/>
                </p:nvCxnSpPr>
                <p:spPr>
                  <a:xfrm>
                    <a:off x="2660650" y="4883316"/>
                    <a:ext cx="0" cy="38097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直接连接符 103"/>
                  <p:cNvCxnSpPr/>
                  <p:nvPr/>
                </p:nvCxnSpPr>
                <p:spPr>
                  <a:xfrm>
                    <a:off x="4108450" y="4883316"/>
                    <a:ext cx="0" cy="38097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直接连接符 104"/>
                  <p:cNvCxnSpPr/>
                  <p:nvPr/>
                </p:nvCxnSpPr>
                <p:spPr>
                  <a:xfrm>
                    <a:off x="3727450" y="4876966"/>
                    <a:ext cx="0" cy="380972"/>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1" name="TextBox 93"/>
                <p:cNvSpPr txBox="1">
                  <a:spLocks noChangeArrowheads="1"/>
                </p:cNvSpPr>
                <p:nvPr/>
              </p:nvSpPr>
              <p:spPr bwMode="auto">
                <a:xfrm>
                  <a:off x="1210845" y="4901481"/>
                  <a:ext cx="228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fontAlgn="base">
                    <a:spcBef>
                      <a:spcPts val="0"/>
                    </a:spcBef>
                    <a:spcAft>
                      <a:spcPts val="0"/>
                    </a:spcAft>
                  </a:pPr>
                  <a:r>
                    <a:rPr lang="en-US" sz="1800" kern="12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1</a:t>
                  </a:r>
                  <a:endParaRPr lang="en-US" sz="1200">
                    <a:effectLst/>
                    <a:latin typeface="Times New Roman" panose="02020603050405020304" pitchFamily="18" charset="0"/>
                    <a:ea typeface="Times New Roman" panose="02020603050405020304" pitchFamily="18" charset="0"/>
                  </a:endParaRPr>
                </a:p>
              </p:txBody>
            </p:sp>
            <p:sp>
              <p:nvSpPr>
                <p:cNvPr id="12" name="TextBox 94"/>
                <p:cNvSpPr txBox="1">
                  <a:spLocks noChangeArrowheads="1"/>
                </p:cNvSpPr>
                <p:nvPr/>
              </p:nvSpPr>
              <p:spPr bwMode="auto">
                <a:xfrm>
                  <a:off x="1571793" y="4889649"/>
                  <a:ext cx="228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fontAlgn="base">
                    <a:spcBef>
                      <a:spcPts val="0"/>
                    </a:spcBef>
                    <a:spcAft>
                      <a:spcPts val="0"/>
                    </a:spcAft>
                  </a:pPr>
                  <a:r>
                    <a:rPr lang="en-US" sz="1800" kern="12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2</a:t>
                  </a:r>
                  <a:endParaRPr lang="en-US" sz="1200">
                    <a:effectLst/>
                    <a:latin typeface="Times New Roman" panose="02020603050405020304" pitchFamily="18" charset="0"/>
                    <a:ea typeface="Times New Roman" panose="02020603050405020304" pitchFamily="18" charset="0"/>
                  </a:endParaRPr>
                </a:p>
              </p:txBody>
            </p:sp>
            <p:sp>
              <p:nvSpPr>
                <p:cNvPr id="13" name="TextBox 95"/>
                <p:cNvSpPr txBox="1">
                  <a:spLocks noChangeArrowheads="1"/>
                </p:cNvSpPr>
                <p:nvPr/>
              </p:nvSpPr>
              <p:spPr bwMode="auto">
                <a:xfrm>
                  <a:off x="1919655" y="4902893"/>
                  <a:ext cx="228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fontAlgn="base">
                    <a:spcBef>
                      <a:spcPts val="0"/>
                    </a:spcBef>
                    <a:spcAft>
                      <a:spcPts val="0"/>
                    </a:spcAft>
                  </a:pPr>
                  <a:r>
                    <a:rPr lang="en-US" sz="1800" kern="12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3</a:t>
                  </a:r>
                  <a:endParaRPr lang="en-US" sz="1200">
                    <a:effectLst/>
                    <a:latin typeface="Times New Roman" panose="02020603050405020304" pitchFamily="18" charset="0"/>
                    <a:ea typeface="Times New Roman" panose="02020603050405020304" pitchFamily="18" charset="0"/>
                  </a:endParaRPr>
                </a:p>
              </p:txBody>
            </p:sp>
            <p:sp>
              <p:nvSpPr>
                <p:cNvPr id="14" name="TextBox 96"/>
                <p:cNvSpPr txBox="1">
                  <a:spLocks noChangeArrowheads="1"/>
                </p:cNvSpPr>
                <p:nvPr/>
              </p:nvSpPr>
              <p:spPr bwMode="auto">
                <a:xfrm>
                  <a:off x="4108450" y="4889085"/>
                  <a:ext cx="228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fontAlgn="base">
                    <a:spcBef>
                      <a:spcPts val="0"/>
                    </a:spcBef>
                    <a:spcAft>
                      <a:spcPts val="0"/>
                    </a:spcAft>
                  </a:pPr>
                  <a:r>
                    <a:rPr lang="en-US" sz="1800" kern="12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n</a:t>
                  </a:r>
                  <a:endParaRPr lang="en-US" sz="1200">
                    <a:effectLst/>
                    <a:latin typeface="Times New Roman" panose="02020603050405020304" pitchFamily="18" charset="0"/>
                    <a:ea typeface="Times New Roman" panose="02020603050405020304" pitchFamily="18" charset="0"/>
                  </a:endParaRPr>
                </a:p>
              </p:txBody>
            </p:sp>
            <p:sp>
              <p:nvSpPr>
                <p:cNvPr id="15" name="TextBox 97"/>
                <p:cNvSpPr txBox="1">
                  <a:spLocks noChangeArrowheads="1"/>
                </p:cNvSpPr>
                <p:nvPr/>
              </p:nvSpPr>
              <p:spPr bwMode="auto">
                <a:xfrm>
                  <a:off x="2762918" y="4902893"/>
                  <a:ext cx="7359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fontAlgn="base">
                    <a:spcBef>
                      <a:spcPts val="0"/>
                    </a:spcBef>
                    <a:spcAft>
                      <a:spcPts val="0"/>
                    </a:spcAft>
                  </a:pPr>
                  <a:r>
                    <a:rPr lang="en-US" sz="1800" kern="12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endParaRPr>
                </a:p>
              </p:txBody>
            </p:sp>
          </p:grpSp>
          <p:sp>
            <p:nvSpPr>
              <p:cNvPr id="9" name="TextBox 91"/>
              <p:cNvSpPr txBox="1">
                <a:spLocks noChangeArrowheads="1"/>
              </p:cNvSpPr>
              <p:nvPr/>
            </p:nvSpPr>
            <p:spPr bwMode="auto">
              <a:xfrm>
                <a:off x="3671306" y="4889649"/>
                <a:ext cx="6327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fontAlgn="base">
                  <a:spcBef>
                    <a:spcPts val="0"/>
                  </a:spcBef>
                  <a:spcAft>
                    <a:spcPts val="0"/>
                  </a:spcAft>
                </a:pPr>
                <a:r>
                  <a:rPr lang="en-US" sz="1800" kern="12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n-1</a:t>
                </a:r>
                <a:endParaRPr lang="en-US" sz="1200">
                  <a:effectLst/>
                  <a:latin typeface="Times New Roman" panose="02020603050405020304" pitchFamily="18" charset="0"/>
                  <a:ea typeface="Times New Roman" panose="02020603050405020304" pitchFamily="18" charset="0"/>
                </a:endParaRPr>
              </a:p>
            </p:txBody>
          </p:sp>
        </p:grpSp>
        <p:sp>
          <p:nvSpPr>
            <p:cNvPr id="7" name="弧形 75"/>
            <p:cNvSpPr/>
            <p:nvPr/>
          </p:nvSpPr>
          <p:spPr>
            <a:xfrm>
              <a:off x="3930650" y="4732338"/>
              <a:ext cx="341313" cy="290844"/>
            </a:xfrm>
            <a:prstGeom prst="arc">
              <a:avLst>
                <a:gd name="adj1" fmla="val 11142638"/>
                <a:gd name="adj2" fmla="val 0"/>
              </a:avLst>
            </a:prstGeom>
            <a:ln w="28575"/>
          </p:spPr>
          <p:style>
            <a:lnRef idx="1">
              <a:schemeClr val="accent1"/>
            </a:lnRef>
            <a:fillRef idx="0">
              <a:schemeClr val="accent1"/>
            </a:fillRef>
            <a:effectRef idx="0">
              <a:schemeClr val="accent1"/>
            </a:effectRef>
            <a:fontRef idx="minor">
              <a:schemeClr val="tx1"/>
            </a:fontRef>
          </p:style>
          <p:txBody>
            <a:bodyPr anchor="ctr"/>
            <a:lstStyle/>
            <a:p>
              <a:endParaRPr lang="en-US"/>
            </a:p>
          </p:txBody>
        </p:sp>
      </p:grpSp>
    </p:spTree>
    <p:extLst>
      <p:ext uri="{BB962C8B-B14F-4D97-AF65-F5344CB8AC3E}">
        <p14:creationId xmlns:p14="http://schemas.microsoft.com/office/powerpoint/2010/main" val="4086414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00FF"/>
                </a:solidFill>
              </a:rPr>
              <a:t>Using Both Product and Sum Rules</a:t>
            </a:r>
            <a:endParaRPr lang="zh-CN" altLang="en-US" dirty="0">
              <a:solidFill>
                <a:srgbClr val="0000FF"/>
              </a:solidFill>
            </a:endParaRPr>
          </a:p>
        </p:txBody>
      </p:sp>
      <p:sp>
        <p:nvSpPr>
          <p:cNvPr id="3" name="内容占位符 2"/>
          <p:cNvSpPr>
            <a:spLocks noGrp="1"/>
          </p:cNvSpPr>
          <p:nvPr>
            <p:ph idx="1"/>
          </p:nvPr>
        </p:nvSpPr>
        <p:spPr>
          <a:xfrm>
            <a:off x="228600" y="1600200"/>
            <a:ext cx="8686800" cy="5029200"/>
          </a:xfrm>
        </p:spPr>
        <p:txBody>
          <a:bodyPr/>
          <a:lstStyle/>
          <a:p>
            <a:pPr algn="just"/>
            <a:r>
              <a:rPr lang="en-US" altLang="zh-CN" b="1" dirty="0">
                <a:solidFill>
                  <a:srgbClr val="0000FF"/>
                </a:solidFill>
              </a:rPr>
              <a:t>Example</a:t>
            </a:r>
          </a:p>
          <a:p>
            <a:pPr marL="0" indent="0" algn="just">
              <a:buNone/>
            </a:pPr>
            <a:r>
              <a:rPr lang="en-US" altLang="zh-CN" dirty="0"/>
              <a:t>In a programming language, a variable name is a string of </a:t>
            </a:r>
            <a:r>
              <a:rPr lang="en-US" altLang="zh-CN" b="1" u="sng" dirty="0">
                <a:solidFill>
                  <a:srgbClr val="FF0000"/>
                </a:solidFill>
              </a:rPr>
              <a:t>1</a:t>
            </a:r>
            <a:r>
              <a:rPr lang="en-US" altLang="zh-CN" b="1" u="sng" dirty="0"/>
              <a:t> or </a:t>
            </a:r>
            <a:r>
              <a:rPr lang="en-US" altLang="zh-CN" b="1" u="sng" dirty="0">
                <a:solidFill>
                  <a:srgbClr val="FF0000"/>
                </a:solidFill>
              </a:rPr>
              <a:t>2</a:t>
            </a:r>
            <a:r>
              <a:rPr lang="en-US" altLang="zh-CN" b="1" u="sng" dirty="0"/>
              <a:t> alphanumeric characters</a:t>
            </a:r>
            <a:r>
              <a:rPr lang="en-US" altLang="zh-CN" b="1" dirty="0"/>
              <a:t> </a:t>
            </a:r>
            <a:r>
              <a:rPr lang="en-US" altLang="zh-CN" dirty="0"/>
              <a:t>which are not case-sensitive, i.e., an alphanumeric character is either one of the 26 English letters or one of the 10 digits. Moreover, a variable name must </a:t>
            </a:r>
            <a:r>
              <a:rPr lang="en-US" altLang="zh-CN" b="1" u="sng" dirty="0"/>
              <a:t>begin with a letter.</a:t>
            </a:r>
            <a:r>
              <a:rPr lang="en-US" altLang="zh-CN" b="1" dirty="0"/>
              <a:t> </a:t>
            </a:r>
            <a:r>
              <a:rPr lang="en-US" altLang="zh-CN" dirty="0"/>
              <a:t>Finally, a variable name must be </a:t>
            </a:r>
            <a:r>
              <a:rPr lang="en-US" altLang="zh-CN" b="1" u="sng" dirty="0"/>
              <a:t>different</a:t>
            </a:r>
            <a:r>
              <a:rPr lang="en-US" altLang="zh-CN" dirty="0"/>
              <a:t> from the five strings of two characters that are reserved for programming use. </a:t>
            </a:r>
          </a:p>
          <a:p>
            <a:pPr marL="0" indent="0" algn="just">
              <a:buNone/>
            </a:pPr>
            <a:endParaRPr lang="en-US" altLang="zh-CN" dirty="0"/>
          </a:p>
          <a:p>
            <a:pPr marL="0" indent="0" algn="just">
              <a:buNone/>
            </a:pPr>
            <a:r>
              <a:rPr lang="en-US" altLang="zh-CN" dirty="0"/>
              <a:t>How many different variable names are there in the language?</a:t>
            </a:r>
          </a:p>
        </p:txBody>
      </p:sp>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3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35"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37"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017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Slide Number Placeholder 4"/>
          <p:cNvSpPr>
            <a:spLocks noGrp="1"/>
          </p:cNvSpPr>
          <p:nvPr>
            <p:ph type="sldNum" sz="quarter" idx="12"/>
          </p:nvPr>
        </p:nvSpPr>
        <p:spPr/>
        <p:txBody>
          <a:bodyPr/>
          <a:lstStyle/>
          <a:p>
            <a:fld id="{5EC735E3-5B29-4F54-8FB9-022B0DB6C884}" type="slidenum">
              <a:rPr lang="en-US" smtClean="0"/>
              <a:pPr/>
              <a:t>21</a:t>
            </a:fld>
            <a:endParaRPr lang="en-US"/>
          </a:p>
        </p:txBody>
      </p:sp>
    </p:spTree>
    <p:extLst>
      <p:ext uri="{BB962C8B-B14F-4D97-AF65-F5344CB8AC3E}">
        <p14:creationId xmlns:p14="http://schemas.microsoft.com/office/powerpoint/2010/main" val="1614006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solidFill>
                  <a:schemeClr val="tx1"/>
                </a:solidFill>
              </a:rPr>
              <a:t>Using Both Product and Sum Rules</a:t>
            </a:r>
            <a:endParaRPr lang="en-US" dirty="0">
              <a:solidFill>
                <a:schemeClr val="tx1"/>
              </a:solidFill>
            </a:endParaRPr>
          </a:p>
        </p:txBody>
      </p:sp>
      <p:sp>
        <p:nvSpPr>
          <p:cNvPr id="3" name="Content Placeholder 2"/>
          <p:cNvSpPr>
            <a:spLocks noGrp="1"/>
          </p:cNvSpPr>
          <p:nvPr>
            <p:ph idx="1"/>
          </p:nvPr>
        </p:nvSpPr>
        <p:spPr/>
        <p:txBody>
          <a:bodyPr/>
          <a:lstStyle/>
          <a:p>
            <a:r>
              <a:rPr lang="en-US" b="1" dirty="0">
                <a:solidFill>
                  <a:srgbClr val="0000FF"/>
                </a:solidFill>
              </a:rPr>
              <a:t>Solution:</a:t>
            </a:r>
          </a:p>
          <a:p>
            <a:pPr algn="just">
              <a:buClr>
                <a:schemeClr val="bg1"/>
              </a:buClr>
            </a:pPr>
            <a:r>
              <a:rPr lang="en-US" sz="2400" dirty="0"/>
              <a:t>There are two cases (sum rule): one to account for variables of length 1 (formed by a single alphanumeric character), and the other to account for variables of length 2 (formed by two alphanumeric characters).</a:t>
            </a:r>
          </a:p>
          <a:p>
            <a:pPr algn="just">
              <a:buClr>
                <a:schemeClr val="bg1"/>
              </a:buClr>
            </a:pPr>
            <a:r>
              <a:rPr lang="en-US" sz="2400" dirty="0"/>
              <a:t> </a:t>
            </a:r>
          </a:p>
          <a:p>
            <a:pPr algn="just">
              <a:buClr>
                <a:schemeClr val="bg1"/>
              </a:buClr>
            </a:pPr>
            <a:r>
              <a:rPr lang="en-US" sz="2400" b="1" dirty="0"/>
              <a:t>(case 1) </a:t>
            </a:r>
            <a:r>
              <a:rPr lang="en-US" sz="2400" dirty="0"/>
              <a:t>For variables formed by a single alphanumeric character, we have a total of </a:t>
            </a:r>
            <a:r>
              <a:rPr lang="en-US" sz="2400" b="1" dirty="0">
                <a:solidFill>
                  <a:srgbClr val="FF0000"/>
                </a:solidFill>
              </a:rPr>
              <a:t>26</a:t>
            </a:r>
            <a:r>
              <a:rPr lang="en-US" sz="2400" dirty="0"/>
              <a:t> possible variables (it cannot be a numerical digit, since variable names need to start with a letter)</a:t>
            </a:r>
          </a:p>
          <a:p>
            <a:endParaRPr lang="en-US" sz="2400" dirty="0"/>
          </a:p>
        </p:txBody>
      </p:sp>
      <p:sp>
        <p:nvSpPr>
          <p:cNvPr id="4" name="Slide Number Placeholder 3"/>
          <p:cNvSpPr>
            <a:spLocks noGrp="1"/>
          </p:cNvSpPr>
          <p:nvPr>
            <p:ph type="sldNum" sz="quarter" idx="12"/>
          </p:nvPr>
        </p:nvSpPr>
        <p:spPr/>
        <p:txBody>
          <a:bodyPr/>
          <a:lstStyle/>
          <a:p>
            <a:fld id="{5EC735E3-5B29-4F54-8FB9-022B0DB6C884}" type="slidenum">
              <a:rPr lang="en-US" smtClean="0"/>
              <a:pPr/>
              <a:t>22</a:t>
            </a:fld>
            <a:endParaRPr lang="en-US"/>
          </a:p>
        </p:txBody>
      </p:sp>
    </p:spTree>
    <p:extLst>
      <p:ext uri="{BB962C8B-B14F-4D97-AF65-F5344CB8AC3E}">
        <p14:creationId xmlns:p14="http://schemas.microsoft.com/office/powerpoint/2010/main" val="21610294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Solution (cont’d):</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0" y="1143000"/>
                <a:ext cx="9067800" cy="5105400"/>
              </a:xfrm>
            </p:spPr>
            <p:txBody>
              <a:bodyPr/>
              <a:lstStyle/>
              <a:p>
                <a:pPr algn="just">
                  <a:buClr>
                    <a:schemeClr val="bg1"/>
                  </a:buClr>
                </a:pPr>
                <a:r>
                  <a:rPr lang="en-US" sz="2400" b="1" dirty="0"/>
                  <a:t>(case 2) </a:t>
                </a:r>
                <a:r>
                  <a:rPr lang="en-US" sz="2400" dirty="0"/>
                  <a:t>For variables formed by two alphanumeric characters, we will first apply the product rule to get the total number of possible combinations of 2-character strings and then subtract the number by 5 (i.e., number of reserved 2-character strings).</a:t>
                </a:r>
              </a:p>
              <a:p>
                <a:pPr>
                  <a:buClr>
                    <a:schemeClr val="bg1"/>
                  </a:buClr>
                </a:pPr>
                <a:r>
                  <a:rPr lang="en-US" sz="2400" dirty="0"/>
                  <a:t>For the first character, we can choose from the pool of 26 English letters, and for the second character we can choose from the pool of (26 letters +10 digits) = 36 alphanumeric characters. By applying the product rule, we have the total number of different variables being </a:t>
                </a:r>
                <a14:m>
                  <m:oMath xmlns:m="http://schemas.openxmlformats.org/officeDocument/2006/math">
                    <m:r>
                      <a:rPr lang="en-US" sz="2400" i="1" dirty="0" smtClean="0">
                        <a:latin typeface="Cambria Math" panose="02040503050406030204" pitchFamily="18" charset="0"/>
                      </a:rPr>
                      <m:t>26</m:t>
                    </m:r>
                    <m:r>
                      <a:rPr lang="en-US" sz="2400" b="0" i="1" dirty="0" smtClean="0">
                        <a:latin typeface="Cambria Math" panose="02040503050406030204" pitchFamily="18" charset="0"/>
                      </a:rPr>
                      <m:t>×</m:t>
                    </m:r>
                    <m:r>
                      <a:rPr lang="en-US" sz="2400" i="1" dirty="0" smtClean="0">
                        <a:latin typeface="Cambria Math" panose="02040503050406030204" pitchFamily="18" charset="0"/>
                      </a:rPr>
                      <m:t>36=936</m:t>
                    </m:r>
                  </m:oMath>
                </a14:m>
                <a:r>
                  <a:rPr lang="en-US" sz="2400" dirty="0"/>
                  <a:t>. Then we need to subtract the number by 5 in order to exclude the 5 reserved strings. Therefore, we have </a:t>
                </a:r>
                <a14:m>
                  <m:oMath xmlns:m="http://schemas.openxmlformats.org/officeDocument/2006/math">
                    <m:r>
                      <a:rPr lang="en-US" sz="2400" i="1" dirty="0" smtClean="0">
                        <a:latin typeface="Cambria Math" panose="02040503050406030204" pitchFamily="18" charset="0"/>
                      </a:rPr>
                      <m:t>936−5=</m:t>
                    </m:r>
                    <m:r>
                      <a:rPr lang="en-US" sz="2400" b="1" i="1" dirty="0">
                        <a:solidFill>
                          <a:srgbClr val="FF0000"/>
                        </a:solidFill>
                        <a:latin typeface="Cambria Math" panose="02040503050406030204" pitchFamily="18" charset="0"/>
                      </a:rPr>
                      <m:t>𝟗𝟑𝟏</m:t>
                    </m:r>
                  </m:oMath>
                </a14:m>
                <a:r>
                  <a:rPr lang="en-US" sz="2400" dirty="0"/>
                  <a:t>.</a:t>
                </a:r>
              </a:p>
              <a:p>
                <a:pPr algn="just">
                  <a:buClr>
                    <a:schemeClr val="bg1"/>
                  </a:buClr>
                </a:pPr>
                <a:r>
                  <a:rPr lang="en-US" sz="2400" u="sng" dirty="0"/>
                  <a:t>In total</a:t>
                </a:r>
                <a:r>
                  <a:rPr lang="en-US" sz="2400" dirty="0"/>
                  <a:t>, the number of variable names is </a:t>
                </a:r>
                <a14:m>
                  <m:oMath xmlns:m="http://schemas.openxmlformats.org/officeDocument/2006/math">
                    <m:r>
                      <a:rPr lang="en-US" sz="2400" b="1" i="1" dirty="0" smtClean="0">
                        <a:solidFill>
                          <a:srgbClr val="FF0000"/>
                        </a:solidFill>
                        <a:latin typeface="Cambria Math" panose="02040503050406030204" pitchFamily="18" charset="0"/>
                      </a:rPr>
                      <m:t>𝟐𝟔</m:t>
                    </m:r>
                    <m:r>
                      <a:rPr lang="en-US" sz="2400" b="1" i="1" dirty="0" smtClean="0">
                        <a:solidFill>
                          <a:srgbClr val="FF0000"/>
                        </a:solidFill>
                        <a:latin typeface="Cambria Math" panose="02040503050406030204" pitchFamily="18" charset="0"/>
                      </a:rPr>
                      <m:t>+</m:t>
                    </m:r>
                    <m:r>
                      <a:rPr lang="en-US" sz="2400" b="1" i="1" dirty="0" smtClean="0">
                        <a:solidFill>
                          <a:srgbClr val="FF0000"/>
                        </a:solidFill>
                        <a:latin typeface="Cambria Math" panose="02040503050406030204" pitchFamily="18" charset="0"/>
                      </a:rPr>
                      <m:t>𝟗𝟑𝟏</m:t>
                    </m:r>
                    <m:r>
                      <a:rPr lang="en-US" sz="2400" i="1" dirty="0" smtClean="0">
                        <a:latin typeface="Cambria Math" panose="02040503050406030204" pitchFamily="18" charset="0"/>
                      </a:rPr>
                      <m:t>=</m:t>
                    </m:r>
                    <m:r>
                      <a:rPr lang="en-US" sz="2400" b="1" i="1" dirty="0">
                        <a:solidFill>
                          <a:srgbClr val="FF0000"/>
                        </a:solidFill>
                        <a:latin typeface="Cambria Math" panose="02040503050406030204" pitchFamily="18" charset="0"/>
                      </a:rPr>
                      <m:t>𝟗𝟓𝟕</m:t>
                    </m:r>
                  </m:oMath>
                </a14:m>
                <a:endParaRPr lang="en-US" sz="2400" dirty="0">
                  <a:solidFill>
                    <a:srgbClr val="FF0000"/>
                  </a:solidFill>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0" y="1143000"/>
                <a:ext cx="9067800" cy="5105400"/>
              </a:xfrm>
              <a:blipFill>
                <a:blip r:embed="rId2"/>
                <a:stretch>
                  <a:fillRect l="-979" t="-1489" r="-979" b="-7444"/>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23</a:t>
            </a:fld>
            <a:endParaRPr lang="en-US"/>
          </a:p>
        </p:txBody>
      </p:sp>
    </p:spTree>
    <p:extLst>
      <p:ext uri="{BB962C8B-B14F-4D97-AF65-F5344CB8AC3E}">
        <p14:creationId xmlns:p14="http://schemas.microsoft.com/office/powerpoint/2010/main" val="830356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tx1"/>
                </a:solidFill>
              </a:rPr>
              <a:t>Using Both Product and Sum Rules</a:t>
            </a:r>
            <a:endParaRPr lang="zh-CN" altLang="en-US" dirty="0">
              <a:solidFill>
                <a:schemeClr val="tx1"/>
              </a:solidFill>
            </a:endParaRPr>
          </a:p>
        </p:txBody>
      </p:sp>
      <p:sp>
        <p:nvSpPr>
          <p:cNvPr id="3" name="内容占位符 2"/>
          <p:cNvSpPr>
            <a:spLocks noGrp="1"/>
          </p:cNvSpPr>
          <p:nvPr>
            <p:ph idx="1"/>
          </p:nvPr>
        </p:nvSpPr>
        <p:spPr>
          <a:xfrm>
            <a:off x="228600" y="1600200"/>
            <a:ext cx="8686800" cy="5029200"/>
          </a:xfrm>
        </p:spPr>
        <p:txBody>
          <a:bodyPr/>
          <a:lstStyle/>
          <a:p>
            <a:r>
              <a:rPr lang="en-US" altLang="zh-CN" b="1" dirty="0">
                <a:solidFill>
                  <a:srgbClr val="0000FF"/>
                </a:solidFill>
              </a:rPr>
              <a:t>Example</a:t>
            </a:r>
          </a:p>
          <a:p>
            <a:pPr marL="0" indent="0">
              <a:buNone/>
            </a:pPr>
            <a:r>
              <a:rPr lang="en-US" altLang="zh-CN" dirty="0"/>
              <a:t>In a computer system, each user has a password of six to eight characters long where each character is an uppercase letter or a digit. Each password must contain at least one digit. How many possible passwords are there?</a:t>
            </a:r>
          </a:p>
        </p:txBody>
      </p:sp>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3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35"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37"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017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Slide Number Placeholder 4"/>
          <p:cNvSpPr>
            <a:spLocks noGrp="1"/>
          </p:cNvSpPr>
          <p:nvPr>
            <p:ph type="sldNum" sz="quarter" idx="12"/>
          </p:nvPr>
        </p:nvSpPr>
        <p:spPr/>
        <p:txBody>
          <a:bodyPr/>
          <a:lstStyle/>
          <a:p>
            <a:fld id="{5EC735E3-5B29-4F54-8FB9-022B0DB6C884}" type="slidenum">
              <a:rPr lang="en-US" smtClean="0"/>
              <a:pPr/>
              <a:t>24</a:t>
            </a:fld>
            <a:endParaRPr lang="en-US"/>
          </a:p>
        </p:txBody>
      </p:sp>
    </p:spTree>
    <p:extLst>
      <p:ext uri="{BB962C8B-B14F-4D97-AF65-F5344CB8AC3E}">
        <p14:creationId xmlns:p14="http://schemas.microsoft.com/office/powerpoint/2010/main" val="19069574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Solution: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8600" y="1219200"/>
                <a:ext cx="8686800" cy="5029200"/>
              </a:xfrm>
            </p:spPr>
            <p:txBody>
              <a:bodyPr/>
              <a:lstStyle/>
              <a:p>
                <a:pPr>
                  <a:buClr>
                    <a:schemeClr val="bg1"/>
                  </a:buClr>
                </a:pPr>
                <a:r>
                  <a:rPr lang="en-US" sz="2400" dirty="0"/>
                  <a:t>Let </a:t>
                </a:r>
                <a14:m>
                  <m:oMath xmlns:m="http://schemas.openxmlformats.org/officeDocument/2006/math">
                    <m:r>
                      <a:rPr lang="en-US" sz="2400" i="1" dirty="0" smtClean="0">
                        <a:latin typeface="Cambria Math" panose="02040503050406030204" pitchFamily="18" charset="0"/>
                      </a:rPr>
                      <m:t>𝑃</m:t>
                    </m:r>
                  </m:oMath>
                </a14:m>
                <a:r>
                  <a:rPr lang="en-US" sz="2400" dirty="0"/>
                  <a:t> be the total number of possible passwords, and let </a:t>
                </a:r>
                <a14:m>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𝑃</m:t>
                        </m:r>
                      </m:e>
                      <m:sub>
                        <m:r>
                          <a:rPr lang="en-US" sz="2400" b="0" i="1" dirty="0" smtClean="0">
                            <a:latin typeface="Cambria Math" panose="02040503050406030204" pitchFamily="18" charset="0"/>
                          </a:rPr>
                          <m:t>6</m:t>
                        </m:r>
                      </m:sub>
                    </m:sSub>
                    <m:r>
                      <a:rPr lang="en-US" sz="2400" b="0" i="0"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𝑃</m:t>
                        </m:r>
                      </m:e>
                      <m:sub>
                        <m:r>
                          <a:rPr lang="en-US" sz="2400" b="0" i="1" dirty="0" smtClean="0">
                            <a:latin typeface="Cambria Math" panose="02040503050406030204" pitchFamily="18" charset="0"/>
                          </a:rPr>
                          <m:t>7</m:t>
                        </m:r>
                      </m:sub>
                    </m:sSub>
                    <m:r>
                      <a:rPr lang="en-US" sz="2400" b="0" i="1" dirty="0" smtClean="0">
                        <a:latin typeface="Cambria Math" panose="02040503050406030204" pitchFamily="18" charset="0"/>
                      </a:rPr>
                      <m:t>, </m:t>
                    </m:r>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𝑃</m:t>
                        </m:r>
                      </m:e>
                      <m:sub>
                        <m:r>
                          <a:rPr lang="en-US" sz="2400" b="0" i="1" dirty="0" smtClean="0">
                            <a:latin typeface="Cambria Math" panose="02040503050406030204" pitchFamily="18" charset="0"/>
                          </a:rPr>
                          <m:t>8</m:t>
                        </m:r>
                      </m:sub>
                    </m:sSub>
                  </m:oMath>
                </a14:m>
                <a:r>
                  <a:rPr lang="en-US" sz="2400" dirty="0"/>
                  <a:t> denote the number of possible passwords of length 6, 7, 8 respectively. Then </a:t>
                </a:r>
                <a14:m>
                  <m:oMath xmlns:m="http://schemas.openxmlformats.org/officeDocument/2006/math">
                    <m:r>
                      <a:rPr lang="en-US" sz="2400" b="0" i="1" smtClean="0">
                        <a:latin typeface="Cambria Math" panose="02040503050406030204" pitchFamily="18" charset="0"/>
                      </a:rPr>
                      <m:t>𝑃</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6</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7</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8</m:t>
                        </m:r>
                      </m:sub>
                    </m:sSub>
                  </m:oMath>
                </a14:m>
                <a:r>
                  <a:rPr lang="en-US" sz="2400" dirty="0"/>
                  <a:t>.</a:t>
                </a:r>
              </a:p>
              <a:p>
                <a:pPr algn="just">
                  <a:buClr>
                    <a:schemeClr val="bg1"/>
                  </a:buClr>
                </a:pPr>
                <a:r>
                  <a:rPr lang="en-US" sz="2400" dirty="0"/>
                  <a:t>We require each password to contain at least one digit (numerical value 0-9), this could be hard, because a legitimate password of length 6 could contain 1 digit, 2 digits,… 6 digits. For the passwords of length 6 with 1 digit, that digit could be in any of the 6 positions. For the passwords of length 6 with 2 digits, the two digits can be in any 2 positions within the 6 possible positions.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8600" y="1219200"/>
                <a:ext cx="8686800" cy="5029200"/>
              </a:xfrm>
              <a:blipFill>
                <a:blip r:embed="rId2"/>
                <a:stretch>
                  <a:fillRect l="-982" t="-848" r="-105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25</a:t>
            </a:fld>
            <a:endParaRPr lang="en-US"/>
          </a:p>
        </p:txBody>
      </p:sp>
    </p:spTree>
    <p:extLst>
      <p:ext uri="{BB962C8B-B14F-4D97-AF65-F5344CB8AC3E}">
        <p14:creationId xmlns:p14="http://schemas.microsoft.com/office/powerpoint/2010/main" val="4044698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58200" cy="334962"/>
          </a:xfrm>
        </p:spPr>
        <p:txBody>
          <a:bodyPr/>
          <a:lstStyle/>
          <a:p>
            <a:r>
              <a:rPr lang="en-US" dirty="0">
                <a:solidFill>
                  <a:schemeClr val="tx1"/>
                </a:solidFill>
              </a:rPr>
              <a:t>Solution (cont’d)</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28600" y="800100"/>
                <a:ext cx="8686800" cy="5257800"/>
              </a:xfrm>
            </p:spPr>
            <p:txBody>
              <a:bodyPr/>
              <a:lstStyle/>
              <a:p>
                <a:pPr marL="0" indent="0" algn="just">
                  <a:buClr>
                    <a:schemeClr val="bg1"/>
                  </a:buClr>
                  <a:buNone/>
                </a:pPr>
                <a:r>
                  <a:rPr lang="en-US" sz="2000" dirty="0"/>
                  <a:t>So direct calculation for the number of possible combinations is tricky. Instead, first </a:t>
                </a:r>
                <a:r>
                  <a:rPr lang="en-US" sz="2000" dirty="0">
                    <a:solidFill>
                      <a:srgbClr val="0000FF"/>
                    </a:solidFill>
                  </a:rPr>
                  <a:t>calculate the total number of passwords of length 6 formed by using the 26 letters and 10 digits</a:t>
                </a:r>
                <a:r>
                  <a:rPr lang="en-US" sz="2000" dirty="0"/>
                  <a:t>. Then,  </a:t>
                </a:r>
                <a:r>
                  <a:rPr lang="en-US" sz="2000" dirty="0">
                    <a:solidFill>
                      <a:srgbClr val="00B050"/>
                    </a:solidFill>
                  </a:rPr>
                  <a:t>subtract the number of passwords with no digit</a:t>
                </a:r>
                <a:r>
                  <a:rPr lang="en-US" sz="2000" dirty="0"/>
                  <a:t> to get the desired sum.</a:t>
                </a:r>
              </a:p>
              <a:p>
                <a:pPr marL="0" indent="0" algn="just">
                  <a:buClr>
                    <a:schemeClr val="bg1"/>
                  </a:buClr>
                  <a:buNone/>
                </a:pPr>
                <a14:m>
                  <m:oMath xmlns:m="http://schemas.openxmlformats.org/officeDocument/2006/math">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𝑃</m:t>
                        </m:r>
                      </m:e>
                      <m:sub>
                        <m:r>
                          <a:rPr lang="en-US" sz="2000" b="0" i="1" dirty="0" smtClean="0">
                            <a:latin typeface="Cambria Math" panose="02040503050406030204" pitchFamily="18" charset="0"/>
                          </a:rPr>
                          <m:t>6</m:t>
                        </m:r>
                      </m:sub>
                    </m:sSub>
                  </m:oMath>
                </a14:m>
                <a:r>
                  <a:rPr lang="en-US" sz="2000" dirty="0"/>
                  <a:t> =</a:t>
                </a:r>
                <a:r>
                  <a:rPr lang="en-US" sz="2000" dirty="0">
                    <a:solidFill>
                      <a:srgbClr val="0000FF"/>
                    </a:solidFill>
                  </a:rPr>
                  <a:t>number of passwords formed by the 36 alphanumeric characters</a:t>
                </a:r>
                <a:r>
                  <a:rPr lang="en-US" sz="2000" dirty="0"/>
                  <a:t> – </a:t>
                </a:r>
                <a:r>
                  <a:rPr lang="en-US" sz="2000" dirty="0">
                    <a:solidFill>
                      <a:srgbClr val="00B050"/>
                    </a:solidFill>
                  </a:rPr>
                  <a:t>number of passwords formed by the 26 English letters only</a:t>
                </a:r>
                <a:r>
                  <a:rPr lang="en-US" sz="2000" dirty="0"/>
                  <a:t> = </a:t>
                </a:r>
                <a14:m>
                  <m:oMath xmlns:m="http://schemas.openxmlformats.org/officeDocument/2006/math">
                    <m:r>
                      <a:rPr lang="en-US" sz="2000" i="1" dirty="0" smtClean="0">
                        <a:latin typeface="Cambria Math" panose="02040503050406030204" pitchFamily="18" charset="0"/>
                      </a:rPr>
                      <m:t>36</m:t>
                    </m:r>
                    <m:r>
                      <a:rPr lang="en-US" sz="2000" i="1" baseline="30000" dirty="0">
                        <a:latin typeface="Cambria Math" panose="02040503050406030204" pitchFamily="18" charset="0"/>
                      </a:rPr>
                      <m:t>6</m:t>
                    </m:r>
                    <m:r>
                      <a:rPr lang="en-US" sz="2000" i="1" dirty="0">
                        <a:latin typeface="Cambria Math" panose="02040503050406030204" pitchFamily="18" charset="0"/>
                      </a:rPr>
                      <m:t>−26</m:t>
                    </m:r>
                    <m:r>
                      <a:rPr lang="en-US" sz="2000" i="1" baseline="30000" dirty="0">
                        <a:latin typeface="Cambria Math" panose="02040503050406030204" pitchFamily="18" charset="0"/>
                      </a:rPr>
                      <m:t>6</m:t>
                    </m:r>
                  </m:oMath>
                </a14:m>
                <a:r>
                  <a:rPr lang="en-US" sz="2000" dirty="0"/>
                  <a:t> = </a:t>
                </a:r>
                <a14:m>
                  <m:oMath xmlns:m="http://schemas.openxmlformats.org/officeDocument/2006/math">
                    <m:r>
                      <a:rPr lang="en-US" sz="2000" i="1" dirty="0" smtClean="0">
                        <a:latin typeface="Cambria Math" panose="02040503050406030204" pitchFamily="18" charset="0"/>
                      </a:rPr>
                      <m:t>1</m:t>
                    </m:r>
                    <m:r>
                      <a:rPr lang="en-US" sz="2000" b="0" i="1" dirty="0" smtClean="0">
                        <a:latin typeface="Cambria Math" panose="02040503050406030204" pitchFamily="18" charset="0"/>
                      </a:rPr>
                      <m:t>,</m:t>
                    </m:r>
                    <m:r>
                      <a:rPr lang="en-US" sz="2000" i="1" dirty="0" smtClean="0">
                        <a:latin typeface="Cambria Math" panose="02040503050406030204" pitchFamily="18" charset="0"/>
                      </a:rPr>
                      <m:t>867</m:t>
                    </m:r>
                    <m:r>
                      <a:rPr lang="en-US" sz="2000" b="0" i="1" dirty="0" smtClean="0">
                        <a:latin typeface="Cambria Math" panose="02040503050406030204" pitchFamily="18" charset="0"/>
                      </a:rPr>
                      <m:t>,</m:t>
                    </m:r>
                    <m:r>
                      <a:rPr lang="en-US" sz="2000" i="1" dirty="0" smtClean="0">
                        <a:latin typeface="Cambria Math" panose="02040503050406030204" pitchFamily="18" charset="0"/>
                      </a:rPr>
                      <m:t>866</m:t>
                    </m:r>
                    <m:r>
                      <a:rPr lang="en-US" sz="2000" b="0" i="1" dirty="0" smtClean="0">
                        <a:latin typeface="Cambria Math" panose="02040503050406030204" pitchFamily="18" charset="0"/>
                      </a:rPr>
                      <m:t>,</m:t>
                    </m:r>
                    <m:r>
                      <a:rPr lang="en-US" sz="2000" i="1" dirty="0" smtClean="0">
                        <a:latin typeface="Cambria Math" panose="02040503050406030204" pitchFamily="18" charset="0"/>
                      </a:rPr>
                      <m:t>560</m:t>
                    </m:r>
                  </m:oMath>
                </a14:m>
                <a:endParaRPr lang="en-US" sz="2400" dirty="0"/>
              </a:p>
              <a:p>
                <a:pPr algn="just"/>
                <a:r>
                  <a:rPr lang="en-US" sz="1800" u="sng" dirty="0">
                    <a:solidFill>
                      <a:schemeClr val="bg1"/>
                    </a:solidFill>
                  </a:rPr>
                  <a:t>Wrong Solution</a:t>
                </a:r>
                <a:r>
                  <a:rPr lang="en-US" sz="1800" dirty="0">
                    <a:solidFill>
                      <a:schemeClr val="bg1"/>
                    </a:solidFill>
                  </a:rPr>
                  <a:t>: </a:t>
                </a:r>
                <a:r>
                  <a:rPr lang="en-US" altLang="zh-CN" sz="1800" dirty="0">
                    <a:solidFill>
                      <a:schemeClr val="bg1"/>
                    </a:solidFill>
                    <a:sym typeface="Symbol" panose="05050102010706020507" pitchFamily="18" charset="2"/>
                  </a:rPr>
                  <a:t>Since the password must contain a digit, I have 10 options for the digit, 6 options for the position of the digit, and </a:t>
                </a:r>
                <a14:m>
                  <m:oMath xmlns:m="http://schemas.openxmlformats.org/officeDocument/2006/math">
                    <m:r>
                      <a:rPr lang="en-US" sz="1800" i="1" dirty="0">
                        <a:solidFill>
                          <a:schemeClr val="bg1"/>
                        </a:solidFill>
                        <a:latin typeface="Cambria Math" panose="02040503050406030204" pitchFamily="18" charset="0"/>
                      </a:rPr>
                      <m:t>36</m:t>
                    </m:r>
                    <m:r>
                      <a:rPr lang="en-US" sz="1800" i="1" baseline="30000" dirty="0">
                        <a:solidFill>
                          <a:schemeClr val="bg1"/>
                        </a:solidFill>
                        <a:latin typeface="Cambria Math" panose="02040503050406030204" pitchFamily="18" charset="0"/>
                      </a:rPr>
                      <m:t>5</m:t>
                    </m:r>
                  </m:oMath>
                </a14:m>
                <a:r>
                  <a:rPr lang="en-US" altLang="zh-CN" sz="1800" dirty="0">
                    <a:solidFill>
                      <a:schemeClr val="bg1"/>
                    </a:solidFill>
                    <a:sym typeface="Symbol" panose="05050102010706020507" pitchFamily="18" charset="2"/>
                  </a:rPr>
                  <a:t> for the remaining characters. Therefore, one could claim that the answer is </a:t>
                </a:r>
                <a14:m>
                  <m:oMath xmlns:m="http://schemas.openxmlformats.org/officeDocument/2006/math">
                    <m:r>
                      <a:rPr lang="en-US" sz="1800" i="1" dirty="0" smtClean="0">
                        <a:solidFill>
                          <a:schemeClr val="bg1"/>
                        </a:solidFill>
                        <a:latin typeface="Cambria Math" panose="02040503050406030204" pitchFamily="18" charset="0"/>
                      </a:rPr>
                      <m:t>36</m:t>
                    </m:r>
                    <m:r>
                      <a:rPr lang="en-US" sz="1800" i="1" baseline="30000" dirty="0">
                        <a:solidFill>
                          <a:schemeClr val="bg1"/>
                        </a:solidFill>
                        <a:latin typeface="Cambria Math" panose="02040503050406030204" pitchFamily="18" charset="0"/>
                      </a:rPr>
                      <m:t>5</m:t>
                    </m:r>
                    <m:r>
                      <m:rPr>
                        <m:nor/>
                      </m:rPr>
                      <a:rPr lang="en-US" altLang="zh-CN" sz="1800" i="0" dirty="0">
                        <a:solidFill>
                          <a:schemeClr val="bg1"/>
                        </a:solidFill>
                        <a:sym typeface="Symbol" panose="05050102010706020507" pitchFamily="18" charset="2"/>
                      </a:rPr>
                      <m:t></m:t>
                    </m:r>
                  </m:oMath>
                </a14:m>
                <a:r>
                  <a:rPr lang="en-US" sz="1800" dirty="0">
                    <a:solidFill>
                      <a:schemeClr val="bg1"/>
                    </a:solidFill>
                  </a:rPr>
                  <a:t>10</a:t>
                </a:r>
                <a:r>
                  <a:rPr lang="en-US" altLang="zh-CN" sz="1800" dirty="0">
                    <a:solidFill>
                      <a:schemeClr val="bg1"/>
                    </a:solidFill>
                    <a:sym typeface="Symbol" panose="05050102010706020507" pitchFamily="18" charset="2"/>
                  </a:rPr>
                  <a:t>6. </a:t>
                </a:r>
              </a:p>
              <a:p>
                <a:pPr algn="just"/>
                <a:r>
                  <a:rPr lang="en-US" altLang="zh-CN" sz="1800" dirty="0">
                    <a:solidFill>
                      <a:schemeClr val="bg1"/>
                    </a:solidFill>
                    <a:sym typeface="Symbol" panose="05050102010706020507" pitchFamily="18" charset="2"/>
                  </a:rPr>
                  <a:t>First note that </a:t>
                </a:r>
                <a14:m>
                  <m:oMath xmlns:m="http://schemas.openxmlformats.org/officeDocument/2006/math">
                    <m:r>
                      <a:rPr lang="en-US" sz="1800" i="1" dirty="0">
                        <a:solidFill>
                          <a:schemeClr val="bg1"/>
                        </a:solidFill>
                        <a:latin typeface="Cambria Math" panose="02040503050406030204" pitchFamily="18" charset="0"/>
                      </a:rPr>
                      <m:t>36</m:t>
                    </m:r>
                    <m:r>
                      <a:rPr lang="en-US" sz="1800" i="1" baseline="30000" dirty="0">
                        <a:solidFill>
                          <a:schemeClr val="bg1"/>
                        </a:solidFill>
                        <a:latin typeface="Cambria Math" panose="02040503050406030204" pitchFamily="18" charset="0"/>
                      </a:rPr>
                      <m:t>5</m:t>
                    </m:r>
                    <m:r>
                      <m:rPr>
                        <m:nor/>
                      </m:rPr>
                      <a:rPr lang="en-US" altLang="zh-CN" sz="1800" i="0" dirty="0">
                        <a:solidFill>
                          <a:schemeClr val="bg1"/>
                        </a:solidFill>
                        <a:sym typeface="Symbol" panose="05050102010706020507" pitchFamily="18" charset="2"/>
                      </a:rPr>
                      <m:t></m:t>
                    </m:r>
                  </m:oMath>
                </a14:m>
                <a:r>
                  <a:rPr lang="en-US" sz="1800" dirty="0">
                    <a:solidFill>
                      <a:schemeClr val="bg1"/>
                    </a:solidFill>
                  </a:rPr>
                  <a:t>10</a:t>
                </a:r>
                <a:r>
                  <a:rPr lang="en-US" altLang="zh-CN" sz="1800" dirty="0">
                    <a:solidFill>
                      <a:schemeClr val="bg1"/>
                    </a:solidFill>
                    <a:sym typeface="Symbol" panose="05050102010706020507" pitchFamily="18" charset="2"/>
                  </a:rPr>
                  <a:t>6 =</a:t>
                </a:r>
                <a:r>
                  <a:rPr lang="en-US" sz="1800" dirty="0">
                    <a:solidFill>
                      <a:schemeClr val="bg1"/>
                    </a:solidFill>
                  </a:rPr>
                  <a:t> </a:t>
                </a:r>
                <a14:m>
                  <m:oMath xmlns:m="http://schemas.openxmlformats.org/officeDocument/2006/math">
                    <m:r>
                      <a:rPr lang="en-US" sz="1800" i="1" dirty="0">
                        <a:solidFill>
                          <a:schemeClr val="bg1"/>
                        </a:solidFill>
                        <a:latin typeface="Cambria Math" panose="02040503050406030204" pitchFamily="18" charset="0"/>
                      </a:rPr>
                      <m:t>36</m:t>
                    </m:r>
                    <m:r>
                      <a:rPr lang="en-US" sz="1800" i="1" baseline="30000" dirty="0">
                        <a:solidFill>
                          <a:schemeClr val="bg1"/>
                        </a:solidFill>
                        <a:latin typeface="Cambria Math" panose="02040503050406030204" pitchFamily="18" charset="0"/>
                      </a:rPr>
                      <m:t>5</m:t>
                    </m:r>
                    <m:r>
                      <m:rPr>
                        <m:nor/>
                      </m:rPr>
                      <a:rPr lang="en-US" altLang="zh-CN" sz="1800" i="0" dirty="0">
                        <a:solidFill>
                          <a:schemeClr val="bg1"/>
                        </a:solidFill>
                        <a:sym typeface="Symbol" panose="05050102010706020507" pitchFamily="18" charset="2"/>
                      </a:rPr>
                      <m:t></m:t>
                    </m:r>
                  </m:oMath>
                </a14:m>
                <a:r>
                  <a:rPr lang="en-US" altLang="zh-CN" sz="1800" dirty="0">
                    <a:solidFill>
                      <a:schemeClr val="bg1"/>
                    </a:solidFill>
                    <a:sym typeface="Symbol" panose="05050102010706020507" pitchFamily="18" charset="2"/>
                  </a:rPr>
                  <a:t>60&gt;</a:t>
                </a:r>
                <a:r>
                  <a:rPr lang="en-US" sz="1800" dirty="0">
                    <a:solidFill>
                      <a:schemeClr val="bg1"/>
                    </a:solidFill>
                  </a:rPr>
                  <a:t> </a:t>
                </a:r>
                <a14:m>
                  <m:oMath xmlns:m="http://schemas.openxmlformats.org/officeDocument/2006/math">
                    <m:r>
                      <a:rPr lang="en-US" sz="1800" i="1" dirty="0">
                        <a:solidFill>
                          <a:schemeClr val="bg1"/>
                        </a:solidFill>
                        <a:latin typeface="Cambria Math" panose="02040503050406030204" pitchFamily="18" charset="0"/>
                      </a:rPr>
                      <m:t>36</m:t>
                    </m:r>
                    <m:r>
                      <a:rPr lang="en-US" sz="1800" i="1" baseline="30000" dirty="0">
                        <a:solidFill>
                          <a:schemeClr val="bg1"/>
                        </a:solidFill>
                        <a:latin typeface="Cambria Math" panose="02040503050406030204" pitchFamily="18" charset="0"/>
                      </a:rPr>
                      <m:t>6</m:t>
                    </m:r>
                  </m:oMath>
                </a14:m>
                <a:r>
                  <a:rPr lang="en-US" altLang="zh-CN" sz="1800" dirty="0">
                    <a:solidFill>
                      <a:schemeClr val="bg1"/>
                    </a:solidFill>
                    <a:sym typeface="Symbol" panose="05050102010706020507" pitchFamily="18" charset="2"/>
                  </a:rPr>
                  <a:t>, i.e., the resulting number is larger than the number of passwords of length 6, even without additional constraints. The reason is that the formula counts the same password containing multiple digits, many times. This issue will be discussed in the lecture about generalized permutations and combinations.  </a:t>
                </a:r>
                <a:r>
                  <a:rPr lang="en-US" altLang="zh-CN" sz="1800" dirty="0">
                    <a:solidFill>
                      <a:srgbClr val="000000"/>
                    </a:solidFill>
                    <a:sym typeface="Symbol" panose="05050102010706020507" pitchFamily="18" charset="2"/>
                  </a:rPr>
                  <a:t>   </a:t>
                </a:r>
                <a:endParaRPr lang="en-US" sz="1800" dirty="0"/>
              </a:p>
              <a:p>
                <a:pPr algn="just"/>
                <a:endParaRPr lang="en-US" sz="2000" dirty="0"/>
              </a:p>
              <a:p>
                <a:pPr algn="just"/>
                <a:endParaRPr lang="en-US" sz="20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28600" y="800100"/>
                <a:ext cx="8686800" cy="5257800"/>
              </a:xfrm>
              <a:blipFill>
                <a:blip r:embed="rId2"/>
                <a:stretch>
                  <a:fillRect l="-876" t="-481" r="-73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26</a:t>
            </a:fld>
            <a:endParaRPr lang="en-US"/>
          </a:p>
        </p:txBody>
      </p:sp>
    </p:spTree>
    <p:extLst>
      <p:ext uri="{BB962C8B-B14F-4D97-AF65-F5344CB8AC3E}">
        <p14:creationId xmlns:p14="http://schemas.microsoft.com/office/powerpoint/2010/main" val="6848635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Solution (cont’d)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buClr>
                    <a:schemeClr val="bg1"/>
                  </a:buClr>
                </a:pPr>
                <a:r>
                  <a:rPr lang="en-US" sz="2400" dirty="0"/>
                  <a:t>Similarly,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7</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8</m:t>
                        </m:r>
                      </m:sub>
                    </m:sSub>
                  </m:oMath>
                </a14:m>
                <a:r>
                  <a:rPr lang="en-US" sz="2400" dirty="0"/>
                  <a:t> can be calculated as</a:t>
                </a:r>
              </a:p>
              <a:p>
                <a:pPr>
                  <a:buClr>
                    <a:schemeClr val="bg1"/>
                  </a:buClr>
                </a:pP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7</m:t>
                        </m:r>
                      </m:sub>
                    </m:sSub>
                    <m:r>
                      <a:rPr lang="en-US" sz="2400" b="0" i="1" smtClean="0">
                        <a:latin typeface="Cambria Math" panose="02040503050406030204" pitchFamily="18" charset="0"/>
                      </a:rPr>
                      <m:t>=</m:t>
                    </m:r>
                    <m:r>
                      <a:rPr lang="en-US" sz="2400" i="1" dirty="0" smtClean="0">
                        <a:latin typeface="Cambria Math" panose="02040503050406030204" pitchFamily="18" charset="0"/>
                      </a:rPr>
                      <m:t>36</m:t>
                    </m:r>
                    <m:r>
                      <a:rPr lang="en-US" sz="2400" i="1" baseline="30000" dirty="0">
                        <a:latin typeface="Cambria Math" panose="02040503050406030204" pitchFamily="18" charset="0"/>
                      </a:rPr>
                      <m:t>7</m:t>
                    </m:r>
                    <m:r>
                      <a:rPr lang="en-US" sz="2400" i="1" dirty="0">
                        <a:latin typeface="Cambria Math" panose="02040503050406030204" pitchFamily="18" charset="0"/>
                      </a:rPr>
                      <m:t>−26</m:t>
                    </m:r>
                    <m:r>
                      <a:rPr lang="en-US" sz="2400" i="1" baseline="30000" dirty="0">
                        <a:latin typeface="Cambria Math" panose="02040503050406030204" pitchFamily="18" charset="0"/>
                      </a:rPr>
                      <m:t>7</m:t>
                    </m:r>
                    <m:r>
                      <a:rPr lang="en-US" sz="2400" i="1" dirty="0" smtClean="0">
                        <a:latin typeface="Cambria Math" panose="02040503050406030204" pitchFamily="18" charset="0"/>
                      </a:rPr>
                      <m:t>=</m:t>
                    </m:r>
                    <m:r>
                      <a:rPr lang="en-US" sz="2400" i="1" dirty="0">
                        <a:latin typeface="Cambria Math" panose="02040503050406030204" pitchFamily="18" charset="0"/>
                      </a:rPr>
                      <m:t>70332353920</m:t>
                    </m:r>
                  </m:oMath>
                </a14:m>
                <a:endParaRPr lang="en-US" sz="2400" dirty="0"/>
              </a:p>
              <a:p>
                <a:pPr>
                  <a:buClr>
                    <a:schemeClr val="bg1"/>
                  </a:buClr>
                </a:pP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8</m:t>
                        </m:r>
                      </m:sub>
                    </m:sSub>
                    <m:r>
                      <a:rPr lang="en-US" sz="2400" b="0" i="1" smtClean="0">
                        <a:latin typeface="Cambria Math" panose="02040503050406030204" pitchFamily="18" charset="0"/>
                      </a:rPr>
                      <m:t>=</m:t>
                    </m:r>
                    <m:r>
                      <a:rPr lang="en-US" sz="2400" i="1" dirty="0" smtClean="0">
                        <a:latin typeface="Cambria Math" panose="02040503050406030204" pitchFamily="18" charset="0"/>
                      </a:rPr>
                      <m:t>36</m:t>
                    </m:r>
                    <m:r>
                      <a:rPr lang="en-US" sz="2400" i="1" baseline="30000" dirty="0">
                        <a:latin typeface="Cambria Math" panose="02040503050406030204" pitchFamily="18" charset="0"/>
                      </a:rPr>
                      <m:t>8</m:t>
                    </m:r>
                    <m:r>
                      <a:rPr lang="en-US" sz="2400" i="1" dirty="0">
                        <a:latin typeface="Cambria Math" panose="02040503050406030204" pitchFamily="18" charset="0"/>
                      </a:rPr>
                      <m:t>−26</m:t>
                    </m:r>
                    <m:r>
                      <a:rPr lang="en-US" sz="2400" i="1" baseline="30000" dirty="0">
                        <a:latin typeface="Cambria Math" panose="02040503050406030204" pitchFamily="18" charset="0"/>
                      </a:rPr>
                      <m:t>8 </m:t>
                    </m:r>
                    <m:r>
                      <a:rPr lang="en-US" sz="2400" i="1" dirty="0">
                        <a:latin typeface="Cambria Math" panose="02040503050406030204" pitchFamily="18" charset="0"/>
                      </a:rPr>
                      <m:t>=</m:t>
                    </m:r>
                    <m:r>
                      <a:rPr lang="en-US" sz="2400" i="1" dirty="0" smtClean="0">
                        <a:latin typeface="Cambria Math" panose="02040503050406030204" pitchFamily="18" charset="0"/>
                      </a:rPr>
                      <m:t>2612282842880</m:t>
                    </m:r>
                  </m:oMath>
                </a14:m>
                <a:endParaRPr lang="en-US" sz="2400" dirty="0"/>
              </a:p>
              <a:p>
                <a:pPr>
                  <a:buClr>
                    <a:schemeClr val="bg1"/>
                  </a:buClr>
                </a:pPr>
                <a:endParaRPr lang="en-US" sz="2400" dirty="0">
                  <a:solidFill>
                    <a:srgbClr val="FF0000"/>
                  </a:solidFill>
                </a:endParaRPr>
              </a:p>
              <a:p>
                <a:pPr>
                  <a:buClr>
                    <a:schemeClr val="bg1"/>
                  </a:buClr>
                </a:pPr>
                <a:r>
                  <a:rPr lang="en-US" sz="2400" dirty="0"/>
                  <a:t>As a result we have </a:t>
                </a:r>
                <a14:m>
                  <m:oMath xmlns:m="http://schemas.openxmlformats.org/officeDocument/2006/math">
                    <m:r>
                      <a:rPr lang="en-US" sz="2400" i="1" dirty="0" smtClean="0">
                        <a:latin typeface="Cambria Math" panose="02040503050406030204" pitchFamily="18" charset="0"/>
                      </a:rPr>
                      <m:t>𝑃</m:t>
                    </m:r>
                  </m:oMath>
                </a14:m>
                <a:r>
                  <a:rPr lang="en-US" sz="2400" dirty="0"/>
                  <a:t>:</a:t>
                </a:r>
              </a:p>
              <a:p>
                <a:pPr>
                  <a:buClr>
                    <a:schemeClr val="bg1"/>
                  </a:buClr>
                </a:pPr>
                <a14:m>
                  <m:oMath xmlns:m="http://schemas.openxmlformats.org/officeDocument/2006/math">
                    <m:r>
                      <a:rPr lang="en-US" sz="2400" i="1" dirty="0" smtClean="0">
                        <a:latin typeface="Cambria Math" panose="02040503050406030204" pitchFamily="18" charset="0"/>
                      </a:rPr>
                      <m:t>𝑃</m:t>
                    </m:r>
                    <m:r>
                      <a:rPr lang="en-US" sz="2400" i="1" dirty="0" smtClean="0">
                        <a:latin typeface="Cambria Math" panose="02040503050406030204" pitchFamily="18" charset="0"/>
                      </a:rPr>
                      <m:t>=</m:t>
                    </m:r>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𝑃</m:t>
                        </m:r>
                      </m:e>
                      <m:sub>
                        <m:r>
                          <a:rPr lang="en-US" sz="2400" b="0" i="1" dirty="0" smtClean="0">
                            <a:latin typeface="Cambria Math" panose="02040503050406030204" pitchFamily="18" charset="0"/>
                          </a:rPr>
                          <m:t>6</m:t>
                        </m:r>
                      </m:sub>
                    </m:sSub>
                    <m:r>
                      <a:rPr lang="en-US" sz="2400" i="1" dirty="0" smtClean="0">
                        <a:latin typeface="Cambria Math" panose="02040503050406030204" pitchFamily="18" charset="0"/>
                      </a:rPr>
                      <m:t>+</m:t>
                    </m:r>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𝑃</m:t>
                        </m:r>
                      </m:e>
                      <m:sub>
                        <m:r>
                          <a:rPr lang="en-US" sz="2400" b="0" i="1" dirty="0" smtClean="0">
                            <a:latin typeface="Cambria Math" panose="02040503050406030204" pitchFamily="18" charset="0"/>
                          </a:rPr>
                          <m:t>7</m:t>
                        </m:r>
                      </m:sub>
                    </m:sSub>
                    <m:r>
                      <a:rPr lang="en-US" sz="2400" i="1" dirty="0" smtClean="0">
                        <a:latin typeface="Cambria Math" panose="02040503050406030204" pitchFamily="18" charset="0"/>
                      </a:rPr>
                      <m:t>+</m:t>
                    </m:r>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𝑃</m:t>
                        </m:r>
                      </m:e>
                      <m:sub>
                        <m:r>
                          <a:rPr lang="en-US" sz="2400" b="0" i="1" dirty="0" smtClean="0">
                            <a:latin typeface="Cambria Math" panose="02040503050406030204" pitchFamily="18" charset="0"/>
                          </a:rPr>
                          <m:t>8</m:t>
                        </m:r>
                      </m:sub>
                    </m:sSub>
                  </m:oMath>
                </a14:m>
                <a:endParaRPr lang="en-US" sz="2400" dirty="0"/>
              </a:p>
              <a:p>
                <a:pPr>
                  <a:buClr>
                    <a:schemeClr val="bg1"/>
                  </a:buClr>
                </a:pPr>
                <a14:m>
                  <m:oMath xmlns:m="http://schemas.openxmlformats.org/officeDocument/2006/math">
                    <m:r>
                      <a:rPr lang="en-US" sz="2400" i="1" dirty="0" smtClean="0">
                        <a:latin typeface="Cambria Math" panose="02040503050406030204" pitchFamily="18" charset="0"/>
                      </a:rPr>
                      <m:t>  = 1867866560 + 70332353920 + 2612282842880</m:t>
                    </m:r>
                  </m:oMath>
                </a14:m>
                <a:endParaRPr lang="en-US" sz="2400" dirty="0"/>
              </a:p>
              <a:p>
                <a:pPr>
                  <a:buClr>
                    <a:schemeClr val="bg1"/>
                  </a:buClr>
                </a:pPr>
                <a14:m>
                  <m:oMath xmlns:m="http://schemas.openxmlformats.org/officeDocument/2006/math">
                    <m:r>
                      <a:rPr lang="en-US" sz="2400" i="1" dirty="0" smtClean="0">
                        <a:latin typeface="Cambria Math" panose="02040503050406030204" pitchFamily="18" charset="0"/>
                      </a:rPr>
                      <m:t>  = </m:t>
                    </m:r>
                    <m:r>
                      <a:rPr lang="en-US" sz="2400" b="1" i="1" dirty="0" smtClean="0">
                        <a:solidFill>
                          <a:srgbClr val="FF3300"/>
                        </a:solidFill>
                        <a:latin typeface="Cambria Math" panose="02040503050406030204" pitchFamily="18" charset="0"/>
                      </a:rPr>
                      <m:t>𝟐</m:t>
                    </m:r>
                    <m:r>
                      <a:rPr lang="en-US" sz="2400" b="1" i="1" dirty="0" smtClean="0">
                        <a:solidFill>
                          <a:srgbClr val="FF3300"/>
                        </a:solidFill>
                        <a:latin typeface="Cambria Math" panose="02040503050406030204" pitchFamily="18" charset="0"/>
                      </a:rPr>
                      <m:t> </m:t>
                    </m:r>
                    <m:r>
                      <a:rPr lang="en-US" sz="2400" b="1" i="1" dirty="0" smtClean="0">
                        <a:solidFill>
                          <a:srgbClr val="FF3300"/>
                        </a:solidFill>
                        <a:latin typeface="Cambria Math" panose="02040503050406030204" pitchFamily="18" charset="0"/>
                      </a:rPr>
                      <m:t>𝟔𝟖𝟒</m:t>
                    </m:r>
                    <m:r>
                      <a:rPr lang="en-US" sz="2400" b="1" i="1" dirty="0" smtClean="0">
                        <a:solidFill>
                          <a:srgbClr val="FF3300"/>
                        </a:solidFill>
                        <a:latin typeface="Cambria Math" panose="02040503050406030204" pitchFamily="18" charset="0"/>
                      </a:rPr>
                      <m:t> </m:t>
                    </m:r>
                    <m:r>
                      <a:rPr lang="en-US" sz="2400" b="1" i="1" dirty="0" smtClean="0">
                        <a:solidFill>
                          <a:srgbClr val="FF3300"/>
                        </a:solidFill>
                        <a:latin typeface="Cambria Math" panose="02040503050406030204" pitchFamily="18" charset="0"/>
                      </a:rPr>
                      <m:t>𝟒𝟖𝟑</m:t>
                    </m:r>
                    <m:r>
                      <a:rPr lang="en-US" sz="2400" b="1" i="1" dirty="0" smtClean="0">
                        <a:solidFill>
                          <a:srgbClr val="FF3300"/>
                        </a:solidFill>
                        <a:latin typeface="Cambria Math" panose="02040503050406030204" pitchFamily="18" charset="0"/>
                      </a:rPr>
                      <m:t> </m:t>
                    </m:r>
                    <m:r>
                      <a:rPr lang="en-US" sz="2400" b="1" i="1" dirty="0" smtClean="0">
                        <a:solidFill>
                          <a:srgbClr val="FF3300"/>
                        </a:solidFill>
                        <a:latin typeface="Cambria Math" panose="02040503050406030204" pitchFamily="18" charset="0"/>
                      </a:rPr>
                      <m:t>𝟎𝟔𝟑</m:t>
                    </m:r>
                    <m:r>
                      <a:rPr lang="en-US" sz="2400" b="1" i="1" dirty="0" smtClean="0">
                        <a:solidFill>
                          <a:srgbClr val="FF3300"/>
                        </a:solidFill>
                        <a:latin typeface="Cambria Math" panose="02040503050406030204" pitchFamily="18" charset="0"/>
                      </a:rPr>
                      <m:t> </m:t>
                    </m:r>
                    <m:r>
                      <a:rPr lang="en-US" sz="2400" b="1" i="1" dirty="0" smtClean="0">
                        <a:solidFill>
                          <a:srgbClr val="FF3300"/>
                        </a:solidFill>
                        <a:latin typeface="Cambria Math" panose="02040503050406030204" pitchFamily="18" charset="0"/>
                      </a:rPr>
                      <m:t>𝟑𝟔𝟎</m:t>
                    </m:r>
                  </m:oMath>
                </a14:m>
                <a:r>
                  <a:rPr lang="en-US" sz="2400" b="1" dirty="0">
                    <a:solidFill>
                      <a:srgbClr val="FF3300"/>
                    </a:solidFill>
                  </a:rPr>
                  <a:t> </a:t>
                </a:r>
                <a:r>
                  <a:rPr lang="en-US" sz="2400" dirty="0"/>
                  <a:t>(how big is this number? If we consider it to be the number of seconds, then this translates to ~85000 years!)</a:t>
                </a:r>
              </a:p>
              <a:p>
                <a:pPr>
                  <a:buClr>
                    <a:schemeClr val="bg1"/>
                  </a:buClr>
                </a:pPr>
                <a:endParaRPr lang="en-US" sz="2000" dirty="0">
                  <a:solidFill>
                    <a:srgbClr val="FF00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82" t="-91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27</a:t>
            </a:fld>
            <a:endParaRPr lang="en-US"/>
          </a:p>
        </p:txBody>
      </p:sp>
    </p:spTree>
    <p:extLst>
      <p:ext uri="{BB962C8B-B14F-4D97-AF65-F5344CB8AC3E}">
        <p14:creationId xmlns:p14="http://schemas.microsoft.com/office/powerpoint/2010/main" val="14794947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00FF"/>
                </a:solidFill>
              </a:rPr>
              <a:t>Tree Diagrams</a:t>
            </a:r>
            <a:endParaRPr lang="zh-CN" altLang="en-US" dirty="0">
              <a:solidFill>
                <a:srgbClr val="0000FF"/>
              </a:solidFill>
            </a:endParaRPr>
          </a:p>
        </p:txBody>
      </p:sp>
      <p:sp>
        <p:nvSpPr>
          <p:cNvPr id="3" name="内容占位符 2"/>
          <p:cNvSpPr>
            <a:spLocks noGrp="1"/>
          </p:cNvSpPr>
          <p:nvPr>
            <p:ph idx="1"/>
          </p:nvPr>
        </p:nvSpPr>
        <p:spPr>
          <a:xfrm>
            <a:off x="228600" y="1143000"/>
            <a:ext cx="8686800" cy="2743200"/>
          </a:xfrm>
        </p:spPr>
        <p:txBody>
          <a:bodyPr/>
          <a:lstStyle/>
          <a:p>
            <a:pPr marL="0" indent="0">
              <a:buNone/>
            </a:pPr>
            <a:r>
              <a:rPr lang="en-US" altLang="zh-CN" sz="2400" dirty="0"/>
              <a:t>Some counting problems can be solved more easily using tree diagrams.</a:t>
            </a:r>
          </a:p>
          <a:p>
            <a:r>
              <a:rPr lang="en-US" altLang="zh-CN" sz="2400" dirty="0"/>
              <a:t>How many bit strings of length four do not have two consecutive 1s</a:t>
            </a:r>
            <a:r>
              <a:rPr lang="en-US" altLang="zh-CN" dirty="0"/>
              <a:t>?</a:t>
            </a:r>
          </a:p>
          <a:p>
            <a:r>
              <a:rPr lang="en-US" dirty="0"/>
              <a:t>In future lectures, we will see alternative ways to solve such problems. </a:t>
            </a:r>
            <a:endParaRPr lang="en-US" altLang="zh-CN" dirty="0"/>
          </a:p>
        </p:txBody>
      </p:sp>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3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35"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37"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017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4" name="Picture 3" descr="Screen Shot 2015-09-22 at 12.52.39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0400" y="3156036"/>
            <a:ext cx="3238500" cy="3282863"/>
          </a:xfrm>
          <a:prstGeom prst="rect">
            <a:avLst/>
          </a:prstGeom>
        </p:spPr>
      </p:pic>
    </p:spTree>
    <p:extLst>
      <p:ext uri="{BB962C8B-B14F-4D97-AF65-F5344CB8AC3E}">
        <p14:creationId xmlns:p14="http://schemas.microsoft.com/office/powerpoint/2010/main" val="4006107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Screen Shot 2015-09-22 at 12.52.26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2578759"/>
            <a:ext cx="7772400" cy="4193237"/>
          </a:xfrm>
          <a:prstGeom prst="rect">
            <a:avLst/>
          </a:prstGeom>
        </p:spPr>
      </p:pic>
      <p:sp>
        <p:nvSpPr>
          <p:cNvPr id="2" name="Title 1"/>
          <p:cNvSpPr>
            <a:spLocks noGrp="1"/>
          </p:cNvSpPr>
          <p:nvPr>
            <p:ph type="title"/>
          </p:nvPr>
        </p:nvSpPr>
        <p:spPr/>
        <p:txBody>
          <a:bodyPr/>
          <a:lstStyle/>
          <a:p>
            <a:r>
              <a:rPr lang="en-US" altLang="zh-CN" dirty="0">
                <a:solidFill>
                  <a:schemeClr val="tx1"/>
                </a:solidFill>
              </a:rPr>
              <a:t>Tree Diagrams</a:t>
            </a:r>
            <a:endParaRPr lang="en-US" dirty="0">
              <a:solidFill>
                <a:schemeClr val="tx1"/>
              </a:solidFill>
            </a:endParaRPr>
          </a:p>
        </p:txBody>
      </p:sp>
      <p:sp>
        <p:nvSpPr>
          <p:cNvPr id="3" name="Content Placeholder 2"/>
          <p:cNvSpPr>
            <a:spLocks noGrp="1"/>
          </p:cNvSpPr>
          <p:nvPr>
            <p:ph idx="1"/>
          </p:nvPr>
        </p:nvSpPr>
        <p:spPr>
          <a:xfrm>
            <a:off x="228600" y="1066800"/>
            <a:ext cx="8686800" cy="5181600"/>
          </a:xfrm>
        </p:spPr>
        <p:txBody>
          <a:bodyPr/>
          <a:lstStyle/>
          <a:p>
            <a:r>
              <a:rPr lang="en-US" altLang="zh-CN" sz="2000" dirty="0"/>
              <a:t>A playoff between two teams consists of at most five games. </a:t>
            </a:r>
            <a:r>
              <a:rPr lang="en-US" altLang="zh-CN" sz="2000" dirty="0">
                <a:solidFill>
                  <a:srgbClr val="0000FF"/>
                </a:solidFill>
              </a:rPr>
              <a:t>The first team that wins three games wins the playoff</a:t>
            </a:r>
            <a:r>
              <a:rPr lang="en-US" altLang="zh-CN" sz="2000" dirty="0"/>
              <a:t>. In how many different ways can the playoff occur?</a:t>
            </a:r>
          </a:p>
          <a:p>
            <a:pPr lvl="1"/>
            <a:r>
              <a:rPr lang="en-US" sz="2000" dirty="0"/>
              <a:t>Similar to previous problem. How many bit strings of length up to five, contain exactly three 1, or exactly three 0?  </a:t>
            </a:r>
            <a:endParaRPr lang="en-US" altLang="zh-CN" sz="2000" dirty="0"/>
          </a:p>
          <a:p>
            <a:pPr algn="just">
              <a:buNone/>
            </a:pPr>
            <a:endParaRPr lang="en-US" altLang="zh-CN" sz="2400" dirty="0"/>
          </a:p>
          <a:p>
            <a:pPr algn="just">
              <a:buNone/>
            </a:pPr>
            <a:endParaRPr lang="en-US" altLang="zh-CN" sz="2400" dirty="0"/>
          </a:p>
          <a:p>
            <a:pPr algn="just">
              <a:buNone/>
            </a:pPr>
            <a:endParaRPr lang="en-US" altLang="zh-CN" sz="2400" dirty="0"/>
          </a:p>
          <a:p>
            <a:pPr algn="just">
              <a:buNone/>
            </a:pPr>
            <a:endParaRPr lang="en-US" altLang="zh-CN" sz="2400" dirty="0"/>
          </a:p>
          <a:p>
            <a:pPr algn="just">
              <a:buNone/>
            </a:pPr>
            <a:endParaRPr lang="en-US" altLang="zh-CN" sz="2400" dirty="0"/>
          </a:p>
          <a:p>
            <a:pPr algn="just">
              <a:buNone/>
            </a:pPr>
            <a:endParaRPr lang="en-US" altLang="zh-CN" sz="2400" dirty="0"/>
          </a:p>
          <a:p>
            <a:pPr algn="just">
              <a:buNone/>
            </a:pPr>
            <a:endParaRPr lang="en-US" altLang="zh-CN" sz="2400" dirty="0"/>
          </a:p>
          <a:p>
            <a:pPr algn="just">
              <a:buNone/>
            </a:pPr>
            <a:endParaRPr lang="en-US" altLang="zh-CN" sz="2400" dirty="0"/>
          </a:p>
          <a:p>
            <a:endParaRPr lang="en-US" sz="2400" dirty="0"/>
          </a:p>
        </p:txBody>
      </p:sp>
      <p:sp>
        <p:nvSpPr>
          <p:cNvPr id="4" name="Slide Number Placeholder 3"/>
          <p:cNvSpPr>
            <a:spLocks noGrp="1"/>
          </p:cNvSpPr>
          <p:nvPr>
            <p:ph type="sldNum" sz="quarter" idx="12"/>
          </p:nvPr>
        </p:nvSpPr>
        <p:spPr/>
        <p:txBody>
          <a:bodyPr/>
          <a:lstStyle/>
          <a:p>
            <a:fld id="{5EC735E3-5B29-4F54-8FB9-022B0DB6C884}" type="slidenum">
              <a:rPr lang="en-US" smtClean="0"/>
              <a:pPr/>
              <a:t>29</a:t>
            </a:fld>
            <a:endParaRPr lang="en-US"/>
          </a:p>
        </p:txBody>
      </p:sp>
    </p:spTree>
    <p:extLst>
      <p:ext uri="{BB962C8B-B14F-4D97-AF65-F5344CB8AC3E}">
        <p14:creationId xmlns:p14="http://schemas.microsoft.com/office/powerpoint/2010/main" val="2707180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00FF"/>
                </a:solidFill>
              </a:rPr>
              <a:t>Pigeonhole Principle</a:t>
            </a:r>
            <a:endParaRPr lang="zh-CN" altLang="en-US" dirty="0">
              <a:solidFill>
                <a:srgbClr val="0000FF"/>
              </a:solidFill>
            </a:endParaRPr>
          </a:p>
        </p:txBody>
      </p:sp>
      <p:sp>
        <p:nvSpPr>
          <p:cNvPr id="3" name="内容占位符 2"/>
          <p:cNvSpPr>
            <a:spLocks noGrp="1"/>
          </p:cNvSpPr>
          <p:nvPr>
            <p:ph idx="1"/>
          </p:nvPr>
        </p:nvSpPr>
        <p:spPr>
          <a:xfrm>
            <a:off x="228600" y="1295400"/>
            <a:ext cx="8686800" cy="5410200"/>
          </a:xfrm>
        </p:spPr>
        <p:txBody>
          <a:bodyPr/>
          <a:lstStyle/>
          <a:p>
            <a:r>
              <a:rPr lang="en-US" altLang="zh-CN" sz="2000" dirty="0"/>
              <a:t>If </a:t>
            </a:r>
            <a:r>
              <a:rPr lang="en-US" altLang="zh-CN" sz="2000" i="1" dirty="0"/>
              <a:t>k</a:t>
            </a:r>
            <a:r>
              <a:rPr lang="en-US" altLang="zh-CN" sz="2000" dirty="0"/>
              <a:t> + 1 or more objects (pigeons) are placed into </a:t>
            </a:r>
            <a:r>
              <a:rPr lang="en-US" altLang="zh-CN" sz="2000" i="1" dirty="0"/>
              <a:t>k</a:t>
            </a:r>
            <a:r>
              <a:rPr lang="en-US" altLang="zh-CN" sz="2000" dirty="0"/>
              <a:t> boxes (pigeonholes) where </a:t>
            </a:r>
            <a:r>
              <a:rPr lang="en-US" altLang="zh-CN" sz="2000" i="1" dirty="0"/>
              <a:t>k</a:t>
            </a:r>
            <a:r>
              <a:rPr lang="en-US" altLang="zh-CN" sz="2000" dirty="0"/>
              <a:t> is a positive integer, then there is at least one box (pigeonhole) containing two or more of the objects (pigeons).</a:t>
            </a:r>
          </a:p>
          <a:p>
            <a:r>
              <a:rPr lang="en-US" altLang="zh-CN" sz="2000" b="1" dirty="0">
                <a:solidFill>
                  <a:srgbClr val="0000FF"/>
                </a:solidFill>
              </a:rPr>
              <a:t>Proof</a:t>
            </a:r>
          </a:p>
          <a:p>
            <a:r>
              <a:rPr lang="en-US" altLang="zh-CN" sz="2000" dirty="0"/>
              <a:t>By contradiction. </a:t>
            </a:r>
          </a:p>
          <a:p>
            <a:r>
              <a:rPr lang="en-US" altLang="zh-CN" sz="2000" dirty="0"/>
              <a:t>Assume that each of the </a:t>
            </a:r>
            <a:r>
              <a:rPr lang="en-US" altLang="zh-CN" sz="2000" i="1" dirty="0"/>
              <a:t>k</a:t>
            </a:r>
            <a:r>
              <a:rPr lang="en-US" altLang="zh-CN" sz="2000" dirty="0"/>
              <a:t> boxes contains at most 1 object. Then the maximum number of objects is </a:t>
            </a:r>
            <a:r>
              <a:rPr lang="en-US" altLang="zh-CN" sz="2000" i="1" dirty="0"/>
              <a:t>k</a:t>
            </a:r>
            <a:r>
              <a:rPr lang="en-US" altLang="zh-CN" sz="2000" dirty="0"/>
              <a:t>.</a:t>
            </a:r>
          </a:p>
          <a:p>
            <a:r>
              <a:rPr lang="en-US" altLang="zh-CN" sz="2000" b="1" dirty="0">
                <a:solidFill>
                  <a:srgbClr val="0000FF"/>
                </a:solidFill>
              </a:rPr>
              <a:t>Corollary </a:t>
            </a:r>
            <a:br>
              <a:rPr lang="en-US" altLang="zh-CN" sz="2000" b="1" dirty="0">
                <a:solidFill>
                  <a:srgbClr val="0000FF"/>
                </a:solidFill>
              </a:rPr>
            </a:br>
            <a:r>
              <a:rPr lang="en-US" altLang="zh-CN" sz="2000" dirty="0"/>
              <a:t>A function </a:t>
            </a:r>
            <a:r>
              <a:rPr lang="en-US" altLang="zh-CN" sz="2000" i="1" dirty="0"/>
              <a:t>f</a:t>
            </a:r>
            <a:r>
              <a:rPr lang="en-US" altLang="zh-CN" sz="2000" dirty="0"/>
              <a:t>  from a set with </a:t>
            </a:r>
            <a:r>
              <a:rPr lang="en-US" altLang="zh-CN" sz="2000" i="1" dirty="0"/>
              <a:t>k</a:t>
            </a:r>
            <a:r>
              <a:rPr lang="en-US" altLang="zh-CN" sz="2000" dirty="0"/>
              <a:t> + 1 or more elements to a set with </a:t>
            </a:r>
            <a:r>
              <a:rPr lang="en-US" altLang="zh-CN" sz="2000" i="1" dirty="0"/>
              <a:t>k</a:t>
            </a:r>
            <a:r>
              <a:rPr lang="en-US" altLang="zh-CN" sz="2000" dirty="0"/>
              <a:t> elements is not one-to-one.</a:t>
            </a:r>
          </a:p>
          <a:p>
            <a:r>
              <a:rPr lang="en-US" altLang="zh-CN" sz="2000" dirty="0"/>
              <a:t>The challenge is to correctly determine what are the objects (pigeons) and the boxes (pigeonholes).</a:t>
            </a:r>
          </a:p>
          <a:p>
            <a:pPr marL="0" indent="0">
              <a:buNone/>
            </a:pPr>
            <a:endParaRPr lang="en-US" altLang="zh-CN" sz="2000" dirty="0"/>
          </a:p>
        </p:txBody>
      </p:sp>
      <p:sp>
        <p:nvSpPr>
          <p:cNvPr id="4" name="Slide Number Placeholder 3"/>
          <p:cNvSpPr>
            <a:spLocks noGrp="1"/>
          </p:cNvSpPr>
          <p:nvPr>
            <p:ph type="sldNum" sz="quarter" idx="12"/>
          </p:nvPr>
        </p:nvSpPr>
        <p:spPr/>
        <p:txBody>
          <a:bodyPr/>
          <a:lstStyle/>
          <a:p>
            <a:fld id="{5EC735E3-5B29-4F54-8FB9-022B0DB6C884}" type="slidenum">
              <a:rPr lang="en-US" smtClean="0"/>
              <a:pPr/>
              <a:t>30</a:t>
            </a:fld>
            <a:endParaRPr lang="en-US"/>
          </a:p>
        </p:txBody>
      </p:sp>
    </p:spTree>
    <p:extLst>
      <p:ext uri="{BB962C8B-B14F-4D97-AF65-F5344CB8AC3E}">
        <p14:creationId xmlns:p14="http://schemas.microsoft.com/office/powerpoint/2010/main" val="3996591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tx1"/>
                </a:solidFill>
              </a:rPr>
              <a:t>Examples</a:t>
            </a:r>
            <a:endParaRPr lang="zh-CN" altLang="en-US" dirty="0">
              <a:solidFill>
                <a:schemeClr val="tx1"/>
              </a:solidFill>
            </a:endParaRPr>
          </a:p>
        </p:txBody>
      </p:sp>
      <p:sp>
        <p:nvSpPr>
          <p:cNvPr id="3" name="内容占位符 2"/>
          <p:cNvSpPr>
            <a:spLocks noGrp="1"/>
          </p:cNvSpPr>
          <p:nvPr>
            <p:ph idx="1"/>
          </p:nvPr>
        </p:nvSpPr>
        <p:spPr>
          <a:xfrm>
            <a:off x="228600" y="1600200"/>
            <a:ext cx="8686800" cy="5257800"/>
          </a:xfrm>
        </p:spPr>
        <p:txBody>
          <a:bodyPr/>
          <a:lstStyle/>
          <a:p>
            <a:r>
              <a:rPr lang="en-US" altLang="zh-CN" b="1" dirty="0">
                <a:solidFill>
                  <a:srgbClr val="0000FF"/>
                </a:solidFill>
              </a:rPr>
              <a:t>Example</a:t>
            </a:r>
            <a:br>
              <a:rPr lang="en-US" altLang="zh-CN" b="1" dirty="0">
                <a:solidFill>
                  <a:srgbClr val="0000FF"/>
                </a:solidFill>
              </a:rPr>
            </a:br>
            <a:r>
              <a:rPr lang="en-US" altLang="zh-CN" dirty="0"/>
              <a:t>Among any group of 367 people, there must be at least two with the same birthday.</a:t>
            </a:r>
          </a:p>
          <a:p>
            <a:r>
              <a:rPr lang="en-US" altLang="zh-CN" b="1" dirty="0">
                <a:solidFill>
                  <a:srgbClr val="0000FF"/>
                </a:solidFill>
              </a:rPr>
              <a:t>Example</a:t>
            </a:r>
            <a:br>
              <a:rPr lang="en-US" altLang="zh-CN" b="1" dirty="0">
                <a:solidFill>
                  <a:srgbClr val="0000FF"/>
                </a:solidFill>
              </a:rPr>
            </a:br>
            <a:r>
              <a:rPr lang="en-US" altLang="zh-CN" dirty="0"/>
              <a:t>In any group of 27 English words, there must be at least two that begin with the same letter.</a:t>
            </a:r>
          </a:p>
          <a:p>
            <a:r>
              <a:rPr lang="en-US" altLang="zh-CN" b="1" dirty="0">
                <a:solidFill>
                  <a:srgbClr val="0000FF"/>
                </a:solidFill>
              </a:rPr>
              <a:t>Example</a:t>
            </a:r>
            <a:br>
              <a:rPr lang="en-US" altLang="zh-CN" b="1" dirty="0">
                <a:solidFill>
                  <a:srgbClr val="0000FF"/>
                </a:solidFill>
              </a:rPr>
            </a:br>
            <a:r>
              <a:rPr lang="en-US" altLang="zh-CN" dirty="0"/>
              <a:t>How many students must be in a class to guarantee that at least two students receive the same score on the final exam, if the exam is graded on a scale from 1 to 100 points?</a:t>
            </a:r>
          </a:p>
          <a:p>
            <a:pPr marL="0" indent="0">
              <a:buNone/>
            </a:pPr>
            <a:endParaRPr lang="en-US" altLang="zh-CN" dirty="0"/>
          </a:p>
          <a:p>
            <a:endParaRPr lang="en-US" altLang="zh-CN" dirty="0"/>
          </a:p>
          <a:p>
            <a:pPr algn="just">
              <a:buNone/>
            </a:pPr>
            <a:endParaRPr lang="en-US" altLang="zh-CN" dirty="0">
              <a:solidFill>
                <a:srgbClr val="0000FF"/>
              </a:solidFill>
            </a:endParaRPr>
          </a:p>
        </p:txBody>
      </p:sp>
      <p:sp>
        <p:nvSpPr>
          <p:cNvPr id="4" name="Slide Number Placeholder 3"/>
          <p:cNvSpPr>
            <a:spLocks noGrp="1"/>
          </p:cNvSpPr>
          <p:nvPr>
            <p:ph type="sldNum" sz="quarter" idx="12"/>
          </p:nvPr>
        </p:nvSpPr>
        <p:spPr/>
        <p:txBody>
          <a:bodyPr/>
          <a:lstStyle/>
          <a:p>
            <a:fld id="{5EC735E3-5B29-4F54-8FB9-022B0DB6C884}" type="slidenum">
              <a:rPr lang="en-US" smtClean="0"/>
              <a:pPr/>
              <a:t>31</a:t>
            </a:fld>
            <a:endParaRPr lang="en-US"/>
          </a:p>
        </p:txBody>
      </p:sp>
    </p:spTree>
    <p:extLst>
      <p:ext uri="{BB962C8B-B14F-4D97-AF65-F5344CB8AC3E}">
        <p14:creationId xmlns:p14="http://schemas.microsoft.com/office/powerpoint/2010/main" val="1882901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00FF"/>
                </a:solidFill>
              </a:rPr>
              <a:t>Exercise</a:t>
            </a:r>
            <a:r>
              <a:rPr lang="en-US" altLang="zh-CN" dirty="0">
                <a:solidFill>
                  <a:schemeClr val="tx1"/>
                </a:solidFill>
              </a:rPr>
              <a:t> on Regular Grid</a:t>
            </a: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28600" y="1600200"/>
                <a:ext cx="8686800" cy="4648200"/>
              </a:xfrm>
            </p:spPr>
            <p:txBody>
              <a:bodyPr/>
              <a:lstStyle/>
              <a:p>
                <a:pPr marL="0" indent="0" algn="just">
                  <a:buNone/>
                </a:pPr>
                <a:r>
                  <a:rPr lang="en-US" altLang="zh-CN" sz="2400" dirty="0"/>
                  <a:t>Twenty-five points are marked inside the area bounded by a rectangle that is 6 cm long and 4 cm wide. Show that there are at least two points that are at most </a:t>
                </a:r>
                <a14:m>
                  <m:oMath xmlns:m="http://schemas.openxmlformats.org/officeDocument/2006/math">
                    <m:rad>
                      <m:radPr>
                        <m:degHide m:val="on"/>
                        <m:ctrlPr>
                          <a:rPr lang="en-US" altLang="zh-CN" sz="2400" i="1" smtClean="0">
                            <a:latin typeface="Cambria Math" panose="02040503050406030204" pitchFamily="18" charset="0"/>
                          </a:rPr>
                        </m:ctrlPr>
                      </m:radPr>
                      <m:deg/>
                      <m:e>
                        <m:r>
                          <a:rPr lang="en-US" altLang="zh-CN" sz="2400" b="0" i="1" smtClean="0">
                            <a:latin typeface="Cambria Math" panose="02040503050406030204" pitchFamily="18" charset="0"/>
                          </a:rPr>
                          <m:t>2</m:t>
                        </m:r>
                      </m:e>
                    </m:rad>
                  </m:oMath>
                </a14:m>
                <a:r>
                  <a:rPr lang="en-US" altLang="zh-CN" sz="2400" dirty="0"/>
                  <a:t> cm apart.</a:t>
                </a:r>
                <a:endParaRPr lang="en-US" altLang="zh-CN" dirty="0"/>
              </a:p>
              <a:p>
                <a:pPr algn="just"/>
                <a:r>
                  <a:rPr lang="en-US" altLang="zh-CN" b="1" dirty="0">
                    <a:solidFill>
                      <a:srgbClr val="0000FF"/>
                    </a:solidFill>
                  </a:rPr>
                  <a:t>Solution:</a:t>
                </a:r>
              </a:p>
              <a:p>
                <a:pPr marL="0" indent="0" algn="just">
                  <a:buClr>
                    <a:schemeClr val="bg1"/>
                  </a:buClr>
                  <a:buNone/>
                </a:pPr>
                <a:r>
                  <a:rPr lang="en-US" altLang="zh-CN" sz="2400" dirty="0">
                    <a:solidFill>
                      <a:schemeClr val="tx1"/>
                    </a:solidFill>
                  </a:rPr>
                  <a:t>Divide the area into squares of 1x1cm, then we have 24 squares, We consider the </a:t>
                </a:r>
                <a:r>
                  <a:rPr lang="en-US" altLang="zh-CN" sz="2400" b="1" dirty="0">
                    <a:solidFill>
                      <a:schemeClr val="tx1"/>
                    </a:solidFill>
                  </a:rPr>
                  <a:t>squares as  pigeonholes</a:t>
                </a:r>
                <a:r>
                  <a:rPr lang="en-US" altLang="zh-CN" sz="2400" dirty="0">
                    <a:solidFill>
                      <a:schemeClr val="tx1"/>
                    </a:solidFill>
                  </a:rPr>
                  <a:t>, and the </a:t>
                </a:r>
                <a:r>
                  <a:rPr lang="en-US" altLang="zh-CN" sz="2400" b="1" dirty="0">
                    <a:solidFill>
                      <a:schemeClr val="tx1"/>
                    </a:solidFill>
                  </a:rPr>
                  <a:t>points as pigeons</a:t>
                </a:r>
                <a:r>
                  <a:rPr lang="en-US" altLang="zh-CN" sz="2400" dirty="0">
                    <a:solidFill>
                      <a:schemeClr val="tx1"/>
                    </a:solidFill>
                  </a:rPr>
                  <a:t>. By the pigeonhole Principle, at least 2 points will be in the same square. The biggest distance between 2 points in a 1x1 square is </a:t>
                </a:r>
                <a14:m>
                  <m:oMath xmlns:m="http://schemas.openxmlformats.org/officeDocument/2006/math">
                    <m:rad>
                      <m:radPr>
                        <m:degHide m:val="on"/>
                        <m:ctrlPr>
                          <a:rPr lang="en-US" altLang="zh-CN" sz="2400" i="1">
                            <a:solidFill>
                              <a:schemeClr val="tx1"/>
                            </a:solidFill>
                            <a:latin typeface="Cambria Math" panose="02040503050406030204" pitchFamily="18" charset="0"/>
                          </a:rPr>
                        </m:ctrlPr>
                      </m:radPr>
                      <m:deg/>
                      <m:e>
                        <m:r>
                          <a:rPr lang="en-US" altLang="zh-CN" sz="2400" i="1">
                            <a:solidFill>
                              <a:schemeClr val="tx1"/>
                            </a:solidFill>
                            <a:latin typeface="Cambria Math" panose="02040503050406030204" pitchFamily="18" charset="0"/>
                          </a:rPr>
                          <m:t>2</m:t>
                        </m:r>
                      </m:e>
                    </m:rad>
                  </m:oMath>
                </a14:m>
                <a:r>
                  <a:rPr lang="en-US" altLang="zh-CN" sz="2400" dirty="0">
                    <a:solidFill>
                      <a:schemeClr val="tx1"/>
                    </a:solidFill>
                  </a:rPr>
                  <a:t> cm (i.e. diagonal).</a:t>
                </a:r>
                <a:endParaRPr lang="en-US" altLang="zh-CN" sz="2400" dirty="0">
                  <a:solidFill>
                    <a:srgbClr val="FF0000"/>
                  </a:solidFill>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28600" y="1600200"/>
                <a:ext cx="8686800" cy="4648200"/>
              </a:xfrm>
              <a:blipFill>
                <a:blip r:embed="rId2"/>
                <a:stretch>
                  <a:fillRect l="-1123" t="-919" r="-105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32</a:t>
            </a:fld>
            <a:endParaRPr lang="en-US"/>
          </a:p>
        </p:txBody>
      </p:sp>
    </p:spTree>
    <p:extLst>
      <p:ext uri="{BB962C8B-B14F-4D97-AF65-F5344CB8AC3E}">
        <p14:creationId xmlns:p14="http://schemas.microsoft.com/office/powerpoint/2010/main" val="2087544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solidFill>
                  <a:srgbClr val="0000FF"/>
                </a:solidFill>
              </a:rPr>
              <a:t>Exercise</a:t>
            </a:r>
            <a:r>
              <a:rPr lang="en-US" altLang="zh-CN" dirty="0">
                <a:solidFill>
                  <a:schemeClr val="tx1"/>
                </a:solidFill>
              </a:rPr>
              <a:t> on Product</a:t>
            </a:r>
            <a:endParaRPr lang="en-US" dirty="0">
              <a:solidFill>
                <a:schemeClr val="tx1"/>
              </a:solidFill>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28600" y="1295400"/>
                <a:ext cx="8686800" cy="4953000"/>
              </a:xfrm>
            </p:spPr>
            <p:txBody>
              <a:bodyPr/>
              <a:lstStyle/>
              <a:p>
                <a:r>
                  <a:rPr lang="en-US" altLang="zh-CN" sz="2000" dirty="0"/>
                  <a:t>Let </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 …,  </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b="0" i="1" smtClean="0">
                            <a:latin typeface="Cambria Math" panose="02040503050406030204" pitchFamily="18" charset="0"/>
                          </a:rPr>
                          <m:t>9</m:t>
                        </m:r>
                      </m:sub>
                    </m:sSub>
                  </m:oMath>
                </a14:m>
                <a:r>
                  <a:rPr lang="en-US" altLang="zh-CN" sz="2000" dirty="0"/>
                  <a:t> represent an arbitrary arrangement of the numbers 1, 2, … , 9. Is the product </a:t>
                </a:r>
                <a14:m>
                  <m:oMath xmlns:m="http://schemas.openxmlformats.org/officeDocument/2006/math">
                    <m:d>
                      <m:dPr>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−1</m:t>
                        </m:r>
                      </m:e>
                    </m:d>
                    <m:d>
                      <m:dPr>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−2</m:t>
                        </m:r>
                      </m:e>
                    </m:d>
                    <m:r>
                      <a:rPr lang="el-GR" altLang="zh-CN" sz="2000" b="0" i="0" smtClean="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b="0" i="1" smtClean="0">
                            <a:latin typeface="Cambria Math" panose="02040503050406030204" pitchFamily="18" charset="0"/>
                          </a:rPr>
                          <m:t>9</m:t>
                        </m:r>
                      </m:sub>
                    </m:sSub>
                    <m:r>
                      <a:rPr lang="en-US" altLang="zh-CN" sz="2000" i="1">
                        <a:latin typeface="Cambria Math" panose="02040503050406030204" pitchFamily="18" charset="0"/>
                      </a:rPr>
                      <m:t>−</m:t>
                    </m:r>
                    <m:r>
                      <a:rPr lang="en-US" altLang="zh-CN" sz="2000" b="0" i="1" smtClean="0">
                        <a:latin typeface="Cambria Math" panose="02040503050406030204" pitchFamily="18" charset="0"/>
                      </a:rPr>
                      <m:t>9</m:t>
                    </m:r>
                    <m:r>
                      <a:rPr lang="el-GR" altLang="zh-CN" sz="2000" b="0" i="0" smtClean="0">
                        <a:latin typeface="Cambria Math" panose="02040503050406030204" pitchFamily="18" charset="0"/>
                      </a:rPr>
                      <m:t>)</m:t>
                    </m:r>
                  </m:oMath>
                </a14:m>
                <a:r>
                  <a:rPr lang="en-US" altLang="zh-CN" sz="2000" dirty="0"/>
                  <a:t> an odd or even number? Justify your answer.</a:t>
                </a:r>
              </a:p>
              <a:p>
                <a:r>
                  <a:rPr lang="en-US" sz="2000" dirty="0">
                    <a:solidFill>
                      <a:srgbClr val="0000FF"/>
                    </a:solidFill>
                  </a:rPr>
                  <a:t>Hint</a:t>
                </a:r>
                <a:r>
                  <a:rPr lang="en-US" sz="2000" dirty="0"/>
                  <a:t>: The product will be odd if and only if all the terms are odd.</a:t>
                </a:r>
                <a:endParaRPr lang="en-US" altLang="zh-CN" sz="2000" dirty="0"/>
              </a:p>
              <a:p>
                <a:pPr>
                  <a:buFont typeface="Wingdings" panose="05000000000000000000" pitchFamily="2" charset="2"/>
                  <a:buChar char="§"/>
                </a:pPr>
                <a:r>
                  <a:rPr lang="en-US" sz="2000" b="1" dirty="0">
                    <a:solidFill>
                      <a:srgbClr val="0000FF"/>
                    </a:solidFill>
                  </a:rPr>
                  <a:t>Solution:</a:t>
                </a:r>
                <a:br>
                  <a:rPr lang="en-US" sz="2400" b="1" dirty="0">
                    <a:solidFill>
                      <a:srgbClr val="0000FF"/>
                    </a:solidFill>
                  </a:rPr>
                </a:br>
                <a:r>
                  <a:rPr lang="en-US" sz="2000" dirty="0"/>
                  <a:t>There are 5 odd numbers and 4 even numbers from 1 to 9. For the product to be odd, all the odd numbers need to perform the subtraction with even numbers to get odd numbers, but we only have 4 even numbers. We consider the </a:t>
                </a:r>
                <a:r>
                  <a:rPr lang="en-US" sz="2000" b="1" dirty="0"/>
                  <a:t>even numbers</a:t>
                </a:r>
                <a:r>
                  <a:rPr lang="en-US" sz="2000" dirty="0"/>
                  <a:t> as </a:t>
                </a:r>
                <a:r>
                  <a:rPr lang="en-US" sz="2000" b="1" dirty="0"/>
                  <a:t>pigeonholes</a:t>
                </a:r>
                <a:r>
                  <a:rPr lang="en-US" sz="2000" dirty="0"/>
                  <a:t>, and the </a:t>
                </a:r>
                <a:r>
                  <a:rPr lang="en-US" sz="2000" b="1" dirty="0"/>
                  <a:t>odd numbers pigeons</a:t>
                </a:r>
                <a:r>
                  <a:rPr lang="en-US" sz="2000" dirty="0"/>
                  <a:t>. By the Pigeonhole principle, at least one of the odd numbers will have a subtraction with another odd number, giving an even result. Therefore, the product must be even.</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28600" y="1295400"/>
                <a:ext cx="8686800" cy="4953000"/>
              </a:xfrm>
              <a:blipFill>
                <a:blip r:embed="rId2"/>
                <a:stretch>
                  <a:fillRect l="-730" t="-767" r="-146"/>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33</a:t>
            </a:fld>
            <a:endParaRPr lang="en-US"/>
          </a:p>
        </p:txBody>
      </p:sp>
    </p:spTree>
    <p:extLst>
      <p:ext uri="{BB962C8B-B14F-4D97-AF65-F5344CB8AC3E}">
        <p14:creationId xmlns:p14="http://schemas.microsoft.com/office/powerpoint/2010/main" val="1735848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00FF"/>
                </a:solidFill>
              </a:rPr>
              <a:t>Generalized Pigeonhole Principle</a:t>
            </a:r>
            <a:endParaRPr lang="zh-CN" altLang="en-US" dirty="0">
              <a:solidFill>
                <a:srgbClr val="0000FF"/>
              </a:solidFill>
            </a:endParaRPr>
          </a:p>
        </p:txBody>
      </p:sp>
      <p:sp>
        <p:nvSpPr>
          <p:cNvPr id="3" name="内容占位符 2"/>
          <p:cNvSpPr>
            <a:spLocks noGrp="1"/>
          </p:cNvSpPr>
          <p:nvPr>
            <p:ph idx="1"/>
          </p:nvPr>
        </p:nvSpPr>
        <p:spPr>
          <a:xfrm>
            <a:off x="228600" y="1295400"/>
            <a:ext cx="8686800" cy="5181600"/>
          </a:xfrm>
        </p:spPr>
        <p:txBody>
          <a:bodyPr/>
          <a:lstStyle/>
          <a:p>
            <a:pPr marL="0" indent="0">
              <a:buNone/>
            </a:pPr>
            <a:r>
              <a:rPr lang="en-US" altLang="zh-CN" dirty="0"/>
              <a:t>If </a:t>
            </a:r>
            <a:r>
              <a:rPr lang="en-US" altLang="zh-CN" i="1" dirty="0"/>
              <a:t>n</a:t>
            </a:r>
            <a:r>
              <a:rPr lang="en-US" altLang="zh-CN" dirty="0"/>
              <a:t> objects are placed into </a:t>
            </a:r>
            <a:r>
              <a:rPr lang="en-US" altLang="zh-CN" i="1" dirty="0"/>
              <a:t>k</a:t>
            </a:r>
            <a:r>
              <a:rPr lang="en-US" altLang="zh-CN" dirty="0"/>
              <a:t> boxes (where </a:t>
            </a:r>
            <a:r>
              <a:rPr lang="en-US" altLang="zh-CN" i="1" dirty="0"/>
              <a:t>n</a:t>
            </a:r>
            <a:r>
              <a:rPr lang="en-US" altLang="zh-CN" dirty="0"/>
              <a:t>&gt;</a:t>
            </a:r>
            <a:r>
              <a:rPr lang="en-US" altLang="zh-CN" i="1" dirty="0"/>
              <a:t>k</a:t>
            </a:r>
            <a:r>
              <a:rPr lang="en-US" altLang="zh-CN" dirty="0"/>
              <a:t>), then there is at least one box containing at least          objects.</a:t>
            </a:r>
          </a:p>
          <a:p>
            <a:pPr marL="0" indent="0">
              <a:buNone/>
            </a:pPr>
            <a:endParaRPr lang="en-US" altLang="zh-CN" sz="2400" dirty="0"/>
          </a:p>
          <a:p>
            <a:r>
              <a:rPr lang="en-US" altLang="zh-CN" sz="2400" b="1" dirty="0">
                <a:solidFill>
                  <a:srgbClr val="0000FF"/>
                </a:solidFill>
              </a:rPr>
              <a:t>Proof</a:t>
            </a:r>
          </a:p>
          <a:p>
            <a:pPr marL="0" indent="0">
              <a:buNone/>
            </a:pPr>
            <a:r>
              <a:rPr lang="en-US" altLang="zh-CN" sz="2400" dirty="0"/>
              <a:t>We prove it by contradiction. Suppose none of the boxes contains more than         – 1 objects. Then, the total number of objects is at most </a:t>
            </a:r>
            <a:r>
              <a:rPr lang="en-US" altLang="zh-CN" sz="2400" i="1" dirty="0"/>
              <a:t>k</a:t>
            </a:r>
            <a:r>
              <a:rPr lang="en-US" altLang="zh-CN" sz="2400" dirty="0"/>
              <a:t>(         – 1). Note that </a:t>
            </a:r>
          </a:p>
          <a:p>
            <a:pPr marL="0" indent="0">
              <a:buNone/>
            </a:pPr>
            <a:r>
              <a:rPr lang="en-US" altLang="zh-CN" sz="2400" dirty="0"/>
              <a:t>        &lt; </a:t>
            </a:r>
            <a:r>
              <a:rPr lang="en-US" altLang="zh-CN" sz="2400" i="1" dirty="0"/>
              <a:t>n</a:t>
            </a:r>
            <a:r>
              <a:rPr lang="en-US" altLang="zh-CN" sz="2400" dirty="0"/>
              <a:t>/</a:t>
            </a:r>
            <a:r>
              <a:rPr lang="en-US" altLang="zh-CN" sz="2400" i="1" dirty="0"/>
              <a:t>k</a:t>
            </a:r>
            <a:r>
              <a:rPr lang="en-US" altLang="zh-CN" sz="2400" dirty="0"/>
              <a:t> + 1. This implies </a:t>
            </a:r>
          </a:p>
          <a:p>
            <a:pPr marL="0" indent="0">
              <a:buNone/>
            </a:pPr>
            <a:r>
              <a:rPr lang="en-US" altLang="zh-CN" sz="2400" i="1" dirty="0"/>
              <a:t>          k</a:t>
            </a:r>
            <a:r>
              <a:rPr lang="en-US" altLang="zh-CN" sz="2400" dirty="0"/>
              <a:t>(         – 1) &lt; </a:t>
            </a:r>
            <a:r>
              <a:rPr lang="en-US" altLang="zh-CN" sz="2400" i="1" dirty="0"/>
              <a:t>k </a:t>
            </a:r>
            <a:r>
              <a:rPr lang="en-US" altLang="zh-CN" sz="2400" dirty="0"/>
              <a:t>((</a:t>
            </a:r>
            <a:r>
              <a:rPr lang="en-US" altLang="zh-CN" sz="2400" i="1" dirty="0"/>
              <a:t>n</a:t>
            </a:r>
            <a:r>
              <a:rPr lang="en-US" altLang="zh-CN" sz="2400" dirty="0"/>
              <a:t>/</a:t>
            </a:r>
            <a:r>
              <a:rPr lang="en-US" altLang="zh-CN" sz="2400" i="1" dirty="0"/>
              <a:t>k</a:t>
            </a:r>
            <a:r>
              <a:rPr lang="en-US" altLang="zh-CN" sz="2400" dirty="0"/>
              <a:t>  + 1) – 1) = </a:t>
            </a:r>
            <a:r>
              <a:rPr lang="en-US" altLang="zh-CN" sz="2400" i="1" dirty="0"/>
              <a:t>n</a:t>
            </a:r>
            <a:r>
              <a:rPr lang="en-US" altLang="zh-CN" sz="2400" dirty="0"/>
              <a:t>,</a:t>
            </a:r>
          </a:p>
          <a:p>
            <a:pPr marL="0" indent="0">
              <a:buNone/>
            </a:pPr>
            <a:r>
              <a:rPr lang="en-US" altLang="zh-CN" sz="2400" dirty="0"/>
              <a:t>which contradicts the fact that there are a total of </a:t>
            </a:r>
            <a:r>
              <a:rPr lang="en-US" altLang="zh-CN" sz="2400" i="1" dirty="0"/>
              <a:t>n</a:t>
            </a:r>
            <a:r>
              <a:rPr lang="en-US" altLang="zh-CN" sz="2400" dirty="0"/>
              <a:t> objects.</a:t>
            </a:r>
          </a:p>
        </p:txBody>
      </p:sp>
      <p:pic>
        <p:nvPicPr>
          <p:cNvPr id="4" name="图片 3"/>
          <p:cNvPicPr>
            <a:picLocks noChangeAspect="1"/>
          </p:cNvPicPr>
          <p:nvPr/>
        </p:nvPicPr>
        <p:blipFill>
          <a:blip r:embed="rId2"/>
          <a:stretch>
            <a:fillRect/>
          </a:stretch>
        </p:blipFill>
        <p:spPr>
          <a:xfrm>
            <a:off x="6796901" y="1676400"/>
            <a:ext cx="859970" cy="445910"/>
          </a:xfrm>
          <a:prstGeom prst="rect">
            <a:avLst/>
          </a:prstGeom>
        </p:spPr>
      </p:pic>
      <p:pic>
        <p:nvPicPr>
          <p:cNvPr id="5" name="图片 4"/>
          <p:cNvPicPr>
            <a:picLocks noChangeAspect="1"/>
          </p:cNvPicPr>
          <p:nvPr/>
        </p:nvPicPr>
        <p:blipFill>
          <a:blip r:embed="rId2"/>
          <a:stretch>
            <a:fillRect/>
          </a:stretch>
        </p:blipFill>
        <p:spPr>
          <a:xfrm>
            <a:off x="3200400" y="3733800"/>
            <a:ext cx="859970" cy="445910"/>
          </a:xfrm>
          <a:prstGeom prst="rect">
            <a:avLst/>
          </a:prstGeom>
        </p:spPr>
      </p:pic>
      <p:pic>
        <p:nvPicPr>
          <p:cNvPr id="6" name="图片 5"/>
          <p:cNvPicPr>
            <a:picLocks noChangeAspect="1"/>
          </p:cNvPicPr>
          <p:nvPr/>
        </p:nvPicPr>
        <p:blipFill>
          <a:blip r:embed="rId2"/>
          <a:stretch>
            <a:fillRect/>
          </a:stretch>
        </p:blipFill>
        <p:spPr>
          <a:xfrm>
            <a:off x="4953000" y="4038600"/>
            <a:ext cx="859970" cy="445910"/>
          </a:xfrm>
          <a:prstGeom prst="rect">
            <a:avLst/>
          </a:prstGeom>
        </p:spPr>
      </p:pic>
      <p:pic>
        <p:nvPicPr>
          <p:cNvPr id="7" name="图片 6"/>
          <p:cNvPicPr>
            <a:picLocks noChangeAspect="1"/>
          </p:cNvPicPr>
          <p:nvPr/>
        </p:nvPicPr>
        <p:blipFill>
          <a:blip r:embed="rId2"/>
          <a:stretch>
            <a:fillRect/>
          </a:stretch>
        </p:blipFill>
        <p:spPr>
          <a:xfrm>
            <a:off x="231058" y="4572000"/>
            <a:ext cx="859970" cy="401895"/>
          </a:xfrm>
          <a:prstGeom prst="rect">
            <a:avLst/>
          </a:prstGeom>
        </p:spPr>
      </p:pic>
      <p:pic>
        <p:nvPicPr>
          <p:cNvPr id="8" name="图片 7"/>
          <p:cNvPicPr>
            <a:picLocks noChangeAspect="1"/>
          </p:cNvPicPr>
          <p:nvPr/>
        </p:nvPicPr>
        <p:blipFill>
          <a:blip r:embed="rId2"/>
          <a:stretch>
            <a:fillRect/>
          </a:stretch>
        </p:blipFill>
        <p:spPr>
          <a:xfrm>
            <a:off x="1524000" y="4971437"/>
            <a:ext cx="859970" cy="445910"/>
          </a:xfrm>
          <a:prstGeom prst="rect">
            <a:avLst/>
          </a:prstGeom>
        </p:spPr>
      </p:pic>
      <p:sp>
        <p:nvSpPr>
          <p:cNvPr id="9" name="Slide Number Placeholder 8"/>
          <p:cNvSpPr>
            <a:spLocks noGrp="1"/>
          </p:cNvSpPr>
          <p:nvPr>
            <p:ph type="sldNum" sz="quarter" idx="12"/>
          </p:nvPr>
        </p:nvSpPr>
        <p:spPr/>
        <p:txBody>
          <a:bodyPr/>
          <a:lstStyle/>
          <a:p>
            <a:fld id="{5EC735E3-5B29-4F54-8FB9-022B0DB6C884}" type="slidenum">
              <a:rPr lang="en-US" smtClean="0"/>
              <a:pPr/>
              <a:t>34</a:t>
            </a:fld>
            <a:endParaRPr lang="en-US"/>
          </a:p>
        </p:txBody>
      </p:sp>
    </p:spTree>
    <p:extLst>
      <p:ext uri="{BB962C8B-B14F-4D97-AF65-F5344CB8AC3E}">
        <p14:creationId xmlns:p14="http://schemas.microsoft.com/office/powerpoint/2010/main" val="4153139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tx1"/>
                </a:solidFill>
              </a:rPr>
              <a:t>Examples</a:t>
            </a: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76200" y="1219200"/>
                <a:ext cx="8839200" cy="5257800"/>
              </a:xfrm>
            </p:spPr>
            <p:txBody>
              <a:bodyPr/>
              <a:lstStyle/>
              <a:p>
                <a:r>
                  <a:rPr lang="en-US" altLang="zh-CN" sz="2000" b="1" dirty="0">
                    <a:solidFill>
                      <a:srgbClr val="0000FF"/>
                    </a:solidFill>
                  </a:rPr>
                  <a:t>Example</a:t>
                </a:r>
                <a:br>
                  <a:rPr lang="en-US" altLang="zh-CN" sz="2000" b="1" dirty="0">
                    <a:solidFill>
                      <a:srgbClr val="0000FF"/>
                    </a:solidFill>
                  </a:rPr>
                </a:br>
                <a:r>
                  <a:rPr lang="en-US" altLang="zh-CN" sz="2000" dirty="0"/>
                  <a:t>Among 100 people there are at least               = 9 who were born in the same month.</a:t>
                </a:r>
              </a:p>
              <a:p>
                <a:r>
                  <a:rPr lang="en-US" altLang="zh-CN" sz="2000" b="1" dirty="0">
                    <a:solidFill>
                      <a:srgbClr val="0000FF"/>
                    </a:solidFill>
                  </a:rPr>
                  <a:t>Observation </a:t>
                </a:r>
                <a:endParaRPr lang="en-US" altLang="zh-CN" sz="2000" dirty="0"/>
              </a:p>
              <a:p>
                <a:r>
                  <a:rPr lang="en-US" altLang="zh-CN" sz="2000" dirty="0"/>
                  <a:t>In several problems you must find the smallest integer </a:t>
                </a:r>
                <a:r>
                  <a:rPr lang="en-US" altLang="zh-CN" sz="2000" i="1" dirty="0"/>
                  <a:t>n</a:t>
                </a:r>
                <a:r>
                  <a:rPr lang="en-US" altLang="zh-CN" sz="2000" dirty="0"/>
                  <a:t> such that </a:t>
                </a:r>
                <a:r>
                  <a:rPr lang="en-US" altLang="zh-CN" sz="2000" dirty="0">
                    <a:sym typeface="Symbol"/>
                  </a:rPr>
                  <a:t></a:t>
                </a:r>
                <a:r>
                  <a:rPr lang="en-US" altLang="zh-CN" sz="2000" i="1" dirty="0">
                    <a:sym typeface="Symbol"/>
                  </a:rPr>
                  <a:t>n</a:t>
                </a:r>
                <a:r>
                  <a:rPr lang="en-US" altLang="zh-CN" sz="2000" dirty="0">
                    <a:sym typeface="Symbol"/>
                  </a:rPr>
                  <a:t>/</a:t>
                </a:r>
                <a:r>
                  <a:rPr lang="en-US" altLang="zh-CN" sz="2000" i="1" dirty="0">
                    <a:sym typeface="Symbol"/>
                  </a:rPr>
                  <a:t>k</a:t>
                </a:r>
                <a:r>
                  <a:rPr lang="en-US" altLang="zh-CN" sz="2000" dirty="0">
                    <a:sym typeface="Symbol"/>
                  </a:rPr>
                  <a:t>=</a:t>
                </a:r>
                <a:r>
                  <a:rPr lang="en-US" altLang="zh-CN" sz="2000" i="1" dirty="0">
                    <a:sym typeface="Symbol"/>
                  </a:rPr>
                  <a:t>g</a:t>
                </a:r>
                <a:r>
                  <a:rPr lang="en-US" altLang="zh-CN" sz="2000" dirty="0">
                    <a:sym typeface="Symbol"/>
                  </a:rPr>
                  <a:t> (i.e., some pigeonhole contains at least </a:t>
                </a:r>
                <a:r>
                  <a:rPr lang="en-US" altLang="zh-CN" sz="2000" i="1" dirty="0">
                    <a:sym typeface="Symbol"/>
                  </a:rPr>
                  <a:t>g</a:t>
                </a:r>
                <a:r>
                  <a:rPr lang="en-US" altLang="zh-CN" sz="2000" dirty="0">
                    <a:sym typeface="Symbol"/>
                  </a:rPr>
                  <a:t> objects)</a:t>
                </a:r>
                <a:endParaRPr lang="en-US" altLang="zh-CN" sz="2000" b="1" dirty="0">
                  <a:solidFill>
                    <a:srgbClr val="0000FF"/>
                  </a:solidFill>
                </a:endParaRPr>
              </a:p>
              <a:p>
                <a:r>
                  <a:rPr lang="en-US" altLang="zh-CN" sz="2000" dirty="0">
                    <a:sym typeface="Symbol"/>
                  </a:rPr>
                  <a:t>Set </a:t>
                </a:r>
                <a:r>
                  <a:rPr lang="en-US" altLang="zh-CN" sz="2000" i="1" dirty="0">
                    <a:sym typeface="Symbol"/>
                  </a:rPr>
                  <a:t>n </a:t>
                </a:r>
                <a:r>
                  <a:rPr lang="en-US" altLang="zh-CN" sz="2000" dirty="0"/>
                  <a:t>=(</a:t>
                </a:r>
                <a:r>
                  <a:rPr lang="en-US" altLang="zh-CN" sz="2000" i="1" dirty="0">
                    <a:sym typeface="Symbol"/>
                  </a:rPr>
                  <a:t>g</a:t>
                </a:r>
                <a:r>
                  <a:rPr lang="en-US" altLang="zh-CN" sz="2000" dirty="0">
                    <a:sym typeface="Symbol"/>
                  </a:rPr>
                  <a:t>-1)</a:t>
                </a:r>
                <a:r>
                  <a:rPr lang="en-US" altLang="zh-CN" sz="2000" i="1" dirty="0">
                    <a:sym typeface="Symbol"/>
                  </a:rPr>
                  <a:t>k</a:t>
                </a:r>
                <a:r>
                  <a:rPr lang="en-US" altLang="zh-CN" sz="2000" dirty="0">
                    <a:sym typeface="Symbol"/>
                  </a:rPr>
                  <a:t>+1. </a:t>
                </a:r>
              </a:p>
              <a:p>
                <a:r>
                  <a:rPr lang="en-US" altLang="zh-CN" sz="2000" dirty="0">
                    <a:sym typeface="Symbol"/>
                  </a:rPr>
                  <a:t>Reasoning: You can put </a:t>
                </a:r>
                <a:r>
                  <a:rPr lang="en-US" altLang="zh-CN" sz="2000" dirty="0"/>
                  <a:t>(</a:t>
                </a:r>
                <a:r>
                  <a:rPr lang="en-US" altLang="zh-CN" sz="2000" i="1" dirty="0">
                    <a:sym typeface="Symbol"/>
                  </a:rPr>
                  <a:t>g</a:t>
                </a:r>
                <a:r>
                  <a:rPr lang="en-US" altLang="zh-CN" sz="2000" dirty="0">
                    <a:sym typeface="Symbol"/>
                  </a:rPr>
                  <a:t>-1) objects in each of </a:t>
                </a:r>
                <a:r>
                  <a:rPr lang="en-US" altLang="zh-CN" sz="2000" i="1" dirty="0">
                    <a:sym typeface="Symbol"/>
                  </a:rPr>
                  <a:t>k</a:t>
                </a:r>
                <a:r>
                  <a:rPr lang="en-US" altLang="zh-CN" sz="2000" dirty="0">
                    <a:sym typeface="Symbol"/>
                  </a:rPr>
                  <a:t>  pigeonholes. The extra (+1) object will lead to a pigeonhole with </a:t>
                </a:r>
                <a:r>
                  <a:rPr lang="en-US" altLang="zh-CN" sz="2000" i="1" dirty="0">
                    <a:sym typeface="Symbol"/>
                  </a:rPr>
                  <a:t>g</a:t>
                </a:r>
                <a:r>
                  <a:rPr lang="en-US" altLang="zh-CN" sz="2000" dirty="0">
                    <a:sym typeface="Symbol"/>
                  </a:rPr>
                  <a:t> objects </a:t>
                </a:r>
                <a:endParaRPr lang="en-US" altLang="zh-CN" sz="2000" i="1" dirty="0"/>
              </a:p>
              <a:p>
                <a:r>
                  <a:rPr lang="en-US" altLang="zh-CN" sz="2000" b="1" dirty="0">
                    <a:solidFill>
                      <a:srgbClr val="0000FF"/>
                    </a:solidFill>
                  </a:rPr>
                  <a:t>Example</a:t>
                </a:r>
                <a:br>
                  <a:rPr lang="en-US" altLang="zh-CN" sz="2000" b="1" dirty="0">
                    <a:solidFill>
                      <a:srgbClr val="0000FF"/>
                    </a:solidFill>
                  </a:rPr>
                </a:br>
                <a:r>
                  <a:rPr lang="en-US" altLang="zh-CN" sz="2000" dirty="0"/>
                  <a:t>What is the minimum number of students to be sure that at least six will receive the same grade, if there are five possible grades?</a:t>
                </a:r>
                <a:endParaRPr lang="en-US" altLang="zh-CN" sz="2000" b="1" dirty="0">
                  <a:solidFill>
                    <a:srgbClr val="0000FF"/>
                  </a:solidFill>
                </a:endParaRPr>
              </a:p>
              <a:p>
                <a:r>
                  <a:rPr lang="en-US" altLang="zh-CN" sz="2000" b="1" dirty="0">
                    <a:solidFill>
                      <a:srgbClr val="0000FF"/>
                    </a:solidFill>
                  </a:rPr>
                  <a:t>Solution </a:t>
                </a:r>
                <a:br>
                  <a:rPr lang="en-US" altLang="zh-CN" sz="2000" b="1" dirty="0">
                    <a:solidFill>
                      <a:srgbClr val="0000FF"/>
                    </a:solidFill>
                  </a:rPr>
                </a:br>
                <a:r>
                  <a:rPr lang="en-US" altLang="zh-CN" sz="2000" dirty="0"/>
                  <a:t>It is the smallest integer </a:t>
                </a:r>
                <a:r>
                  <a:rPr lang="en-US" altLang="zh-CN" sz="2000" i="1" dirty="0"/>
                  <a:t>n</a:t>
                </a:r>
                <a:r>
                  <a:rPr lang="en-US" altLang="zh-CN" sz="2000" dirty="0"/>
                  <a:t> such that </a:t>
                </a:r>
                <a:r>
                  <a:rPr lang="en-US" altLang="zh-CN" sz="2000" dirty="0">
                    <a:sym typeface="Symbol"/>
                  </a:rPr>
                  <a:t></a:t>
                </a:r>
                <a:r>
                  <a:rPr lang="en-US" altLang="zh-CN" sz="2000" i="1" dirty="0">
                    <a:sym typeface="Symbol"/>
                  </a:rPr>
                  <a:t>n</a:t>
                </a:r>
                <a:r>
                  <a:rPr lang="en-US" altLang="zh-CN" sz="2000" dirty="0">
                    <a:sym typeface="Symbol"/>
                  </a:rPr>
                  <a:t>/5=6,, i.e., </a:t>
                </a:r>
                <a:r>
                  <a:rPr lang="en-US" altLang="zh-CN" sz="2000" i="1" dirty="0">
                    <a:sym typeface="Symbol"/>
                  </a:rPr>
                  <a:t>k</a:t>
                </a:r>
                <a:r>
                  <a:rPr lang="en-US" altLang="zh-CN" sz="2000" dirty="0">
                    <a:sym typeface="Symbol"/>
                  </a:rPr>
                  <a:t>=5, </a:t>
                </a:r>
                <a:r>
                  <a:rPr lang="en-US" altLang="zh-CN" sz="2000" i="1" dirty="0">
                    <a:sym typeface="Symbol"/>
                  </a:rPr>
                  <a:t>g</a:t>
                </a:r>
                <a:r>
                  <a:rPr lang="en-US" altLang="zh-CN" sz="2000" dirty="0">
                    <a:sym typeface="Symbol"/>
                  </a:rPr>
                  <a:t>=6, which is </a:t>
                </a:r>
                <a:r>
                  <a:rPr lang="en-US" altLang="zh-CN" sz="2000" i="1" dirty="0">
                    <a:sym typeface="Symbol"/>
                  </a:rPr>
                  <a:t>n</a:t>
                </a:r>
                <a:r>
                  <a:rPr lang="en-US" altLang="zh-CN" sz="2000" dirty="0">
                    <a:sym typeface="Symbol"/>
                  </a:rPr>
                  <a:t> </a:t>
                </a:r>
                <a14:m>
                  <m:oMath xmlns:m="http://schemas.openxmlformats.org/officeDocument/2006/math">
                    <m:r>
                      <a:rPr lang="en-US" altLang="zh-CN" sz="2000" i="1" dirty="0" smtClean="0">
                        <a:latin typeface="Cambria Math" panose="02040503050406030204" pitchFamily="18" charset="0"/>
                        <a:sym typeface="Symbol"/>
                      </a:rPr>
                      <m:t>=</m:t>
                    </m:r>
                    <m:r>
                      <m:rPr>
                        <m:nor/>
                      </m:rPr>
                      <a:rPr lang="en-US" altLang="zh-CN" sz="2000" i="0" dirty="0"/>
                      <m:t>(</m:t>
                    </m:r>
                    <m:r>
                      <m:rPr>
                        <m:nor/>
                      </m:rPr>
                      <a:rPr lang="en-US" altLang="zh-CN" sz="2000" i="1" dirty="0">
                        <a:sym typeface="Symbol"/>
                      </a:rPr>
                      <m:t>g</m:t>
                    </m:r>
                    <m:r>
                      <m:rPr>
                        <m:nor/>
                      </m:rPr>
                      <a:rPr lang="en-US" altLang="zh-CN" sz="2000" i="0" dirty="0">
                        <a:sym typeface="Symbol"/>
                      </a:rPr>
                      <m:t>−1)</m:t>
                    </m:r>
                    <m:r>
                      <m:rPr>
                        <m:nor/>
                      </m:rPr>
                      <a:rPr lang="en-US" altLang="zh-CN" sz="2000" i="1" dirty="0">
                        <a:sym typeface="Symbol"/>
                      </a:rPr>
                      <m:t>k</m:t>
                    </m:r>
                    <m:r>
                      <a:rPr lang="en-US" altLang="zh-CN" sz="2000" i="1" dirty="0">
                        <a:latin typeface="Cambria Math" panose="02040503050406030204" pitchFamily="18" charset="0"/>
                        <a:sym typeface="Symbol"/>
                      </a:rPr>
                      <m:t>+1=</m:t>
                    </m:r>
                    <m:r>
                      <a:rPr lang="en-US" altLang="zh-CN" sz="2000" i="1" dirty="0" smtClean="0">
                        <a:latin typeface="Cambria Math" panose="02040503050406030204" pitchFamily="18" charset="0"/>
                        <a:sym typeface="Symbol"/>
                      </a:rPr>
                      <m:t>5</m:t>
                    </m:r>
                    <m:r>
                      <a:rPr lang="en-US" altLang="zh-CN" sz="2000" b="0" i="1" dirty="0" smtClean="0">
                        <a:latin typeface="Cambria Math" panose="02040503050406030204" pitchFamily="18" charset="0"/>
                        <a:sym typeface="Symbol"/>
                      </a:rPr>
                      <m:t>×</m:t>
                    </m:r>
                    <m:r>
                      <a:rPr lang="en-US" altLang="zh-CN" sz="2000" i="1" dirty="0" smtClean="0">
                        <a:latin typeface="Cambria Math" panose="02040503050406030204" pitchFamily="18" charset="0"/>
                        <a:sym typeface="Symbol"/>
                      </a:rPr>
                      <m:t>5+1=26</m:t>
                    </m:r>
                  </m:oMath>
                </a14:m>
                <a:r>
                  <a:rPr lang="en-US" altLang="zh-CN" sz="2000" dirty="0">
                    <a:sym typeface="Symbol"/>
                  </a:rPr>
                  <a:t>.</a:t>
                </a:r>
              </a:p>
              <a:p>
                <a:endParaRPr lang="en-US" altLang="zh-CN" sz="2400" dirty="0"/>
              </a:p>
              <a:p>
                <a:pPr algn="just">
                  <a:buNone/>
                </a:pPr>
                <a:endParaRPr lang="en-US" altLang="zh-CN" dirty="0">
                  <a:solidFill>
                    <a:srgbClr val="0000FF"/>
                  </a:solidFill>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76200" y="1219200"/>
                <a:ext cx="8839200" cy="5257800"/>
              </a:xfrm>
              <a:blipFill>
                <a:blip r:embed="rId2"/>
                <a:stretch>
                  <a:fillRect l="-621" t="-579" r="-759"/>
                </a:stretch>
              </a:blipFill>
            </p:spPr>
            <p:txBody>
              <a:bodyPr/>
              <a:lstStyle/>
              <a:p>
                <a:r>
                  <a:rPr lang="en-HK">
                    <a:noFill/>
                  </a:rPr>
                  <a:t> </a:t>
                </a:r>
              </a:p>
            </p:txBody>
          </p:sp>
        </mc:Fallback>
      </mc:AlternateContent>
      <p:pic>
        <p:nvPicPr>
          <p:cNvPr id="4" name="图片 3"/>
          <p:cNvPicPr>
            <a:picLocks noChangeAspect="1"/>
          </p:cNvPicPr>
          <p:nvPr/>
        </p:nvPicPr>
        <p:blipFill>
          <a:blip r:embed="rId3"/>
          <a:stretch>
            <a:fillRect/>
          </a:stretch>
        </p:blipFill>
        <p:spPr>
          <a:xfrm>
            <a:off x="5171440" y="1524000"/>
            <a:ext cx="1153161" cy="402266"/>
          </a:xfrm>
          <a:prstGeom prst="rect">
            <a:avLst/>
          </a:prstGeom>
        </p:spPr>
      </p:pic>
      <p:sp>
        <p:nvSpPr>
          <p:cNvPr id="5" name="Slide Number Placeholder 4"/>
          <p:cNvSpPr>
            <a:spLocks noGrp="1"/>
          </p:cNvSpPr>
          <p:nvPr>
            <p:ph type="sldNum" sz="quarter" idx="12"/>
          </p:nvPr>
        </p:nvSpPr>
        <p:spPr/>
        <p:txBody>
          <a:bodyPr/>
          <a:lstStyle/>
          <a:p>
            <a:fld id="{5EC735E3-5B29-4F54-8FB9-022B0DB6C884}" type="slidenum">
              <a:rPr lang="en-US" smtClean="0"/>
              <a:pPr/>
              <a:t>35</a:t>
            </a:fld>
            <a:endParaRPr lang="en-US"/>
          </a:p>
        </p:txBody>
      </p:sp>
    </p:spTree>
    <p:extLst>
      <p:ext uri="{BB962C8B-B14F-4D97-AF65-F5344CB8AC3E}">
        <p14:creationId xmlns:p14="http://schemas.microsoft.com/office/powerpoint/2010/main" val="523186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00FF"/>
                </a:solidFill>
              </a:rPr>
              <a:t>Exercise</a:t>
            </a:r>
            <a:r>
              <a:rPr lang="en-US" altLang="zh-CN" dirty="0">
                <a:solidFill>
                  <a:schemeClr val="tx1"/>
                </a:solidFill>
              </a:rPr>
              <a:t> on Cards</a:t>
            </a:r>
            <a:endParaRPr lang="zh-CN" altLang="en-US" dirty="0">
              <a:solidFill>
                <a:schemeClr val="tx1"/>
              </a:solidFill>
            </a:endParaRPr>
          </a:p>
        </p:txBody>
      </p:sp>
      <p:sp>
        <p:nvSpPr>
          <p:cNvPr id="3" name="内容占位符 2"/>
          <p:cNvSpPr>
            <a:spLocks noGrp="1"/>
          </p:cNvSpPr>
          <p:nvPr>
            <p:ph idx="1"/>
          </p:nvPr>
        </p:nvSpPr>
        <p:spPr>
          <a:xfrm>
            <a:off x="228600" y="914400"/>
            <a:ext cx="8686800" cy="5791200"/>
          </a:xfrm>
        </p:spPr>
        <p:txBody>
          <a:bodyPr/>
          <a:lstStyle/>
          <a:p>
            <a:r>
              <a:rPr lang="en-US" altLang="zh-CN" sz="2000" dirty="0"/>
              <a:t>How many cards must be selected from a standard deck of 52 cards to guarantee that at least three cards of the same suit are chosen? </a:t>
            </a:r>
          </a:p>
          <a:p>
            <a:pPr>
              <a:buFont typeface="Wingdings" panose="05000000000000000000" pitchFamily="2" charset="2"/>
              <a:buChar char="§"/>
            </a:pPr>
            <a:r>
              <a:rPr lang="en-US" altLang="zh-CN" sz="2000" b="1" dirty="0">
                <a:solidFill>
                  <a:srgbClr val="0000FF"/>
                </a:solidFill>
              </a:rPr>
              <a:t>Solution:</a:t>
            </a:r>
            <a:br>
              <a:rPr lang="en-US" altLang="zh-CN" sz="2000" b="1" dirty="0">
                <a:solidFill>
                  <a:srgbClr val="0000FF"/>
                </a:solidFill>
              </a:rPr>
            </a:br>
            <a:r>
              <a:rPr lang="en-US" altLang="zh-CN" sz="2000" dirty="0"/>
              <a:t>Let the selected </a:t>
            </a:r>
            <a:r>
              <a:rPr lang="en-US" altLang="zh-CN" sz="2000" i="1" dirty="0"/>
              <a:t>cards</a:t>
            </a:r>
            <a:r>
              <a:rPr lang="en-US" altLang="zh-CN" sz="2000" dirty="0"/>
              <a:t> be pigeons and the </a:t>
            </a:r>
            <a:r>
              <a:rPr lang="en-US" altLang="zh-CN" sz="2000" i="1" dirty="0"/>
              <a:t>suits</a:t>
            </a:r>
            <a:r>
              <a:rPr lang="en-US" altLang="zh-CN" sz="2000" dirty="0"/>
              <a:t> be pigeonholes. By the generalized pigeonhole principle, to guarantee at least three cards of the same suit among </a:t>
            </a:r>
            <a:r>
              <a:rPr lang="en-US" altLang="zh-CN" sz="2000" i="1" dirty="0"/>
              <a:t>n</a:t>
            </a:r>
            <a:r>
              <a:rPr lang="en-US" altLang="zh-CN" sz="2000" dirty="0"/>
              <a:t> cards, we need to have </a:t>
            </a:r>
            <a:r>
              <a:rPr lang="en-US" altLang="zh-CN" sz="2000" dirty="0">
                <a:sym typeface="Symbol"/>
              </a:rPr>
              <a:t></a:t>
            </a:r>
            <a:r>
              <a:rPr lang="en-US" altLang="zh-CN" sz="2000" i="1" dirty="0"/>
              <a:t>n</a:t>
            </a:r>
            <a:r>
              <a:rPr lang="en-US" altLang="zh-CN" sz="2000" dirty="0"/>
              <a:t>/4</a:t>
            </a:r>
            <a:r>
              <a:rPr lang="en-US" altLang="zh-CN" sz="2000" dirty="0">
                <a:sym typeface="Symbol"/>
              </a:rPr>
              <a:t> </a:t>
            </a:r>
            <a:r>
              <a:rPr lang="en-US" altLang="zh-CN" sz="2000" dirty="0"/>
              <a:t>=3, so we have </a:t>
            </a:r>
            <a:r>
              <a:rPr lang="en-US" altLang="zh-CN" sz="2000" i="1" dirty="0"/>
              <a:t>n</a:t>
            </a:r>
            <a:r>
              <a:rPr lang="en-US" altLang="zh-CN" sz="2000" dirty="0"/>
              <a:t>=2*4+1=9 cards.</a:t>
            </a:r>
          </a:p>
          <a:p>
            <a:pPr>
              <a:buFont typeface="Wingdings" panose="05000000000000000000" pitchFamily="2" charset="2"/>
              <a:buChar char="§"/>
            </a:pPr>
            <a:r>
              <a:rPr lang="en-US" altLang="zh-CN" sz="2000" dirty="0"/>
              <a:t>How many cards must be selected to guarantee that at least three hearts are selected?</a:t>
            </a:r>
          </a:p>
          <a:p>
            <a:pPr>
              <a:buFont typeface="Wingdings" panose="05000000000000000000" pitchFamily="2" charset="2"/>
              <a:buChar char="§"/>
            </a:pPr>
            <a:r>
              <a:rPr lang="en-US" altLang="zh-CN" sz="2000" b="1" dirty="0">
                <a:solidFill>
                  <a:srgbClr val="0000FF"/>
                </a:solidFill>
              </a:rPr>
              <a:t>Solution:</a:t>
            </a:r>
            <a:br>
              <a:rPr lang="en-US" altLang="zh-CN" sz="2000" b="1" dirty="0">
                <a:solidFill>
                  <a:srgbClr val="0000FF"/>
                </a:solidFill>
              </a:rPr>
            </a:br>
            <a:r>
              <a:rPr lang="en-US" altLang="zh-CN" sz="2000" dirty="0"/>
              <a:t>To guarantee that at least three hearts are selected, we have to exhaust all the clubs (13), diamonds (13), and spades (13) first, and then pick three more cards = 13*3+3=42 cards (note: this is not based on the generalized pigeonhole principle).</a:t>
            </a:r>
          </a:p>
          <a:p>
            <a:pPr>
              <a:buFont typeface="Wingdings" panose="05000000000000000000" pitchFamily="2" charset="2"/>
              <a:buChar char="§"/>
            </a:pPr>
            <a:endParaRPr lang="en-US" altLang="zh-CN" sz="2000" dirty="0"/>
          </a:p>
          <a:p>
            <a:pPr>
              <a:buFont typeface="Wingdings" panose="05000000000000000000" pitchFamily="2" charset="2"/>
              <a:buChar char="§"/>
            </a:pPr>
            <a:endParaRPr lang="en-US" altLang="zh-CN" sz="2400" dirty="0"/>
          </a:p>
          <a:p>
            <a:pPr marL="0" indent="0">
              <a:buNone/>
            </a:pPr>
            <a:endParaRPr lang="en-US" altLang="zh-CN" dirty="0"/>
          </a:p>
        </p:txBody>
      </p:sp>
      <p:sp>
        <p:nvSpPr>
          <p:cNvPr id="4" name="Slide Number Placeholder 3"/>
          <p:cNvSpPr>
            <a:spLocks noGrp="1"/>
          </p:cNvSpPr>
          <p:nvPr>
            <p:ph type="sldNum" sz="quarter" idx="12"/>
          </p:nvPr>
        </p:nvSpPr>
        <p:spPr/>
        <p:txBody>
          <a:bodyPr/>
          <a:lstStyle/>
          <a:p>
            <a:fld id="{5EC735E3-5B29-4F54-8FB9-022B0DB6C884}" type="slidenum">
              <a:rPr lang="en-US" smtClean="0"/>
              <a:pPr/>
              <a:t>36</a:t>
            </a:fld>
            <a:endParaRPr lang="en-US"/>
          </a:p>
        </p:txBody>
      </p:sp>
    </p:spTree>
    <p:extLst>
      <p:ext uri="{BB962C8B-B14F-4D97-AF65-F5344CB8AC3E}">
        <p14:creationId xmlns:p14="http://schemas.microsoft.com/office/powerpoint/2010/main" val="1225804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00FF"/>
                </a:solidFill>
              </a:rPr>
              <a:t>Exercise</a:t>
            </a:r>
            <a:r>
              <a:rPr lang="en-US" altLang="zh-CN" dirty="0">
                <a:solidFill>
                  <a:schemeClr val="tx1"/>
                </a:solidFill>
              </a:rPr>
              <a:t> on Socks</a:t>
            </a:r>
            <a:endParaRPr lang="zh-CN" altLang="en-US" dirty="0">
              <a:solidFill>
                <a:schemeClr val="tx1"/>
              </a:solidFill>
            </a:endParaRPr>
          </a:p>
        </p:txBody>
      </p:sp>
      <p:sp>
        <p:nvSpPr>
          <p:cNvPr id="3" name="内容占位符 2"/>
          <p:cNvSpPr>
            <a:spLocks noGrp="1"/>
          </p:cNvSpPr>
          <p:nvPr>
            <p:ph idx="1"/>
          </p:nvPr>
        </p:nvSpPr>
        <p:spPr>
          <a:xfrm>
            <a:off x="228600" y="914400"/>
            <a:ext cx="8686800" cy="5791200"/>
          </a:xfrm>
        </p:spPr>
        <p:txBody>
          <a:bodyPr/>
          <a:lstStyle/>
          <a:p>
            <a:r>
              <a:rPr lang="en-US" sz="2000" dirty="0"/>
              <a:t>In a dark drawer there are 100 black and 100 white socks. What is the minimum number of socks that you should select in order to ENSURE that you have 2 socks of the same color (both black or both white)?</a:t>
            </a:r>
            <a:r>
              <a:rPr lang="en-US" altLang="zh-CN" sz="2000" dirty="0"/>
              <a:t> </a:t>
            </a:r>
          </a:p>
          <a:p>
            <a:pPr>
              <a:buFont typeface="Wingdings" panose="05000000000000000000" pitchFamily="2" charset="2"/>
              <a:buChar char="§"/>
            </a:pPr>
            <a:r>
              <a:rPr lang="en-US" altLang="zh-CN" sz="2000" b="1" dirty="0"/>
              <a:t>Solution:</a:t>
            </a:r>
            <a:br>
              <a:rPr lang="en-US" altLang="zh-CN" sz="2000" b="1" dirty="0"/>
            </a:br>
            <a:r>
              <a:rPr lang="en-US" altLang="zh-CN" sz="2000" dirty="0"/>
              <a:t>Let the selected </a:t>
            </a:r>
            <a:r>
              <a:rPr lang="en-US" altLang="zh-CN" sz="2000" i="1" dirty="0"/>
              <a:t>socks</a:t>
            </a:r>
            <a:r>
              <a:rPr lang="en-US" altLang="zh-CN" sz="2000" dirty="0"/>
              <a:t> be pigeons and the </a:t>
            </a:r>
            <a:r>
              <a:rPr lang="en-US" altLang="zh-CN" sz="2000" i="1" dirty="0"/>
              <a:t>colors</a:t>
            </a:r>
            <a:r>
              <a:rPr lang="en-US" altLang="zh-CN" sz="2000" dirty="0"/>
              <a:t> be pigeonholes. By the generalized pigeonhole principle, to guarantee at least 2 socks of the same color, we need to have </a:t>
            </a:r>
            <a:r>
              <a:rPr lang="en-US" altLang="zh-CN" sz="2000" dirty="0">
                <a:sym typeface="Symbol"/>
              </a:rPr>
              <a:t></a:t>
            </a:r>
            <a:r>
              <a:rPr lang="en-US" altLang="zh-CN" sz="2000" i="1" dirty="0"/>
              <a:t>n</a:t>
            </a:r>
            <a:r>
              <a:rPr lang="en-US" altLang="zh-CN" sz="2000" dirty="0"/>
              <a:t>/2</a:t>
            </a:r>
            <a:r>
              <a:rPr lang="en-US" altLang="zh-CN" sz="2000" dirty="0">
                <a:sym typeface="Symbol"/>
              </a:rPr>
              <a:t> </a:t>
            </a:r>
            <a:r>
              <a:rPr lang="en-US" altLang="zh-CN" sz="2000" dirty="0"/>
              <a:t>=2, so we have </a:t>
            </a:r>
            <a:r>
              <a:rPr lang="en-US" altLang="zh-CN" sz="2000" i="1" dirty="0"/>
              <a:t>n</a:t>
            </a:r>
            <a:r>
              <a:rPr lang="en-US" altLang="zh-CN" sz="2000" dirty="0"/>
              <a:t>=3 socks.</a:t>
            </a:r>
          </a:p>
          <a:p>
            <a:pPr>
              <a:buFont typeface="Wingdings" panose="05000000000000000000" pitchFamily="2" charset="2"/>
              <a:buChar char="§"/>
            </a:pPr>
            <a:r>
              <a:rPr lang="en-US" sz="2000" dirty="0"/>
              <a:t>In a dark drawer there are 100 black and 100 white socks. What is the minimum number of socks that you should select in order to ENSURE that you have 2 WHITE socks?</a:t>
            </a:r>
          </a:p>
          <a:p>
            <a:pPr>
              <a:buFont typeface="Wingdings" panose="05000000000000000000" pitchFamily="2" charset="2"/>
              <a:buChar char="§"/>
            </a:pPr>
            <a:r>
              <a:rPr lang="en-US" altLang="zh-CN" sz="2000" b="1" dirty="0"/>
              <a:t>Solution:</a:t>
            </a:r>
            <a:br>
              <a:rPr lang="en-US" altLang="zh-CN" sz="2000" b="1" dirty="0"/>
            </a:br>
            <a:r>
              <a:rPr lang="en-US" altLang="zh-CN" sz="2000" dirty="0"/>
              <a:t>To guarantee at least </a:t>
            </a:r>
            <a:r>
              <a:rPr lang="en-US" sz="2000" dirty="0"/>
              <a:t>2 WHITE socks</a:t>
            </a:r>
            <a:r>
              <a:rPr lang="en-US" altLang="zh-CN" sz="2000" dirty="0"/>
              <a:t>, we have to exhaust all the black socks first and then pick 2 more socks: 102 socks.</a:t>
            </a:r>
          </a:p>
          <a:p>
            <a:pPr>
              <a:buFont typeface="Wingdings" panose="05000000000000000000" pitchFamily="2" charset="2"/>
              <a:buChar char="§"/>
            </a:pPr>
            <a:endParaRPr lang="en-US" altLang="zh-CN" sz="2000" dirty="0"/>
          </a:p>
          <a:p>
            <a:pPr>
              <a:buFont typeface="Wingdings" panose="05000000000000000000" pitchFamily="2" charset="2"/>
              <a:buChar char="§"/>
            </a:pPr>
            <a:endParaRPr lang="en-US" altLang="zh-CN" sz="2400" dirty="0"/>
          </a:p>
          <a:p>
            <a:pPr marL="0" indent="0">
              <a:buNone/>
            </a:pPr>
            <a:endParaRPr lang="en-US" altLang="zh-CN" dirty="0"/>
          </a:p>
        </p:txBody>
      </p:sp>
      <p:sp>
        <p:nvSpPr>
          <p:cNvPr id="4" name="Slide Number Placeholder 3"/>
          <p:cNvSpPr>
            <a:spLocks noGrp="1"/>
          </p:cNvSpPr>
          <p:nvPr>
            <p:ph type="sldNum" sz="quarter" idx="12"/>
          </p:nvPr>
        </p:nvSpPr>
        <p:spPr/>
        <p:txBody>
          <a:bodyPr/>
          <a:lstStyle/>
          <a:p>
            <a:fld id="{5EC735E3-5B29-4F54-8FB9-022B0DB6C884}" type="slidenum">
              <a:rPr lang="en-US" smtClean="0"/>
              <a:pPr/>
              <a:t>37</a:t>
            </a:fld>
            <a:endParaRPr lang="en-US"/>
          </a:p>
        </p:txBody>
      </p:sp>
    </p:spTree>
    <p:extLst>
      <p:ext uri="{BB962C8B-B14F-4D97-AF65-F5344CB8AC3E}">
        <p14:creationId xmlns:p14="http://schemas.microsoft.com/office/powerpoint/2010/main" val="241561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00FF"/>
                </a:solidFill>
              </a:rPr>
              <a:t>Exercise</a:t>
            </a:r>
            <a:r>
              <a:rPr lang="en-US" altLang="zh-CN" dirty="0">
                <a:solidFill>
                  <a:schemeClr val="tx1"/>
                </a:solidFill>
              </a:rPr>
              <a:t> on </a:t>
            </a:r>
            <a:r>
              <a:rPr lang="en-US" dirty="0"/>
              <a:t>Phone Numbers</a:t>
            </a:r>
            <a:endParaRPr lang="zh-CN" altLang="en-US" dirty="0">
              <a:solidFill>
                <a:schemeClr val="tx1"/>
              </a:solidFill>
            </a:endParaRPr>
          </a:p>
        </p:txBody>
      </p:sp>
      <p:sp>
        <p:nvSpPr>
          <p:cNvPr id="3" name="内容占位符 2"/>
          <p:cNvSpPr>
            <a:spLocks noGrp="1"/>
          </p:cNvSpPr>
          <p:nvPr>
            <p:ph idx="1"/>
          </p:nvPr>
        </p:nvSpPr>
        <p:spPr>
          <a:xfrm>
            <a:off x="228600" y="914400"/>
            <a:ext cx="8686800" cy="5791200"/>
          </a:xfrm>
        </p:spPr>
        <p:txBody>
          <a:bodyPr/>
          <a:lstStyle/>
          <a:p>
            <a:r>
              <a:rPr lang="en-US" sz="2000" dirty="0"/>
              <a:t>Assume that phone numbers are of the form NXX-NXX-XXXX, where the first three digits form the </a:t>
            </a:r>
            <a:r>
              <a:rPr lang="en-US" sz="2000" i="1" dirty="0"/>
              <a:t>area code</a:t>
            </a:r>
            <a:r>
              <a:rPr lang="en-US" sz="2000" dirty="0"/>
              <a:t>, N represents a digit from 2 to 9 inclusive, and X represents any digit. What is the least number of </a:t>
            </a:r>
            <a:r>
              <a:rPr lang="en-US" sz="2000" i="1" dirty="0"/>
              <a:t>area codes</a:t>
            </a:r>
            <a:r>
              <a:rPr lang="en-US" sz="2000" dirty="0"/>
              <a:t> needed to guarantee that the 25 million phones in a state can be assigned distinct 10-digit phone numbers?</a:t>
            </a:r>
            <a:br>
              <a:rPr lang="en-US" dirty="0"/>
            </a:br>
            <a:endParaRPr lang="en-US" dirty="0"/>
          </a:p>
          <a:p>
            <a:r>
              <a:rPr lang="en-US" altLang="zh-CN" sz="2000" b="1" dirty="0">
                <a:solidFill>
                  <a:srgbClr val="0000FF"/>
                </a:solidFill>
              </a:rPr>
              <a:t>Solution:</a:t>
            </a:r>
            <a:br>
              <a:rPr lang="en-US" altLang="zh-CN" sz="2000" b="1" dirty="0">
                <a:solidFill>
                  <a:srgbClr val="0000FF"/>
                </a:solidFill>
              </a:rPr>
            </a:br>
            <a:r>
              <a:rPr lang="en-US" sz="2000" dirty="0"/>
              <a:t>Discarding the area code, by the product rule, there are 8*10</a:t>
            </a:r>
            <a:r>
              <a:rPr lang="en-US" sz="2000" baseline="30000" dirty="0"/>
              <a:t>6</a:t>
            </a:r>
            <a:r>
              <a:rPr lang="en-US" sz="2000" dirty="0"/>
              <a:t> different phone numbers of the form NXX-XXXX. Applying the generalized Pigeonhole principle, we have </a:t>
            </a:r>
            <a:r>
              <a:rPr lang="en-US" sz="2000" dirty="0">
                <a:sym typeface="Symbol" panose="05050102010706020507" pitchFamily="18" charset="2"/>
              </a:rPr>
              <a:t></a:t>
            </a:r>
            <a:r>
              <a:rPr lang="en-US" sz="2000" dirty="0"/>
              <a:t>25*10</a:t>
            </a:r>
            <a:r>
              <a:rPr lang="en-US" sz="2000" baseline="30000" dirty="0"/>
              <a:t>6</a:t>
            </a:r>
            <a:r>
              <a:rPr lang="en-US" sz="2000" dirty="0"/>
              <a:t> / 8*10</a:t>
            </a:r>
            <a:r>
              <a:rPr lang="en-US" sz="2000" baseline="30000" dirty="0"/>
              <a:t>6</a:t>
            </a:r>
            <a:r>
              <a:rPr lang="en-US" sz="2000" dirty="0">
                <a:sym typeface="Symbol" panose="05050102010706020507" pitchFamily="18" charset="2"/>
              </a:rPr>
              <a:t></a:t>
            </a:r>
            <a:r>
              <a:rPr lang="en-US" sz="2000" dirty="0"/>
              <a:t> = 4, so at least one phone number of the form NXX-XXXX is shared by 4 phones.</a:t>
            </a:r>
            <a:br>
              <a:rPr lang="en-US" sz="2000" dirty="0"/>
            </a:br>
            <a:r>
              <a:rPr lang="en-US" sz="2000" dirty="0"/>
              <a:t>In order to have 25*10</a:t>
            </a:r>
            <a:r>
              <a:rPr lang="en-US" sz="2000" baseline="30000" dirty="0"/>
              <a:t>6</a:t>
            </a:r>
            <a:r>
              <a:rPr lang="en-US" sz="2000" dirty="0"/>
              <a:t> phones assigned distinct numbers, 4 area codes are required in order to distinguish the phones sharing the same NXX-XXXX number into different areas.</a:t>
            </a:r>
            <a:endParaRPr lang="en-US" altLang="zh-CN" sz="2000" dirty="0"/>
          </a:p>
        </p:txBody>
      </p:sp>
      <p:sp>
        <p:nvSpPr>
          <p:cNvPr id="4" name="Slide Number Placeholder 3"/>
          <p:cNvSpPr>
            <a:spLocks noGrp="1"/>
          </p:cNvSpPr>
          <p:nvPr>
            <p:ph type="sldNum" sz="quarter" idx="12"/>
          </p:nvPr>
        </p:nvSpPr>
        <p:spPr/>
        <p:txBody>
          <a:bodyPr/>
          <a:lstStyle/>
          <a:p>
            <a:fld id="{5EC735E3-5B29-4F54-8FB9-022B0DB6C884}" type="slidenum">
              <a:rPr lang="en-US" smtClean="0"/>
              <a:pPr/>
              <a:t>38</a:t>
            </a:fld>
            <a:endParaRPr lang="en-US"/>
          </a:p>
        </p:txBody>
      </p:sp>
    </p:spTree>
    <p:extLst>
      <p:ext uri="{BB962C8B-B14F-4D97-AF65-F5344CB8AC3E}">
        <p14:creationId xmlns:p14="http://schemas.microsoft.com/office/powerpoint/2010/main" val="166272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E03EF-3D1F-2188-CA36-1337D62FAB3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6DB74D-7E0D-AA37-BE29-CCA10C5AE79E}"/>
              </a:ext>
            </a:extLst>
          </p:cNvPr>
          <p:cNvSpPr>
            <a:spLocks noGrp="1"/>
          </p:cNvSpPr>
          <p:nvPr>
            <p:ph idx="1"/>
          </p:nvPr>
        </p:nvSpPr>
        <p:spPr>
          <a:xfrm>
            <a:off x="0" y="762000"/>
            <a:ext cx="8763000" cy="3733800"/>
          </a:xfrm>
        </p:spPr>
        <p:txBody>
          <a:bodyPr/>
          <a:lstStyle/>
          <a:p>
            <a:pPr lvl="0"/>
            <a:r>
              <a:rPr lang="en-US" sz="1800" dirty="0"/>
              <a:t>Assume 16 teams. Each team plays exactly 5 games. A win gains 3 points, draw gains 1 point and loss gains 0 point. Prove that at least two teams will have the same number of points.  </a:t>
            </a:r>
          </a:p>
          <a:p>
            <a:pPr marL="400050" lvl="1" indent="0">
              <a:buNone/>
            </a:pPr>
            <a:r>
              <a:rPr lang="en-US" sz="1800" dirty="0">
                <a:solidFill>
                  <a:srgbClr val="0000FF"/>
                </a:solidFill>
              </a:rPr>
              <a:t>Solution: Maximum possible points are 15 as a team can win all the games and the minimum possible score is 0 if its all lose. </a:t>
            </a:r>
          </a:p>
          <a:p>
            <a:pPr marL="400050" lvl="1" indent="0">
              <a:buNone/>
            </a:pPr>
            <a:r>
              <a:rPr lang="en-US" sz="1800" dirty="0">
                <a:solidFill>
                  <a:srgbClr val="0000FF"/>
                </a:solidFill>
              </a:rPr>
              <a:t>So possible scores are 0,1,2,3,4,...,13,14,15 (16 cases so far)</a:t>
            </a:r>
          </a:p>
          <a:p>
            <a:pPr marL="400050" lvl="1" indent="0">
              <a:buNone/>
            </a:pPr>
            <a:r>
              <a:rPr lang="en-US" sz="1800" dirty="0">
                <a:solidFill>
                  <a:srgbClr val="0000FF"/>
                </a:solidFill>
              </a:rPr>
              <a:t>However, its not possible to get 14 points in total. Because the second best possible score for a team is to win 4 games and a draw which is 12+1 = 13. So now the possible scores are:</a:t>
            </a:r>
          </a:p>
          <a:p>
            <a:pPr marL="400050" lvl="1" indent="0">
              <a:buNone/>
            </a:pPr>
            <a:r>
              <a:rPr lang="en-US" sz="1800" dirty="0">
                <a:solidFill>
                  <a:srgbClr val="0000FF"/>
                </a:solidFill>
              </a:rPr>
              <a:t>0,1,2,....,13,15 (which are 15 cases). We have 16 teams and 15 possible scores. Two teams must have the same scores.  </a:t>
            </a:r>
          </a:p>
          <a:p>
            <a:pPr marL="400050" lvl="1" indent="0">
              <a:buNone/>
            </a:pPr>
            <a:endParaRPr lang="en-US" sz="1800" dirty="0">
              <a:solidFill>
                <a:srgbClr val="0000FF"/>
              </a:solidFill>
            </a:endParaRPr>
          </a:p>
          <a:p>
            <a:pPr marL="400050" lvl="1" indent="0">
              <a:buNone/>
            </a:pPr>
            <a:endParaRPr lang="en-US" sz="1800" dirty="0">
              <a:solidFill>
                <a:srgbClr val="0000FF"/>
              </a:solidFill>
            </a:endParaRPr>
          </a:p>
          <a:p>
            <a:pPr marL="400050" lvl="1" indent="0">
              <a:buNone/>
            </a:pPr>
            <a:r>
              <a:rPr lang="en-US" sz="1800" dirty="0"/>
              <a:t>  </a:t>
            </a:r>
            <a:br>
              <a:rPr lang="en-US" sz="1800" dirty="0"/>
            </a:br>
            <a:endParaRPr lang="en-US" sz="1800" b="1" dirty="0">
              <a:solidFill>
                <a:srgbClr val="0000FF"/>
              </a:solidFill>
            </a:endParaRPr>
          </a:p>
        </p:txBody>
      </p:sp>
      <p:sp>
        <p:nvSpPr>
          <p:cNvPr id="4" name="Slide Number Placeholder 3">
            <a:extLst>
              <a:ext uri="{FF2B5EF4-FFF2-40B4-BE49-F238E27FC236}">
                <a16:creationId xmlns:a16="http://schemas.microsoft.com/office/drawing/2014/main" id="{D5CE89AC-EA77-367B-B096-8E73158C98F4}"/>
              </a:ext>
            </a:extLst>
          </p:cNvPr>
          <p:cNvSpPr>
            <a:spLocks noGrp="1"/>
          </p:cNvSpPr>
          <p:nvPr>
            <p:ph type="sldNum" sz="quarter" idx="12"/>
          </p:nvPr>
        </p:nvSpPr>
        <p:spPr/>
        <p:txBody>
          <a:bodyPr/>
          <a:lstStyle/>
          <a:p>
            <a:fld id="{5EC735E3-5B29-4F54-8FB9-022B0DB6C884}" type="slidenum">
              <a:rPr lang="en-US" smtClean="0"/>
              <a:pPr/>
              <a:t>39</a:t>
            </a:fld>
            <a:endParaRPr lang="en-US"/>
          </a:p>
        </p:txBody>
      </p:sp>
      <p:sp>
        <p:nvSpPr>
          <p:cNvPr id="6" name="Title 1">
            <a:extLst>
              <a:ext uri="{FF2B5EF4-FFF2-40B4-BE49-F238E27FC236}">
                <a16:creationId xmlns:a16="http://schemas.microsoft.com/office/drawing/2014/main" id="{B711B91A-6CDF-A155-26D3-5C3B82157FFA}"/>
              </a:ext>
            </a:extLst>
          </p:cNvPr>
          <p:cNvSpPr txBox="1">
            <a:spLocks/>
          </p:cNvSpPr>
          <p:nvPr/>
        </p:nvSpPr>
        <p:spPr bwMode="auto">
          <a:xfrm>
            <a:off x="304800" y="136525"/>
            <a:ext cx="83820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a:solidFill>
                  <a:schemeClr val="tx2"/>
                </a:solidFill>
                <a:latin typeface="+mj-lt"/>
                <a:ea typeface="ＭＳ Ｐゴシック" charset="-128"/>
                <a:cs typeface="ＭＳ Ｐゴシック" charset="-128"/>
              </a:defRPr>
            </a:lvl1pPr>
            <a:lvl2pPr algn="r" rtl="0" eaLnBrk="0" fontAlgn="base" hangingPunct="0">
              <a:spcBef>
                <a:spcPct val="0"/>
              </a:spcBef>
              <a:spcAft>
                <a:spcPct val="0"/>
              </a:spcAft>
              <a:defRPr sz="3600">
                <a:solidFill>
                  <a:schemeClr val="tx2"/>
                </a:solidFill>
                <a:latin typeface="Lucida Sans" charset="0"/>
                <a:ea typeface="ＭＳ Ｐゴシック" charset="-128"/>
                <a:cs typeface="ＭＳ Ｐゴシック" charset="-128"/>
              </a:defRPr>
            </a:lvl2pPr>
            <a:lvl3pPr algn="r" rtl="0" eaLnBrk="0" fontAlgn="base" hangingPunct="0">
              <a:spcBef>
                <a:spcPct val="0"/>
              </a:spcBef>
              <a:spcAft>
                <a:spcPct val="0"/>
              </a:spcAft>
              <a:defRPr sz="3600">
                <a:solidFill>
                  <a:schemeClr val="tx2"/>
                </a:solidFill>
                <a:latin typeface="Lucida Sans" charset="0"/>
                <a:ea typeface="ＭＳ Ｐゴシック" charset="-128"/>
                <a:cs typeface="ＭＳ Ｐゴシック" charset="-128"/>
              </a:defRPr>
            </a:lvl3pPr>
            <a:lvl4pPr algn="r" rtl="0" eaLnBrk="0" fontAlgn="base" hangingPunct="0">
              <a:spcBef>
                <a:spcPct val="0"/>
              </a:spcBef>
              <a:spcAft>
                <a:spcPct val="0"/>
              </a:spcAft>
              <a:defRPr sz="3600">
                <a:solidFill>
                  <a:schemeClr val="tx2"/>
                </a:solidFill>
                <a:latin typeface="Lucida Sans" charset="0"/>
                <a:ea typeface="ＭＳ Ｐゴシック" charset="-128"/>
                <a:cs typeface="ＭＳ Ｐゴシック" charset="-128"/>
              </a:defRPr>
            </a:lvl4pPr>
            <a:lvl5pPr algn="r" rtl="0" eaLnBrk="0" fontAlgn="base" hangingPunct="0">
              <a:spcBef>
                <a:spcPct val="0"/>
              </a:spcBef>
              <a:spcAft>
                <a:spcPct val="0"/>
              </a:spcAft>
              <a:defRPr sz="3600">
                <a:solidFill>
                  <a:schemeClr val="tx2"/>
                </a:solidFill>
                <a:latin typeface="Lucida Sans" charset="0"/>
                <a:ea typeface="ＭＳ Ｐゴシック" charset="-128"/>
                <a:cs typeface="ＭＳ Ｐゴシック" charset="-128"/>
              </a:defRPr>
            </a:lvl5pPr>
            <a:lvl6pPr marL="457200" algn="r" rtl="0" fontAlgn="base">
              <a:spcBef>
                <a:spcPct val="0"/>
              </a:spcBef>
              <a:spcAft>
                <a:spcPct val="0"/>
              </a:spcAft>
              <a:defRPr sz="3600">
                <a:solidFill>
                  <a:schemeClr val="tx2"/>
                </a:solidFill>
                <a:latin typeface="Lucida Sans" charset="0"/>
              </a:defRPr>
            </a:lvl6pPr>
            <a:lvl7pPr marL="914400" algn="r" rtl="0" fontAlgn="base">
              <a:spcBef>
                <a:spcPct val="0"/>
              </a:spcBef>
              <a:spcAft>
                <a:spcPct val="0"/>
              </a:spcAft>
              <a:defRPr sz="3600">
                <a:solidFill>
                  <a:schemeClr val="tx2"/>
                </a:solidFill>
                <a:latin typeface="Lucida Sans" charset="0"/>
              </a:defRPr>
            </a:lvl7pPr>
            <a:lvl8pPr marL="1371600" algn="r" rtl="0" fontAlgn="base">
              <a:spcBef>
                <a:spcPct val="0"/>
              </a:spcBef>
              <a:spcAft>
                <a:spcPct val="0"/>
              </a:spcAft>
              <a:defRPr sz="3600">
                <a:solidFill>
                  <a:schemeClr val="tx2"/>
                </a:solidFill>
                <a:latin typeface="Lucida Sans" charset="0"/>
              </a:defRPr>
            </a:lvl8pPr>
            <a:lvl9pPr marL="1828800" algn="r" rtl="0" fontAlgn="base">
              <a:spcBef>
                <a:spcPct val="0"/>
              </a:spcBef>
              <a:spcAft>
                <a:spcPct val="0"/>
              </a:spcAft>
              <a:defRPr sz="3600">
                <a:solidFill>
                  <a:schemeClr val="tx2"/>
                </a:solidFill>
                <a:latin typeface="Lucida Sans" charset="0"/>
              </a:defRPr>
            </a:lvl9pPr>
          </a:lstStyle>
          <a:p>
            <a:r>
              <a:rPr lang="en-HK" sz="2800" b="0" dirty="0"/>
              <a:t> </a:t>
            </a:r>
            <a:r>
              <a:rPr lang="en-US" altLang="zh-CN" sz="2800" dirty="0">
                <a:solidFill>
                  <a:srgbClr val="0000FF"/>
                </a:solidFill>
              </a:rPr>
              <a:t>Exercise</a:t>
            </a:r>
            <a:r>
              <a:rPr lang="en-US" altLang="zh-CN" sz="2800" b="0" dirty="0">
                <a:solidFill>
                  <a:schemeClr val="tx1"/>
                </a:solidFill>
              </a:rPr>
              <a:t> on Games</a:t>
            </a:r>
            <a:r>
              <a:rPr lang="en-HK" sz="2800" dirty="0"/>
              <a:t> </a:t>
            </a:r>
            <a:r>
              <a:rPr lang="en-HK" sz="2800" b="0" kern="0" dirty="0"/>
              <a:t> </a:t>
            </a:r>
          </a:p>
        </p:txBody>
      </p:sp>
    </p:spTree>
    <p:extLst>
      <p:ext uri="{BB962C8B-B14F-4D97-AF65-F5344CB8AC3E}">
        <p14:creationId xmlns:p14="http://schemas.microsoft.com/office/powerpoint/2010/main" val="921055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Lucida Sans"/>
        <a:ea typeface=""/>
        <a:cs typeface=""/>
      </a:majorFont>
      <a:minorFont>
        <a:latin typeface="Lucida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8287</TotalTime>
  <Words>4176</Words>
  <Application>Microsoft Macintosh PowerPoint</Application>
  <PresentationFormat>On-screen Show (4:3)</PresentationFormat>
  <Paragraphs>361</Paragraphs>
  <Slides>39</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39</vt:i4>
      </vt:variant>
    </vt:vector>
  </HeadingPairs>
  <TitlesOfParts>
    <vt:vector size="48" baseType="lpstr">
      <vt:lpstr>Arial</vt:lpstr>
      <vt:lpstr>Calibri</vt:lpstr>
      <vt:lpstr>Cambria Math</vt:lpstr>
      <vt:lpstr>Courier</vt:lpstr>
      <vt:lpstr>Lucida Sans</vt:lpstr>
      <vt:lpstr>Symbol</vt:lpstr>
      <vt:lpstr>Times New Roman</vt:lpstr>
      <vt:lpstr>Wingdings</vt:lpstr>
      <vt:lpstr>Default Design</vt:lpstr>
      <vt:lpstr>L07: Basics of Counting</vt:lpstr>
      <vt:lpstr>Introduction</vt:lpstr>
      <vt:lpstr>Product Rule</vt:lpstr>
      <vt:lpstr>Examples</vt:lpstr>
      <vt:lpstr>Example</vt:lpstr>
      <vt:lpstr>Exercise on Functions</vt:lpstr>
      <vt:lpstr>Exercise on Functions 2</vt:lpstr>
      <vt:lpstr>Matrix Multiplication</vt:lpstr>
      <vt:lpstr>Matrix Multiplication Pseudocode</vt:lpstr>
      <vt:lpstr>Solution:</vt:lpstr>
      <vt:lpstr>Example</vt:lpstr>
      <vt:lpstr>Solution (cont’d)</vt:lpstr>
      <vt:lpstr>Exercise on License Plates</vt:lpstr>
      <vt:lpstr>Exercise on Dice</vt:lpstr>
      <vt:lpstr>Sum Rule</vt:lpstr>
      <vt:lpstr>Example</vt:lpstr>
      <vt:lpstr>Example</vt:lpstr>
      <vt:lpstr>Solution:</vt:lpstr>
      <vt:lpstr>Solution (cont’d): </vt:lpstr>
      <vt:lpstr>Solution (cont’d): </vt:lpstr>
      <vt:lpstr>Using Both Product and Sum Rules</vt:lpstr>
      <vt:lpstr>Using Both Product and Sum Rules</vt:lpstr>
      <vt:lpstr>Solution (cont’d):</vt:lpstr>
      <vt:lpstr>Using Both Product and Sum Rules</vt:lpstr>
      <vt:lpstr>Solution:</vt:lpstr>
      <vt:lpstr>Solution (cont’d)</vt:lpstr>
      <vt:lpstr>Solution (cont’d)</vt:lpstr>
      <vt:lpstr>Tree Diagrams</vt:lpstr>
      <vt:lpstr>Tree Diagrams</vt:lpstr>
      <vt:lpstr>Pigeonhole Principle</vt:lpstr>
      <vt:lpstr>Examples</vt:lpstr>
      <vt:lpstr>Exercise on Regular Grid</vt:lpstr>
      <vt:lpstr>Exercise on Product</vt:lpstr>
      <vt:lpstr>Generalized Pigeonhole Principle</vt:lpstr>
      <vt:lpstr>Examples</vt:lpstr>
      <vt:lpstr>Exercise on Cards</vt:lpstr>
      <vt:lpstr>Exercise on Socks</vt:lpstr>
      <vt:lpstr>Exercise on Phone Numbers</vt:lpstr>
      <vt:lpstr>PowerPoint Presentation</vt:lpstr>
    </vt:vector>
  </TitlesOfParts>
  <Company>HKUST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taicl</dc:creator>
  <cp:lastModifiedBy>Lionel Parreaux</cp:lastModifiedBy>
  <cp:revision>906</cp:revision>
  <cp:lastPrinted>2012-02-01T09:07:14Z</cp:lastPrinted>
  <dcterms:created xsi:type="dcterms:W3CDTF">2012-01-21T22:53:48Z</dcterms:created>
  <dcterms:modified xsi:type="dcterms:W3CDTF">2026-09-23T02:20:01Z</dcterms:modified>
</cp:coreProperties>
</file>