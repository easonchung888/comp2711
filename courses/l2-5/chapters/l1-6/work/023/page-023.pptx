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'1.0' encoding='utf-8'?>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23" saveSubsetFonts="1" autoCompressPictures="0">
  <p:sldMasterIdLst>
    <p:sldMasterId id="2147483648" r:id="rId1"/>
  </p:sldMasterIdLst>
  <p:notesMasterIdLst>
    <p:notesMasterId r:id="rId53"/>
  </p:notesMasterIdLst>
  <p:handoutMasterIdLst>
    <p:handoutMasterId r:id="rId54"/>
  </p:handoutMasterIdLst>
  <p:sldIdLst>
    <p:sldId id="353" r:id="rId24"/>
  </p:sldIdLst>
  <p:sldSz cx="9144000" cy="6858000" type="screen4x3"/>
  <p:notesSz cx="6884988" cy="10018713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5pPr>
    <a:lvl6pPr marL="22860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6pPr>
    <a:lvl7pPr marL="27432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7pPr>
    <a:lvl8pPr marL="32004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8pPr>
    <a:lvl9pPr marL="36576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672" autoAdjust="0"/>
    <p:restoredTop sz="94279" autoAdjust="0"/>
  </p:normalViewPr>
  <p:slideViewPr>
    <p:cSldViewPr>
      <p:cViewPr varScale="1">
        <p:scale>
          <a:sx n="150" d="100"/>
          <a:sy n="150" d="100"/>
        </p:scale>
        <p:origin x="176" y="61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114" y="1068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2568"/>
    </p:cViewPr>
  </p:sorterViewPr>
  <p:gridSpacing cx="76200" cy="76200"/>
</p:viewPr>
</file>

<file path=ppt/_rels/presentation.xml.rels><?xml version='1.0' encoding='utf-8'?>
<Relationships xmlns="http://schemas.openxmlformats.org/package/2006/relationships"><Relationship Id="rId55" Type="http://schemas.openxmlformats.org/officeDocument/2006/relationships/presProps" Target="presProps.xml" /><Relationship Id="rId24" Type="http://schemas.openxmlformats.org/officeDocument/2006/relationships/slide" Target="slides/slide23.xml" /><Relationship Id="rId53" Type="http://schemas.openxmlformats.org/officeDocument/2006/relationships/notesMaster" Target="notesMasters/notesMaster1.xml" /><Relationship Id="rId58" Type="http://schemas.openxmlformats.org/officeDocument/2006/relationships/tableStyles" Target="tableStyles.xml" /><Relationship Id="rId56" Type="http://schemas.openxmlformats.org/officeDocument/2006/relationships/viewProps" Target="viewProps.xml" /><Relationship Id="rId54" Type="http://schemas.openxmlformats.org/officeDocument/2006/relationships/handoutMaster" Target="handoutMasters/handoutMaster1.xml" /><Relationship Id="rId1" Type="http://schemas.openxmlformats.org/officeDocument/2006/relationships/slideMaster" Target="slideMasters/slideMaster1.xml" /><Relationship Id="rId57" Type="http://schemas.openxmlformats.org/officeDocument/2006/relationships/theme" Target="theme/theme1.xml" /></Relationships>
</file>

<file path=ppt/handoutMasters/_rels/handoutMaster1.xml.rels><?xml version='1.0' encoding='utf-8'?>
<Relationships xmlns="http://schemas.openxmlformats.org/package/2006/relationships"><Relationship Id="rId1" Type="http://schemas.openxmlformats.org/officeDocument/2006/relationships/theme" Target="../theme/theme3.xml" 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4"/>
            <a:ext cx="2984032" cy="500936"/>
          </a:xfrm>
          <a:prstGeom prst="rect">
            <a:avLst/>
          </a:prstGeom>
        </p:spPr>
        <p:txBody>
          <a:bodyPr vert="horz" lIns="91405" tIns="45702" rIns="91405" bIns="45702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99349" y="4"/>
            <a:ext cx="2984032" cy="500936"/>
          </a:xfrm>
          <a:prstGeom prst="rect">
            <a:avLst/>
          </a:prstGeom>
        </p:spPr>
        <p:txBody>
          <a:bodyPr vert="horz" lIns="91405" tIns="45702" rIns="91405" bIns="45702" rtlCol="0"/>
          <a:lstStyle>
            <a:lvl1pPr algn="r">
              <a:defRPr sz="1200"/>
            </a:lvl1pPr>
          </a:lstStyle>
          <a:p>
            <a:fld id="{50BE4F2C-0EE3-4CC6-9A7F-FCEE2CED77EB}" type="datetimeFigureOut">
              <a:rPr lang="en-US" smtClean="0"/>
              <a:pPr/>
              <a:t>9/30/26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9516175"/>
            <a:ext cx="2984032" cy="500936"/>
          </a:xfrm>
          <a:prstGeom prst="rect">
            <a:avLst/>
          </a:prstGeom>
        </p:spPr>
        <p:txBody>
          <a:bodyPr vert="horz" lIns="91405" tIns="45702" rIns="91405" bIns="45702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99349" y="9516175"/>
            <a:ext cx="2984032" cy="500936"/>
          </a:xfrm>
          <a:prstGeom prst="rect">
            <a:avLst/>
          </a:prstGeom>
        </p:spPr>
        <p:txBody>
          <a:bodyPr vert="horz" lIns="91405" tIns="45702" rIns="91405" bIns="45702" rtlCol="0" anchor="b"/>
          <a:lstStyle>
            <a:lvl1pPr algn="r">
              <a:defRPr sz="1200"/>
            </a:lvl1pPr>
          </a:lstStyle>
          <a:p>
            <a:fld id="{A2AB639E-B2BE-4F41-B992-699629CBE31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24535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?>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4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05" tIns="45702" rIns="91405" bIns="45702" numCol="1" anchor="t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99901" y="4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05" tIns="45702" rIns="91405" bIns="45702" numCol="1" anchor="t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33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38213" y="752475"/>
            <a:ext cx="5008562" cy="375761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8499" y="4758891"/>
            <a:ext cx="5507990" cy="45084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05" tIns="45702" rIns="91405" bIns="4570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516041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05" tIns="45702" rIns="91405" bIns="45702" numCol="1" anchor="b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99901" y="9516041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05" tIns="45702" rIns="91405" bIns="45702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charset="0"/>
              </a:defRPr>
            </a:lvl1pPr>
          </a:lstStyle>
          <a:p>
            <a:fld id="{878340DC-DDD3-4383-9614-668A8EE0901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36368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ED48EA5-2AB8-469C-9C8D-DDC17F3887B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9601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EC735E3-5B29-4F54-8FB9-022B0DB6C88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0910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E5E6A3E-4888-4C12-8315-4FD2172AB79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2753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F4F64A1-F48A-4587-8460-697BC25700C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73603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14D11BB-E399-4356-A7BA-ED113D687B1C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2784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BE0ABEF-E41E-4666-84C4-413527B4A9B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2084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09926DB-4DC2-4E3A-B2C0-BB9A6A9391A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9505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B1B4454-C8A7-4B1B-8E65-E82A92619F9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9545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0DDABB2-A7EC-4A6A-8A4D-8C9E34B87EC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4767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04971A2-E15B-40AD-8D3B-C3853A18A93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8475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9737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9737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132645C-7078-496B-800F-5B55B382AAB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425351"/>
      </p:ext>
    </p:extLst>
  </p:cSld>
  <p:clrMapOvr>
    <a:masterClrMapping/>
  </p:clrMapOvr>
</p:sldLayout>
</file>

<file path=ppt/slideMasters/_rels/slideMaster1.xml.rels><?xml version='1.0' encoding='utf-8'?>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382000" cy="71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600200"/>
            <a:ext cx="8686800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40080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400800"/>
            <a:ext cx="2895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0080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>
                <a:latin typeface="Arial" charset="0"/>
              </a:defRPr>
            </a:lvl1pPr>
          </a:lstStyle>
          <a:p>
            <a:fld id="{6724A02C-A69E-4EC1-BA44-1213A0435DCD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1031" name="Text Box 7"/>
          <p:cNvSpPr txBox="1">
            <a:spLocks noChangeArrowheads="1"/>
          </p:cNvSpPr>
          <p:nvPr userDrawn="1"/>
        </p:nvSpPr>
        <p:spPr bwMode="auto">
          <a:xfrm>
            <a:off x="457200" y="1066800"/>
            <a:ext cx="22860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1pPr>
            <a:lvl2pPr marL="37931725" indent="-37474525"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2pPr>
            <a:lvl3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3pPr>
            <a:lvl4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4pPr>
            <a:lvl5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9pPr>
          </a:lstStyle>
          <a:p>
            <a:pPr eaLnBrk="1" hangingPunct="1"/>
            <a:endParaRPr lang="en-US" sz="1800" b="0">
              <a:latin typeface="Arial" charset="0"/>
            </a:endParaRPr>
          </a:p>
        </p:txBody>
      </p:sp>
      <p:sp>
        <p:nvSpPr>
          <p:cNvPr id="1032" name="Text Box 8"/>
          <p:cNvSpPr txBox="1">
            <a:spLocks noChangeArrowheads="1"/>
          </p:cNvSpPr>
          <p:nvPr userDrawn="1"/>
        </p:nvSpPr>
        <p:spPr bwMode="auto">
          <a:xfrm>
            <a:off x="457200" y="1143000"/>
            <a:ext cx="2590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1pPr>
            <a:lvl2pPr marL="37931725" indent="-37474525"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2pPr>
            <a:lvl3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3pPr>
            <a:lvl4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4pPr>
            <a:lvl5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sz="1800" b="0">
              <a:latin typeface="Arial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ＭＳ Ｐゴシック" charset="-128"/>
          <a:cs typeface="ＭＳ Ｐゴシック" charset="-128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5pPr>
      <a:lvl6pPr marL="4572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6pPr>
      <a:lvl7pPr marL="9144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7pPr>
      <a:lvl8pPr marL="13716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8pPr>
      <a:lvl9pPr marL="18288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Wingdings" charset="2"/>
        <a:buChar char="§"/>
        <a:defRPr sz="2800">
          <a:solidFill>
            <a:schemeClr val="tx1"/>
          </a:solidFill>
          <a:latin typeface="+mn-lt"/>
          <a:ea typeface="ＭＳ Ｐゴシック" charset="-128"/>
          <a:cs typeface="ＭＳ Ｐゴシック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Wingdings" charset="2"/>
        <a:buChar char="§"/>
        <a:defRPr sz="2400">
          <a:solidFill>
            <a:schemeClr val="tx1"/>
          </a:solidFill>
          <a:latin typeface="+mn-lt"/>
          <a:ea typeface="ＭＳ Ｐゴシック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Wingdings" charset="2"/>
        <a:buChar char="§"/>
        <a:defRPr sz="2000">
          <a:solidFill>
            <a:schemeClr val="tx1"/>
          </a:solidFill>
          <a:latin typeface="+mn-lt"/>
          <a:ea typeface="ＭＳ Ｐゴシック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3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C8F0FE-7837-01D2-369F-5794165EAF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19AA2B-052C-6318-E1AC-C94A6DBE96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762000"/>
            <a:ext cx="8763000" cy="5410200"/>
          </a:xfrm>
        </p:spPr>
        <p:txBody>
          <a:bodyPr/>
          <a:lstStyle/>
          <a:p>
            <a:pPr lvl="0"/>
            <a:r>
              <a:rPr lang="en-US" sz="2000" dirty="0"/>
              <a:t>Assume that in any decimal number the leftmost digit cannot be 0. How many 6-digit numbers exist such that </a:t>
            </a:r>
            <a:r>
              <a:rPr lang="en-US" sz="2000" dirty="0">
                <a:solidFill>
                  <a:srgbClr val="FF0000"/>
                </a:solidFill>
              </a:rPr>
              <a:t>their digits from left to right</a:t>
            </a:r>
            <a:r>
              <a:rPr lang="en-US" sz="2000" dirty="0"/>
              <a:t> (i.e., no two digits are identical) </a:t>
            </a:r>
          </a:p>
          <a:p>
            <a:pPr lvl="0"/>
            <a:r>
              <a:rPr lang="en-US" sz="2000" b="1" dirty="0"/>
              <a:t>(a) </a:t>
            </a:r>
            <a:r>
              <a:rPr lang="en-US" sz="2000" dirty="0"/>
              <a:t>Are strictly decreasing (e.g., 864320). </a:t>
            </a:r>
            <a:r>
              <a:rPr lang="en-US" sz="2000" u="sng" dirty="0"/>
              <a:t>Hint</a:t>
            </a:r>
            <a:r>
              <a:rPr lang="en-US" sz="2000" dirty="0"/>
              <a:t>: Any six different digits give you a unique number with strictly decreasing digits. </a:t>
            </a:r>
          </a:p>
          <a:p>
            <a:pPr marL="400050" lvl="1" indent="0">
              <a:buNone/>
            </a:pPr>
            <a:r>
              <a:rPr lang="en-US" sz="2000" dirty="0">
                <a:solidFill>
                  <a:srgbClr val="0000FF"/>
                </a:solidFill>
              </a:rPr>
              <a:t>By choosing any 6 digits from {0, 1, 2, · · · , 9} we can form a unique 6 digit number that its digits are strictly decreasing from left to right. The answer is C(10,6)</a:t>
            </a:r>
            <a:r>
              <a:rPr lang="en-HK" sz="2000" dirty="0">
                <a:solidFill>
                  <a:srgbClr val="0000FF"/>
                </a:solidFill>
              </a:rPr>
              <a:t> </a:t>
            </a:r>
          </a:p>
          <a:p>
            <a:pPr lvl="0"/>
            <a:r>
              <a:rPr lang="en-US" sz="2000" b="1" dirty="0"/>
              <a:t>(b) </a:t>
            </a:r>
            <a:r>
              <a:rPr lang="en-US" sz="2000" dirty="0"/>
              <a:t>Are strictly increasing (e.g., 136789).  </a:t>
            </a:r>
          </a:p>
          <a:p>
            <a:pPr marL="400050" lvl="1" indent="0">
              <a:buNone/>
            </a:pPr>
            <a:r>
              <a:rPr lang="en-US" sz="2000" dirty="0">
                <a:solidFill>
                  <a:srgbClr val="0000FF"/>
                </a:solidFill>
              </a:rPr>
              <a:t>Similar to part (a), but we can not pick 0 because then it has to be the leftmost digit. So, the answer is C(9,6)</a:t>
            </a:r>
          </a:p>
          <a:p>
            <a:pPr marL="400050" lvl="1" indent="0">
              <a:buNone/>
            </a:pPr>
            <a:endParaRPr lang="en-US" sz="1800" dirty="0">
              <a:solidFill>
                <a:srgbClr val="0000FF"/>
              </a:solidFill>
            </a:endParaRPr>
          </a:p>
          <a:p>
            <a:pPr marL="400050" lvl="1" indent="0">
              <a:buNone/>
            </a:pPr>
            <a:r>
              <a:rPr lang="en-US" sz="1800" dirty="0"/>
              <a:t>  </a:t>
            </a:r>
            <a:br>
              <a:rPr lang="en-US" sz="1800" dirty="0"/>
            </a:br>
            <a:endParaRPr lang="en-US" sz="1800" b="1" dirty="0">
              <a:solidFill>
                <a:srgbClr val="0000FF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08C5E5-975C-7CCB-6AEF-3B3604E934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mtClean="0"/>
              <a:pPr/>
              <a:t>23</a:t>
            </a:r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41BC86DF-82EE-A401-4E5E-A61C0EA5DED4}"/>
              </a:ext>
            </a:extLst>
          </p:cNvPr>
          <p:cNvSpPr txBox="1">
            <a:spLocks/>
          </p:cNvSpPr>
          <p:nvPr/>
        </p:nvSpPr>
        <p:spPr bwMode="auto">
          <a:xfrm>
            <a:off x="304800" y="136525"/>
            <a:ext cx="8382000" cy="71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+mj-lt"/>
                <a:ea typeface="ＭＳ Ｐゴシック" charset="-128"/>
                <a:cs typeface="ＭＳ Ｐゴシック" charset="-128"/>
              </a:defRPr>
            </a:lvl1pPr>
            <a:lvl2pPr algn="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Lucida Sans" charset="0"/>
                <a:ea typeface="ＭＳ Ｐゴシック" charset="-128"/>
                <a:cs typeface="ＭＳ Ｐゴシック" charset="-128"/>
              </a:defRPr>
            </a:lvl2pPr>
            <a:lvl3pPr algn="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Lucida Sans" charset="0"/>
                <a:ea typeface="ＭＳ Ｐゴシック" charset="-128"/>
                <a:cs typeface="ＭＳ Ｐゴシック" charset="-128"/>
              </a:defRPr>
            </a:lvl3pPr>
            <a:lvl4pPr algn="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Lucida Sans" charset="0"/>
                <a:ea typeface="ＭＳ Ｐゴシック" charset="-128"/>
                <a:cs typeface="ＭＳ Ｐゴシック" charset="-128"/>
              </a:defRPr>
            </a:lvl4pPr>
            <a:lvl5pPr algn="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Lucida Sans" charset="0"/>
                <a:ea typeface="ＭＳ Ｐゴシック" charset="-128"/>
                <a:cs typeface="ＭＳ Ｐゴシック" charset="-128"/>
              </a:defRPr>
            </a:lvl5pPr>
            <a:lvl6pPr marL="457200" algn="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Lucida Sans" charset="0"/>
              </a:defRPr>
            </a:lvl6pPr>
            <a:lvl7pPr marL="914400" algn="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Lucida Sans" charset="0"/>
              </a:defRPr>
            </a:lvl7pPr>
            <a:lvl8pPr marL="1371600" algn="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Lucida Sans" charset="0"/>
              </a:defRPr>
            </a:lvl8pPr>
            <a:lvl9pPr marL="1828800" algn="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Lucida Sans" charset="0"/>
              </a:defRPr>
            </a:lvl9pPr>
          </a:lstStyle>
          <a:p>
            <a:r>
              <a:rPr lang="en-US" altLang="zh-CN" b="0" dirty="0">
                <a:solidFill>
                  <a:srgbClr val="0000FF"/>
                </a:solidFill>
              </a:rPr>
              <a:t>Exercise</a:t>
            </a:r>
            <a:r>
              <a:rPr lang="en-US" altLang="zh-CN" b="0" dirty="0">
                <a:solidFill>
                  <a:schemeClr val="tx1"/>
                </a:solidFill>
              </a:rPr>
              <a:t> on Decreasing Numbers</a:t>
            </a:r>
            <a:endParaRPr lang="en-HK" b="0" kern="0" dirty="0"/>
          </a:p>
        </p:txBody>
      </p:sp>
    </p:spTree>
    <p:extLst>
      <p:ext uri="{BB962C8B-B14F-4D97-AF65-F5344CB8AC3E}">
        <p14:creationId xmlns:p14="http://schemas.microsoft.com/office/powerpoint/2010/main" val="4746157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Lucida Sans"/>
        <a:ea typeface=""/>
        <a:cs typeface=""/>
      </a:majorFont>
      <a:minorFont>
        <a:latin typeface="Lucida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15719</TotalTime>
  <Words>6436</Words>
  <Application>Microsoft Macintosh PowerPoint</Application>
  <PresentationFormat>On-screen Show (4:3)</PresentationFormat>
  <Paragraphs>395</Paragraphs>
  <Slides>51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8" baseType="lpstr">
      <vt:lpstr>Arial</vt:lpstr>
      <vt:lpstr>Cambria</vt:lpstr>
      <vt:lpstr>Cambria Math</vt:lpstr>
      <vt:lpstr>Lucida Sans</vt:lpstr>
      <vt:lpstr>Symbol</vt:lpstr>
      <vt:lpstr>Wingdings</vt:lpstr>
      <vt:lpstr>Default Design</vt:lpstr>
      <vt:lpstr>Permutations and Combinations</vt:lpstr>
      <vt:lpstr>Permutations</vt:lpstr>
      <vt:lpstr>Example</vt:lpstr>
      <vt:lpstr>Permutation</vt:lpstr>
      <vt:lpstr>k-Permutation</vt:lpstr>
      <vt:lpstr>Number of k-Permutations</vt:lpstr>
      <vt:lpstr>Example</vt:lpstr>
      <vt:lpstr>Example</vt:lpstr>
      <vt:lpstr>Exercise on Strings</vt:lpstr>
      <vt:lpstr>Exercise on Seating Arrangement</vt:lpstr>
      <vt:lpstr>Exercise on Seating Arrangement</vt:lpstr>
      <vt:lpstr>Exercise on Parking Lots</vt:lpstr>
      <vt:lpstr>k-Combinations</vt:lpstr>
      <vt:lpstr>k-Combinations</vt:lpstr>
      <vt:lpstr>Number of k-Combinations</vt:lpstr>
      <vt:lpstr>Proof</vt:lpstr>
      <vt:lpstr>Example</vt:lpstr>
      <vt:lpstr>Corollary</vt:lpstr>
      <vt:lpstr>Exercise on Committee Selection</vt:lpstr>
      <vt:lpstr>Exercise on Group Selection</vt:lpstr>
      <vt:lpstr>Exercise on Ball Selection</vt:lpstr>
      <vt:lpstr>Exercise on Earring Selection</vt:lpstr>
      <vt:lpstr>PowerPoint Presentation</vt:lpstr>
      <vt:lpstr>Exercise on Seating Arrangements</vt:lpstr>
      <vt:lpstr>Poker Exercises 1</vt:lpstr>
      <vt:lpstr>Poker Exercises 2</vt:lpstr>
      <vt:lpstr>Poker Exercises 3</vt:lpstr>
      <vt:lpstr>Poker Exercises 4</vt:lpstr>
      <vt:lpstr>Combinatorial Proof and Bijection Principle</vt:lpstr>
      <vt:lpstr>Proof of C(n, k) = C(n, n-k) by Bijection Principle</vt:lpstr>
      <vt:lpstr>Example by Bijection Principle</vt:lpstr>
      <vt:lpstr>The Playoff Example (solved using tree diagrams in previous lecture)</vt:lpstr>
      <vt:lpstr>Exercise on Coin Flipping</vt:lpstr>
      <vt:lpstr>Permutations with Indistinguishable Objects</vt:lpstr>
      <vt:lpstr>Permutations with Indistinguishable Objects</vt:lpstr>
      <vt:lpstr>Proof of Theorem</vt:lpstr>
      <vt:lpstr>Distributing Objects into Boxes</vt:lpstr>
      <vt:lpstr>Distributing Objects into Boxes</vt:lpstr>
      <vt:lpstr>Distributing Objects into Boxes</vt:lpstr>
      <vt:lpstr>Combinations with Repetition</vt:lpstr>
      <vt:lpstr>Solution</vt:lpstr>
      <vt:lpstr>Comments on the Bill Example</vt:lpstr>
      <vt:lpstr>Combinations with Repetition (bars and stars)</vt:lpstr>
      <vt:lpstr>Combinations with Repetition - Cookies</vt:lpstr>
      <vt:lpstr>Example of Combinations with Repetition</vt:lpstr>
      <vt:lpstr>Exercise on Equation Solutions</vt:lpstr>
      <vt:lpstr>Exercise on Equation Solutions with minimum constraint</vt:lpstr>
      <vt:lpstr>Exercise on Equation Solutions with maximum constraint</vt:lpstr>
      <vt:lpstr>Summary</vt:lpstr>
      <vt:lpstr>Exercise on Paths 1</vt:lpstr>
      <vt:lpstr>Exercise on Paths 2 </vt:lpstr>
    </vt:vector>
  </TitlesOfParts>
  <Company>HKUST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taicl</dc:creator>
  <cp:lastModifiedBy>Lionel Parreaux</cp:lastModifiedBy>
  <cp:revision>964</cp:revision>
  <cp:lastPrinted>2026-09-29T02:33:58Z</cp:lastPrinted>
  <dcterms:created xsi:type="dcterms:W3CDTF">2012-01-21T22:53:48Z</dcterms:created>
  <dcterms:modified xsi:type="dcterms:W3CDTF">2026-09-30T01:31:42Z</dcterms:modified>
</cp:coreProperties>
</file>