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9" r:id="rId4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2" Type="http://schemas.openxmlformats.org/officeDocument/2006/relationships/slide" Target="slides/slide41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?>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066800"/>
                <a:ext cx="8915400" cy="4648200"/>
              </a:xfrm>
            </p:spPr>
            <p:txBody>
              <a:bodyPr/>
              <a:lstStyle/>
              <a:p>
                <a:r>
                  <a:rPr lang="en-US" sz="2000" dirty="0"/>
                  <a:t>Some possible ways of placing the five bills: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2000" dirty="0"/>
                  <a:t># of ways to select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</a:t>
                </a:r>
                <a:r>
                  <a:rPr lang="en-US" sz="2000" dirty="0"/>
                  <a:t> bills from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7</a:t>
                </a:r>
                <a:r>
                  <a:rPr lang="en-US" sz="2000" dirty="0"/>
                  <a:t> denominations</a:t>
                </a:r>
                <a:br>
                  <a:rPr lang="en-US" sz="2000" dirty="0"/>
                </a:br>
                <a:r>
                  <a:rPr lang="en-US" sz="2000" dirty="0"/>
                  <a:t>= # </a:t>
                </a:r>
                <a:r>
                  <a:rPr lang="en-US" sz="2000" dirty="0">
                    <a:solidFill>
                      <a:srgbClr val="FF0000"/>
                    </a:solidFill>
                  </a:rPr>
                  <a:t>permutations (</a:t>
                </a:r>
                <a:r>
                  <a:rPr lang="en-US" altLang="zh-CN" sz="2000" dirty="0"/>
                  <a:t>with indistinguishable objects</a:t>
                </a:r>
                <a:r>
                  <a:rPr lang="en-US" sz="2000" dirty="0">
                    <a:solidFill>
                      <a:srgbClr val="FF0000"/>
                    </a:solidFill>
                  </a:rPr>
                  <a:t>)</a:t>
                </a:r>
                <a:r>
                  <a:rPr lang="en-US" sz="2000" dirty="0"/>
                  <a:t> for </a:t>
                </a:r>
                <a:r>
                  <a:rPr lang="en-US" sz="2000" b="1" dirty="0">
                    <a:solidFill>
                      <a:srgbClr val="FF3300"/>
                    </a:solidFill>
                  </a:rPr>
                  <a:t>6</a:t>
                </a:r>
                <a:r>
                  <a:rPr lang="en-US" sz="2000" dirty="0"/>
                  <a:t> </a:t>
                </a:r>
                <a:r>
                  <a:rPr lang="en-US" sz="2000" b="1" u="sng" dirty="0">
                    <a:solidFill>
                      <a:srgbClr val="0000FF"/>
                    </a:solidFill>
                  </a:rPr>
                  <a:t>B</a:t>
                </a:r>
                <a:r>
                  <a:rPr lang="en-US" sz="2000" b="1" u="sng" dirty="0"/>
                  <a:t>ars</a:t>
                </a:r>
                <a:r>
                  <a:rPr lang="en-US" sz="2000" dirty="0"/>
                  <a:t> and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</a:t>
                </a:r>
                <a:r>
                  <a:rPr lang="en-US" sz="2000" dirty="0"/>
                  <a:t> </a:t>
                </a:r>
                <a:r>
                  <a:rPr lang="en-US" sz="2000" b="1" u="sng" dirty="0">
                    <a:solidFill>
                      <a:srgbClr val="FF3300"/>
                    </a:solidFill>
                  </a:rPr>
                  <a:t>S</a:t>
                </a:r>
                <a:r>
                  <a:rPr lang="en-US" sz="2000" b="1" u="sng" dirty="0"/>
                  <a:t>tars</a:t>
                </a:r>
                <a:r>
                  <a:rPr lang="en-US" sz="2000" dirty="0"/>
                  <a:t>.</a:t>
                </a:r>
                <a:r>
                  <a:rPr lang="en-US" altLang="zh-CN" sz="2000" dirty="0"/>
                  <a:t> </a:t>
                </a:r>
              </a:p>
              <a:p>
                <a:r>
                  <a:rPr lang="en-US" altLang="zh-CN" sz="2000" dirty="0"/>
                  <a:t>How many different strings of length </a:t>
                </a:r>
                <a:r>
                  <a:rPr lang="en-US" altLang="zh-CN" sz="2000" dirty="0">
                    <a:solidFill>
                      <a:srgbClr val="00B050"/>
                    </a:solidFill>
                  </a:rPr>
                  <a:t>11</a:t>
                </a:r>
                <a:r>
                  <a:rPr lang="en-US" altLang="zh-CN" sz="2000" dirty="0"/>
                  <a:t> can be made by reordering 6 </a:t>
                </a:r>
                <a:r>
                  <a:rPr lang="en-US" sz="2000" b="1" u="sng" dirty="0">
                    <a:solidFill>
                      <a:srgbClr val="0000FF"/>
                    </a:solidFill>
                  </a:rPr>
                  <a:t>B</a:t>
                </a:r>
                <a:r>
                  <a:rPr lang="en-US" sz="2000" dirty="0"/>
                  <a:t>s</a:t>
                </a:r>
                <a:r>
                  <a:rPr lang="en-US" sz="2000" b="1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CN" sz="2000" dirty="0"/>
                  <a:t>and 5 </a:t>
                </a:r>
                <a:r>
                  <a:rPr lang="en-US" sz="2000" b="1" u="sng" dirty="0">
                    <a:solidFill>
                      <a:srgbClr val="FF3300"/>
                    </a:solidFill>
                  </a:rPr>
                  <a:t>S</a:t>
                </a:r>
                <a:r>
                  <a:rPr lang="en-US" sz="2000" dirty="0"/>
                  <a:t>s</a:t>
                </a:r>
                <a:r>
                  <a:rPr lang="en-US" altLang="zh-CN" sz="2000" dirty="0"/>
                  <a:t>? How many bitstrings of length 11 contain 6 1s?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11,5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11!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5!6!</m:t>
                        </m:r>
                      </m:den>
                    </m:f>
                  </m:oMath>
                </a14:m>
                <a:br>
                  <a:rPr lang="en-US" sz="2000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066800"/>
                <a:ext cx="8915400" cy="4648200"/>
              </a:xfrm>
              <a:blipFill>
                <a:blip r:embed="rId2"/>
                <a:stretch>
                  <a:fillRect l="-569" t="-817" r="-1138" b="-1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41</a:t>
            </a:r>
            <a:endParaRPr lang="en-US"/>
          </a:p>
        </p:txBody>
      </p:sp>
      <p:pic>
        <p:nvPicPr>
          <p:cNvPr id="5" name="Picture 4" descr="051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1524000"/>
            <a:ext cx="3733800" cy="23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6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