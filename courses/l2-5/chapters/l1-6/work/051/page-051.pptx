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51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1" r:id="rId5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Relationship Id="rId52" Type="http://schemas.openxmlformats.org/officeDocument/2006/relationships/slide" Target="slides/slide5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1.xml.rels><?xml version='1.0' encoding='utf-8'?>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/Relationships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4FB29-67CC-1CD8-43CB-FD8D3B16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3090A-E098-2489-3599-75D236FD7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5257800" cy="1676400"/>
          </a:xfrm>
        </p:spPr>
        <p:txBody>
          <a:bodyPr/>
          <a:lstStyle/>
          <a:p>
            <a:pPr lvl="0"/>
            <a:r>
              <a:rPr lang="en-US" sz="1800" dirty="0"/>
              <a:t>Consider the following picture. You are only allowed to move ↗ (one to the right and up) and ↘ (one to the right and down) only. In how many ways you can get from A to B such that: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D2554-609A-1B49-6E82-0A88528B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51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04B784-0AA4-64D2-4167-701399AC0DE3}"/>
              </a:ext>
            </a:extLst>
          </p:cNvPr>
          <p:cNvSpPr txBox="1">
            <a:spLocks/>
          </p:cNvSpPr>
          <p:nvPr/>
        </p:nvSpPr>
        <p:spPr bwMode="auto">
          <a:xfrm>
            <a:off x="0" y="2588172"/>
            <a:ext cx="8991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sz="1800" dirty="0"/>
              <a:t>(</a:t>
            </a:r>
            <a:r>
              <a:rPr lang="en-US" sz="1800" dirty="0" err="1"/>
              <a:t>i</a:t>
            </a:r>
            <a:r>
              <a:rPr lang="en-US" sz="1800" dirty="0"/>
              <a:t>) </a:t>
            </a:r>
            <a:r>
              <a:rPr lang="en-US" sz="1800" b="0" dirty="0"/>
              <a:t>There are no restrictions. </a:t>
            </a:r>
            <a:r>
              <a:rPr lang="en-US" sz="1800" dirty="0"/>
              <a:t>Hint</a:t>
            </a:r>
            <a:r>
              <a:rPr lang="en-US" sz="1800" b="0" dirty="0"/>
              <a:t>: Note that in order to get from A to B you have to pass from some certain points like X.</a:t>
            </a:r>
            <a:r>
              <a:rPr lang="en-US" sz="1800" dirty="0"/>
              <a:t> </a:t>
            </a:r>
          </a:p>
          <a:p>
            <a:r>
              <a:rPr lang="en-US" sz="1800" b="0" dirty="0">
                <a:solidFill>
                  <a:srgbClr val="0000FF"/>
                </a:solidFill>
              </a:rPr>
              <a:t>The path has to pass from the middle point (e.g., X) of every other column. There are 4 such points (in red). The path between any two successive red points has only two options (top or bottom row). Total number of paths 2</a:t>
            </a:r>
            <a:r>
              <a:rPr lang="en-US" sz="1800" b="0" baseline="30000" dirty="0">
                <a:solidFill>
                  <a:srgbClr val="0000FF"/>
                </a:solidFill>
              </a:rPr>
              <a:t>3</a:t>
            </a:r>
            <a:r>
              <a:rPr lang="en-US" sz="1800" b="0" dirty="0">
                <a:solidFill>
                  <a:srgbClr val="0000FF"/>
                </a:solidFill>
              </a:rPr>
              <a:t>.</a:t>
            </a:r>
          </a:p>
          <a:p>
            <a:pPr marL="285750"/>
            <a:r>
              <a:rPr lang="en-US" sz="1800" dirty="0"/>
              <a:t>(ii) </a:t>
            </a:r>
            <a:r>
              <a:rPr lang="en-US" sz="1800" b="0" dirty="0"/>
              <a:t>You want to pass from C</a:t>
            </a:r>
            <a:r>
              <a:rPr lang="en-US" sz="1800" b="0"/>
              <a:t>. </a:t>
            </a:r>
            <a:endParaRPr lang="en-US" sz="1800" b="0" dirty="0"/>
          </a:p>
          <a:p>
            <a:pPr marL="285750"/>
            <a:r>
              <a:rPr lang="en-US" sz="1800" b="0" kern="0" dirty="0">
                <a:solidFill>
                  <a:srgbClr val="0000FF"/>
                </a:solidFill>
              </a:rPr>
              <a:t>2 (ways from A to C) x 2 (ways from C to B) = 4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82103C-CC2C-E7D7-D8AA-DC081D53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445" y="1118334"/>
            <a:ext cx="3105150" cy="113347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931BC92-E55B-1457-363E-D62A5E2E95AF}"/>
              </a:ext>
            </a:extLst>
          </p:cNvPr>
          <p:cNvSpPr/>
          <p:nvPr/>
        </p:nvSpPr>
        <p:spPr bwMode="auto">
          <a:xfrm>
            <a:off x="5943600" y="1447800"/>
            <a:ext cx="152400" cy="3048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HK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75223D-4AEF-9280-8B7D-9F7B8D3F8745}"/>
              </a:ext>
            </a:extLst>
          </p:cNvPr>
          <p:cNvSpPr/>
          <p:nvPr/>
        </p:nvSpPr>
        <p:spPr bwMode="auto">
          <a:xfrm>
            <a:off x="6574155" y="1460906"/>
            <a:ext cx="152400" cy="3048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HK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095F20-D0AE-47C6-D609-7743AD3B91E0}"/>
              </a:ext>
            </a:extLst>
          </p:cNvPr>
          <p:cNvSpPr/>
          <p:nvPr/>
        </p:nvSpPr>
        <p:spPr bwMode="auto">
          <a:xfrm>
            <a:off x="7204710" y="1460906"/>
            <a:ext cx="152400" cy="3048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HK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18745C-2B11-60AF-8F1A-A8DD52C8C447}"/>
              </a:ext>
            </a:extLst>
          </p:cNvPr>
          <p:cNvSpPr/>
          <p:nvPr/>
        </p:nvSpPr>
        <p:spPr bwMode="auto">
          <a:xfrm>
            <a:off x="7810566" y="1484586"/>
            <a:ext cx="152400" cy="3048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HK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EC5E773-A8FD-F55F-4EBB-41A41511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715962"/>
          </a:xfrm>
        </p:spPr>
        <p:txBody>
          <a:bodyPr/>
          <a:lstStyle/>
          <a:p>
            <a:r>
              <a:rPr lang="en-US" sz="3200" dirty="0">
                <a:solidFill>
                  <a:srgbClr val="0000FF"/>
                </a:solidFill>
              </a:rPr>
              <a:t>Exercise </a:t>
            </a:r>
            <a:r>
              <a:rPr lang="en-US" sz="3200" dirty="0"/>
              <a:t>on Paths 2 </a:t>
            </a:r>
          </a:p>
        </p:txBody>
      </p:sp>
    </p:spTree>
    <p:extLst>
      <p:ext uri="{BB962C8B-B14F-4D97-AF65-F5344CB8AC3E}">
        <p14:creationId xmlns:p14="http://schemas.microsoft.com/office/powerpoint/2010/main" val="6602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