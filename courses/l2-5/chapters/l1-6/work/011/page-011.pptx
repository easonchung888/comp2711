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firstSlideNum="11" saveSubsetFonts="1" autoCompressPictures="0">
  <p:sldMasterIdLst>
    <p:sldMasterId id="2147483648" r:id="rId1"/>
  </p:sldMasterIdLst>
  <p:notesMasterIdLst>
    <p:notesMasterId r:id="rId53"/>
  </p:notesMasterIdLst>
  <p:handoutMasterIdLst>
    <p:handoutMasterId r:id="rId54"/>
  </p:handoutMasterIdLst>
  <p:sldIdLst>
    <p:sldId id="387" r:id="rId12"/>
  </p:sldIdLst>
  <p:sldSz cx="9144000" cy="6858000" type="screen4x3"/>
  <p:notesSz cx="6884988" cy="10018713"/>
  <p:defaultTextStyle>
    <a:defPPr>
      <a:defRPr lang="en-US"/>
    </a:defPPr>
    <a:lvl1pPr algn="l" rtl="0" fontAlgn="base">
      <a:spcBef>
        <a:spcPct val="0"/>
      </a:spcBef>
      <a:spcAft>
        <a:spcPct val="0"/>
      </a:spcAft>
      <a:defRPr b="1" kern="1200">
        <a:solidFill>
          <a:schemeClr val="tx1"/>
        </a:solidFill>
        <a:latin typeface="Lucida Sans" charset="0"/>
        <a:ea typeface="ＭＳ Ｐゴシック" charset="-128"/>
        <a:cs typeface="+mn-cs"/>
      </a:defRPr>
    </a:lvl1pPr>
    <a:lvl2pPr marL="457200" algn="l" rtl="0" fontAlgn="base">
      <a:spcBef>
        <a:spcPct val="0"/>
      </a:spcBef>
      <a:spcAft>
        <a:spcPct val="0"/>
      </a:spcAft>
      <a:defRPr b="1" kern="1200">
        <a:solidFill>
          <a:schemeClr val="tx1"/>
        </a:solidFill>
        <a:latin typeface="Lucida Sans" charset="0"/>
        <a:ea typeface="ＭＳ Ｐゴシック" charset="-128"/>
        <a:cs typeface="+mn-cs"/>
      </a:defRPr>
    </a:lvl2pPr>
    <a:lvl3pPr marL="914400" algn="l" rtl="0" fontAlgn="base">
      <a:spcBef>
        <a:spcPct val="0"/>
      </a:spcBef>
      <a:spcAft>
        <a:spcPct val="0"/>
      </a:spcAft>
      <a:defRPr b="1" kern="1200">
        <a:solidFill>
          <a:schemeClr val="tx1"/>
        </a:solidFill>
        <a:latin typeface="Lucida Sans" charset="0"/>
        <a:ea typeface="ＭＳ Ｐゴシック" charset="-128"/>
        <a:cs typeface="+mn-cs"/>
      </a:defRPr>
    </a:lvl3pPr>
    <a:lvl4pPr marL="1371600" algn="l" rtl="0" fontAlgn="base">
      <a:spcBef>
        <a:spcPct val="0"/>
      </a:spcBef>
      <a:spcAft>
        <a:spcPct val="0"/>
      </a:spcAft>
      <a:defRPr b="1" kern="1200">
        <a:solidFill>
          <a:schemeClr val="tx1"/>
        </a:solidFill>
        <a:latin typeface="Lucida Sans" charset="0"/>
        <a:ea typeface="ＭＳ Ｐゴシック" charset="-128"/>
        <a:cs typeface="+mn-cs"/>
      </a:defRPr>
    </a:lvl4pPr>
    <a:lvl5pPr marL="1828800" algn="l" rtl="0" fontAlgn="base">
      <a:spcBef>
        <a:spcPct val="0"/>
      </a:spcBef>
      <a:spcAft>
        <a:spcPct val="0"/>
      </a:spcAft>
      <a:defRPr b="1" kern="1200">
        <a:solidFill>
          <a:schemeClr val="tx1"/>
        </a:solidFill>
        <a:latin typeface="Lucida Sans" charset="0"/>
        <a:ea typeface="ＭＳ Ｐゴシック" charset="-128"/>
        <a:cs typeface="+mn-cs"/>
      </a:defRPr>
    </a:lvl5pPr>
    <a:lvl6pPr marL="2286000" algn="l" defTabSz="914400" rtl="0" eaLnBrk="1" latinLnBrk="0" hangingPunct="1">
      <a:defRPr b="1" kern="1200">
        <a:solidFill>
          <a:schemeClr val="tx1"/>
        </a:solidFill>
        <a:latin typeface="Lucida Sans" charset="0"/>
        <a:ea typeface="ＭＳ Ｐゴシック" charset="-128"/>
        <a:cs typeface="+mn-cs"/>
      </a:defRPr>
    </a:lvl6pPr>
    <a:lvl7pPr marL="2743200" algn="l" defTabSz="914400" rtl="0" eaLnBrk="1" latinLnBrk="0" hangingPunct="1">
      <a:defRPr b="1" kern="1200">
        <a:solidFill>
          <a:schemeClr val="tx1"/>
        </a:solidFill>
        <a:latin typeface="Lucida Sans" charset="0"/>
        <a:ea typeface="ＭＳ Ｐゴシック" charset="-128"/>
        <a:cs typeface="+mn-cs"/>
      </a:defRPr>
    </a:lvl7pPr>
    <a:lvl8pPr marL="3200400" algn="l" defTabSz="914400" rtl="0" eaLnBrk="1" latinLnBrk="0" hangingPunct="1">
      <a:defRPr b="1" kern="1200">
        <a:solidFill>
          <a:schemeClr val="tx1"/>
        </a:solidFill>
        <a:latin typeface="Lucida Sans" charset="0"/>
        <a:ea typeface="ＭＳ Ｐゴシック" charset="-128"/>
        <a:cs typeface="+mn-cs"/>
      </a:defRPr>
    </a:lvl8pPr>
    <a:lvl9pPr marL="3657600" algn="l" defTabSz="914400" rtl="0" eaLnBrk="1" latinLnBrk="0" hangingPunct="1">
      <a:defRPr b="1" kern="1200">
        <a:solidFill>
          <a:schemeClr val="tx1"/>
        </a:solidFill>
        <a:latin typeface="Lucida Sans"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72" autoAdjust="0"/>
    <p:restoredTop sz="94279" autoAdjust="0"/>
  </p:normalViewPr>
  <p:slideViewPr>
    <p:cSldViewPr>
      <p:cViewPr varScale="1">
        <p:scale>
          <a:sx n="150" d="100"/>
          <a:sy n="150" d="100"/>
        </p:scale>
        <p:origin x="176" y="6168"/>
      </p:cViewPr>
      <p:guideLst>
        <p:guide orient="horz" pos="2160"/>
        <p:guide pos="2880"/>
      </p:guideLst>
    </p:cSldViewPr>
  </p:slideViewPr>
  <p:outlineViewPr>
    <p:cViewPr>
      <p:scale>
        <a:sx n="33" d="100"/>
        <a:sy n="33" d="100"/>
      </p:scale>
      <p:origin x="114" y="10680"/>
    </p:cViewPr>
  </p:outlineViewPr>
  <p:notesTextViewPr>
    <p:cViewPr>
      <p:scale>
        <a:sx n="3" d="2"/>
        <a:sy n="3" d="2"/>
      </p:scale>
      <p:origin x="0" y="0"/>
    </p:cViewPr>
  </p:notesTextViewPr>
  <p:sorterViewPr>
    <p:cViewPr>
      <p:scale>
        <a:sx n="100" d="100"/>
        <a:sy n="100" d="100"/>
      </p:scale>
      <p:origin x="0" y="2568"/>
    </p:cViewPr>
  </p:sorterViewPr>
  <p:gridSpacing cx="76200" cy="76200"/>
</p:viewPr>
</file>

<file path=ppt/_rels/presentation.xml.rels><?xml version='1.0' encoding='utf-8'?>
<Relationships xmlns="http://schemas.openxmlformats.org/package/2006/relationships"><Relationship Id="rId55" Type="http://schemas.openxmlformats.org/officeDocument/2006/relationships/presProps" Target="presProps.xml" /><Relationship Id="rId53" Type="http://schemas.openxmlformats.org/officeDocument/2006/relationships/notesMaster" Target="notesMasters/notesMaster1.xml" /><Relationship Id="rId58" Type="http://schemas.openxmlformats.org/officeDocument/2006/relationships/tableStyles" Target="tableStyles.xml" /><Relationship Id="rId56" Type="http://schemas.openxmlformats.org/officeDocument/2006/relationships/viewProps" Target="viewProps.xml" /><Relationship Id="rId12" Type="http://schemas.openxmlformats.org/officeDocument/2006/relationships/slide" Target="slides/slide11.xml" /><Relationship Id="rId54" Type="http://schemas.openxmlformats.org/officeDocument/2006/relationships/handoutMaster" Target="handoutMasters/handoutMaster1.xml" /><Relationship Id="rId1" Type="http://schemas.openxmlformats.org/officeDocument/2006/relationships/slideMaster" Target="slideMasters/slideMaster1.xml" /><Relationship Id="rId57" Type="http://schemas.openxmlformats.org/officeDocument/2006/relationships/theme" Target="theme/theme1.xml" /></Relationships>
</file>

<file path=ppt/handoutMasters/_rels/handoutMaster1.xml.rels><?xml version='1.0' encoding='utf-8'?>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84032" cy="500936"/>
          </a:xfrm>
          <a:prstGeom prst="rect">
            <a:avLst/>
          </a:prstGeom>
        </p:spPr>
        <p:txBody>
          <a:bodyPr vert="horz" lIns="91405" tIns="45702" rIns="91405" bIns="45702" rtlCol="0"/>
          <a:lstStyle>
            <a:lvl1pPr algn="l">
              <a:defRPr sz="1200"/>
            </a:lvl1pPr>
          </a:lstStyle>
          <a:p>
            <a:endParaRPr lang="en-US"/>
          </a:p>
        </p:txBody>
      </p:sp>
      <p:sp>
        <p:nvSpPr>
          <p:cNvPr id="3" name="Date Placeholder 2"/>
          <p:cNvSpPr>
            <a:spLocks noGrp="1"/>
          </p:cNvSpPr>
          <p:nvPr>
            <p:ph type="dt" sz="quarter" idx="1"/>
          </p:nvPr>
        </p:nvSpPr>
        <p:spPr>
          <a:xfrm>
            <a:off x="3899349" y="4"/>
            <a:ext cx="2984032" cy="500936"/>
          </a:xfrm>
          <a:prstGeom prst="rect">
            <a:avLst/>
          </a:prstGeom>
        </p:spPr>
        <p:txBody>
          <a:bodyPr vert="horz" lIns="91405" tIns="45702" rIns="91405" bIns="45702" rtlCol="0"/>
          <a:lstStyle>
            <a:lvl1pPr algn="r">
              <a:defRPr sz="1200"/>
            </a:lvl1pPr>
          </a:lstStyle>
          <a:p>
            <a:fld id="{50BE4F2C-0EE3-4CC6-9A7F-FCEE2CED77EB}" type="datetimeFigureOut">
              <a:rPr lang="en-US" smtClean="0"/>
              <a:pPr/>
              <a:t>9/30/26</a:t>
            </a:fld>
            <a:endParaRPr lang="en-US"/>
          </a:p>
        </p:txBody>
      </p:sp>
      <p:sp>
        <p:nvSpPr>
          <p:cNvPr id="4" name="Footer Placeholder 3"/>
          <p:cNvSpPr>
            <a:spLocks noGrp="1"/>
          </p:cNvSpPr>
          <p:nvPr>
            <p:ph type="ftr" sz="quarter" idx="2"/>
          </p:nvPr>
        </p:nvSpPr>
        <p:spPr>
          <a:xfrm>
            <a:off x="1" y="9516175"/>
            <a:ext cx="2984032" cy="500936"/>
          </a:xfrm>
          <a:prstGeom prst="rect">
            <a:avLst/>
          </a:prstGeom>
        </p:spPr>
        <p:txBody>
          <a:bodyPr vert="horz" lIns="91405" tIns="45702" rIns="91405" bIns="45702" rtlCol="0" anchor="b"/>
          <a:lstStyle>
            <a:lvl1pPr algn="l">
              <a:defRPr sz="1200"/>
            </a:lvl1pPr>
          </a:lstStyle>
          <a:p>
            <a:endParaRPr lang="en-US"/>
          </a:p>
        </p:txBody>
      </p:sp>
      <p:sp>
        <p:nvSpPr>
          <p:cNvPr id="5" name="Slide Number Placeholder 4"/>
          <p:cNvSpPr>
            <a:spLocks noGrp="1"/>
          </p:cNvSpPr>
          <p:nvPr>
            <p:ph type="sldNum" sz="quarter" idx="3"/>
          </p:nvPr>
        </p:nvSpPr>
        <p:spPr>
          <a:xfrm>
            <a:off x="3899349" y="9516175"/>
            <a:ext cx="2984032" cy="500936"/>
          </a:xfrm>
          <a:prstGeom prst="rect">
            <a:avLst/>
          </a:prstGeom>
        </p:spPr>
        <p:txBody>
          <a:bodyPr vert="horz" lIns="91405" tIns="45702" rIns="91405" bIns="45702" rtlCol="0" anchor="b"/>
          <a:lstStyle>
            <a:lvl1pPr algn="r">
              <a:defRPr sz="1200"/>
            </a:lvl1pPr>
          </a:lstStyle>
          <a:p>
            <a:fld id="{A2AB639E-B2BE-4F41-B992-699629CBE31A}" type="slidenum">
              <a:rPr lang="en-US" smtClean="0"/>
              <a:pPr/>
              <a:t>‹#›</a:t>
            </a:fld>
            <a:endParaRPr lang="en-US"/>
          </a:p>
        </p:txBody>
      </p:sp>
    </p:spTree>
    <p:extLst>
      <p:ext uri="{BB962C8B-B14F-4D97-AF65-F5344CB8AC3E}">
        <p14:creationId xmlns:p14="http://schemas.microsoft.com/office/powerpoint/2010/main" val="1442453516"/>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2" y="4"/>
            <a:ext cx="2983495" cy="500936"/>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lvl1pPr>
              <a:defRPr sz="1200" b="0">
                <a:latin typeface="Arial" charset="0"/>
              </a:defRPr>
            </a:lvl1pPr>
          </a:lstStyle>
          <a:p>
            <a:endParaRPr lang="en-US"/>
          </a:p>
        </p:txBody>
      </p:sp>
      <p:sp>
        <p:nvSpPr>
          <p:cNvPr id="3075" name="Rectangle 3"/>
          <p:cNvSpPr>
            <a:spLocks noGrp="1" noChangeArrowheads="1"/>
          </p:cNvSpPr>
          <p:nvPr>
            <p:ph type="dt" idx="1"/>
          </p:nvPr>
        </p:nvSpPr>
        <p:spPr bwMode="auto">
          <a:xfrm>
            <a:off x="3899901" y="4"/>
            <a:ext cx="2983495" cy="500936"/>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lvl1pPr algn="r">
              <a:defRPr sz="1200" b="0">
                <a:latin typeface="Arial" charset="0"/>
              </a:defRPr>
            </a:lvl1pPr>
          </a:lstStyle>
          <a:p>
            <a:endParaRPr lang="en-US"/>
          </a:p>
        </p:txBody>
      </p:sp>
      <p:sp>
        <p:nvSpPr>
          <p:cNvPr id="13316" name="Rectangle 4"/>
          <p:cNvSpPr>
            <a:spLocks noGrp="1" noRot="1" noChangeAspect="1" noChangeArrowheads="1" noTextEdit="1"/>
          </p:cNvSpPr>
          <p:nvPr>
            <p:ph type="sldImg" idx="2"/>
          </p:nvPr>
        </p:nvSpPr>
        <p:spPr bwMode="auto">
          <a:xfrm>
            <a:off x="938213" y="752475"/>
            <a:ext cx="5008562" cy="37576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8499" y="4758891"/>
            <a:ext cx="5507990" cy="4508421"/>
          </a:xfrm>
          <a:prstGeom prst="rect">
            <a:avLst/>
          </a:prstGeom>
          <a:noFill/>
          <a:ln w="9525">
            <a:noFill/>
            <a:miter lim="800000"/>
            <a:headEnd/>
            <a:tailEnd/>
          </a:ln>
          <a:effectLst/>
        </p:spPr>
        <p:txBody>
          <a:bodyPr vert="horz" wrap="square" lIns="91405" tIns="45702" rIns="91405" bIns="457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2" y="9516041"/>
            <a:ext cx="2983495" cy="500936"/>
          </a:xfrm>
          <a:prstGeom prst="rect">
            <a:avLst/>
          </a:prstGeom>
          <a:noFill/>
          <a:ln w="9525">
            <a:noFill/>
            <a:miter lim="800000"/>
            <a:headEnd/>
            <a:tailEnd/>
          </a:ln>
          <a:effectLst/>
        </p:spPr>
        <p:txBody>
          <a:bodyPr vert="horz" wrap="square" lIns="91405" tIns="45702" rIns="91405" bIns="45702" numCol="1" anchor="b" anchorCtr="0" compatLnSpc="1">
            <a:prstTxWarp prst="textNoShape">
              <a:avLst/>
            </a:prstTxWarp>
          </a:bodyPr>
          <a:lstStyle>
            <a:lvl1pPr>
              <a:defRPr sz="1200" b="0">
                <a:latin typeface="Arial" charset="0"/>
              </a:defRPr>
            </a:lvl1pPr>
          </a:lstStyle>
          <a:p>
            <a:endParaRPr lang="en-US"/>
          </a:p>
        </p:txBody>
      </p:sp>
      <p:sp>
        <p:nvSpPr>
          <p:cNvPr id="3079" name="Rectangle 7"/>
          <p:cNvSpPr>
            <a:spLocks noGrp="1" noChangeArrowheads="1"/>
          </p:cNvSpPr>
          <p:nvPr>
            <p:ph type="sldNum" sz="quarter" idx="5"/>
          </p:nvPr>
        </p:nvSpPr>
        <p:spPr bwMode="auto">
          <a:xfrm>
            <a:off x="3899901" y="9516041"/>
            <a:ext cx="2983495" cy="500936"/>
          </a:xfrm>
          <a:prstGeom prst="rect">
            <a:avLst/>
          </a:prstGeom>
          <a:noFill/>
          <a:ln w="9525">
            <a:noFill/>
            <a:miter lim="800000"/>
            <a:headEnd/>
            <a:tailEnd/>
          </a:ln>
          <a:effectLst/>
        </p:spPr>
        <p:txBody>
          <a:bodyPr vert="horz" wrap="square" lIns="91405" tIns="45702" rIns="91405" bIns="45702" numCol="1" anchor="b" anchorCtr="0" compatLnSpc="1">
            <a:prstTxWarp prst="textNoShape">
              <a:avLst/>
            </a:prstTxWarp>
          </a:bodyPr>
          <a:lstStyle>
            <a:lvl1pPr algn="r">
              <a:defRPr sz="1200" b="0">
                <a:latin typeface="Arial" charset="0"/>
              </a:defRPr>
            </a:lvl1pPr>
          </a:lstStyle>
          <a:p>
            <a:fld id="{878340DC-DDD3-4383-9614-668A8EE0901D}" type="slidenum">
              <a:rPr lang="en-US"/>
              <a:pPr/>
              <a:t>‹#›</a:t>
            </a:fld>
            <a:endParaRPr lang="en-US"/>
          </a:p>
        </p:txBody>
      </p:sp>
    </p:spTree>
    <p:extLst>
      <p:ext uri="{BB962C8B-B14F-4D97-AF65-F5344CB8AC3E}">
        <p14:creationId xmlns:p14="http://schemas.microsoft.com/office/powerpoint/2010/main" val="2726363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ED48EA5-2AB8-469C-9C8D-DDC17F3887B3}" type="slidenum">
              <a:rPr lang="en-US"/>
              <a:pPr/>
              <a:t>‹#›</a:t>
            </a:fld>
            <a:endParaRPr lang="en-US"/>
          </a:p>
        </p:txBody>
      </p:sp>
    </p:spTree>
    <p:extLst>
      <p:ext uri="{BB962C8B-B14F-4D97-AF65-F5344CB8AC3E}">
        <p14:creationId xmlns:p14="http://schemas.microsoft.com/office/powerpoint/2010/main" val="293596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5EC735E3-5B29-4F54-8FB9-022B0DB6C884}" type="slidenum">
              <a:rPr lang="en-US"/>
              <a:pPr/>
              <a:t>‹#›</a:t>
            </a:fld>
            <a:endParaRPr lang="en-US"/>
          </a:p>
        </p:txBody>
      </p:sp>
    </p:spTree>
    <p:extLst>
      <p:ext uri="{BB962C8B-B14F-4D97-AF65-F5344CB8AC3E}">
        <p14:creationId xmlns:p14="http://schemas.microsoft.com/office/powerpoint/2010/main" val="141409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8E5E6A3E-4888-4C12-8315-4FD2172AB79D}" type="slidenum">
              <a:rPr lang="en-US"/>
              <a:pPr/>
              <a:t>‹#›</a:t>
            </a:fld>
            <a:endParaRPr lang="en-US"/>
          </a:p>
        </p:txBody>
      </p:sp>
    </p:spTree>
    <p:extLst>
      <p:ext uri="{BB962C8B-B14F-4D97-AF65-F5344CB8AC3E}">
        <p14:creationId xmlns:p14="http://schemas.microsoft.com/office/powerpoint/2010/main" val="2820275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EF4F64A1-F48A-4587-8460-697BC25700CB}" type="slidenum">
              <a:rPr lang="en-US"/>
              <a:pPr/>
              <a:t>‹#›</a:t>
            </a:fld>
            <a:endParaRPr lang="en-US"/>
          </a:p>
        </p:txBody>
      </p:sp>
    </p:spTree>
    <p:extLst>
      <p:ext uri="{BB962C8B-B14F-4D97-AF65-F5344CB8AC3E}">
        <p14:creationId xmlns:p14="http://schemas.microsoft.com/office/powerpoint/2010/main" val="169736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A14D11BB-E399-4356-A7BA-ED113D687B1C}" type="slidenum">
              <a:rPr lang="en-US"/>
              <a:pPr/>
              <a:t>‹#›</a:t>
            </a:fld>
            <a:endParaRPr lang="en-US"/>
          </a:p>
        </p:txBody>
      </p:sp>
    </p:spTree>
    <p:extLst>
      <p:ext uri="{BB962C8B-B14F-4D97-AF65-F5344CB8AC3E}">
        <p14:creationId xmlns:p14="http://schemas.microsoft.com/office/powerpoint/2010/main" val="122527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7BE0ABEF-E41E-4666-84C4-413527B4A9B4}" type="slidenum">
              <a:rPr lang="en-US"/>
              <a:pPr/>
              <a:t>‹#›</a:t>
            </a:fld>
            <a:endParaRPr lang="en-US"/>
          </a:p>
        </p:txBody>
      </p:sp>
    </p:spTree>
    <p:extLst>
      <p:ext uri="{BB962C8B-B14F-4D97-AF65-F5344CB8AC3E}">
        <p14:creationId xmlns:p14="http://schemas.microsoft.com/office/powerpoint/2010/main" val="59620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309926DB-4DC2-4E3A-B2C0-BB9A6A9391A5}" type="slidenum">
              <a:rPr lang="en-US"/>
              <a:pPr/>
              <a:t>‹#›</a:t>
            </a:fld>
            <a:endParaRPr lang="en-US"/>
          </a:p>
        </p:txBody>
      </p:sp>
    </p:spTree>
    <p:extLst>
      <p:ext uri="{BB962C8B-B14F-4D97-AF65-F5344CB8AC3E}">
        <p14:creationId xmlns:p14="http://schemas.microsoft.com/office/powerpoint/2010/main" val="404395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B1B4454-C8A7-4B1B-8E65-E82A92619F92}" type="slidenum">
              <a:rPr lang="en-US"/>
              <a:pPr/>
              <a:t>‹#›</a:t>
            </a:fld>
            <a:endParaRPr lang="en-US"/>
          </a:p>
        </p:txBody>
      </p:sp>
    </p:spTree>
    <p:extLst>
      <p:ext uri="{BB962C8B-B14F-4D97-AF65-F5344CB8AC3E}">
        <p14:creationId xmlns:p14="http://schemas.microsoft.com/office/powerpoint/2010/main" val="43595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0DDABB2-A7EC-4A6A-8A4D-8C9E34B87ECB}" type="slidenum">
              <a:rPr lang="en-US"/>
              <a:pPr/>
              <a:t>‹#›</a:t>
            </a:fld>
            <a:endParaRPr lang="en-US"/>
          </a:p>
        </p:txBody>
      </p:sp>
    </p:spTree>
    <p:extLst>
      <p:ext uri="{BB962C8B-B14F-4D97-AF65-F5344CB8AC3E}">
        <p14:creationId xmlns:p14="http://schemas.microsoft.com/office/powerpoint/2010/main" val="943476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04971A2-E15B-40AD-8D3B-C3853A18A93B}" type="slidenum">
              <a:rPr lang="en-US"/>
              <a:pPr/>
              <a:t>‹#›</a:t>
            </a:fld>
            <a:endParaRPr lang="en-US"/>
          </a:p>
        </p:txBody>
      </p:sp>
    </p:spTree>
    <p:extLst>
      <p:ext uri="{BB962C8B-B14F-4D97-AF65-F5344CB8AC3E}">
        <p14:creationId xmlns:p14="http://schemas.microsoft.com/office/powerpoint/2010/main" val="236084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973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E132645C-7078-496B-800F-5B55B382AAB3}" type="slidenum">
              <a:rPr lang="en-US"/>
              <a:pPr/>
              <a:t>‹#›</a:t>
            </a:fld>
            <a:endParaRPr lang="en-US"/>
          </a:p>
        </p:txBody>
      </p:sp>
    </p:spTree>
    <p:extLst>
      <p:ext uri="{BB962C8B-B14F-4D97-AF65-F5344CB8AC3E}">
        <p14:creationId xmlns:p14="http://schemas.microsoft.com/office/powerpoint/2010/main" val="1823425351"/>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3820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28600" y="1600200"/>
            <a:ext cx="868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defRPr>
            </a:lvl1pPr>
          </a:lstStyle>
          <a:p>
            <a:endParaRPr lang="en-US"/>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defRPr>
            </a:lvl1pPr>
          </a:lstStyle>
          <a:p>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Arial" charset="0"/>
              </a:defRPr>
            </a:lvl1pPr>
          </a:lstStyle>
          <a:p>
            <a:fld id="{6724A02C-A69E-4EC1-BA44-1213A0435DCD}" type="slidenum">
              <a:rPr lang="en-US"/>
              <a:pPr/>
              <a:t>‹#›</a:t>
            </a:fld>
            <a:endParaRPr lang="en-US"/>
          </a:p>
        </p:txBody>
      </p:sp>
      <p:sp>
        <p:nvSpPr>
          <p:cNvPr id="1031" name="Text Box 7"/>
          <p:cNvSpPr txBox="1">
            <a:spLocks noChangeArrowheads="1"/>
          </p:cNvSpPr>
          <p:nvPr userDrawn="1"/>
        </p:nvSpPr>
        <p:spPr bwMode="auto">
          <a:xfrm>
            <a:off x="457200" y="1066800"/>
            <a:ext cx="22860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endParaRPr lang="en-US" sz="1800" b="0">
              <a:latin typeface="Arial" charset="0"/>
            </a:endParaRPr>
          </a:p>
        </p:txBody>
      </p:sp>
      <p:sp>
        <p:nvSpPr>
          <p:cNvPr id="1032" name="Text Box 8"/>
          <p:cNvSpPr txBox="1">
            <a:spLocks noChangeArrowheads="1"/>
          </p:cNvSpPr>
          <p:nvPr userDrawn="1"/>
        </p:nvSpPr>
        <p:spPr bwMode="auto">
          <a:xfrm>
            <a:off x="457200" y="1143000"/>
            <a:ext cx="2590800" cy="366713"/>
          </a:xfrm>
          <a:prstGeom prst="rect">
            <a:avLst/>
          </a:prstGeom>
          <a:noFill/>
          <a:ln w="9525">
            <a:noFill/>
            <a:miter lim="800000"/>
            <a:headEnd/>
            <a:tailEnd/>
          </a:ln>
          <a:effectLst/>
        </p:spPr>
        <p:txBody>
          <a:bodyPr>
            <a:spAutoFit/>
          </a:bodyPr>
          <a:lstStyle>
            <a:lvl1pPr eaLnBrk="0" hangingPunct="0">
              <a:defRPr sz="2400" b="1">
                <a:solidFill>
                  <a:schemeClr val="tx1"/>
                </a:solidFill>
                <a:latin typeface="Lucida Sans" charset="0"/>
                <a:ea typeface="ＭＳ Ｐゴシック" charset="-128"/>
              </a:defRPr>
            </a:lvl1pPr>
            <a:lvl2pPr marL="37931725" indent="-37474525" eaLnBrk="0" hangingPunct="0">
              <a:defRPr sz="2400" b="1">
                <a:solidFill>
                  <a:schemeClr val="tx1"/>
                </a:solidFill>
                <a:latin typeface="Lucida Sans" charset="0"/>
                <a:ea typeface="ＭＳ Ｐゴシック" charset="-128"/>
              </a:defRPr>
            </a:lvl2pPr>
            <a:lvl3pPr eaLnBrk="0" hangingPunct="0">
              <a:defRPr sz="2400" b="1">
                <a:solidFill>
                  <a:schemeClr val="tx1"/>
                </a:solidFill>
                <a:latin typeface="Lucida Sans" charset="0"/>
                <a:ea typeface="ＭＳ Ｐゴシック" charset="-128"/>
              </a:defRPr>
            </a:lvl3pPr>
            <a:lvl4pPr eaLnBrk="0" hangingPunct="0">
              <a:defRPr sz="2400" b="1">
                <a:solidFill>
                  <a:schemeClr val="tx1"/>
                </a:solidFill>
                <a:latin typeface="Lucida Sans" charset="0"/>
                <a:ea typeface="ＭＳ Ｐゴシック" charset="-128"/>
              </a:defRPr>
            </a:lvl4pPr>
            <a:lvl5pPr eaLnBrk="0" hangingPunct="0">
              <a:defRPr sz="2400" b="1">
                <a:solidFill>
                  <a:schemeClr val="tx1"/>
                </a:solidFill>
                <a:latin typeface="Lucida Sans" charset="0"/>
                <a:ea typeface="ＭＳ Ｐゴシック" charset="-128"/>
              </a:defRPr>
            </a:lvl5pPr>
            <a:lvl6pPr marL="457200" eaLnBrk="0" fontAlgn="base" hangingPunct="0">
              <a:spcBef>
                <a:spcPct val="0"/>
              </a:spcBef>
              <a:spcAft>
                <a:spcPct val="0"/>
              </a:spcAft>
              <a:defRPr sz="2400" b="1">
                <a:solidFill>
                  <a:schemeClr val="tx1"/>
                </a:solidFill>
                <a:latin typeface="Lucida Sans" charset="0"/>
                <a:ea typeface="ＭＳ Ｐゴシック" charset="-128"/>
              </a:defRPr>
            </a:lvl6pPr>
            <a:lvl7pPr marL="914400" eaLnBrk="0" fontAlgn="base" hangingPunct="0">
              <a:spcBef>
                <a:spcPct val="0"/>
              </a:spcBef>
              <a:spcAft>
                <a:spcPct val="0"/>
              </a:spcAft>
              <a:defRPr sz="2400" b="1">
                <a:solidFill>
                  <a:schemeClr val="tx1"/>
                </a:solidFill>
                <a:latin typeface="Lucida Sans" charset="0"/>
                <a:ea typeface="ＭＳ Ｐゴシック" charset="-128"/>
              </a:defRPr>
            </a:lvl7pPr>
            <a:lvl8pPr marL="1371600" eaLnBrk="0" fontAlgn="base" hangingPunct="0">
              <a:spcBef>
                <a:spcPct val="0"/>
              </a:spcBef>
              <a:spcAft>
                <a:spcPct val="0"/>
              </a:spcAft>
              <a:defRPr sz="2400" b="1">
                <a:solidFill>
                  <a:schemeClr val="tx1"/>
                </a:solidFill>
                <a:latin typeface="Lucida Sans" charset="0"/>
                <a:ea typeface="ＭＳ Ｐゴシック" charset="-128"/>
              </a:defRPr>
            </a:lvl8pPr>
            <a:lvl9pPr marL="1828800" eaLnBrk="0" fontAlgn="base" hangingPunct="0">
              <a:spcBef>
                <a:spcPct val="0"/>
              </a:spcBef>
              <a:spcAft>
                <a:spcPct val="0"/>
              </a:spcAft>
              <a:defRPr sz="2400" b="1">
                <a:solidFill>
                  <a:schemeClr val="tx1"/>
                </a:solidFill>
                <a:latin typeface="Lucida Sans" charset="0"/>
                <a:ea typeface="ＭＳ Ｐゴシック" charset="-128"/>
              </a:defRPr>
            </a:lvl9pPr>
          </a:lstStyle>
          <a:p>
            <a:pPr eaLnBrk="1" hangingPunct="1">
              <a:spcBef>
                <a:spcPct val="50000"/>
              </a:spcBef>
            </a:pPr>
            <a:endParaRPr lang="en-US" sz="1800" b="0">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2pPr>
      <a:lvl3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3pPr>
      <a:lvl4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4pPr>
      <a:lvl5pPr algn="r" rtl="0" eaLnBrk="0" fontAlgn="base" hangingPunct="0">
        <a:spcBef>
          <a:spcPct val="0"/>
        </a:spcBef>
        <a:spcAft>
          <a:spcPct val="0"/>
        </a:spcAft>
        <a:defRPr sz="3600">
          <a:solidFill>
            <a:schemeClr val="tx2"/>
          </a:solidFill>
          <a:latin typeface="Lucida Sans" charset="0"/>
          <a:ea typeface="ＭＳ Ｐゴシック" charset="-128"/>
          <a:cs typeface="ＭＳ Ｐゴシック" charset="-128"/>
        </a:defRPr>
      </a:lvl5pPr>
      <a:lvl6pPr marL="457200" algn="r" rtl="0" fontAlgn="base">
        <a:spcBef>
          <a:spcPct val="0"/>
        </a:spcBef>
        <a:spcAft>
          <a:spcPct val="0"/>
        </a:spcAft>
        <a:defRPr sz="3600">
          <a:solidFill>
            <a:schemeClr val="tx2"/>
          </a:solidFill>
          <a:latin typeface="Lucida Sans" charset="0"/>
        </a:defRPr>
      </a:lvl6pPr>
      <a:lvl7pPr marL="914400" algn="r" rtl="0" fontAlgn="base">
        <a:spcBef>
          <a:spcPct val="0"/>
        </a:spcBef>
        <a:spcAft>
          <a:spcPct val="0"/>
        </a:spcAft>
        <a:defRPr sz="3600">
          <a:solidFill>
            <a:schemeClr val="tx2"/>
          </a:solidFill>
          <a:latin typeface="Lucida Sans" charset="0"/>
        </a:defRPr>
      </a:lvl7pPr>
      <a:lvl8pPr marL="1371600" algn="r" rtl="0" fontAlgn="base">
        <a:spcBef>
          <a:spcPct val="0"/>
        </a:spcBef>
        <a:spcAft>
          <a:spcPct val="0"/>
        </a:spcAft>
        <a:defRPr sz="3600">
          <a:solidFill>
            <a:schemeClr val="tx2"/>
          </a:solidFill>
          <a:latin typeface="Lucida Sans" charset="0"/>
        </a:defRPr>
      </a:lvl8pPr>
      <a:lvl9pPr marL="1828800" algn="r" rtl="0" fontAlgn="base">
        <a:spcBef>
          <a:spcPct val="0"/>
        </a:spcBef>
        <a:spcAft>
          <a:spcPct val="0"/>
        </a:spcAft>
        <a:defRPr sz="3600">
          <a:solidFill>
            <a:schemeClr val="tx2"/>
          </a:solidFill>
          <a:latin typeface="Lucida Sans" charset="0"/>
        </a:defRPr>
      </a:lvl9pPr>
    </p:titleStyle>
    <p:bodyStyle>
      <a:lvl1pPr marL="342900" indent="-342900" algn="l" rtl="0" eaLnBrk="0" fontAlgn="base" hangingPunct="0">
        <a:spcBef>
          <a:spcPct val="20000"/>
        </a:spcBef>
        <a:spcAft>
          <a:spcPct val="0"/>
        </a:spcAft>
        <a:buFont typeface="Wingdings"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Wingdings" charset="2"/>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Font typeface="Wingdings" charset="2"/>
        <a:buChar char="§"/>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solidFill>
                  <a:srgbClr val="0000FF"/>
                </a:solidFill>
              </a:rPr>
              <a:t>Exercise</a:t>
            </a:r>
            <a:r>
              <a:rPr lang="en-US" altLang="zh-CN" dirty="0">
                <a:solidFill>
                  <a:schemeClr val="tx1"/>
                </a:solidFill>
              </a:rPr>
              <a:t> on Seating Arrangement</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14400"/>
                <a:ext cx="8763000" cy="5334000"/>
              </a:xfrm>
            </p:spPr>
            <p:txBody>
              <a:bodyPr/>
              <a:lstStyle/>
              <a:p>
                <a:r>
                  <a:rPr lang="en-US" altLang="zh-CN" sz="2000" i="1" dirty="0"/>
                  <a:t>n</a:t>
                </a:r>
                <a:r>
                  <a:rPr lang="en-US" altLang="zh-CN" sz="2000" dirty="0"/>
                  <a:t> people sit down at a round table. We consider two seating arrangements equivalent if each person has the same person to the right in both seating charts. How many different seating charts are there?</a:t>
                </a:r>
              </a:p>
              <a:p>
                <a:r>
                  <a:rPr lang="en-US" altLang="zh-CN" sz="2000" b="1" dirty="0">
                    <a:solidFill>
                      <a:srgbClr val="0000FF"/>
                    </a:solidFill>
                  </a:rPr>
                  <a:t>Solution</a:t>
                </a:r>
                <a:br>
                  <a:rPr lang="en-US" altLang="zh-CN" sz="2000" b="1" dirty="0">
                    <a:solidFill>
                      <a:srgbClr val="0000FF"/>
                    </a:solidFill>
                  </a:rPr>
                </a:br>
                <a:r>
                  <a:rPr lang="en-US" altLang="zh-CN" sz="2000" dirty="0"/>
                  <a:t>According to previous slide, each arrangement corresponds to a set of </a:t>
                </a:r>
                <a:r>
                  <a:rPr lang="en-US" altLang="zh-CN" sz="2000" i="1" dirty="0"/>
                  <a:t>n</a:t>
                </a:r>
                <a:r>
                  <a:rPr lang="en-US" altLang="zh-CN" sz="2000" dirty="0"/>
                  <a:t> equivalent arrangements. Thus, I divide the total number of permutations </a:t>
                </a:r>
                <a:r>
                  <a:rPr lang="en-US" altLang="zh-CN" sz="2000" i="1" dirty="0"/>
                  <a:t>n</a:t>
                </a:r>
                <a:r>
                  <a:rPr lang="en-US" altLang="zh-CN" sz="2000" dirty="0"/>
                  <a:t>! of </a:t>
                </a:r>
                <a:r>
                  <a:rPr lang="en-US" altLang="zh-CN" sz="2000" i="1" dirty="0"/>
                  <a:t>n</a:t>
                </a:r>
                <a:r>
                  <a:rPr lang="en-US" altLang="zh-CN" sz="2000" dirty="0"/>
                  <a:t> objects by </a:t>
                </a:r>
                <a:r>
                  <a:rPr lang="en-US" altLang="zh-CN" sz="2000" i="1" dirty="0"/>
                  <a:t>n</a:t>
                </a:r>
                <a:r>
                  <a:rPr lang="en-US" altLang="zh-CN" sz="2000" dirty="0"/>
                  <a:t>:  </a:t>
                </a:r>
                <a:r>
                  <a:rPr lang="en-US" altLang="zh-CN" sz="2000" i="1" dirty="0"/>
                  <a:t>n</a:t>
                </a:r>
                <a:r>
                  <a:rPr lang="en-US" altLang="zh-CN" sz="2000" dirty="0"/>
                  <a:t>!/</a:t>
                </a:r>
                <a:r>
                  <a:rPr lang="en-US" altLang="zh-CN" sz="2000" i="1" dirty="0"/>
                  <a:t>n </a:t>
                </a:r>
                <a:r>
                  <a:rPr lang="en-US" altLang="zh-CN" sz="2000" dirty="0"/>
                  <a:t>= (</a:t>
                </a:r>
                <a:r>
                  <a:rPr lang="en-US" altLang="zh-CN" sz="2000" i="1" dirty="0"/>
                  <a:t>n</a:t>
                </a:r>
                <a:r>
                  <a:rPr lang="en-US" altLang="zh-CN" sz="2000" dirty="0"/>
                  <a:t>-1)!</a:t>
                </a:r>
                <a:endParaRPr lang="en-US" sz="2000" dirty="0"/>
              </a:p>
              <a:p>
                <a:r>
                  <a:rPr lang="en-US" altLang="zh-CN" sz="2000" b="1" dirty="0">
                    <a:solidFill>
                      <a:srgbClr val="0000FF"/>
                    </a:solidFill>
                  </a:rPr>
                  <a:t>Textbook Solution</a:t>
                </a:r>
                <a:br>
                  <a:rPr lang="en-US" altLang="zh-CN" sz="2000" b="1" dirty="0">
                    <a:solidFill>
                      <a:srgbClr val="0000FF"/>
                    </a:solidFill>
                  </a:rPr>
                </a:br>
                <a:r>
                  <a:rPr lang="en-US" altLang="zh-CN" sz="2000" dirty="0"/>
                  <a:t>In a circular arrangement, we first have to fix the position of the first person, which can be performed only in </a:t>
                </a:r>
                <a:r>
                  <a:rPr lang="en-US" altLang="zh-CN" sz="2000" i="1" dirty="0"/>
                  <a:t>one way </a:t>
                </a:r>
                <a:r>
                  <a:rPr lang="en-US" altLang="zh-CN" sz="2000" dirty="0"/>
                  <a:t>(since every position is considered the same when no one is already sitting in any of the seats).  Once we have fixed the position of the first person, we can arrange the remaining persons in </a:t>
                </a:r>
                <a14:m>
                  <m:oMath xmlns:m="http://schemas.openxmlformats.org/officeDocument/2006/math">
                    <m:r>
                      <a:rPr lang="en-US" altLang="zh-CN" sz="2000" i="1" dirty="0" smtClean="0">
                        <a:latin typeface="Cambria Math" panose="02040503050406030204" pitchFamily="18" charset="0"/>
                      </a:rPr>
                      <m:t>(</m:t>
                    </m:r>
                    <m:r>
                      <a:rPr lang="en-US" altLang="zh-CN" sz="2000" b="0" i="1" dirty="0" smtClean="0">
                        <a:latin typeface="Cambria Math" panose="02040503050406030204" pitchFamily="18" charset="0"/>
                      </a:rPr>
                      <m:t>𝑛</m:t>
                    </m:r>
                    <m:r>
                      <a:rPr lang="en-US" altLang="zh-CN" sz="2000" i="1" dirty="0" smtClean="0">
                        <a:latin typeface="Cambria Math" panose="02040503050406030204" pitchFamily="18" charset="0"/>
                      </a:rPr>
                      <m:t>−1)!</m:t>
                    </m:r>
                  </m:oMath>
                </a14:m>
                <a:r>
                  <a:rPr lang="en-US" altLang="zh-CN" sz="2000" dirty="0"/>
                  <a:t> ways. </a:t>
                </a:r>
                <a:endParaRPr lang="en-US" altLang="zh-CN" sz="2000" b="1" dirty="0">
                  <a:solidFill>
                    <a:srgbClr val="0000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14400"/>
                <a:ext cx="8763000" cy="5334000"/>
              </a:xfrm>
              <a:blipFill>
                <a:blip r:embed="rId2"/>
                <a:stretch>
                  <a:fillRect l="-626" t="-571" r="-1530"/>
                </a:stretch>
              </a:blipFill>
            </p:spPr>
            <p:txBody>
              <a:bodyPr/>
              <a:lstStyle/>
              <a:p>
                <a:r>
                  <a:rPr lang="en-HK">
                    <a:noFill/>
                  </a:rPr>
                  <a:t> </a:t>
                </a:r>
              </a:p>
            </p:txBody>
          </p:sp>
        </mc:Fallback>
      </mc:AlternateContent>
      <p:sp>
        <p:nvSpPr>
          <p:cNvPr id="4" name="Slide Number Placeholder 3"/>
          <p:cNvSpPr>
            <a:spLocks noGrp="1"/>
          </p:cNvSpPr>
          <p:nvPr>
            <p:ph type="sldNum" sz="quarter" idx="12"/>
          </p:nvPr>
        </p:nvSpPr>
        <p:spPr/>
        <p:txBody>
          <a:bodyPr/>
          <a:lstStyle/>
          <a:p>
            <a:r>
              <a:rPr lang="en-US" smtClean="0"/>
              <a:pPr/>
              <a:t>11</a:t>
            </a:r>
            <a:endParaRPr lang="en-US" dirty="0"/>
          </a:p>
        </p:txBody>
      </p:sp>
    </p:spTree>
    <p:extLst>
      <p:ext uri="{BB962C8B-B14F-4D97-AF65-F5344CB8AC3E}">
        <p14:creationId xmlns:p14="http://schemas.microsoft.com/office/powerpoint/2010/main" val="331040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15719</TotalTime>
  <Words>6436</Words>
  <Application>Microsoft Macintosh PowerPoint</Application>
  <PresentationFormat>On-screen Show (4:3)</PresentationFormat>
  <Paragraphs>395</Paragraphs>
  <Slides>51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Cambria</vt:lpstr>
      <vt:lpstr>Cambria Math</vt:lpstr>
      <vt:lpstr>Lucida Sans</vt:lpstr>
      <vt:lpstr>Symbol</vt:lpstr>
      <vt:lpstr>Wingdings</vt:lpstr>
      <vt:lpstr>Default Design</vt:lpstr>
      <vt:lpstr>Permutations and Combinations</vt:lpstr>
      <vt:lpstr>Permutations</vt:lpstr>
      <vt:lpstr>Example</vt:lpstr>
      <vt:lpstr>Permutation</vt:lpstr>
      <vt:lpstr>k-Permutation</vt:lpstr>
      <vt:lpstr>Number of k-Permutations</vt:lpstr>
      <vt:lpstr>Example</vt:lpstr>
      <vt:lpstr>Example</vt:lpstr>
      <vt:lpstr>Exercise on Strings</vt:lpstr>
      <vt:lpstr>Exercise on Seating Arrangement</vt:lpstr>
      <vt:lpstr>Exercise on Seating Arrangement</vt:lpstr>
      <vt:lpstr>Exercise on Parking Lots</vt:lpstr>
      <vt:lpstr>k-Combinations</vt:lpstr>
      <vt:lpstr>k-Combinations</vt:lpstr>
      <vt:lpstr>Number of k-Combinations</vt:lpstr>
      <vt:lpstr>Proof</vt:lpstr>
      <vt:lpstr>Example</vt:lpstr>
      <vt:lpstr>Corollary</vt:lpstr>
      <vt:lpstr>Exercise on Committee Selection</vt:lpstr>
      <vt:lpstr>Exercise on Group Selection</vt:lpstr>
      <vt:lpstr>Exercise on Ball Selection</vt:lpstr>
      <vt:lpstr>Exercise on Earring Selection</vt:lpstr>
      <vt:lpstr>PowerPoint Presentation</vt:lpstr>
      <vt:lpstr>Exercise on Seating Arrangements</vt:lpstr>
      <vt:lpstr>Poker Exercises 1</vt:lpstr>
      <vt:lpstr>Poker Exercises 2</vt:lpstr>
      <vt:lpstr>Poker Exercises 3</vt:lpstr>
      <vt:lpstr>Poker Exercises 4</vt:lpstr>
      <vt:lpstr>Combinatorial Proof and Bijection Principle</vt:lpstr>
      <vt:lpstr>Proof of C(n, k) = C(n, n-k) by Bijection Principle</vt:lpstr>
      <vt:lpstr>Example by Bijection Principle</vt:lpstr>
      <vt:lpstr>The Playoff Example (solved using tree diagrams in previous lecture)</vt:lpstr>
      <vt:lpstr>Exercise on Coin Flipping</vt:lpstr>
      <vt:lpstr>Permutations with Indistinguishable Objects</vt:lpstr>
      <vt:lpstr>Permutations with Indistinguishable Objects</vt:lpstr>
      <vt:lpstr>Proof of Theorem</vt:lpstr>
      <vt:lpstr>Distributing Objects into Boxes</vt:lpstr>
      <vt:lpstr>Distributing Objects into Boxes</vt:lpstr>
      <vt:lpstr>Distributing Objects into Boxes</vt:lpstr>
      <vt:lpstr>Combinations with Repetition</vt:lpstr>
      <vt:lpstr>Solution</vt:lpstr>
      <vt:lpstr>Comments on the Bill Example</vt:lpstr>
      <vt:lpstr>Combinations with Repetition (bars and stars)</vt:lpstr>
      <vt:lpstr>Combinations with Repetition - Cookies</vt:lpstr>
      <vt:lpstr>Example of Combinations with Repetition</vt:lpstr>
      <vt:lpstr>Exercise on Equation Solutions</vt:lpstr>
      <vt:lpstr>Exercise on Equation Solutions with minimum constraint</vt:lpstr>
      <vt:lpstr>Exercise on Equation Solutions with maximum constraint</vt:lpstr>
      <vt:lpstr>Summary</vt:lpstr>
      <vt:lpstr>Exercise on Paths 1</vt:lpstr>
      <vt:lpstr>Exercise on Paths 2 </vt:lpstr>
    </vt:vector>
  </TitlesOfParts>
  <Company>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taicl</dc:creator>
  <cp:lastModifiedBy>Lionel Parreaux</cp:lastModifiedBy>
  <cp:revision>964</cp:revision>
  <cp:lastPrinted>2026-09-29T02:33:58Z</cp:lastPrinted>
  <dcterms:created xsi:type="dcterms:W3CDTF">2012-01-21T22:53:48Z</dcterms:created>
  <dcterms:modified xsi:type="dcterms:W3CDTF">2026-09-30T01:31:42Z</dcterms:modified>
</cp:coreProperties>
</file>