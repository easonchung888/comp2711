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6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91" r:id="rId47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slide" Target="slides/slide46.xml" /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6.xml.rels><?xml version='1.0' encoding='utf-8'?>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/Relationships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Exercise</a:t>
            </a:r>
            <a:r>
              <a:rPr lang="en-US" dirty="0"/>
              <a:t> on Equation Solutions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686800" cy="4953000"/>
              </a:xfrm>
            </p:spPr>
            <p:txBody>
              <a:bodyPr/>
              <a:lstStyle/>
              <a:p>
                <a:r>
                  <a:rPr lang="en-US" sz="2000" dirty="0"/>
                  <a:t>How many solutions does the equation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itchFamily="18" charset="0"/>
                      </a:rPr>
                      <m:t>5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have,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/>
                  <a:t> are nonnegative integers?</a:t>
                </a:r>
              </a:p>
              <a:p>
                <a:r>
                  <a:rPr lang="en-US" sz="2000" dirty="0">
                    <a:solidFill>
                      <a:srgbClr val="00B050"/>
                    </a:solidFill>
                    <a:ea typeface="Cambria Math" pitchFamily="18" charset="0"/>
                  </a:rPr>
                  <a:t>Equivalent problem: </a:t>
                </a:r>
                <a:r>
                  <a:rPr lang="en-US" sz="2000" dirty="0"/>
                  <a:t>Suppose that a cookie shop has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3 different kinds of cookies</a:t>
                </a:r>
                <a:r>
                  <a:rPr lang="en-US" sz="2000" dirty="0"/>
                  <a:t>. In how many different ways can </a:t>
                </a:r>
                <a:r>
                  <a:rPr lang="en-US" sz="2000" dirty="0">
                    <a:solidFill>
                      <a:srgbClr val="0000FF"/>
                    </a:solidFill>
                  </a:rPr>
                  <a:t>5</a:t>
                </a:r>
                <a:r>
                  <a:rPr lang="en-US" sz="2000" dirty="0"/>
                  <a:t> cookies be chosen? </a:t>
                </a:r>
              </a:p>
              <a:p>
                <a:r>
                  <a:rPr lang="en-US" sz="2000" b="1" dirty="0"/>
                  <a:t>Solution</a:t>
                </a:r>
                <a:endParaRPr lang="en-US" sz="2000" dirty="0"/>
              </a:p>
              <a:p>
                <a:r>
                  <a:rPr lang="en-US" sz="2000" dirty="0"/>
                  <a:t>Each solution corresponds to a way to select </a:t>
                </a:r>
                <a:r>
                  <a:rPr lang="en-US" sz="2000" dirty="0">
                    <a:latin typeface="Cambria Math" pitchFamily="18" charset="0"/>
                    <a:ea typeface="Cambria Math" pitchFamily="18" charset="0"/>
                  </a:rPr>
                  <a:t>5</a:t>
                </a:r>
                <a:r>
                  <a:rPr lang="en-US" sz="2000" dirty="0"/>
                  <a:t> items with repetition from 3 element types;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items of type 1,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2</m:t>
                    </m:r>
                  </m:oMath>
                </a14:m>
                <a:r>
                  <a:rPr lang="en-US" sz="2000" dirty="0"/>
                  <a:t> of type 2,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3</m:t>
                    </m:r>
                  </m:oMath>
                </a14:m>
                <a:r>
                  <a:rPr lang="en-US" sz="2000" dirty="0"/>
                  <a:t> of type 3.</a:t>
                </a:r>
              </a:p>
              <a:p>
                <a:r>
                  <a:rPr lang="en-US" sz="2000" dirty="0"/>
                  <a:t>Equivalently: I wish to select </a:t>
                </a:r>
                <a:r>
                  <a:rPr lang="en-US" sz="2000" dirty="0">
                    <a:solidFill>
                      <a:srgbClr val="0000FF"/>
                    </a:solidFill>
                  </a:rPr>
                  <a:t>5 indistinguishable </a:t>
                </a:r>
                <a:r>
                  <a:rPr lang="en-US" sz="2000" dirty="0"/>
                  <a:t>objects from </a:t>
                </a:r>
                <a:r>
                  <a:rPr lang="en-US" sz="2000" dirty="0">
                    <a:solidFill>
                      <a:srgbClr val="FF3300"/>
                    </a:solidFill>
                  </a:rPr>
                  <a:t>3</a:t>
                </a:r>
                <a:r>
                  <a:rPr lang="en-US" sz="2000" dirty="0">
                    <a:solidFill>
                      <a:srgbClr val="0000FF"/>
                    </a:solidFill>
                  </a:rPr>
                  <a:t> </a:t>
                </a:r>
                <a:r>
                  <a:rPr lang="en-US" sz="2000" dirty="0">
                    <a:solidFill>
                      <a:srgbClr val="FF3300"/>
                    </a:solidFill>
                  </a:rPr>
                  <a:t>distinguishable</a:t>
                </a:r>
                <a:r>
                  <a:rPr lang="en-US" sz="2000" dirty="0"/>
                  <a:t> boxes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/>
                  <a:t>.  </a:t>
                </a:r>
              </a:p>
              <a:p>
                <a:r>
                  <a:rPr lang="en-US" sz="2000" dirty="0"/>
                  <a:t>By the previous theorem, it follows that there are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3+5−1,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7,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7!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5!2!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=21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solutions.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686800" cy="4953000"/>
              </a:xfrm>
              <a:blipFill>
                <a:blip r:embed="rId2"/>
                <a:stretch>
                  <a:fillRect l="-730" t="-1023" b="-7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9094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