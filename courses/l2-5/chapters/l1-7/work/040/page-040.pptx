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4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409" r:id="rId4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Relationship Id="rId41" Type="http://schemas.openxmlformats.org/officeDocument/2006/relationships/slide" Target="slides/slide40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40.xml.rels><?xml version='1.0' encoding='utf-8'?>
<Relationships xmlns="http://schemas.openxmlformats.org/package/2006/relationships"><Relationship Id="rId2" Type="http://schemas.openxmlformats.org/officeDocument/2006/relationships/image" Target="../media/image29.png" /><Relationship Id="rId1" Type="http://schemas.openxmlformats.org/officeDocument/2006/relationships/slideLayout" Target="../slideLayouts/slideLayout2.xml" /></Relationships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52400" y="152400"/>
            <a:ext cx="8915400" cy="715962"/>
          </a:xfrm>
        </p:spPr>
        <p:txBody>
          <a:bodyPr/>
          <a:lstStyle/>
          <a:p>
            <a:r>
              <a:rPr lang="en-US" sz="3200" dirty="0">
                <a:solidFill>
                  <a:srgbClr val="0000FF"/>
                </a:solidFill>
              </a:rPr>
              <a:t>Exercise</a:t>
            </a:r>
            <a:r>
              <a:rPr lang="en-US" sz="3200" dirty="0">
                <a:solidFill>
                  <a:schemeClr val="tx1"/>
                </a:solidFill>
              </a:rPr>
              <a:t> on Combinatorial Proof</a:t>
            </a:r>
            <a:endParaRPr lang="zh-CN" altLang="en-US" sz="32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altLang="zh-CN" sz="2000" dirty="0"/>
                  <a:t>Show by combinatorial proof that:</a:t>
                </a:r>
                <a:r>
                  <a:rPr lang="en-US" altLang="zh-CN" sz="2000" b="0" dirty="0"/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  <m:r>
                          <a:rPr lang="en-US" altLang="zh-CN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sSup>
                          <m:sSupPr>
                            <m:ctrlP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zh-CN" sz="2000" b="0" i="1" smtClean="0">
                                <a:solidFill>
                                  <a:srgbClr val="FF33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</m:e>
                    </m:nary>
                  </m:oMath>
                </a14:m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In a combinatorial proof, you must prove that both sides count the same number in different ways. 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b="0" dirty="0"/>
                  <a:t>LHS:</a:t>
                </a:r>
                <a:r>
                  <a:rPr lang="en-US" altLang="zh-CN" sz="2000" b="0" dirty="0">
                    <a:solidFill>
                      <a:srgbClr val="0000FF"/>
                    </a:solidFill>
                  </a:rPr>
                  <a:t>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noBar"/>
                                <m:ctrlP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num>
                              <m:den>
                                <m:r>
                                  <a:rPr lang="en-US" altLang="zh-CN" sz="2000" b="0" i="1" smtClean="0">
                                    <a:solidFill>
                                      <a:srgbClr val="0000FF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den>
                            </m:f>
                          </m:e>
                        </m:d>
                      </m:e>
                    </m:nary>
                  </m:oMath>
                </a14:m>
                <a:r>
                  <a:rPr lang="en-US" altLang="zh-CN" sz="2000" dirty="0"/>
                  <a:t> could count the number of ways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000" b="0" i="1" smtClean="0">
                            <a:solidFill>
                              <a:srgbClr val="0000F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noBar"/>
                            <m:ctrlP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zh-CN" sz="2000" b="0" i="1" smtClean="0">
                                <a:solidFill>
                                  <a:srgbClr val="0000FF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den>
                        </m:f>
                      </m:e>
                    </m:d>
                  </m:oMath>
                </a14:m>
                <a:r>
                  <a:rPr lang="en-US" altLang="zh-CN" sz="2000" dirty="0"/>
                  <a:t> to select a committee of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0000F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members 1≤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≤ 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/>
                  <a:t>, and then choose one the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2000" i="1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altLang="zh-CN" sz="2000" dirty="0"/>
                  <a:t> members to be the chairperson, i.e., the committee should contain at least a chairperson and any other number of members. </a:t>
                </a: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r>
                  <a:rPr lang="en-US" altLang="zh-CN" sz="2000" dirty="0"/>
                  <a:t>RHS:</a:t>
                </a:r>
                <a14:m>
                  <m:oMath xmlns:m="http://schemas.openxmlformats.org/officeDocument/2006/math">
                    <m:r>
                      <a:rPr lang="en-US" altLang="zh-CN" sz="2000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p>
                      <m:sSupPr>
                        <m:ctrlP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/>
                  <a:t> counts the same number because</a:t>
                </a:r>
                <a:r>
                  <a:rPr lang="en-US" altLang="zh-CN" sz="2000" dirty="0">
                    <a:solidFill>
                      <a:schemeClr val="tx1"/>
                    </a:solidFill>
                  </a:rPr>
                  <a:t> there are </a:t>
                </a:r>
                <a14:m>
                  <m:oMath xmlns:m="http://schemas.openxmlformats.org/officeDocument/2006/math">
                    <m:r>
                      <a:rPr lang="en-US" altLang="zh-CN" sz="20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choices for the chairperson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zh-CN" sz="200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altLang="zh-CN" sz="2000" dirty="0">
                    <a:solidFill>
                      <a:schemeClr val="tx1"/>
                    </a:solidFill>
                  </a:rPr>
                  <a:t> choices for the rest of the committee (the rest of the committee could be any subset, including the empty set, that does not contain the chairperson).  </a:t>
                </a:r>
              </a:p>
              <a:p>
                <a:pPr marL="0" indent="0">
                  <a:buNone/>
                </a:pPr>
                <a:endParaRPr lang="en-US" altLang="zh-CN" sz="2000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zh-CN" sz="2000" dirty="0"/>
              </a:p>
              <a:p>
                <a:pPr marL="0" indent="0">
                  <a:buNone/>
                </a:pPr>
                <a:endParaRPr lang="en-US" altLang="zh-CN" sz="2000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52400" y="868362"/>
                <a:ext cx="8835624" cy="5532438"/>
              </a:xfrm>
              <a:blipFill>
                <a:blip r:embed="rId2"/>
                <a:stretch>
                  <a:fillRect l="-690" t="-8480" r="-690"/>
                </a:stretch>
              </a:blipFill>
            </p:spPr>
            <p:txBody>
              <a:bodyPr/>
              <a:lstStyle/>
              <a:p>
                <a:r>
                  <a:rPr lang="en-HK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40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2480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