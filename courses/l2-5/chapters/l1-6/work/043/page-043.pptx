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3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90" r:id="rId44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Relationship Id="rId44" Type="http://schemas.openxmlformats.org/officeDocument/2006/relationships/slide" Target="slides/slide43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3.xml.rels><?xml version='1.0' encoding='utf-8'?>
<Relationships xmlns="http://schemas.openxmlformats.org/package/2006/relationships"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2.xml" /></Relationships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Combinations with Repetition </a:t>
            </a:r>
            <a:r>
              <a:rPr lang="en-US" i="1" dirty="0"/>
              <a:t>(bars and stars)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371600"/>
                <a:ext cx="8686800" cy="4876800"/>
              </a:xfrm>
            </p:spPr>
            <p:txBody>
              <a:bodyPr/>
              <a:lstStyle/>
              <a:p>
                <a:r>
                  <a:rPr lang="en-US" sz="2000" dirty="0"/>
                  <a:t>The </a:t>
                </a:r>
                <a:r>
                  <a:rPr lang="en-US" sz="2000" i="1" dirty="0"/>
                  <a:t>bars and stars</a:t>
                </a:r>
                <a:r>
                  <a:rPr lang="en-US" sz="2000" dirty="0"/>
                  <a:t> problem is the same as </a:t>
                </a:r>
                <a:r>
                  <a:rPr lang="en-US" sz="2000" dirty="0">
                    <a:solidFill>
                      <a:srgbClr val="0000FF"/>
                    </a:solidFill>
                  </a:rPr>
                  <a:t>selecting </a:t>
                </a:r>
                <a:r>
                  <a:rPr lang="en-US" sz="2000" i="1" dirty="0">
                    <a:solidFill>
                      <a:srgbClr val="0000FF"/>
                    </a:solidFill>
                  </a:rPr>
                  <a:t>r</a:t>
                </a:r>
                <a:r>
                  <a:rPr lang="en-US" sz="2000" dirty="0">
                    <a:solidFill>
                      <a:srgbClr val="0000FF"/>
                    </a:solidFill>
                  </a:rPr>
                  <a:t> out of </a:t>
                </a:r>
                <a:r>
                  <a:rPr lang="en-US" sz="2000" i="1" dirty="0">
                    <a:solidFill>
                      <a:srgbClr val="0000FF"/>
                    </a:solidFill>
                  </a:rPr>
                  <a:t>n</a:t>
                </a:r>
                <a:r>
                  <a:rPr lang="en-US" sz="2000" dirty="0">
                    <a:solidFill>
                      <a:srgbClr val="0000FF"/>
                    </a:solidFill>
                  </a:rPr>
                  <a:t> elements of a set, provided that you can select the same element multiple times</a:t>
                </a:r>
                <a:r>
                  <a:rPr lang="en-US" sz="2000" dirty="0"/>
                  <a:t>. </a:t>
                </a:r>
                <a:endParaRPr lang="en-US" sz="2000" b="1" dirty="0"/>
              </a:p>
              <a:p>
                <a:r>
                  <a:rPr lang="en-US" sz="2000" b="1" dirty="0"/>
                  <a:t>Theorem</a:t>
                </a:r>
                <a:br>
                  <a:rPr lang="en-US" sz="2000" b="1" dirty="0"/>
                </a:br>
                <a:r>
                  <a:rPr lang="en-US" sz="2000" dirty="0"/>
                  <a:t>The number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-combinations from a set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elements when repetition of elements is allowed is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−1)!</m:t>
                        </m:r>
                      </m:den>
                    </m:f>
                  </m:oMath>
                </a14:m>
                <a:endParaRPr lang="en-US" sz="2000" dirty="0"/>
              </a:p>
              <a:p>
                <a:r>
                  <a:rPr lang="en-US" sz="2000" b="1" dirty="0"/>
                  <a:t>Proof</a:t>
                </a:r>
                <a:r>
                  <a:rPr lang="en-US" sz="2000" dirty="0"/>
                  <a:t>: Each such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-combination can be represented by a list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Cambria" pitchFamily="18" charset="0"/>
                  </a:rPr>
                  <a:t> </a:t>
                </a:r>
                <a:r>
                  <a:rPr lang="en-US" sz="2000" dirty="0"/>
                  <a:t>bars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 stars. The bars mark the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cells, each corresponding to a distinct element. The stars between two bars correspond to the repetitions of an element. </a:t>
                </a:r>
                <a:br>
                  <a:rPr lang="en-US" sz="2000" dirty="0"/>
                </a:br>
                <a:r>
                  <a:rPr lang="en-US" sz="2000" dirty="0"/>
                  <a:t>The list has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positions, and we choose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 of them to place the stars. Or equivalently, we choose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positions to place the bars.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371600"/>
                <a:ext cx="8686800" cy="4876800"/>
              </a:xfrm>
              <a:blipFill>
                <a:blip r:embed="rId2"/>
                <a:stretch>
                  <a:fillRect l="-730" t="-779" r="-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43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7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