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3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36" r:id="rId34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34" Type="http://schemas.openxmlformats.org/officeDocument/2006/relationships/slide" Target="slides/slide33.xml" /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Exercise</a:t>
            </a:r>
            <a:r>
              <a:rPr lang="en-US" dirty="0"/>
              <a:t> on Coin Flipping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8763000" cy="5181600"/>
          </a:xfrm>
        </p:spPr>
        <p:txBody>
          <a:bodyPr/>
          <a:lstStyle/>
          <a:p>
            <a:pPr lvl="0"/>
            <a:r>
              <a:rPr lang="en-US" sz="1800" dirty="0"/>
              <a:t>How many ways are there to repeatedly flip a coin </a:t>
            </a:r>
            <a:r>
              <a:rPr lang="en-US" sz="1800" dirty="0">
                <a:solidFill>
                  <a:srgbClr val="FF0000"/>
                </a:solidFill>
              </a:rPr>
              <a:t>until the number of tails is more than the number of heads</a:t>
            </a:r>
            <a:r>
              <a:rPr lang="en-US" sz="1800" dirty="0"/>
              <a:t> or </a:t>
            </a:r>
            <a:r>
              <a:rPr lang="en-US" sz="1800" dirty="0">
                <a:solidFill>
                  <a:srgbClr val="FF0000"/>
                </a:solidFill>
              </a:rPr>
              <a:t>the coin is flipped for five times</a:t>
            </a:r>
            <a:r>
              <a:rPr lang="en-US" sz="1800" dirty="0"/>
              <a:t>?  </a:t>
            </a:r>
            <a:r>
              <a:rPr lang="en-US" sz="1800" i="1" dirty="0"/>
              <a:t>Example 1</a:t>
            </a:r>
            <a:r>
              <a:rPr lang="en-US" sz="1800" dirty="0"/>
              <a:t>: The first flip is head, the second flip is tail and the third flip is tail. No fourth flip. </a:t>
            </a:r>
            <a:r>
              <a:rPr lang="en-US" sz="1800" i="1" dirty="0"/>
              <a:t>Example 2</a:t>
            </a:r>
            <a:r>
              <a:rPr lang="en-US" sz="1800" dirty="0"/>
              <a:t>: All the five flips are head. </a:t>
            </a:r>
          </a:p>
          <a:p>
            <a:r>
              <a:rPr lang="en-US" sz="1800" dirty="0">
                <a:solidFill>
                  <a:srgbClr val="0000FF"/>
                </a:solidFill>
              </a:rPr>
              <a:t>Solution: </a:t>
            </a:r>
          </a:p>
          <a:p>
            <a:r>
              <a:rPr lang="en-US" sz="1800" dirty="0"/>
              <a:t>There are 2</a:t>
            </a:r>
            <a:r>
              <a:rPr lang="en-US" sz="1800" baseline="30000" dirty="0"/>
              <a:t>5</a:t>
            </a:r>
            <a:r>
              <a:rPr lang="en-US" sz="1800" dirty="0"/>
              <a:t> =32 bit-strings of length 5. Let 1 denote tails. </a:t>
            </a:r>
          </a:p>
          <a:p>
            <a:r>
              <a:rPr lang="en-US" sz="1800" dirty="0"/>
              <a:t>If the first flip is a tail you stop the experiment – i.e., you exclude 2</a:t>
            </a:r>
            <a:r>
              <a:rPr lang="en-US" sz="1800" baseline="30000" dirty="0"/>
              <a:t>4</a:t>
            </a:r>
            <a:r>
              <a:rPr lang="en-US" sz="1800" dirty="0"/>
              <a:t> bit-strings that start with </a:t>
            </a:r>
            <a:r>
              <a:rPr lang="en-US" sz="1800" dirty="0">
                <a:solidFill>
                  <a:srgbClr val="FF0000"/>
                </a:solidFill>
              </a:rPr>
              <a:t>1</a:t>
            </a:r>
            <a:r>
              <a:rPr lang="en-US" sz="1800" dirty="0"/>
              <a:t>.</a:t>
            </a:r>
          </a:p>
          <a:p>
            <a:r>
              <a:rPr lang="en-US" sz="1800" dirty="0"/>
              <a:t>The only other outcome where you stop the experiment before 5 flips is when the first 3 flips are HTT (i.e., </a:t>
            </a:r>
            <a:r>
              <a:rPr lang="en-US" sz="1800" dirty="0">
                <a:solidFill>
                  <a:srgbClr val="FF0000"/>
                </a:solidFill>
              </a:rPr>
              <a:t>011</a:t>
            </a:r>
            <a:r>
              <a:rPr lang="en-US" sz="1800" dirty="0"/>
              <a:t>). In this case, you exclude 01100, 01101, 01110, 01111. Thus, the total number of ways is: 2</a:t>
            </a:r>
            <a:r>
              <a:rPr lang="en-US" sz="1800" baseline="30000" dirty="0"/>
              <a:t>5</a:t>
            </a:r>
            <a:r>
              <a:rPr lang="en-US" sz="1800" dirty="0"/>
              <a:t>-2</a:t>
            </a:r>
            <a:r>
              <a:rPr lang="en-US" sz="1800" baseline="30000" dirty="0"/>
              <a:t>4</a:t>
            </a:r>
            <a:r>
              <a:rPr lang="en-US" sz="1800" dirty="0"/>
              <a:t>-4=12. </a:t>
            </a:r>
          </a:p>
          <a:p>
            <a:r>
              <a:rPr lang="en-US" sz="1800" dirty="0"/>
              <a:t>Add the two cases of early termination (1 and 011), the total is 12+2=14 ways.</a:t>
            </a:r>
          </a:p>
          <a:p>
            <a:r>
              <a:rPr lang="en-US" sz="1800" dirty="0"/>
              <a:t>Specifically, the possible strings are: </a:t>
            </a:r>
            <a:r>
              <a:rPr lang="en-US" sz="1800" dirty="0">
                <a:solidFill>
                  <a:srgbClr val="FF0000"/>
                </a:solidFill>
              </a:rPr>
              <a:t>1</a:t>
            </a:r>
            <a:r>
              <a:rPr lang="en-US" sz="1800" dirty="0"/>
              <a:t>, </a:t>
            </a:r>
            <a:r>
              <a:rPr lang="en-US" sz="1800" dirty="0">
                <a:solidFill>
                  <a:srgbClr val="FF0000"/>
                </a:solidFill>
              </a:rPr>
              <a:t>011</a:t>
            </a:r>
            <a:r>
              <a:rPr lang="en-US" sz="1800" dirty="0"/>
              <a:t>, 00000, 00001, 00010, 00011, 00100, 00101, 00110, </a:t>
            </a:r>
            <a:r>
              <a:rPr lang="en-US" sz="1800" dirty="0">
                <a:solidFill>
                  <a:srgbClr val="0000FF"/>
                </a:solidFill>
              </a:rPr>
              <a:t>00111</a:t>
            </a:r>
            <a:r>
              <a:rPr lang="en-US" sz="1800" dirty="0"/>
              <a:t>, 01000, 01001, 01010, </a:t>
            </a:r>
            <a:r>
              <a:rPr lang="en-US" sz="1800" dirty="0">
                <a:solidFill>
                  <a:srgbClr val="0000FF"/>
                </a:solidFill>
              </a:rPr>
              <a:t>01011</a:t>
            </a:r>
            <a:r>
              <a:rPr lang="en-US" sz="1800" dirty="0"/>
              <a:t>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2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