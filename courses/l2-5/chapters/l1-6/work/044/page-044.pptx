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4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412" r:id="rId45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45" Type="http://schemas.openxmlformats.org/officeDocument/2006/relationships/slide" Target="slides/slide44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63EA-0C63-714C-F2CF-2A7A6AA71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D1C1-E9C9-023A-2398-A2D34E8F9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Combinations with Repetition - Cookies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B389E-3891-B43A-5246-01F88B756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4648200"/>
          </a:xfrm>
        </p:spPr>
        <p:txBody>
          <a:bodyPr/>
          <a:lstStyle/>
          <a:p>
            <a:r>
              <a:rPr lang="en-US" sz="1800" dirty="0"/>
              <a:t>Suppose that a cookie shop has </a:t>
            </a:r>
            <a:r>
              <a:rPr lang="en-US" sz="1800" i="1" dirty="0">
                <a:solidFill>
                  <a:srgbClr val="FF0000"/>
                </a:solidFill>
              </a:rPr>
              <a:t>n</a:t>
            </a:r>
            <a:r>
              <a:rPr lang="en-US" sz="1800" dirty="0">
                <a:solidFill>
                  <a:srgbClr val="FF0000"/>
                </a:solidFill>
              </a:rPr>
              <a:t> different kinds of cookies</a:t>
            </a:r>
            <a:r>
              <a:rPr lang="en-US" sz="1800" dirty="0"/>
              <a:t>. In how many different ways can </a:t>
            </a:r>
            <a:r>
              <a:rPr lang="en-US" sz="1800" i="1" dirty="0">
                <a:solidFill>
                  <a:srgbClr val="0000FF"/>
                </a:solidFill>
              </a:rPr>
              <a:t>r</a:t>
            </a:r>
            <a:r>
              <a:rPr lang="en-US" sz="1800" dirty="0"/>
              <a:t> cookies be chosen? There are no constraints on how many cookies of each kind are chosen (e.g., all may be of the same kind)</a:t>
            </a:r>
          </a:p>
          <a:p>
            <a:r>
              <a:rPr lang="en-US" sz="1800" b="1" dirty="0"/>
              <a:t>Solution</a:t>
            </a:r>
            <a:br>
              <a:rPr lang="en-US" sz="1800" b="1" dirty="0"/>
            </a:br>
            <a:r>
              <a:rPr lang="en-US" sz="1800" dirty="0"/>
              <a:t>Equivalently, I wish to distribute </a:t>
            </a:r>
            <a:r>
              <a:rPr lang="en-US" sz="1800" i="1" dirty="0">
                <a:solidFill>
                  <a:srgbClr val="0000FF"/>
                </a:solidFill>
              </a:rPr>
              <a:t>r</a:t>
            </a:r>
            <a:r>
              <a:rPr lang="en-US" sz="1800" dirty="0">
                <a:solidFill>
                  <a:srgbClr val="0000FF"/>
                </a:solidFill>
              </a:rPr>
              <a:t> indistinguishable</a:t>
            </a:r>
            <a:r>
              <a:rPr lang="en-US" sz="1800" dirty="0"/>
              <a:t> cookies to </a:t>
            </a:r>
            <a:r>
              <a:rPr lang="en-US" sz="1800" i="1" dirty="0">
                <a:solidFill>
                  <a:srgbClr val="FF0000"/>
                </a:solidFill>
              </a:rPr>
              <a:t>n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distinguishable</a:t>
            </a:r>
            <a:r>
              <a:rPr lang="en-US" sz="1800" dirty="0"/>
              <a:t> cookie boxes. </a:t>
            </a:r>
          </a:p>
          <a:p>
            <a:r>
              <a:rPr lang="en-US" sz="1800" dirty="0"/>
              <a:t>I indicate cookies with </a:t>
            </a:r>
            <a:r>
              <a:rPr lang="en-US" sz="1800" i="1" dirty="0">
                <a:solidFill>
                  <a:srgbClr val="0000FF"/>
                </a:solidFill>
              </a:rPr>
              <a:t>r </a:t>
            </a:r>
            <a:r>
              <a:rPr lang="en-US" sz="1800" dirty="0">
                <a:solidFill>
                  <a:srgbClr val="0000FF"/>
                </a:solidFill>
              </a:rPr>
              <a:t>stars</a:t>
            </a:r>
            <a:r>
              <a:rPr lang="en-US" sz="1800" dirty="0"/>
              <a:t>. Instead of </a:t>
            </a:r>
            <a:r>
              <a:rPr lang="en-US" sz="1800" i="1" dirty="0">
                <a:solidFill>
                  <a:srgbClr val="FF0000"/>
                </a:solidFill>
              </a:rPr>
              <a:t>n</a:t>
            </a:r>
            <a:r>
              <a:rPr lang="en-US" sz="1800" dirty="0"/>
              <a:t> boxes, I use </a:t>
            </a:r>
            <a:r>
              <a:rPr lang="en-US" sz="1800" i="1" dirty="0">
                <a:solidFill>
                  <a:srgbClr val="FF0000"/>
                </a:solidFill>
              </a:rPr>
              <a:t>n</a:t>
            </a:r>
            <a:r>
              <a:rPr lang="en-US" sz="1800" dirty="0">
                <a:solidFill>
                  <a:srgbClr val="FF0000"/>
                </a:solidFill>
              </a:rPr>
              <a:t>-1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bars</a:t>
            </a:r>
            <a:r>
              <a:rPr lang="en-US" sz="1800" dirty="0"/>
              <a:t> to indicate their boundaries. </a:t>
            </a:r>
          </a:p>
          <a:p>
            <a:r>
              <a:rPr lang="en-US" sz="1800" dirty="0"/>
              <a:t>A selection corresponds to a bars and stars arrangement</a:t>
            </a:r>
          </a:p>
          <a:p>
            <a:r>
              <a:rPr lang="en-US" sz="1800" dirty="0"/>
              <a:t>Example: **|*|*|** (2 cookies from first and fourth kind, 1 from the rest).</a:t>
            </a:r>
          </a:p>
          <a:p>
            <a:r>
              <a:rPr lang="en-US" sz="1800" dirty="0"/>
              <a:t># of arrangements = # combinations with repetition = </a:t>
            </a:r>
          </a:p>
          <a:p>
            <a:r>
              <a:rPr lang="en-US" sz="1800" dirty="0"/>
              <a:t>= #</a:t>
            </a:r>
            <a:r>
              <a:rPr lang="en-US" altLang="zh-CN" sz="1800" dirty="0"/>
              <a:t> strings of length </a:t>
            </a:r>
            <a:r>
              <a:rPr lang="en-US" sz="1800" dirty="0"/>
              <a:t>(</a:t>
            </a:r>
            <a:r>
              <a:rPr lang="en-US" sz="1800" i="1" dirty="0"/>
              <a:t>r</a:t>
            </a:r>
            <a:r>
              <a:rPr lang="en-US" sz="1800" dirty="0"/>
              <a:t>+</a:t>
            </a:r>
            <a:r>
              <a:rPr lang="en-US" sz="1800" i="1" dirty="0"/>
              <a:t>n</a:t>
            </a:r>
            <a:r>
              <a:rPr lang="en-US" sz="1800" dirty="0"/>
              <a:t>-1)</a:t>
            </a:r>
            <a:r>
              <a:rPr lang="en-US" altLang="zh-CN" sz="1800" dirty="0">
                <a:solidFill>
                  <a:srgbClr val="0000FF"/>
                </a:solidFill>
              </a:rPr>
              <a:t> </a:t>
            </a:r>
            <a:r>
              <a:rPr lang="en-US" altLang="zh-CN" sz="1800" dirty="0"/>
              <a:t>by reordering </a:t>
            </a:r>
            <a:r>
              <a:rPr lang="en-US" sz="1800" i="1" dirty="0">
                <a:solidFill>
                  <a:srgbClr val="0000FF"/>
                </a:solidFill>
              </a:rPr>
              <a:t>r </a:t>
            </a:r>
            <a:r>
              <a:rPr lang="en-US" sz="1800" dirty="0">
                <a:solidFill>
                  <a:srgbClr val="0000FF"/>
                </a:solidFill>
              </a:rPr>
              <a:t>stars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altLang="zh-CN" sz="1800" dirty="0"/>
              <a:t>and </a:t>
            </a:r>
            <a:r>
              <a:rPr lang="en-US" sz="1800" i="1" dirty="0">
                <a:solidFill>
                  <a:srgbClr val="FF0000"/>
                </a:solidFill>
              </a:rPr>
              <a:t>n</a:t>
            </a:r>
            <a:r>
              <a:rPr lang="en-US" sz="1800" dirty="0">
                <a:solidFill>
                  <a:srgbClr val="FF0000"/>
                </a:solidFill>
              </a:rPr>
              <a:t>-1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bars</a:t>
            </a:r>
            <a:r>
              <a:rPr lang="en-US" sz="1800" dirty="0"/>
              <a:t> = </a:t>
            </a:r>
          </a:p>
          <a:p>
            <a:r>
              <a:rPr lang="en-US" sz="1800" dirty="0"/>
              <a:t>#</a:t>
            </a:r>
            <a:r>
              <a:rPr lang="en-US" altLang="zh-CN" sz="1800" dirty="0"/>
              <a:t> select positions of </a:t>
            </a:r>
            <a:r>
              <a:rPr lang="en-US" sz="1800" i="1" dirty="0">
                <a:solidFill>
                  <a:srgbClr val="0000FF"/>
                </a:solidFill>
              </a:rPr>
              <a:t>r </a:t>
            </a:r>
            <a:r>
              <a:rPr lang="en-US" sz="1800" dirty="0">
                <a:solidFill>
                  <a:srgbClr val="0000FF"/>
                </a:solidFill>
              </a:rPr>
              <a:t>stars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altLang="zh-CN" sz="1800" dirty="0"/>
              <a:t>and </a:t>
            </a:r>
            <a:r>
              <a:rPr lang="en-US" sz="1800" dirty="0"/>
              <a:t>among possible (</a:t>
            </a:r>
            <a:r>
              <a:rPr lang="en-US" sz="1800" i="1" dirty="0"/>
              <a:t>r</a:t>
            </a:r>
            <a:r>
              <a:rPr lang="en-US" sz="1800" dirty="0"/>
              <a:t>+</a:t>
            </a:r>
            <a:r>
              <a:rPr lang="en-US" sz="1800" i="1" dirty="0"/>
              <a:t>n</a:t>
            </a:r>
            <a:r>
              <a:rPr lang="en-US" sz="1800" dirty="0"/>
              <a:t>-1) positions</a:t>
            </a:r>
          </a:p>
          <a:p>
            <a:r>
              <a:rPr lang="en-US" sz="1800" dirty="0"/>
              <a:t>C(</a:t>
            </a:r>
            <a:r>
              <a:rPr lang="en-US" sz="1800" i="1" dirty="0"/>
              <a:t>r</a:t>
            </a:r>
            <a:r>
              <a:rPr lang="en-US" sz="1800" dirty="0"/>
              <a:t>+</a:t>
            </a:r>
            <a:r>
              <a:rPr lang="en-US" sz="1800" i="1" dirty="0"/>
              <a:t>n</a:t>
            </a:r>
            <a:r>
              <a:rPr lang="en-US" sz="1800" dirty="0"/>
              <a:t>-1,</a:t>
            </a:r>
            <a:r>
              <a:rPr lang="en-US" sz="1800" i="1" dirty="0"/>
              <a:t>r</a:t>
            </a:r>
            <a:r>
              <a:rPr lang="en-US" sz="1800" dirty="0"/>
              <a:t>)=(</a:t>
            </a:r>
            <a:r>
              <a:rPr lang="en-US" sz="1800" i="1" dirty="0"/>
              <a:t>r</a:t>
            </a:r>
            <a:r>
              <a:rPr lang="en-US" sz="1800" dirty="0"/>
              <a:t>+</a:t>
            </a:r>
            <a:r>
              <a:rPr lang="en-US" sz="1800" i="1" dirty="0"/>
              <a:t>n</a:t>
            </a:r>
            <a:r>
              <a:rPr lang="en-US" sz="1800" dirty="0"/>
              <a:t>-1)!/</a:t>
            </a:r>
            <a:r>
              <a:rPr lang="en-US" sz="1800" i="1" dirty="0"/>
              <a:t>r</a:t>
            </a:r>
            <a:r>
              <a:rPr lang="en-US" sz="1800" dirty="0"/>
              <a:t>!(</a:t>
            </a:r>
            <a:r>
              <a:rPr lang="en-US" sz="1800" i="1" dirty="0"/>
              <a:t>n</a:t>
            </a:r>
            <a:r>
              <a:rPr lang="en-US" sz="1800" dirty="0"/>
              <a:t>-1)!.</a:t>
            </a:r>
          </a:p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E4D7F-923E-8ED2-A6A8-23DC8FA0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0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