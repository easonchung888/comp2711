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2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9" r:id="rId4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43" Type="http://schemas.openxmlformats.org/officeDocument/2006/relationships/slide" Target="slides/slide42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on the Bill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839200" cy="5334000"/>
          </a:xfrm>
        </p:spPr>
        <p:txBody>
          <a:bodyPr/>
          <a:lstStyle/>
          <a:p>
            <a:r>
              <a:rPr lang="en-US" sz="1600" dirty="0"/>
              <a:t>How many ways are there to select 5 bills from 7 denominations, assuming there are enough bills of each denomination</a:t>
            </a:r>
          </a:p>
          <a:p>
            <a:r>
              <a:rPr lang="en-US" sz="1600" b="1" dirty="0"/>
              <a:t>An alternative solution</a:t>
            </a:r>
            <a:br>
              <a:rPr lang="en-US" sz="1600" b="1" dirty="0"/>
            </a:br>
            <a:r>
              <a:rPr lang="en-US" sz="1600" dirty="0"/>
              <a:t>Given that there are 7 choices for the first bill, 7 choices for the second bill,…., 7 choices for the fifth bill, somebody could argue that</a:t>
            </a:r>
          </a:p>
          <a:p>
            <a:r>
              <a:rPr lang="en-US" sz="1600" dirty="0"/>
              <a:t>The total number of ways is 7</a:t>
            </a:r>
            <a:r>
              <a:rPr lang="en-US" sz="1600" baseline="30000" dirty="0"/>
              <a:t>5</a:t>
            </a:r>
            <a:r>
              <a:rPr lang="en-US" sz="1600" dirty="0"/>
              <a:t>.</a:t>
            </a:r>
          </a:p>
          <a:p>
            <a:r>
              <a:rPr lang="en-US" sz="1600" dirty="0"/>
              <a:t>What is </a:t>
            </a:r>
            <a:r>
              <a:rPr lang="en-US" sz="1600" dirty="0">
                <a:solidFill>
                  <a:srgbClr val="FF3300"/>
                </a:solidFill>
              </a:rPr>
              <a:t>wrong</a:t>
            </a:r>
            <a:r>
              <a:rPr lang="en-US" sz="1600" dirty="0"/>
              <a:t> with this solution?</a:t>
            </a:r>
          </a:p>
          <a:p>
            <a:r>
              <a:rPr lang="en-US" sz="1600" dirty="0"/>
              <a:t>Lets take a choice by the alternative solution : e.g., (</a:t>
            </a:r>
            <a:r>
              <a:rPr lang="en-US" sz="1600" dirty="0">
                <a:solidFill>
                  <a:srgbClr val="FF3300"/>
                </a:solidFill>
              </a:rPr>
              <a:t>7,7</a:t>
            </a:r>
            <a:r>
              <a:rPr lang="en-US" sz="1600" dirty="0"/>
              <a:t>,</a:t>
            </a:r>
            <a:r>
              <a:rPr lang="en-US" sz="1600" dirty="0">
                <a:solidFill>
                  <a:srgbClr val="0000FF"/>
                </a:solidFill>
              </a:rPr>
              <a:t>1,1,1</a:t>
            </a:r>
            <a:r>
              <a:rPr lang="en-US" sz="1600" dirty="0"/>
              <a:t>) means that for the </a:t>
            </a:r>
            <a:r>
              <a:rPr lang="en-US" sz="1600" dirty="0">
                <a:solidFill>
                  <a:srgbClr val="0000FF"/>
                </a:solidFill>
              </a:rPr>
              <a:t>first 3 bills, I select the first denomination</a:t>
            </a:r>
            <a:r>
              <a:rPr lang="en-US" sz="1600" dirty="0"/>
              <a:t>, while for </a:t>
            </a:r>
            <a:r>
              <a:rPr lang="en-US" sz="1600" dirty="0">
                <a:solidFill>
                  <a:srgbClr val="FF3300"/>
                </a:solidFill>
              </a:rPr>
              <a:t>the next 2, I select the 7</a:t>
            </a:r>
            <a:r>
              <a:rPr lang="en-US" sz="1600" baseline="30000" dirty="0">
                <a:solidFill>
                  <a:srgbClr val="FF3300"/>
                </a:solidFill>
              </a:rPr>
              <a:t>th</a:t>
            </a:r>
            <a:r>
              <a:rPr lang="en-US" sz="1600" dirty="0"/>
              <a:t>. </a:t>
            </a:r>
          </a:p>
          <a:p>
            <a:r>
              <a:rPr lang="en-US" sz="1600" dirty="0"/>
              <a:t>Any other choice, e.g., (1,7,1,1,7)  with the same number of 1s and 7 is considered </a:t>
            </a:r>
            <a:r>
              <a:rPr lang="en-US" sz="1600" dirty="0">
                <a:solidFill>
                  <a:srgbClr val="00B050"/>
                </a:solidFill>
              </a:rPr>
              <a:t>distinct</a:t>
            </a:r>
            <a:r>
              <a:rPr lang="en-US" sz="1600" dirty="0"/>
              <a:t> by the alternative solution. </a:t>
            </a:r>
          </a:p>
          <a:p>
            <a:r>
              <a:rPr lang="en-US" sz="1600" dirty="0"/>
              <a:t>But it should </a:t>
            </a:r>
            <a:r>
              <a:rPr lang="en-US" sz="1600" dirty="0">
                <a:solidFill>
                  <a:srgbClr val="FF3300"/>
                </a:solidFill>
              </a:rPr>
              <a:t>not</a:t>
            </a:r>
            <a:r>
              <a:rPr lang="en-US" sz="1600" dirty="0"/>
              <a:t> be </a:t>
            </a:r>
            <a:r>
              <a:rPr lang="en-US" sz="1600" dirty="0">
                <a:solidFill>
                  <a:srgbClr val="00B050"/>
                </a:solidFill>
              </a:rPr>
              <a:t>distinct</a:t>
            </a:r>
            <a:r>
              <a:rPr lang="en-US" sz="1600" dirty="0"/>
              <a:t> because the order in which the bills are selected is not important. Bills of the same denomination are </a:t>
            </a:r>
            <a:r>
              <a:rPr lang="en-US" sz="1600" dirty="0">
                <a:solidFill>
                  <a:srgbClr val="0000FF"/>
                </a:solidFill>
              </a:rPr>
              <a:t>indistinguishable.</a:t>
            </a:r>
            <a:endParaRPr lang="en-US" sz="1600" dirty="0"/>
          </a:p>
          <a:p>
            <a:r>
              <a:rPr lang="en-US" sz="1600" dirty="0"/>
              <a:t>The bars and stars representation eliminates this problem. </a:t>
            </a:r>
          </a:p>
          <a:p>
            <a:r>
              <a:rPr lang="en-US" sz="1600" dirty="0"/>
              <a:t>All choices with three 1s and two 7s have the same representation and are counted once. </a:t>
            </a:r>
          </a:p>
          <a:p>
            <a:r>
              <a:rPr lang="en-US" sz="1600" dirty="0"/>
              <a:t>Representation of (1,7,1,1,7) (7,7,1,1,1) and all equivalent choices using bars and stars:**||||||***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5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