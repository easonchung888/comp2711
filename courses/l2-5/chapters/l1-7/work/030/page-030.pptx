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30" saveSubsetFonts="1" autoCompressPictures="0">
  <p:sldMasterIdLst>
    <p:sldMasterId id="2147483648" r:id="rId1"/>
  </p:sldMasterIdLst>
  <p:notesMasterIdLst>
    <p:notesMasterId r:id="rId43"/>
  </p:notesMasterIdLst>
  <p:handoutMasterIdLst>
    <p:handoutMasterId r:id="rId44"/>
  </p:handoutMasterIdLst>
  <p:sldIdLst>
    <p:sldId id="385" r:id="rId31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871" autoAdjust="0"/>
    <p:restoredTop sz="94260" autoAdjust="0"/>
  </p:normalViewPr>
  <p:slideViewPr>
    <p:cSldViewPr>
      <p:cViewPr varScale="1">
        <p:scale>
          <a:sx n="151" d="100"/>
          <a:sy n="151" d="100"/>
        </p:scale>
        <p:origin x="216" y="56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5106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47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45" Type="http://schemas.openxmlformats.org/officeDocument/2006/relationships/presProps" Target="presProps.xml" /><Relationship Id="rId31" Type="http://schemas.openxmlformats.org/officeDocument/2006/relationships/slide" Target="slides/slide30.xml" /><Relationship Id="rId44" Type="http://schemas.openxmlformats.org/officeDocument/2006/relationships/handoutMaster" Target="handoutMasters/handoutMaster1.xml" /><Relationship Id="rId43" Type="http://schemas.openxmlformats.org/officeDocument/2006/relationships/notesMaster" Target="notesMasters/notesMaster1.xml" /><Relationship Id="rId48" Type="http://schemas.openxmlformats.org/officeDocument/2006/relationships/tableStyles" Target="tableStyles.xml" /><Relationship Id="rId46" Type="http://schemas.openxmlformats.org/officeDocument/2006/relationships/viewProps" Target="viewProps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4"/>
            <a:ext cx="2984032" cy="500936"/>
          </a:xfrm>
          <a:prstGeom prst="rect">
            <a:avLst/>
          </a:prstGeom>
        </p:spPr>
        <p:txBody>
          <a:bodyPr vert="horz" lIns="91432" tIns="45716" rIns="91432" bIns="45716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9800" y="752475"/>
            <a:ext cx="5005388" cy="375602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0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0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32" tIns="45716" rIns="91432" bIns="45716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0.xml.rels><?xml version='1.0' encoding='utf-8'?>
<Relationships xmlns="http://schemas.openxmlformats.org/package/2006/relationships"><Relationship Id="rId3" Type="http://schemas.openxmlformats.org/officeDocument/2006/relationships/image" Target="../media/image19.png" /><Relationship Id="rId2" Type="http://schemas.openxmlformats.org/officeDocument/2006/relationships/image" Target="../media/image18.gif" /><Relationship Id="rId1" Type="http://schemas.openxmlformats.org/officeDocument/2006/relationships/slideLayout" Target="../slideLayouts/slideLayout2.xml" /></Relationships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chemeClr val="tx1"/>
                </a:solidFill>
              </a:rPr>
              <a:t>Pascal’s Triangle </a:t>
            </a:r>
            <a:endParaRPr lang="zh-CN" altLang="en-US" dirty="0">
              <a:solidFill>
                <a:schemeClr val="tx1"/>
              </a:solidFill>
            </a:endParaRP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30</a:t>
            </a:r>
            <a:endParaRPr lang="en-US"/>
          </a:p>
        </p:txBody>
      </p:sp>
      <p:pic>
        <p:nvPicPr>
          <p:cNvPr id="1026" name="Picture 2" descr="File:Yanghui triangle.gif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143000"/>
            <a:ext cx="2765394" cy="43025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925497" y="5693157"/>
            <a:ext cx="289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/>
              <a:t>Yang Hui triangle (12??)</a:t>
            </a:r>
          </a:p>
        </p:txBody>
      </p:sp>
      <p:pic>
        <p:nvPicPr>
          <p:cNvPr id="1028" name="Picture 4" descr="File:Pascal's triangle pathways.sv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8026" y="1219200"/>
            <a:ext cx="3670347" cy="36703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/>
          <p:cNvSpPr txBox="1"/>
          <p:nvPr/>
        </p:nvSpPr>
        <p:spPr>
          <a:xfrm>
            <a:off x="4457259" y="5118146"/>
            <a:ext cx="4305741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0" dirty="0"/>
              <a:t>The numbers of distinct paths to each square by a rook, when only rightward and downward movements are considered.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144D43A-55B5-8841-B79D-9953AEB7C015}"/>
              </a:ext>
            </a:extLst>
          </p:cNvPr>
          <p:cNvSpPr/>
          <p:nvPr/>
        </p:nvSpPr>
        <p:spPr bwMode="auto">
          <a:xfrm>
            <a:off x="7759764" y="1441421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AE3B04A-3957-2D46-9A7D-A2BF37BCD259}"/>
              </a:ext>
            </a:extLst>
          </p:cNvPr>
          <p:cNvSpPr/>
          <p:nvPr/>
        </p:nvSpPr>
        <p:spPr bwMode="auto">
          <a:xfrm>
            <a:off x="7627307" y="2268712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02B030-F214-1F41-8F93-DD2D1F393A8A}"/>
              </a:ext>
            </a:extLst>
          </p:cNvPr>
          <p:cNvSpPr/>
          <p:nvPr/>
        </p:nvSpPr>
        <p:spPr bwMode="auto">
          <a:xfrm>
            <a:off x="6706562" y="2362200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F44B16C-27AB-B64F-B212-8DB10A5174A6}"/>
              </a:ext>
            </a:extLst>
          </p:cNvPr>
          <p:cNvSpPr/>
          <p:nvPr/>
        </p:nvSpPr>
        <p:spPr bwMode="auto">
          <a:xfrm>
            <a:off x="5785817" y="3296274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43E10C-C7BC-204A-AA70-428C333D6A30}"/>
              </a:ext>
            </a:extLst>
          </p:cNvPr>
          <p:cNvSpPr/>
          <p:nvPr/>
        </p:nvSpPr>
        <p:spPr bwMode="auto">
          <a:xfrm>
            <a:off x="4984460" y="4145049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1D99403D-DDD4-A84D-A6B8-2319E92840AE}"/>
              </a:ext>
            </a:extLst>
          </p:cNvPr>
          <p:cNvSpPr/>
          <p:nvPr/>
        </p:nvSpPr>
        <p:spPr bwMode="auto">
          <a:xfrm>
            <a:off x="5867400" y="4145049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63E373-8AE7-DA4E-B3D2-2E26EFA0B3B4}"/>
              </a:ext>
            </a:extLst>
          </p:cNvPr>
          <p:cNvSpPr/>
          <p:nvPr/>
        </p:nvSpPr>
        <p:spPr bwMode="auto">
          <a:xfrm>
            <a:off x="6747849" y="3261806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CF6D67F1-D6AE-494E-AD2F-95C1C711568F}"/>
              </a:ext>
            </a:extLst>
          </p:cNvPr>
          <p:cNvSpPr/>
          <p:nvPr/>
        </p:nvSpPr>
        <p:spPr bwMode="auto">
          <a:xfrm>
            <a:off x="6705600" y="4136877"/>
            <a:ext cx="627056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ED708E9-D004-C848-AB6C-8BCAC9DC645A}"/>
              </a:ext>
            </a:extLst>
          </p:cNvPr>
          <p:cNvSpPr/>
          <p:nvPr/>
        </p:nvSpPr>
        <p:spPr bwMode="auto">
          <a:xfrm>
            <a:off x="7543800" y="3200400"/>
            <a:ext cx="534924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6D05AB8-1D11-BD4E-AAAD-189113D9F0E4}"/>
              </a:ext>
            </a:extLst>
          </p:cNvPr>
          <p:cNvSpPr/>
          <p:nvPr/>
        </p:nvSpPr>
        <p:spPr bwMode="auto">
          <a:xfrm>
            <a:off x="7599427" y="4114800"/>
            <a:ext cx="627056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4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X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4D6D649-80DB-254E-9D14-8490BE498676}"/>
              </a:ext>
            </a:extLst>
          </p:cNvPr>
          <p:cNvSpPr/>
          <p:nvPr/>
        </p:nvSpPr>
        <p:spPr bwMode="auto">
          <a:xfrm>
            <a:off x="7627307" y="3257492"/>
            <a:ext cx="627056" cy="523774"/>
          </a:xfrm>
          <a:prstGeom prst="rect">
            <a:avLst/>
          </a:prstGeom>
          <a:solidFill>
            <a:schemeClr val="bg1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1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5307581"/>
      </p:ext>
    </p:extLst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7894</TotalTime>
  <Words>2436</Words>
  <Application>Microsoft Macintosh PowerPoint</Application>
  <PresentationFormat>On-screen Show (4:3)</PresentationFormat>
  <Paragraphs>288</Paragraphs>
  <Slides>41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Arial</vt:lpstr>
      <vt:lpstr>Cambria Math</vt:lpstr>
      <vt:lpstr>Lucida Sans</vt:lpstr>
      <vt:lpstr>Monotype Sorts</vt:lpstr>
      <vt:lpstr>Times New Roman</vt:lpstr>
      <vt:lpstr>Wingdings</vt:lpstr>
      <vt:lpstr>Default Design</vt:lpstr>
      <vt:lpstr>Binomial Coefficients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Binomial Theorem</vt:lpstr>
      <vt:lpstr>Proof</vt:lpstr>
      <vt:lpstr>Example</vt:lpstr>
      <vt:lpstr>Example</vt:lpstr>
      <vt:lpstr>Example</vt:lpstr>
      <vt:lpstr>Corollary</vt:lpstr>
      <vt:lpstr>Alternative: Combinatorial Proof</vt:lpstr>
      <vt:lpstr>Corollary</vt:lpstr>
      <vt:lpstr>Exercise on Number of Subsets</vt:lpstr>
      <vt:lpstr>Corollary</vt:lpstr>
      <vt:lpstr>Pascal's Identity</vt:lpstr>
      <vt:lpstr>Example of Pascal's Identity for n=5, k=2</vt:lpstr>
      <vt:lpstr>Proof </vt:lpstr>
      <vt:lpstr>Combinatorial proof of Pascal’s identity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(1641)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Pascal’s Triangle </vt:lpstr>
      <vt:lpstr>Vandermonde's Identity</vt:lpstr>
      <vt:lpstr>Combinatorial Proof</vt:lpstr>
      <vt:lpstr>Corollary</vt:lpstr>
      <vt:lpstr>Counting bit strings</vt:lpstr>
      <vt:lpstr>Proof</vt:lpstr>
      <vt:lpstr>Exercise on Combinatorial Proof</vt:lpstr>
      <vt:lpstr>Exercise 2 on Combinatorial Proof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803</cp:revision>
  <cp:lastPrinted>2024-10-03T04:24:41Z</cp:lastPrinted>
  <dcterms:created xsi:type="dcterms:W3CDTF">2012-01-21T22:53:48Z</dcterms:created>
  <dcterms:modified xsi:type="dcterms:W3CDTF">2026-09-30T02:20:54Z</dcterms:modified>
</cp:coreProperties>
</file>