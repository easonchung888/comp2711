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9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93" r:id="rId4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0" Type="http://schemas.openxmlformats.org/officeDocument/2006/relationships/slide" Target="slides/slide39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?>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8.png" 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136C0F3B-7EC6-6347-91D5-7B744683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419600"/>
            <a:ext cx="3299712" cy="11642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624" y="152400"/>
            <a:ext cx="8382000" cy="715962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88524" y="1265808"/>
                <a:ext cx="8534400" cy="5105400"/>
              </a:xfrm>
            </p:spPr>
            <p:txBody>
              <a:bodyPr/>
              <a:lstStyle/>
              <a:p>
                <a:r>
                  <a:rPr lang="en-US" altLang="zh-CN" sz="2000" dirty="0"/>
                  <a:t>LHS is the number of bitstrings of length (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+1) that contain exactly (</a:t>
                </a:r>
                <a:r>
                  <a:rPr lang="en-US" altLang="zh-CN" sz="2000" i="1" dirty="0"/>
                  <a:t>r</a:t>
                </a:r>
                <a:r>
                  <a:rPr lang="en-US" altLang="zh-CN" sz="2000" dirty="0"/>
                  <a:t>+1) 1's. </a:t>
                </a:r>
              </a:p>
              <a:p>
                <a:r>
                  <a:rPr lang="en-US" altLang="zh-CN" sz="2000" dirty="0"/>
                  <a:t>RHS: Consider the possible locations of the final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000" dirty="0"/>
                  <a:t> in a string with </a:t>
                </a:r>
                <a14:m>
                  <m:oMath xmlns:m="http://schemas.openxmlformats.org/officeDocument/2006/math">
                    <m:r>
                      <a:rPr lang="en-US" altLang="zh-CN" sz="20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CN" sz="2000" dirty="0"/>
                  <a:t> 1’s. This final 1 must occur at location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+1, 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+2,</m:t>
                    </m:r>
                  </m:oMath>
                </a14:m>
                <a:r>
                  <a:rPr lang="en-US" altLang="zh-CN" sz="2000" dirty="0"/>
                  <a:t> . . . , or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000" dirty="0"/>
                  <a:t>. Furthermore, when the last 1 is the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th bit 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+1≤</m:t>
                    </m:r>
                    <m:r>
                      <a:rPr lang="en-US" altLang="zh-CN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 , </m:t>
                    </m:r>
                  </m:oMath>
                </a14:m>
                <a:r>
                  <a:rPr lang="en-US" altLang="zh-CN" sz="2000" dirty="0"/>
                  <a:t> there must be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/>
                  <a:t> 1s among the first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000" dirty="0"/>
                  <a:t> locations. Consequently,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</a:t>
                </a:r>
                <a:r>
                  <a:rPr lang="en-US" altLang="zh-CN" sz="2000" dirty="0"/>
                  <a:t>such bit strings. Summing over </a:t>
                </a:r>
                <a:r>
                  <a:rPr lang="en-US" altLang="zh-CN" sz="2000" i="1" dirty="0">
                    <a:solidFill>
                      <a:srgbClr val="0000FF"/>
                    </a:solidFill>
                  </a:rPr>
                  <a:t>k</a:t>
                </a:r>
                <a:r>
                  <a:rPr lang="en-US" altLang="zh-CN" sz="2000" dirty="0"/>
                  <a:t>, the number of bit strings of length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000" dirty="0"/>
                  <a:t> containing exactly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000" dirty="0"/>
                  <a:t> ones is: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Because both sides of the identity count the same objects, they must be equal. This completes the proof.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8524" y="1265808"/>
                <a:ext cx="8534400" cy="5105400"/>
              </a:xfrm>
              <a:blipFill>
                <a:blip r:embed="rId3"/>
                <a:stretch>
                  <a:fillRect l="-714" t="-717" r="-1357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343400"/>
            <a:ext cx="3657600" cy="115156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3888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