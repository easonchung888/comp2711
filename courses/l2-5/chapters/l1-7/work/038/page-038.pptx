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8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70" r:id="rId39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39" Type="http://schemas.openxmlformats.org/officeDocument/2006/relationships/slide" Target="slides/slide38.xml" /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8.xml.rels><?xml version='1.0' encoding='utf-8'?>
<Relationships xmlns="http://schemas.openxmlformats.org/package/2006/relationships"><Relationship Id="rId3" Type="http://schemas.openxmlformats.org/officeDocument/2006/relationships/image" Target="../media/image26.png" /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2.xml" /></Relationships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Counting bit strings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0000FF"/>
                    </a:solidFill>
                  </a:rPr>
                  <a:t>Theorem</a:t>
                </a:r>
              </a:p>
              <a:p>
                <a:pPr marL="0" indent="0">
                  <a:buNone/>
                </a:pPr>
                <a:r>
                  <a:rPr lang="en-US" altLang="zh-CN" sz="2400" dirty="0"/>
                  <a:t>Let </a:t>
                </a:r>
                <a:r>
                  <a:rPr lang="en-US" altLang="zh-CN" sz="2400" i="1" dirty="0"/>
                  <a:t>n</a:t>
                </a:r>
                <a:r>
                  <a:rPr lang="en-US" altLang="zh-CN" sz="2400" dirty="0"/>
                  <a:t> and </a:t>
                </a:r>
                <a:r>
                  <a:rPr lang="en-US" altLang="zh-CN" sz="2400" i="1" dirty="0"/>
                  <a:t>r</a:t>
                </a:r>
                <a:r>
                  <a:rPr lang="en-US" altLang="zh-CN" sz="2400" dirty="0"/>
                  <a:t> be integers with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/>
                  <a:t>. Then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0000FF"/>
                    </a:solidFill>
                  </a:rPr>
                  <a:t>Recall:</a:t>
                </a:r>
                <a:r>
                  <a:rPr lang="en-US" altLang="zh-CN" dirty="0"/>
                  <a:t> We can prove combinatorial identities by counting bit strings with different properties!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LHS is the number of bitstrings of length (</a:t>
                </a:r>
                <a:r>
                  <a:rPr lang="en-US" altLang="zh-CN" i="1" dirty="0"/>
                  <a:t>n</a:t>
                </a:r>
                <a:r>
                  <a:rPr lang="en-US" altLang="zh-CN" dirty="0"/>
                  <a:t>+1) that contain exactly (</a:t>
                </a:r>
                <a:r>
                  <a:rPr lang="en-US" altLang="zh-CN" i="1" dirty="0"/>
                  <a:t>r</a:t>
                </a:r>
                <a:r>
                  <a:rPr lang="en-US" altLang="zh-CN" dirty="0"/>
                  <a:t>+1) ones. 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5257800"/>
              </a:xfrm>
              <a:blipFill>
                <a:blip r:embed="rId2"/>
                <a:stretch>
                  <a:fillRect l="-1123" t="-928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590800"/>
            <a:ext cx="4114802" cy="145186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99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