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3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3" r:id="rId1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14" Type="http://schemas.openxmlformats.org/officeDocument/2006/relationships/slide" Target="slides/slide13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82495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?>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chemeClr val="tx1"/>
                </a:solidFill>
              </a:rPr>
              <a:t>k</a:t>
            </a:r>
            <a:r>
              <a:rPr lang="en-US" altLang="zh-CN" dirty="0">
                <a:solidFill>
                  <a:schemeClr val="tx1"/>
                </a:solidFill>
              </a:rPr>
              <a:t>-Combinations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715000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Example</a:t>
            </a:r>
            <a:br>
              <a:rPr lang="en-US" altLang="zh-CN" sz="2400" b="1" dirty="0">
                <a:solidFill>
                  <a:srgbClr val="0000FF"/>
                </a:solidFill>
              </a:rPr>
            </a:br>
            <a:r>
              <a:rPr lang="en-US" altLang="zh-CN" sz="2400" dirty="0"/>
              <a:t>In how many ways can we select </a:t>
            </a:r>
            <a:r>
              <a:rPr lang="en-US" altLang="zh-CN" sz="2400" dirty="0">
                <a:solidFill>
                  <a:srgbClr val="FF3300"/>
                </a:solidFill>
              </a:rPr>
              <a:t>three</a:t>
            </a:r>
            <a:r>
              <a:rPr lang="en-US" altLang="zh-CN" sz="2400" dirty="0"/>
              <a:t> students to form a study-team, from a group of </a:t>
            </a:r>
            <a:r>
              <a:rPr lang="en-US" altLang="zh-CN" sz="2400" dirty="0">
                <a:solidFill>
                  <a:srgbClr val="0000FF"/>
                </a:solidFill>
              </a:rPr>
              <a:t>four</a:t>
            </a:r>
            <a:r>
              <a:rPr lang="en-US" altLang="zh-CN" sz="2400" dirty="0"/>
              <a:t> students?</a:t>
            </a:r>
          </a:p>
          <a:p>
            <a:r>
              <a:rPr lang="en-US" altLang="zh-CN" dirty="0"/>
              <a:t>Note: </a:t>
            </a:r>
            <a:r>
              <a:rPr lang="en-US" altLang="zh-CN" i="1" dirty="0"/>
              <a:t>the order in which the students are selected does not matter</a:t>
            </a:r>
            <a:r>
              <a:rPr lang="en-US" altLang="zh-CN" dirty="0"/>
              <a:t>! 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FF"/>
                </a:solidFill>
              </a:rPr>
              <a:t>Solution:</a:t>
            </a:r>
            <a:br>
              <a:rPr lang="en-US" altLang="zh-CN" sz="2400" b="1" dirty="0">
                <a:solidFill>
                  <a:srgbClr val="0000FF"/>
                </a:solidFill>
              </a:rPr>
            </a:br>
            <a:r>
              <a:rPr lang="en-US" dirty="0"/>
              <a:t>We need only to find the number of subsets containing 3 elements from the set of 4 students. There are 4 such subsets (each subset excludes one student). Therefore, there are 4 ways to choose the three students for the team.</a:t>
            </a:r>
          </a:p>
          <a:p>
            <a:r>
              <a:rPr lang="en-US" altLang="zh-CN" u="sng" dirty="0"/>
              <a:t>Equivalent Question</a:t>
            </a:r>
            <a:r>
              <a:rPr lang="en-US" altLang="zh-CN" dirty="0"/>
              <a:t>: How many bit strings of length </a:t>
            </a:r>
            <a:r>
              <a:rPr lang="en-US" altLang="zh-CN" dirty="0">
                <a:solidFill>
                  <a:srgbClr val="0000FF"/>
                </a:solidFill>
              </a:rPr>
              <a:t>four</a:t>
            </a:r>
            <a:r>
              <a:rPr lang="en-US" altLang="zh-CN" dirty="0"/>
              <a:t> have exactly </a:t>
            </a:r>
            <a:r>
              <a:rPr lang="en-US" altLang="zh-CN" dirty="0">
                <a:solidFill>
                  <a:srgbClr val="FF3300"/>
                </a:solidFill>
              </a:rPr>
              <a:t>three</a:t>
            </a:r>
            <a:r>
              <a:rPr lang="en-US" altLang="zh-CN" dirty="0"/>
              <a:t> 1? </a:t>
            </a:r>
            <a:endParaRPr lang="en-US" altLang="zh-C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1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